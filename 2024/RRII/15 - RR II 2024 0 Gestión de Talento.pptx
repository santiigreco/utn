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7"/>
  </p:notesMasterIdLst>
  <p:sldIdLst>
    <p:sldId id="256" r:id="rId2"/>
    <p:sldId id="260" r:id="rId3"/>
    <p:sldId id="261" r:id="rId4"/>
    <p:sldId id="257" r:id="rId5"/>
    <p:sldId id="258" r:id="rId6"/>
    <p:sldId id="259"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9" r:id="rId20"/>
    <p:sldId id="291"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Lst>
  <p:sldSz cx="9906000" cy="6858000" type="A4"/>
  <p:notesSz cx="7315200" cy="9601200"/>
  <p:embeddedFontLst>
    <p:embeddedFont>
      <p:font typeface="Arimo" panose="020B0604020202020204" pitchFamily="34" charset="0"/>
      <p:regular r:id="rId38"/>
      <p:bold r:id="rId39"/>
      <p:italic r:id="rId40"/>
      <p:boldItalic r:id="rId41"/>
    </p:embeddedFont>
    <p:embeddedFont>
      <p:font typeface="Calibri" panose="020F0502020204030204" pitchFamily="34" charset="0"/>
      <p:regular r:id="rId42"/>
      <p:bold r:id="rId43"/>
      <p:italic r:id="rId44"/>
      <p:boldItalic r:id="rId45"/>
    </p:embeddedFont>
    <p:embeddedFont>
      <p:font typeface="Noto Sans" panose="020B0502040504020204"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612">
          <p15:clr>
            <a:srgbClr val="A4A3A4"/>
          </p15:clr>
        </p15:guide>
        <p15:guide id="2" pos="6114">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0" roundtripDataSignature="AMtx7mgy7MVdUGN11dAaIvBzzXTM7rwCl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5179"/>
  </p:normalViewPr>
  <p:slideViewPr>
    <p:cSldViewPr snapToGrid="0">
      <p:cViewPr varScale="1">
        <p:scale>
          <a:sx n="94" d="100"/>
          <a:sy n="94" d="100"/>
        </p:scale>
        <p:origin x="1400" y="192"/>
      </p:cViewPr>
      <p:guideLst>
        <p:guide orient="horz" pos="3612"/>
        <p:guide pos="6114"/>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024"/>
        <p:guide pos="2305"/>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7315200" cy="480060"/>
          </a:xfrm>
          <a:prstGeom prst="rect">
            <a:avLst/>
          </a:prstGeom>
          <a:noFill/>
          <a:ln>
            <a:noFill/>
          </a:ln>
        </p:spPr>
        <p:txBody>
          <a:bodyPr spcFirstLastPara="1" wrap="square" lIns="72000" tIns="180000" rIns="288000" bIns="36000" anchor="t" anchorCtr="0">
            <a:noAutofit/>
          </a:bodyPr>
          <a:lstStyle>
            <a:lvl1pPr marR="0" lvl="0" algn="r" rtl="0">
              <a:lnSpc>
                <a:spcPct val="100000"/>
              </a:lnSpc>
              <a:spcBef>
                <a:spcPts val="0"/>
              </a:spcBef>
              <a:spcAft>
                <a:spcPts val="0"/>
              </a:spcAft>
              <a:buClr>
                <a:srgbClr val="000000"/>
              </a:buClr>
              <a:buSzPts val="1400"/>
              <a:buFont typeface="Arial"/>
              <a:buNone/>
              <a:defRPr sz="14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a:spLocks noGrp="1" noRot="1" noChangeAspect="1"/>
          </p:cNvSpPr>
          <p:nvPr>
            <p:ph type="sldImg" idx="3"/>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 name="Google Shape;5;n"/>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6" name="Google Shape;6;n"/>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lvl1pPr marR="0" lvl="0" algn="l" rtl="0">
              <a:lnSpc>
                <a:spcPct val="100000"/>
              </a:lnSpc>
              <a:spcBef>
                <a:spcPts val="0"/>
              </a:spcBef>
              <a:spcAft>
                <a:spcPts val="0"/>
              </a:spcAft>
              <a:buClr>
                <a:srgbClr val="000000"/>
              </a:buClr>
              <a:buSzPts val="1400"/>
              <a:buFont typeface="Arial"/>
              <a:buNone/>
              <a:defRPr sz="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s-AR" sz="800" b="1" i="0" u="none" strike="noStrike" cap="none">
                <a:solidFill>
                  <a:schemeClr val="dk1"/>
                </a:solidFill>
                <a:latin typeface="Arial"/>
                <a:ea typeface="Arial"/>
                <a:cs typeface="Arial"/>
                <a:sym typeface="Arial"/>
              </a:rPr>
              <a:t>‹#›</a:t>
            </a:fld>
            <a:endParaRPr sz="800" b="1"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1: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76846b1dce_0_4: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76846b1dce_0_4:notes"/>
          <p:cNvSpPr txBox="1">
            <a:spLocks noGrp="1"/>
          </p:cNvSpPr>
          <p:nvPr>
            <p:ph type="body" idx="1"/>
          </p:nvPr>
        </p:nvSpPr>
        <p:spPr>
          <a:xfrm>
            <a:off x="228576" y="4560570"/>
            <a:ext cx="6858000" cy="444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g276846b1dce_0_4:notes"/>
          <p:cNvSpPr txBox="1">
            <a:spLocks noGrp="1"/>
          </p:cNvSpPr>
          <p:nvPr>
            <p:ph type="sldNum" idx="12"/>
          </p:nvPr>
        </p:nvSpPr>
        <p:spPr>
          <a:xfrm>
            <a:off x="4143587" y="9119474"/>
            <a:ext cx="3169800" cy="480000"/>
          </a:xfrm>
          <a:prstGeom prst="rect">
            <a:avLst/>
          </a:prstGeom>
        </p:spPr>
        <p:txBody>
          <a:bodyPr spcFirstLastPara="1" wrap="square" lIns="72000" tIns="36000" rIns="180000" bIns="180000" anchor="b" anchorCtr="0">
            <a:noAutofit/>
          </a:bodyPr>
          <a:lstStyle/>
          <a:p>
            <a:pPr marL="0" lvl="0" indent="0" algn="r" rtl="0">
              <a:spcBef>
                <a:spcPts val="0"/>
              </a:spcBef>
              <a:spcAft>
                <a:spcPts val="0"/>
              </a:spcAft>
              <a:buClr>
                <a:srgbClr val="000000"/>
              </a:buClr>
              <a:buSzPts val="800"/>
              <a:buFont typeface="Arial"/>
              <a:buNone/>
            </a:pPr>
            <a:fld id="{00000000-1234-1234-1234-123412341234}" type="slidenum">
              <a:rPr lang="es-A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76846b1dce_0_9: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76846b1dce_0_9:notes"/>
          <p:cNvSpPr txBox="1">
            <a:spLocks noGrp="1"/>
          </p:cNvSpPr>
          <p:nvPr>
            <p:ph type="body" idx="1"/>
          </p:nvPr>
        </p:nvSpPr>
        <p:spPr>
          <a:xfrm>
            <a:off x="228576" y="4560570"/>
            <a:ext cx="6858000" cy="444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9" name="Google Shape;139;g276846b1dce_0_9:notes"/>
          <p:cNvSpPr txBox="1">
            <a:spLocks noGrp="1"/>
          </p:cNvSpPr>
          <p:nvPr>
            <p:ph type="sldNum" idx="12"/>
          </p:nvPr>
        </p:nvSpPr>
        <p:spPr>
          <a:xfrm>
            <a:off x="4143587" y="9119474"/>
            <a:ext cx="3169800" cy="480000"/>
          </a:xfrm>
          <a:prstGeom prst="rect">
            <a:avLst/>
          </a:prstGeom>
        </p:spPr>
        <p:txBody>
          <a:bodyPr spcFirstLastPara="1" wrap="square" lIns="72000" tIns="36000" rIns="180000" bIns="180000" anchor="b" anchorCtr="0">
            <a:noAutofit/>
          </a:bodyPr>
          <a:lstStyle/>
          <a:p>
            <a:pPr marL="0" lvl="0" indent="0" algn="r" rtl="0">
              <a:spcBef>
                <a:spcPts val="0"/>
              </a:spcBef>
              <a:spcAft>
                <a:spcPts val="0"/>
              </a:spcAft>
              <a:buClr>
                <a:srgbClr val="000000"/>
              </a:buClr>
              <a:buSzPts val="800"/>
              <a:buFont typeface="Arial"/>
              <a:buNone/>
            </a:pPr>
            <a:fld id="{00000000-1234-1234-1234-123412341234}" type="slidenum">
              <a:rPr lang="es-A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4: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24: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104" name="Google Shape;104;p24: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105" name="Google Shape;105;p24: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4:notes"/>
          <p:cNvSpPr txBox="1">
            <a:spLocks noGrp="1"/>
          </p:cNvSpPr>
          <p:nvPr>
            <p:ph type="body" idx="1"/>
          </p:nvPr>
        </p:nvSpPr>
        <p:spPr>
          <a:xfrm>
            <a:off x="228576" y="4560570"/>
            <a:ext cx="6858048" cy="444058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64: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5:notes"/>
          <p:cNvSpPr txBox="1">
            <a:spLocks noGrp="1"/>
          </p:cNvSpPr>
          <p:nvPr>
            <p:ph type="body" idx="1"/>
          </p:nvPr>
        </p:nvSpPr>
        <p:spPr>
          <a:xfrm>
            <a:off x="228576" y="4560570"/>
            <a:ext cx="6858048" cy="444058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65: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25: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25: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6: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26: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7: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27: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s-AR"/>
              <a:t>Nos vamos a centrar en dos aspectos de las Gestión del Talento:</a:t>
            </a:r>
            <a:endParaRPr/>
          </a:p>
          <a:p>
            <a:pPr marL="171450" lvl="0" indent="-171450" algn="l" rtl="0">
              <a:lnSpc>
                <a:spcPct val="100000"/>
              </a:lnSpc>
              <a:spcBef>
                <a:spcPts val="0"/>
              </a:spcBef>
              <a:spcAft>
                <a:spcPts val="0"/>
              </a:spcAft>
              <a:buClr>
                <a:schemeClr val="dk1"/>
              </a:buClr>
              <a:buSzPts val="1200"/>
              <a:buFont typeface="Arial"/>
              <a:buChar char="-"/>
            </a:pPr>
            <a:r>
              <a:rPr lang="es-AR"/>
              <a:t>La identificación del talento</a:t>
            </a:r>
            <a:endParaRPr/>
          </a:p>
          <a:p>
            <a:pPr marL="171450" lvl="0" indent="-171450" algn="l" rtl="0">
              <a:lnSpc>
                <a:spcPct val="100000"/>
              </a:lnSpc>
              <a:spcBef>
                <a:spcPts val="0"/>
              </a:spcBef>
              <a:spcAft>
                <a:spcPts val="0"/>
              </a:spcAft>
              <a:buClr>
                <a:schemeClr val="dk1"/>
              </a:buClr>
              <a:buSzPts val="1200"/>
              <a:buFont typeface="Arial"/>
              <a:buChar char="-"/>
            </a:pPr>
            <a:r>
              <a:rPr lang="es-AR"/>
              <a:t>El desarrollo del talento.</a:t>
            </a:r>
            <a:endParaRPr/>
          </a:p>
          <a:p>
            <a:pPr marL="171450" lvl="0" indent="-95250" algn="l" rtl="0">
              <a:lnSpc>
                <a:spcPct val="100000"/>
              </a:lnSpc>
              <a:spcBef>
                <a:spcPts val="0"/>
              </a:spcBef>
              <a:spcAft>
                <a:spcPts val="0"/>
              </a:spcAft>
              <a:buClr>
                <a:schemeClr val="dk1"/>
              </a:buClr>
              <a:buSzPts val="1200"/>
              <a:buFont typeface="Arial"/>
              <a:buNone/>
            </a:pPr>
            <a:endParaRPr/>
          </a:p>
          <a:p>
            <a:pPr marL="0" lvl="0" indent="0" algn="l" rtl="0">
              <a:lnSpc>
                <a:spcPct val="100000"/>
              </a:lnSpc>
              <a:spcBef>
                <a:spcPts val="0"/>
              </a:spcBef>
              <a:spcAft>
                <a:spcPts val="0"/>
              </a:spcAft>
              <a:buClr>
                <a:schemeClr val="dk1"/>
              </a:buClr>
              <a:buSzPts val="1200"/>
              <a:buFont typeface="Arial"/>
              <a:buNone/>
            </a:pPr>
            <a:r>
              <a:rPr lang="es-AR"/>
              <a:t>La atracción ya lo vimos en U5 (Marca empleadora) y la Captación también (Reclutamiento y selección).</a:t>
            </a:r>
            <a:endParaRPr/>
          </a:p>
        </p:txBody>
      </p:sp>
      <p:sp>
        <p:nvSpPr>
          <p:cNvPr id="169" name="Google Shape;169;p27: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170" name="Google Shape;170;p27: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28: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28: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s-AR"/>
              <a:t>Estos modelos son extremos de un continuo. En la realidad, la mayoría de las empresas utilizan un mix de ambos modelos.</a:t>
            </a:r>
            <a:endParaRPr/>
          </a:p>
        </p:txBody>
      </p:sp>
      <p:sp>
        <p:nvSpPr>
          <p:cNvPr id="186" name="Google Shape;186;p28: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187" name="Google Shape;187;p28: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9: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29: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202" name="Google Shape;202;p29: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203" name="Google Shape;203;p29: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30: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30: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s-AR"/>
              <a:t>Objetivos:</a:t>
            </a:r>
            <a:endParaRPr/>
          </a:p>
          <a:p>
            <a:pPr marL="0" lvl="0" indent="0" algn="l" rtl="0">
              <a:lnSpc>
                <a:spcPct val="100000"/>
              </a:lnSpc>
              <a:spcBef>
                <a:spcPts val="0"/>
              </a:spcBef>
              <a:spcAft>
                <a:spcPts val="0"/>
              </a:spcAft>
              <a:buSzPts val="1400"/>
              <a:buNone/>
            </a:pPr>
            <a:r>
              <a:rPr lang="es-AR"/>
              <a:t>Los objetivos se alinean entre sí, de forma que el objetivo de un empleado colabore con el logro de los objetivos del área, y éstos a su vez con los de la organización</a:t>
            </a:r>
            <a:endParaRPr sz="1200" b="0" i="0" u="none" strike="noStrike">
              <a:solidFill>
                <a:schemeClr val="dk1"/>
              </a:solidFill>
              <a:latin typeface="Arial"/>
              <a:ea typeface="Arial"/>
              <a:cs typeface="Arial"/>
              <a:sym typeface="Arial"/>
            </a:endParaRPr>
          </a:p>
        </p:txBody>
      </p:sp>
      <p:sp>
        <p:nvSpPr>
          <p:cNvPr id="219" name="Google Shape;219;p30: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220" name="Google Shape;220;p30: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31: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p31: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32: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8" name="Google Shape;248;p32: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33: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p33: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34: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34: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5: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p35: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6: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36: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s-AR" dirty="0"/>
              <a:t>Objetivos:</a:t>
            </a:r>
            <a:endParaRPr dirty="0"/>
          </a:p>
          <a:p>
            <a:pPr marL="0" lvl="0" indent="0" algn="l" rtl="0">
              <a:lnSpc>
                <a:spcPct val="100000"/>
              </a:lnSpc>
              <a:spcBef>
                <a:spcPts val="0"/>
              </a:spcBef>
              <a:spcAft>
                <a:spcPts val="0"/>
              </a:spcAft>
              <a:buSzPts val="1400"/>
              <a:buNone/>
            </a:pPr>
            <a:r>
              <a:rPr lang="es-AR" dirty="0"/>
              <a:t>Los objetivos se alinean entre sí, de forma que el objetivo de un empleado colabore con el logro de los objetivos del área, y éstos a su vez con los de la organización</a:t>
            </a:r>
            <a:endParaRPr sz="1200" b="0" i="0" u="none" strike="noStrike" dirty="0">
              <a:solidFill>
                <a:schemeClr val="dk1"/>
              </a:solidFill>
              <a:latin typeface="Arial"/>
              <a:ea typeface="Arial"/>
              <a:cs typeface="Arial"/>
              <a:sym typeface="Arial"/>
            </a:endParaRPr>
          </a:p>
        </p:txBody>
      </p:sp>
      <p:sp>
        <p:nvSpPr>
          <p:cNvPr id="324" name="Google Shape;324;p36: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325" name="Google Shape;325;p36: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s-AR" sz="800" b="1" i="0" u="none" strike="noStrike" cap="none" smtClean="0">
                <a:solidFill>
                  <a:schemeClr val="dk1"/>
                </a:solidFill>
                <a:latin typeface="Arial"/>
                <a:ea typeface="Arial"/>
                <a:cs typeface="Arial"/>
                <a:sym typeface="Arial"/>
              </a:rPr>
              <a:t>19</a:t>
            </a:fld>
            <a:endParaRPr lang="es-AR" sz="800" b="1"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41330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effectLst/>
                <a:latin typeface="Söhne"/>
              </a:rPr>
              <a:t>Ana</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b="0" i="0" dirty="0">
                <a:solidFill>
                  <a:srgbClr val="374151"/>
                </a:solidFill>
                <a:effectLst/>
                <a:latin typeface="Söhne"/>
              </a:rPr>
              <a:t>Ana </a:t>
            </a:r>
            <a:r>
              <a:rPr lang="en-US" b="0" i="0" dirty="0" err="1">
                <a:solidFill>
                  <a:srgbClr val="374151"/>
                </a:solidFill>
                <a:effectLst/>
                <a:latin typeface="Söhne"/>
              </a:rPr>
              <a:t>sería</a:t>
            </a:r>
            <a:r>
              <a:rPr lang="en-US" b="0" i="0" dirty="0">
                <a:solidFill>
                  <a:srgbClr val="374151"/>
                </a:solidFill>
                <a:effectLst/>
                <a:latin typeface="Söhne"/>
              </a:rPr>
              <a:t> </a:t>
            </a:r>
            <a:r>
              <a:rPr lang="en-US" b="0" i="0" dirty="0" err="1">
                <a:solidFill>
                  <a:srgbClr val="374151"/>
                </a:solidFill>
                <a:effectLst/>
                <a:latin typeface="Söhne"/>
              </a:rPr>
              <a:t>ubicada</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la </a:t>
            </a:r>
            <a:r>
              <a:rPr lang="en-US" b="0" i="0" dirty="0" err="1">
                <a:solidFill>
                  <a:srgbClr val="374151"/>
                </a:solidFill>
                <a:effectLst/>
                <a:latin typeface="Söhne"/>
              </a:rPr>
              <a:t>esquina</a:t>
            </a:r>
            <a:r>
              <a:rPr lang="en-US" b="0" i="0" dirty="0">
                <a:solidFill>
                  <a:srgbClr val="374151"/>
                </a:solidFill>
                <a:effectLst/>
                <a:latin typeface="Söhne"/>
              </a:rPr>
              <a:t> superior </a:t>
            </a:r>
            <a:r>
              <a:rPr lang="en-US" b="0" i="0" dirty="0" err="1">
                <a:solidFill>
                  <a:srgbClr val="374151"/>
                </a:solidFill>
                <a:effectLst/>
                <a:latin typeface="Söhne"/>
              </a:rPr>
              <a:t>derecha</a:t>
            </a:r>
            <a:r>
              <a:rPr lang="en-US" b="0" i="0" dirty="0">
                <a:solidFill>
                  <a:srgbClr val="374151"/>
                </a:solidFill>
                <a:effectLst/>
                <a:latin typeface="Söhne"/>
              </a:rPr>
              <a:t> de la </a:t>
            </a:r>
            <a:r>
              <a:rPr lang="en-US" b="0" i="0" dirty="0" err="1">
                <a:solidFill>
                  <a:srgbClr val="374151"/>
                </a:solidFill>
                <a:effectLst/>
                <a:latin typeface="Söhne"/>
              </a:rPr>
              <a:t>matriz</a:t>
            </a:r>
            <a:r>
              <a:rPr lang="en-US" b="0" i="0" dirty="0">
                <a:solidFill>
                  <a:srgbClr val="374151"/>
                </a:solidFill>
                <a:effectLst/>
                <a:latin typeface="Söhne"/>
              </a:rPr>
              <a:t> (alto </a:t>
            </a:r>
            <a:r>
              <a:rPr lang="en-US" b="0" i="0" dirty="0" err="1">
                <a:solidFill>
                  <a:srgbClr val="374151"/>
                </a:solidFill>
                <a:effectLst/>
                <a:latin typeface="Söhne"/>
              </a:rPr>
              <a:t>rendimiento</a:t>
            </a:r>
            <a:r>
              <a:rPr lang="en-US" b="0" i="0" dirty="0">
                <a:solidFill>
                  <a:srgbClr val="374151"/>
                </a:solidFill>
                <a:effectLst/>
                <a:latin typeface="Söhne"/>
              </a:rPr>
              <a:t>, alto </a:t>
            </a:r>
            <a:r>
              <a:rPr lang="en-US" b="0" i="0" dirty="0" err="1">
                <a:solidFill>
                  <a:srgbClr val="374151"/>
                </a:solidFill>
                <a:effectLst/>
                <a:latin typeface="Söhne"/>
              </a:rPr>
              <a:t>potencial</a:t>
            </a:r>
            <a:r>
              <a:rPr lang="en-US" b="0" i="0" dirty="0">
                <a:solidFill>
                  <a:srgbClr val="374151"/>
                </a:solidFill>
                <a:effectLst/>
                <a:latin typeface="Söhne"/>
              </a:rPr>
              <a:t>).</a:t>
            </a:r>
          </a:p>
          <a:p>
            <a:pPr algn="l">
              <a:buFont typeface="Arial" panose="020B0604020202020204" pitchFamily="34" charset="0"/>
              <a:buChar char="•"/>
            </a:pPr>
            <a:endParaRPr lang="en-US" b="0" i="0" dirty="0">
              <a:solidFill>
                <a:srgbClr val="374151"/>
              </a:solidFill>
              <a:effectLst/>
              <a:latin typeface="Söhne"/>
            </a:endParaRPr>
          </a:p>
          <a:p>
            <a:pPr algn="l">
              <a:buFont typeface="Arial" panose="020B0604020202020204" pitchFamily="34" charset="0"/>
              <a:buChar char="•"/>
            </a:pPr>
            <a:r>
              <a:rPr lang="en-US" b="0" i="0" dirty="0" err="1">
                <a:solidFill>
                  <a:srgbClr val="374151"/>
                </a:solidFill>
                <a:effectLst/>
                <a:latin typeface="Söhne"/>
              </a:rPr>
              <a:t>Rendimiento</a:t>
            </a:r>
            <a:r>
              <a:rPr lang="en-US" b="0" i="0" dirty="0">
                <a:solidFill>
                  <a:srgbClr val="374151"/>
                </a:solidFill>
                <a:effectLst/>
                <a:latin typeface="Söhne"/>
              </a:rPr>
              <a:t> Actual: </a:t>
            </a:r>
            <a:r>
              <a:rPr lang="en-US" b="0" i="0" dirty="0" err="1">
                <a:solidFill>
                  <a:srgbClr val="374151"/>
                </a:solidFill>
                <a:effectLst/>
                <a:latin typeface="Söhne"/>
              </a:rPr>
              <a:t>Rendimiento</a:t>
            </a:r>
            <a:r>
              <a:rPr lang="en-US" b="0" i="0" dirty="0">
                <a:solidFill>
                  <a:srgbClr val="374151"/>
                </a:solidFill>
                <a:effectLst/>
                <a:latin typeface="Söhne"/>
              </a:rPr>
              <a:t> alto</a:t>
            </a:r>
          </a:p>
          <a:p>
            <a:pPr algn="l">
              <a:buFont typeface="Arial" panose="020B0604020202020204" pitchFamily="34" charset="0"/>
              <a:buChar char="•"/>
            </a:pPr>
            <a:r>
              <a:rPr lang="en-US" b="0" i="0" dirty="0" err="1">
                <a:solidFill>
                  <a:srgbClr val="374151"/>
                </a:solidFill>
                <a:effectLst/>
                <a:latin typeface="Söhne"/>
              </a:rPr>
              <a:t>Potencial</a:t>
            </a:r>
            <a:r>
              <a:rPr lang="en-US" b="0" i="0" dirty="0">
                <a:solidFill>
                  <a:srgbClr val="374151"/>
                </a:solidFill>
                <a:effectLst/>
                <a:latin typeface="Söhne"/>
              </a:rPr>
              <a:t> de </a:t>
            </a:r>
            <a:r>
              <a:rPr lang="en-US" b="0" i="0" dirty="0" err="1">
                <a:solidFill>
                  <a:srgbClr val="374151"/>
                </a:solidFill>
                <a:effectLst/>
                <a:latin typeface="Söhne"/>
              </a:rPr>
              <a:t>Crecimiento</a:t>
            </a:r>
            <a:r>
              <a:rPr lang="en-US" b="0" i="0" dirty="0">
                <a:solidFill>
                  <a:srgbClr val="374151"/>
                </a:solidFill>
                <a:effectLst/>
                <a:latin typeface="Söhne"/>
              </a:rPr>
              <a:t>: Alto </a:t>
            </a:r>
            <a:r>
              <a:rPr lang="en-US" b="0" i="0" dirty="0" err="1">
                <a:solidFill>
                  <a:srgbClr val="374151"/>
                </a:solidFill>
                <a:effectLst/>
                <a:latin typeface="Söhne"/>
              </a:rPr>
              <a:t>potencial</a:t>
            </a:r>
            <a:endParaRPr lang="en-US" b="0" i="0" dirty="0">
              <a:solidFill>
                <a:srgbClr val="374151"/>
              </a:solidFill>
              <a:effectLst/>
              <a:latin typeface="Söhne"/>
            </a:endParaRPr>
          </a:p>
          <a:p>
            <a:pPr algn="l">
              <a:buFont typeface="Arial" panose="020B0604020202020204" pitchFamily="34" charset="0"/>
              <a:buChar char="•"/>
            </a:pPr>
            <a:endParaRPr lang="en-US" b="0" i="0" dirty="0">
              <a:solidFill>
                <a:srgbClr val="374151"/>
              </a:solidFill>
              <a:effectLst/>
              <a:latin typeface="Söhne"/>
            </a:endParaRPr>
          </a:p>
          <a:p>
            <a:pPr algn="l">
              <a:buFont typeface="Arial" panose="020B0604020202020204" pitchFamily="34" charset="0"/>
              <a:buChar char="•"/>
            </a:pPr>
            <a:endParaRPr lang="en-US" b="0" i="0" dirty="0">
              <a:solidFill>
                <a:srgbClr val="374151"/>
              </a:solidFill>
              <a:effectLst/>
              <a:latin typeface="Söhne"/>
            </a:endParaRPr>
          </a:p>
          <a:p>
            <a:pPr algn="l">
              <a:buFont typeface="Arial" panose="020B0604020202020204" pitchFamily="34" charset="0"/>
              <a:buChar char="•"/>
            </a:pPr>
            <a:r>
              <a:rPr lang="en-US" b="1" i="0" dirty="0">
                <a:effectLst/>
                <a:latin typeface="Söhne"/>
              </a:rPr>
              <a:t>Juan</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b="0" i="0" dirty="0" err="1">
                <a:solidFill>
                  <a:srgbClr val="374151"/>
                </a:solidFill>
                <a:effectLst/>
                <a:latin typeface="Söhne"/>
              </a:rPr>
              <a:t>En</a:t>
            </a:r>
            <a:r>
              <a:rPr lang="en-US" b="0" i="0" dirty="0">
                <a:solidFill>
                  <a:srgbClr val="374151"/>
                </a:solidFill>
                <a:effectLst/>
                <a:latin typeface="Söhne"/>
              </a:rPr>
              <a:t> </a:t>
            </a:r>
            <a:r>
              <a:rPr lang="en-US" b="0" i="0" dirty="0" err="1">
                <a:solidFill>
                  <a:srgbClr val="374151"/>
                </a:solidFill>
                <a:effectLst/>
                <a:latin typeface="Söhne"/>
              </a:rPr>
              <a:t>este</a:t>
            </a:r>
            <a:r>
              <a:rPr lang="en-US" b="0" i="0" dirty="0">
                <a:solidFill>
                  <a:srgbClr val="374151"/>
                </a:solidFill>
                <a:effectLst/>
                <a:latin typeface="Söhne"/>
              </a:rPr>
              <a:t> </a:t>
            </a:r>
            <a:r>
              <a:rPr lang="en-US" b="0" i="0" dirty="0" err="1">
                <a:solidFill>
                  <a:srgbClr val="374151"/>
                </a:solidFill>
                <a:effectLst/>
                <a:latin typeface="Söhne"/>
              </a:rPr>
              <a:t>caso</a:t>
            </a:r>
            <a:r>
              <a:rPr lang="en-US" b="0" i="0" dirty="0">
                <a:solidFill>
                  <a:srgbClr val="374151"/>
                </a:solidFill>
                <a:effectLst/>
                <a:latin typeface="Söhne"/>
              </a:rPr>
              <a:t>, Juan </a:t>
            </a:r>
            <a:r>
              <a:rPr lang="en-US" b="0" i="0" dirty="0" err="1">
                <a:solidFill>
                  <a:srgbClr val="374151"/>
                </a:solidFill>
                <a:effectLst/>
                <a:latin typeface="Söhne"/>
              </a:rPr>
              <a:t>sería</a:t>
            </a:r>
            <a:r>
              <a:rPr lang="en-US" b="0" i="0" dirty="0">
                <a:solidFill>
                  <a:srgbClr val="374151"/>
                </a:solidFill>
                <a:effectLst/>
                <a:latin typeface="Söhne"/>
              </a:rPr>
              <a:t> </a:t>
            </a:r>
            <a:r>
              <a:rPr lang="en-US" b="0" i="0" dirty="0" err="1">
                <a:solidFill>
                  <a:srgbClr val="374151"/>
                </a:solidFill>
                <a:effectLst/>
                <a:latin typeface="Söhne"/>
              </a:rPr>
              <a:t>ubicado</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la </a:t>
            </a:r>
            <a:r>
              <a:rPr lang="en-US" b="0" i="0" dirty="0" err="1">
                <a:solidFill>
                  <a:srgbClr val="374151"/>
                </a:solidFill>
                <a:effectLst/>
                <a:latin typeface="Söhne"/>
              </a:rPr>
              <a:t>casilla</a:t>
            </a:r>
            <a:r>
              <a:rPr lang="en-US" b="0" i="0" dirty="0">
                <a:solidFill>
                  <a:srgbClr val="374151"/>
                </a:solidFill>
                <a:effectLst/>
                <a:latin typeface="Söhne"/>
              </a:rPr>
              <a:t> del </a:t>
            </a:r>
            <a:r>
              <a:rPr lang="en-US" b="0" i="0" dirty="0" err="1">
                <a:solidFill>
                  <a:srgbClr val="374151"/>
                </a:solidFill>
                <a:effectLst/>
                <a:latin typeface="Söhne"/>
              </a:rPr>
              <a:t>centro</a:t>
            </a:r>
            <a:r>
              <a:rPr lang="en-US" b="0" i="0" dirty="0">
                <a:solidFill>
                  <a:srgbClr val="374151"/>
                </a:solidFill>
                <a:effectLst/>
                <a:latin typeface="Söhne"/>
              </a:rPr>
              <a:t> (</a:t>
            </a:r>
            <a:r>
              <a:rPr lang="en-US" b="0" i="0" dirty="0" err="1">
                <a:solidFill>
                  <a:srgbClr val="374151"/>
                </a:solidFill>
                <a:effectLst/>
                <a:latin typeface="Söhne"/>
              </a:rPr>
              <a:t>rendimiento</a:t>
            </a:r>
            <a:r>
              <a:rPr lang="en-US" b="0" i="0" dirty="0">
                <a:solidFill>
                  <a:srgbClr val="374151"/>
                </a:solidFill>
                <a:effectLst/>
                <a:latin typeface="Söhne"/>
              </a:rPr>
              <a:t> </a:t>
            </a:r>
            <a:r>
              <a:rPr lang="en-US" b="0" i="0" dirty="0" err="1">
                <a:solidFill>
                  <a:srgbClr val="374151"/>
                </a:solidFill>
                <a:effectLst/>
                <a:latin typeface="Söhne"/>
              </a:rPr>
              <a:t>promedio</a:t>
            </a:r>
            <a:r>
              <a:rPr lang="en-US" b="0" i="0" dirty="0">
                <a:solidFill>
                  <a:srgbClr val="374151"/>
                </a:solidFill>
                <a:effectLst/>
                <a:latin typeface="Söhne"/>
              </a:rPr>
              <a:t>, </a:t>
            </a:r>
            <a:r>
              <a:rPr lang="en-US" b="0" i="0" dirty="0" err="1">
                <a:solidFill>
                  <a:srgbClr val="374151"/>
                </a:solidFill>
                <a:effectLst/>
                <a:latin typeface="Söhne"/>
              </a:rPr>
              <a:t>potencial</a:t>
            </a:r>
            <a:r>
              <a:rPr lang="en-US" b="0" i="0" dirty="0">
                <a:solidFill>
                  <a:srgbClr val="374151"/>
                </a:solidFill>
                <a:effectLst/>
                <a:latin typeface="Söhne"/>
              </a:rPr>
              <a:t> </a:t>
            </a:r>
            <a:r>
              <a:rPr lang="en-US" b="0" i="0" dirty="0" err="1">
                <a:solidFill>
                  <a:srgbClr val="374151"/>
                </a:solidFill>
                <a:effectLst/>
                <a:latin typeface="Söhne"/>
              </a:rPr>
              <a:t>moderado</a:t>
            </a:r>
            <a:r>
              <a:rPr lang="en-US" b="0" i="0" dirty="0">
                <a:solidFill>
                  <a:srgbClr val="374151"/>
                </a:solidFill>
                <a:effectLst/>
                <a:latin typeface="Söhne"/>
              </a:rPr>
              <a:t>), lo que indica que </a:t>
            </a:r>
            <a:r>
              <a:rPr lang="en-US" b="0" i="0" dirty="0" err="1">
                <a:solidFill>
                  <a:srgbClr val="374151"/>
                </a:solidFill>
                <a:effectLst/>
                <a:latin typeface="Söhne"/>
              </a:rPr>
              <a:t>podría</a:t>
            </a:r>
            <a:r>
              <a:rPr lang="en-US" b="0" i="0" dirty="0">
                <a:solidFill>
                  <a:srgbClr val="374151"/>
                </a:solidFill>
                <a:effectLst/>
                <a:latin typeface="Söhne"/>
              </a:rPr>
              <a:t> </a:t>
            </a:r>
            <a:r>
              <a:rPr lang="en-US" b="0" i="0" dirty="0" err="1">
                <a:solidFill>
                  <a:srgbClr val="374151"/>
                </a:solidFill>
                <a:effectLst/>
                <a:latin typeface="Söhne"/>
              </a:rPr>
              <a:t>beneficiarse</a:t>
            </a:r>
            <a:r>
              <a:rPr lang="en-US" b="0" i="0" dirty="0">
                <a:solidFill>
                  <a:srgbClr val="374151"/>
                </a:solidFill>
                <a:effectLst/>
                <a:latin typeface="Söhne"/>
              </a:rPr>
              <a:t> de un </a:t>
            </a:r>
            <a:r>
              <a:rPr lang="en-US" b="0" i="0" dirty="0" err="1">
                <a:solidFill>
                  <a:srgbClr val="374151"/>
                </a:solidFill>
                <a:effectLst/>
                <a:latin typeface="Söhne"/>
              </a:rPr>
              <a:t>desarrollo</a:t>
            </a:r>
            <a:r>
              <a:rPr lang="en-US" b="0" i="0" dirty="0">
                <a:solidFill>
                  <a:srgbClr val="374151"/>
                </a:solidFill>
                <a:effectLst/>
                <a:latin typeface="Söhne"/>
              </a:rPr>
              <a:t> </a:t>
            </a:r>
            <a:r>
              <a:rPr lang="en-US" b="0" i="0" dirty="0" err="1">
                <a:solidFill>
                  <a:srgbClr val="374151"/>
                </a:solidFill>
                <a:effectLst/>
                <a:latin typeface="Söhne"/>
              </a:rPr>
              <a:t>adicional</a:t>
            </a:r>
            <a:r>
              <a:rPr lang="en-US" b="0" i="0" dirty="0">
                <a:solidFill>
                  <a:srgbClr val="374151"/>
                </a:solidFill>
                <a:effectLst/>
                <a:latin typeface="Söhne"/>
              </a:rPr>
              <a:t> para </a:t>
            </a:r>
            <a:r>
              <a:rPr lang="en-US" b="0" i="0" dirty="0" err="1">
                <a:solidFill>
                  <a:srgbClr val="374151"/>
                </a:solidFill>
                <a:effectLst/>
                <a:latin typeface="Söhne"/>
              </a:rPr>
              <a:t>desbloquear</a:t>
            </a:r>
            <a:r>
              <a:rPr lang="en-US" b="0" i="0" dirty="0">
                <a:solidFill>
                  <a:srgbClr val="374151"/>
                </a:solidFill>
                <a:effectLst/>
                <a:latin typeface="Söhne"/>
              </a:rPr>
              <a:t> </a:t>
            </a:r>
            <a:r>
              <a:rPr lang="en-US" b="0" i="0" dirty="0" err="1">
                <a:solidFill>
                  <a:srgbClr val="374151"/>
                </a:solidFill>
                <a:effectLst/>
                <a:latin typeface="Söhne"/>
              </a:rPr>
              <a:t>su</a:t>
            </a:r>
            <a:r>
              <a:rPr lang="en-US" b="0" i="0" dirty="0">
                <a:solidFill>
                  <a:srgbClr val="374151"/>
                </a:solidFill>
                <a:effectLst/>
                <a:latin typeface="Söhne"/>
              </a:rPr>
              <a:t> </a:t>
            </a:r>
            <a:r>
              <a:rPr lang="en-US" b="0" i="0" dirty="0" err="1">
                <a:solidFill>
                  <a:srgbClr val="374151"/>
                </a:solidFill>
                <a:effectLst/>
                <a:latin typeface="Söhne"/>
              </a:rPr>
              <a:t>potencial</a:t>
            </a:r>
            <a:r>
              <a:rPr lang="en-US" b="0" i="0" dirty="0">
                <a:solidFill>
                  <a:srgbClr val="374151"/>
                </a:solidFill>
                <a:effectLst/>
                <a:latin typeface="Söhne"/>
              </a:rPr>
              <a:t>.</a:t>
            </a:r>
          </a:p>
          <a:p>
            <a:pPr algn="l">
              <a:buFont typeface="Arial" panose="020B0604020202020204" pitchFamily="34" charset="0"/>
              <a:buChar char="•"/>
            </a:pPr>
            <a:endParaRPr lang="en-US" b="1" i="0" dirty="0">
              <a:effectLst/>
              <a:latin typeface="Söhne"/>
            </a:endParaRPr>
          </a:p>
          <a:p>
            <a:pPr algn="l">
              <a:buFont typeface="Arial" panose="020B0604020202020204" pitchFamily="34" charset="0"/>
              <a:buChar char="•"/>
            </a:pPr>
            <a:r>
              <a:rPr lang="en-US" b="0" i="0" dirty="0" err="1">
                <a:solidFill>
                  <a:srgbClr val="374151"/>
                </a:solidFill>
                <a:effectLst/>
                <a:latin typeface="Söhne"/>
              </a:rPr>
              <a:t>Rendimiento</a:t>
            </a:r>
            <a:r>
              <a:rPr lang="en-US" b="0" i="0" dirty="0">
                <a:solidFill>
                  <a:srgbClr val="374151"/>
                </a:solidFill>
                <a:effectLst/>
                <a:latin typeface="Söhne"/>
              </a:rPr>
              <a:t> Actual: </a:t>
            </a:r>
            <a:r>
              <a:rPr lang="en-US" b="0" i="0" dirty="0" err="1">
                <a:solidFill>
                  <a:srgbClr val="374151"/>
                </a:solidFill>
                <a:effectLst/>
                <a:latin typeface="Söhne"/>
              </a:rPr>
              <a:t>Rendimiento</a:t>
            </a:r>
            <a:r>
              <a:rPr lang="en-US" b="0" i="0" dirty="0">
                <a:solidFill>
                  <a:srgbClr val="374151"/>
                </a:solidFill>
                <a:effectLst/>
                <a:latin typeface="Söhne"/>
              </a:rPr>
              <a:t> </a:t>
            </a:r>
            <a:r>
              <a:rPr lang="en-US" b="0" i="0" dirty="0" err="1">
                <a:solidFill>
                  <a:srgbClr val="374151"/>
                </a:solidFill>
                <a:effectLst/>
                <a:latin typeface="Söhne"/>
              </a:rPr>
              <a:t>promedio</a:t>
            </a:r>
            <a:endParaRPr lang="en-US" b="0" i="0" dirty="0">
              <a:solidFill>
                <a:srgbClr val="374151"/>
              </a:solidFill>
              <a:effectLst/>
              <a:latin typeface="Söhne"/>
            </a:endParaRPr>
          </a:p>
          <a:p>
            <a:pPr algn="l">
              <a:buFont typeface="Arial" panose="020B0604020202020204" pitchFamily="34" charset="0"/>
              <a:buChar char="•"/>
            </a:pPr>
            <a:r>
              <a:rPr lang="en-US" b="0" i="0" dirty="0" err="1">
                <a:solidFill>
                  <a:srgbClr val="374151"/>
                </a:solidFill>
                <a:effectLst/>
                <a:latin typeface="Söhne"/>
              </a:rPr>
              <a:t>Potencial</a:t>
            </a:r>
            <a:r>
              <a:rPr lang="en-US" b="0" i="0" dirty="0">
                <a:solidFill>
                  <a:srgbClr val="374151"/>
                </a:solidFill>
                <a:effectLst/>
                <a:latin typeface="Söhne"/>
              </a:rPr>
              <a:t> de </a:t>
            </a:r>
            <a:r>
              <a:rPr lang="en-US" b="0" i="0" dirty="0" err="1">
                <a:solidFill>
                  <a:srgbClr val="374151"/>
                </a:solidFill>
                <a:effectLst/>
                <a:latin typeface="Söhne"/>
              </a:rPr>
              <a:t>Crecimiento</a:t>
            </a:r>
            <a:r>
              <a:rPr lang="en-US" b="0" i="0" dirty="0">
                <a:solidFill>
                  <a:srgbClr val="374151"/>
                </a:solidFill>
                <a:effectLst/>
                <a:latin typeface="Söhne"/>
              </a:rPr>
              <a:t>: </a:t>
            </a:r>
            <a:r>
              <a:rPr lang="en-US" b="0" i="0" dirty="0" err="1">
                <a:solidFill>
                  <a:srgbClr val="374151"/>
                </a:solidFill>
                <a:effectLst/>
                <a:latin typeface="Söhne"/>
              </a:rPr>
              <a:t>Potencial</a:t>
            </a:r>
            <a:r>
              <a:rPr lang="en-US" b="0" i="0" dirty="0">
                <a:solidFill>
                  <a:srgbClr val="374151"/>
                </a:solidFill>
                <a:effectLst/>
                <a:latin typeface="Söhne"/>
              </a:rPr>
              <a:t> </a:t>
            </a:r>
            <a:r>
              <a:rPr lang="en-US" b="0" i="0" dirty="0" err="1">
                <a:solidFill>
                  <a:srgbClr val="374151"/>
                </a:solidFill>
                <a:effectLst/>
                <a:latin typeface="Söhne"/>
              </a:rPr>
              <a:t>moderado</a:t>
            </a:r>
            <a:endParaRPr lang="en-US" b="0" i="0" dirty="0">
              <a:solidFill>
                <a:srgbClr val="374151"/>
              </a:solidFill>
              <a:effectLst/>
              <a:latin typeface="Söhne"/>
            </a:endParaRPr>
          </a:p>
          <a:p>
            <a:pPr algn="l">
              <a:buFont typeface="Arial" panose="020B0604020202020204" pitchFamily="34" charset="0"/>
              <a:buChar char="•"/>
            </a:pPr>
            <a:endParaRPr lang="en-US" b="0" i="0" dirty="0">
              <a:solidFill>
                <a:srgbClr val="374151"/>
              </a:solidFill>
              <a:effectLst/>
              <a:latin typeface="Söhne"/>
            </a:endParaRP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0" i="0" dirty="0" err="1">
                <a:solidFill>
                  <a:srgbClr val="374151"/>
                </a:solidFill>
                <a:effectLst/>
                <a:latin typeface="Söhne"/>
              </a:rPr>
              <a:t>Usando</a:t>
            </a:r>
            <a:r>
              <a:rPr lang="en-US" b="0" i="0" dirty="0">
                <a:solidFill>
                  <a:srgbClr val="374151"/>
                </a:solidFill>
                <a:effectLst/>
                <a:latin typeface="Söhne"/>
              </a:rPr>
              <a:t> </a:t>
            </a:r>
            <a:r>
              <a:rPr lang="en-US" b="0" i="0" dirty="0" err="1">
                <a:solidFill>
                  <a:srgbClr val="374151"/>
                </a:solidFill>
                <a:effectLst/>
                <a:latin typeface="Söhne"/>
              </a:rPr>
              <a:t>este</a:t>
            </a:r>
            <a:r>
              <a:rPr lang="en-US" b="0" i="0" dirty="0">
                <a:solidFill>
                  <a:srgbClr val="374151"/>
                </a:solidFill>
                <a:effectLst/>
                <a:latin typeface="Söhne"/>
              </a:rPr>
              <a:t> </a:t>
            </a:r>
            <a:r>
              <a:rPr lang="en-US" b="0" i="0" dirty="0" err="1">
                <a:solidFill>
                  <a:srgbClr val="374151"/>
                </a:solidFill>
                <a:effectLst/>
                <a:latin typeface="Söhne"/>
              </a:rPr>
              <a:t>ejemplo</a:t>
            </a:r>
            <a:r>
              <a:rPr lang="en-US" b="0" i="0" dirty="0">
                <a:solidFill>
                  <a:srgbClr val="374151"/>
                </a:solidFill>
                <a:effectLst/>
                <a:latin typeface="Söhne"/>
              </a:rPr>
              <a:t>, </a:t>
            </a:r>
            <a:r>
              <a:rPr lang="en-US" b="0" i="0" dirty="0" err="1">
                <a:solidFill>
                  <a:srgbClr val="374151"/>
                </a:solidFill>
                <a:effectLst/>
                <a:latin typeface="Söhne"/>
              </a:rPr>
              <a:t>puedes</a:t>
            </a:r>
            <a:r>
              <a:rPr lang="en-US" b="0" i="0" dirty="0">
                <a:solidFill>
                  <a:srgbClr val="374151"/>
                </a:solidFill>
                <a:effectLst/>
                <a:latin typeface="Söhne"/>
              </a:rPr>
              <a:t> </a:t>
            </a:r>
            <a:r>
              <a:rPr lang="en-US" b="0" i="0" dirty="0" err="1">
                <a:solidFill>
                  <a:srgbClr val="374151"/>
                </a:solidFill>
                <a:effectLst/>
                <a:latin typeface="Söhne"/>
              </a:rPr>
              <a:t>explicar</a:t>
            </a:r>
            <a:r>
              <a:rPr lang="en-US" b="0" i="0" dirty="0">
                <a:solidFill>
                  <a:srgbClr val="374151"/>
                </a:solidFill>
                <a:effectLst/>
                <a:latin typeface="Söhne"/>
              </a:rPr>
              <a:t> </a:t>
            </a:r>
            <a:r>
              <a:rPr lang="en-US" b="0" i="0" dirty="0" err="1">
                <a:solidFill>
                  <a:srgbClr val="374151"/>
                </a:solidFill>
                <a:effectLst/>
                <a:latin typeface="Söhne"/>
              </a:rPr>
              <a:t>cómo</a:t>
            </a:r>
            <a:r>
              <a:rPr lang="en-US" b="0" i="0" dirty="0">
                <a:solidFill>
                  <a:srgbClr val="374151"/>
                </a:solidFill>
                <a:effectLst/>
                <a:latin typeface="Söhne"/>
              </a:rPr>
              <a:t> la </a:t>
            </a:r>
            <a:r>
              <a:rPr lang="en-US" b="0" i="0" dirty="0" err="1">
                <a:solidFill>
                  <a:srgbClr val="374151"/>
                </a:solidFill>
                <a:effectLst/>
                <a:latin typeface="Söhne"/>
              </a:rPr>
              <a:t>matriz</a:t>
            </a:r>
            <a:r>
              <a:rPr lang="en-US" b="0" i="0" dirty="0">
                <a:solidFill>
                  <a:srgbClr val="374151"/>
                </a:solidFill>
                <a:effectLst/>
                <a:latin typeface="Söhne"/>
              </a:rPr>
              <a:t> de </a:t>
            </a:r>
            <a:r>
              <a:rPr lang="en-US" b="0" i="0" dirty="0" err="1">
                <a:solidFill>
                  <a:srgbClr val="374151"/>
                </a:solidFill>
                <a:effectLst/>
                <a:latin typeface="Söhne"/>
              </a:rPr>
              <a:t>nueve</a:t>
            </a:r>
            <a:r>
              <a:rPr lang="en-US" b="0" i="0" dirty="0">
                <a:solidFill>
                  <a:srgbClr val="374151"/>
                </a:solidFill>
                <a:effectLst/>
                <a:latin typeface="Söhne"/>
              </a:rPr>
              <a:t> </a:t>
            </a:r>
            <a:r>
              <a:rPr lang="en-US" b="0" i="0" dirty="0" err="1">
                <a:solidFill>
                  <a:srgbClr val="374151"/>
                </a:solidFill>
                <a:effectLst/>
                <a:latin typeface="Söhne"/>
              </a:rPr>
              <a:t>casillas</a:t>
            </a:r>
            <a:r>
              <a:rPr lang="en-US" b="0" i="0" dirty="0">
                <a:solidFill>
                  <a:srgbClr val="374151"/>
                </a:solidFill>
                <a:effectLst/>
                <a:latin typeface="Söhne"/>
              </a:rPr>
              <a:t> </a:t>
            </a:r>
            <a:r>
              <a:rPr lang="en-US" b="0" i="0" dirty="0" err="1">
                <a:solidFill>
                  <a:srgbClr val="374151"/>
                </a:solidFill>
                <a:effectLst/>
                <a:latin typeface="Söhne"/>
              </a:rPr>
              <a:t>ayuda</a:t>
            </a:r>
            <a:r>
              <a:rPr lang="en-US" b="0" i="0" dirty="0">
                <a:solidFill>
                  <a:srgbClr val="374151"/>
                </a:solidFill>
                <a:effectLst/>
                <a:latin typeface="Söhne"/>
              </a:rPr>
              <a:t> a la </a:t>
            </a:r>
            <a:r>
              <a:rPr lang="en-US" b="0" i="0" dirty="0" err="1">
                <a:solidFill>
                  <a:srgbClr val="374151"/>
                </a:solidFill>
                <a:effectLst/>
                <a:latin typeface="Söhne"/>
              </a:rPr>
              <a:t>empresa</a:t>
            </a:r>
            <a:r>
              <a:rPr lang="en-US" b="0" i="0" dirty="0">
                <a:solidFill>
                  <a:srgbClr val="374151"/>
                </a:solidFill>
                <a:effectLst/>
                <a:latin typeface="Söhne"/>
              </a:rPr>
              <a:t> a </a:t>
            </a:r>
            <a:r>
              <a:rPr lang="en-US" b="0" i="0" dirty="0" err="1">
                <a:solidFill>
                  <a:srgbClr val="374151"/>
                </a:solidFill>
                <a:effectLst/>
                <a:latin typeface="Söhne"/>
              </a:rPr>
              <a:t>identificar</a:t>
            </a:r>
            <a:r>
              <a:rPr lang="en-US" b="0" i="0" dirty="0">
                <a:solidFill>
                  <a:srgbClr val="374151"/>
                </a:solidFill>
                <a:effectLst/>
                <a:latin typeface="Söhne"/>
              </a:rPr>
              <a:t> a </a:t>
            </a:r>
            <a:r>
              <a:rPr lang="en-US" b="0" i="0" dirty="0" err="1">
                <a:solidFill>
                  <a:srgbClr val="374151"/>
                </a:solidFill>
                <a:effectLst/>
                <a:latin typeface="Söhne"/>
              </a:rPr>
              <a:t>los</a:t>
            </a:r>
            <a:r>
              <a:rPr lang="en-US" b="0" i="0" dirty="0">
                <a:solidFill>
                  <a:srgbClr val="374151"/>
                </a:solidFill>
                <a:effectLst/>
                <a:latin typeface="Söhne"/>
              </a:rPr>
              <a:t> </a:t>
            </a:r>
            <a:r>
              <a:rPr lang="en-US" b="0" i="0" dirty="0" err="1">
                <a:solidFill>
                  <a:srgbClr val="374151"/>
                </a:solidFill>
                <a:effectLst/>
                <a:latin typeface="Söhne"/>
              </a:rPr>
              <a:t>empleados</a:t>
            </a:r>
            <a:r>
              <a:rPr lang="en-US" b="0" i="0" dirty="0">
                <a:solidFill>
                  <a:srgbClr val="374151"/>
                </a:solidFill>
                <a:effectLst/>
                <a:latin typeface="Söhne"/>
              </a:rPr>
              <a:t> de alto </a:t>
            </a:r>
            <a:r>
              <a:rPr lang="en-US" b="0" i="0" dirty="0" err="1">
                <a:solidFill>
                  <a:srgbClr val="374151"/>
                </a:solidFill>
                <a:effectLst/>
                <a:latin typeface="Söhne"/>
              </a:rPr>
              <a:t>potencial</a:t>
            </a:r>
            <a:r>
              <a:rPr lang="en-US" b="0" i="0" dirty="0">
                <a:solidFill>
                  <a:srgbClr val="374151"/>
                </a:solidFill>
                <a:effectLst/>
                <a:latin typeface="Söhne"/>
              </a:rPr>
              <a:t> que </a:t>
            </a:r>
            <a:r>
              <a:rPr lang="en-US" b="0" i="0" dirty="0" err="1">
                <a:solidFill>
                  <a:srgbClr val="374151"/>
                </a:solidFill>
                <a:effectLst/>
                <a:latin typeface="Söhne"/>
              </a:rPr>
              <a:t>podrían</a:t>
            </a:r>
            <a:r>
              <a:rPr lang="en-US" b="0" i="0" dirty="0">
                <a:solidFill>
                  <a:srgbClr val="374151"/>
                </a:solidFill>
                <a:effectLst/>
                <a:latin typeface="Söhne"/>
              </a:rPr>
              <a:t> ser </a:t>
            </a:r>
            <a:r>
              <a:rPr lang="en-US" b="0" i="0" dirty="0" err="1">
                <a:solidFill>
                  <a:srgbClr val="374151"/>
                </a:solidFill>
                <a:effectLst/>
                <a:latin typeface="Söhne"/>
              </a:rPr>
              <a:t>candidatos</a:t>
            </a:r>
            <a:r>
              <a:rPr lang="en-US" b="0" i="0" dirty="0">
                <a:solidFill>
                  <a:srgbClr val="374151"/>
                </a:solidFill>
                <a:effectLst/>
                <a:latin typeface="Söhne"/>
              </a:rPr>
              <a:t> para roles de </a:t>
            </a:r>
            <a:r>
              <a:rPr lang="en-US" b="0" i="0" dirty="0" err="1">
                <a:solidFill>
                  <a:srgbClr val="374151"/>
                </a:solidFill>
                <a:effectLst/>
                <a:latin typeface="Söhne"/>
              </a:rPr>
              <a:t>liderazgo</a:t>
            </a:r>
            <a:r>
              <a:rPr lang="en-US" b="0" i="0" dirty="0">
                <a:solidFill>
                  <a:srgbClr val="374151"/>
                </a:solidFill>
                <a:effectLst/>
                <a:latin typeface="Söhne"/>
              </a:rPr>
              <a:t> y </a:t>
            </a:r>
            <a:r>
              <a:rPr lang="en-US" b="0" i="0" dirty="0" err="1">
                <a:solidFill>
                  <a:srgbClr val="374151"/>
                </a:solidFill>
                <a:effectLst/>
                <a:latin typeface="Söhne"/>
              </a:rPr>
              <a:t>desarrollo</a:t>
            </a:r>
            <a:r>
              <a:rPr lang="en-US" b="0" i="0" dirty="0">
                <a:solidFill>
                  <a:srgbClr val="374151"/>
                </a:solidFill>
                <a:effectLst/>
                <a:latin typeface="Söhne"/>
              </a:rPr>
              <a:t>, </a:t>
            </a:r>
            <a:r>
              <a:rPr lang="en-US" b="0" i="0" dirty="0" err="1">
                <a:solidFill>
                  <a:srgbClr val="374151"/>
                </a:solidFill>
                <a:effectLst/>
                <a:latin typeface="Söhne"/>
              </a:rPr>
              <a:t>así</a:t>
            </a:r>
            <a:r>
              <a:rPr lang="en-US" b="0" i="0" dirty="0">
                <a:solidFill>
                  <a:srgbClr val="374151"/>
                </a:solidFill>
                <a:effectLst/>
                <a:latin typeface="Söhne"/>
              </a:rPr>
              <a:t> </a:t>
            </a:r>
            <a:r>
              <a:rPr lang="en-US" b="0" i="0" dirty="0" err="1">
                <a:solidFill>
                  <a:srgbClr val="374151"/>
                </a:solidFill>
                <a:effectLst/>
                <a:latin typeface="Söhne"/>
              </a:rPr>
              <a:t>como</a:t>
            </a:r>
            <a:r>
              <a:rPr lang="en-US" b="0" i="0" dirty="0">
                <a:solidFill>
                  <a:srgbClr val="374151"/>
                </a:solidFill>
                <a:effectLst/>
                <a:latin typeface="Söhne"/>
              </a:rPr>
              <a:t> a </a:t>
            </a:r>
            <a:r>
              <a:rPr lang="en-US" b="0" i="0" dirty="0" err="1">
                <a:solidFill>
                  <a:srgbClr val="374151"/>
                </a:solidFill>
                <a:effectLst/>
                <a:latin typeface="Söhne"/>
              </a:rPr>
              <a:t>aquellos</a:t>
            </a:r>
            <a:r>
              <a:rPr lang="en-US" b="0" i="0" dirty="0">
                <a:solidFill>
                  <a:srgbClr val="374151"/>
                </a:solidFill>
                <a:effectLst/>
                <a:latin typeface="Söhne"/>
              </a:rPr>
              <a:t> que </a:t>
            </a:r>
            <a:r>
              <a:rPr lang="en-US" b="0" i="0" dirty="0" err="1">
                <a:solidFill>
                  <a:srgbClr val="374151"/>
                </a:solidFill>
                <a:effectLst/>
                <a:latin typeface="Söhne"/>
              </a:rPr>
              <a:t>pueden</a:t>
            </a:r>
            <a:r>
              <a:rPr lang="en-US" b="0" i="0" dirty="0">
                <a:solidFill>
                  <a:srgbClr val="374151"/>
                </a:solidFill>
                <a:effectLst/>
                <a:latin typeface="Söhne"/>
              </a:rPr>
              <a:t> </a:t>
            </a:r>
            <a:r>
              <a:rPr lang="en-US" b="0" i="0" dirty="0" err="1">
                <a:solidFill>
                  <a:srgbClr val="374151"/>
                </a:solidFill>
                <a:effectLst/>
                <a:latin typeface="Söhne"/>
              </a:rPr>
              <a:t>necesitar</a:t>
            </a:r>
            <a:r>
              <a:rPr lang="en-US" b="0" i="0" dirty="0">
                <a:solidFill>
                  <a:srgbClr val="374151"/>
                </a:solidFill>
                <a:effectLst/>
                <a:latin typeface="Söhne"/>
              </a:rPr>
              <a:t> </a:t>
            </a:r>
            <a:r>
              <a:rPr lang="en-US" b="0" i="0" dirty="0" err="1">
                <a:solidFill>
                  <a:srgbClr val="374151"/>
                </a:solidFill>
                <a:effectLst/>
                <a:latin typeface="Söhne"/>
              </a:rPr>
              <a:t>más</a:t>
            </a:r>
            <a:r>
              <a:rPr lang="en-US" b="0" i="0" dirty="0">
                <a:solidFill>
                  <a:srgbClr val="374151"/>
                </a:solidFill>
                <a:effectLst/>
                <a:latin typeface="Söhne"/>
              </a:rPr>
              <a:t> </a:t>
            </a:r>
            <a:r>
              <a:rPr lang="en-US" b="0" i="0" dirty="0" err="1">
                <a:solidFill>
                  <a:srgbClr val="374151"/>
                </a:solidFill>
                <a:effectLst/>
                <a:latin typeface="Söhne"/>
              </a:rPr>
              <a:t>apoyo</a:t>
            </a:r>
            <a:r>
              <a:rPr lang="en-US" b="0" i="0" dirty="0">
                <a:solidFill>
                  <a:srgbClr val="374151"/>
                </a:solidFill>
                <a:effectLst/>
                <a:latin typeface="Söhne"/>
              </a:rPr>
              <a:t> para </a:t>
            </a:r>
            <a:r>
              <a:rPr lang="en-US" b="0" i="0" dirty="0" err="1">
                <a:solidFill>
                  <a:srgbClr val="374151"/>
                </a:solidFill>
                <a:effectLst/>
                <a:latin typeface="Söhne"/>
              </a:rPr>
              <a:t>mejorar</a:t>
            </a:r>
            <a:r>
              <a:rPr lang="en-US" b="0" i="0" dirty="0">
                <a:solidFill>
                  <a:srgbClr val="374151"/>
                </a:solidFill>
                <a:effectLst/>
                <a:latin typeface="Söhne"/>
              </a:rPr>
              <a:t> </a:t>
            </a:r>
            <a:r>
              <a:rPr lang="en-US" b="0" i="0" dirty="0" err="1">
                <a:solidFill>
                  <a:srgbClr val="374151"/>
                </a:solidFill>
                <a:effectLst/>
                <a:latin typeface="Söhne"/>
              </a:rPr>
              <a:t>su</a:t>
            </a:r>
            <a:r>
              <a:rPr lang="en-US" b="0" i="0" dirty="0">
                <a:solidFill>
                  <a:srgbClr val="374151"/>
                </a:solidFill>
                <a:effectLst/>
                <a:latin typeface="Söhne"/>
              </a:rPr>
              <a:t> </a:t>
            </a:r>
            <a:r>
              <a:rPr lang="en-US" b="0" i="0" dirty="0" err="1">
                <a:solidFill>
                  <a:srgbClr val="374151"/>
                </a:solidFill>
                <a:effectLst/>
                <a:latin typeface="Söhne"/>
              </a:rPr>
              <a:t>rendimiento</a:t>
            </a:r>
            <a:r>
              <a:rPr lang="en-US" b="0" i="0" dirty="0">
                <a:solidFill>
                  <a:srgbClr val="374151"/>
                </a:solidFill>
                <a:effectLst/>
                <a:latin typeface="Söhne"/>
              </a:rPr>
              <a:t> y </a:t>
            </a:r>
            <a:r>
              <a:rPr lang="en-US" b="0" i="0" dirty="0" err="1">
                <a:solidFill>
                  <a:srgbClr val="374151"/>
                </a:solidFill>
                <a:effectLst/>
                <a:latin typeface="Söhne"/>
              </a:rPr>
              <a:t>potencial</a:t>
            </a:r>
            <a:r>
              <a:rPr lang="en-US" b="0" i="0" dirty="0">
                <a:solidFill>
                  <a:srgbClr val="374151"/>
                </a:solidFill>
                <a:effectLst/>
                <a:latin typeface="Söhne"/>
              </a:rPr>
              <a:t>.</a:t>
            </a:r>
          </a:p>
          <a:p>
            <a:endParaRPr lang="en-AR"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s-AR" sz="800" b="1" i="0" u="none" strike="noStrike" cap="none" smtClean="0">
                <a:solidFill>
                  <a:schemeClr val="dk1"/>
                </a:solidFill>
                <a:latin typeface="Arial"/>
                <a:ea typeface="Arial"/>
                <a:cs typeface="Arial"/>
                <a:sym typeface="Arial"/>
              </a:rPr>
              <a:t>20</a:t>
            </a:fld>
            <a:endParaRPr lang="es-AR" sz="800" b="1"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9821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38: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p38: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340" name="Google Shape;340;p38: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341" name="Google Shape;341;p38: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76846b1dce_0_24:notes"/>
          <p:cNvSpPr txBox="1">
            <a:spLocks noGrp="1"/>
          </p:cNvSpPr>
          <p:nvPr>
            <p:ph type="body" idx="1"/>
          </p:nvPr>
        </p:nvSpPr>
        <p:spPr>
          <a:xfrm>
            <a:off x="228576" y="4560570"/>
            <a:ext cx="6858000" cy="444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g276846b1dce_0_24:notes"/>
          <p:cNvSpPr>
            <a:spLocks noGrp="1" noRot="1" noChangeAspect="1"/>
          </p:cNvSpPr>
          <p:nvPr>
            <p:ph type="sldImg" idx="2"/>
          </p:nvPr>
        </p:nvSpPr>
        <p:spPr>
          <a:xfrm>
            <a:off x="884238" y="600075"/>
            <a:ext cx="5546700" cy="3840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9: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39: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361" name="Google Shape;361;p39: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362" name="Google Shape;362;p39: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40: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p40: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402" name="Google Shape;402;p40: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403" name="Google Shape;403;p40: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41: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8" name="Google Shape;418;p41: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s-AR"/>
              <a:t>Pregunta sobre las acciones de Desarrollo:</a:t>
            </a:r>
            <a:endParaRPr/>
          </a:p>
          <a:p>
            <a:pPr marL="0" lvl="0" indent="0" algn="l" rtl="0">
              <a:lnSpc>
                <a:spcPct val="100000"/>
              </a:lnSpc>
              <a:spcBef>
                <a:spcPts val="0"/>
              </a:spcBef>
              <a:spcAft>
                <a:spcPts val="0"/>
              </a:spcAft>
              <a:buSzPts val="1400"/>
              <a:buNone/>
            </a:pPr>
            <a:r>
              <a:rPr lang="es-AR"/>
              <a:t>¿Se acuerdan del modelo de aprendizaje 70/20/10? </a:t>
            </a:r>
            <a:endParaRPr/>
          </a:p>
          <a:p>
            <a:pPr marL="0" lvl="0" indent="0" algn="l" rtl="0">
              <a:lnSpc>
                <a:spcPct val="100000"/>
              </a:lnSpc>
              <a:spcBef>
                <a:spcPts val="0"/>
              </a:spcBef>
              <a:spcAft>
                <a:spcPts val="0"/>
              </a:spcAft>
              <a:buSzPts val="1400"/>
              <a:buNone/>
            </a:pPr>
            <a:r>
              <a:rPr lang="es-AR"/>
              <a:t>¿Qué tipo de acción es cada una?</a:t>
            </a:r>
            <a:endParaRPr/>
          </a:p>
        </p:txBody>
      </p:sp>
      <p:sp>
        <p:nvSpPr>
          <p:cNvPr id="419" name="Google Shape;419;p41: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420" name="Google Shape;420;p41: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276846b1dce_0_28: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276846b1dce_0_28:notes"/>
          <p:cNvSpPr txBox="1">
            <a:spLocks noGrp="1"/>
          </p:cNvSpPr>
          <p:nvPr>
            <p:ph type="body" idx="1"/>
          </p:nvPr>
        </p:nvSpPr>
        <p:spPr>
          <a:xfrm>
            <a:off x="228576" y="4560570"/>
            <a:ext cx="6858000" cy="444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g276846b1dce_0_28:notes"/>
          <p:cNvSpPr txBox="1">
            <a:spLocks noGrp="1"/>
          </p:cNvSpPr>
          <p:nvPr>
            <p:ph type="sldNum" idx="12"/>
          </p:nvPr>
        </p:nvSpPr>
        <p:spPr>
          <a:xfrm>
            <a:off x="4143587" y="9119474"/>
            <a:ext cx="3169800" cy="480000"/>
          </a:xfrm>
          <a:prstGeom prst="rect">
            <a:avLst/>
          </a:prstGeom>
        </p:spPr>
        <p:txBody>
          <a:bodyPr spcFirstLastPara="1" wrap="square" lIns="72000" tIns="36000" rIns="180000" bIns="180000" anchor="b" anchorCtr="0">
            <a:noAutofit/>
          </a:bodyPr>
          <a:lstStyle/>
          <a:p>
            <a:pPr marL="0" lvl="0" indent="0" algn="r" rtl="0">
              <a:spcBef>
                <a:spcPts val="0"/>
              </a:spcBef>
              <a:spcAft>
                <a:spcPts val="0"/>
              </a:spcAft>
              <a:buClr>
                <a:srgbClr val="000000"/>
              </a:buClr>
              <a:buSzPts val="800"/>
              <a:buFont typeface="Arial"/>
              <a:buNone/>
            </a:pPr>
            <a:fld id="{00000000-1234-1234-1234-123412341234}" type="slidenum">
              <a:rPr lang="es-A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276846b1dce_0_32:notes"/>
          <p:cNvSpPr txBox="1">
            <a:spLocks noGrp="1"/>
          </p:cNvSpPr>
          <p:nvPr>
            <p:ph type="body" idx="1"/>
          </p:nvPr>
        </p:nvSpPr>
        <p:spPr>
          <a:xfrm>
            <a:off x="228576" y="4560570"/>
            <a:ext cx="6858000" cy="444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g276846b1dce_0_32:notes"/>
          <p:cNvSpPr>
            <a:spLocks noGrp="1" noRot="1" noChangeAspect="1"/>
          </p:cNvSpPr>
          <p:nvPr>
            <p:ph type="sldImg" idx="2"/>
          </p:nvPr>
        </p:nvSpPr>
        <p:spPr>
          <a:xfrm>
            <a:off x="884238" y="600075"/>
            <a:ext cx="5546700" cy="3840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42: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7" name="Google Shape;447;p42: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43: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7" name="Google Shape;457;p43: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458" name="Google Shape;458;p43: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459" name="Google Shape;459;p43: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44: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4" name="Google Shape;474;p44: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45: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7" name="Google Shape;487;p45: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s-AR"/>
              <a:t>TENARIS https://www.youtube.com/watch?v=-_EjpMbDEU4</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s-AR"/>
              <a:t>BANCO GALICIA https://www.youtube.com/watch?v=bG3dNw_mgcU</a:t>
            </a:r>
            <a:endParaRPr/>
          </a:p>
          <a:p>
            <a:pPr marL="0" lvl="0" indent="0" algn="l" rtl="0">
              <a:lnSpc>
                <a:spcPct val="100000"/>
              </a:lnSpc>
              <a:spcBef>
                <a:spcPts val="0"/>
              </a:spcBef>
              <a:spcAft>
                <a:spcPts val="0"/>
              </a:spcAft>
              <a:buSzPts val="1400"/>
              <a:buNone/>
            </a:pPr>
            <a:r>
              <a:rPr lang="es-AR"/>
              <a:t>https://www.youtube.com/watch?v=ezpDh2CSuHE (galicia – ingeniero)</a:t>
            </a:r>
            <a:endParaRPr/>
          </a:p>
          <a:p>
            <a:pPr marL="0" lvl="0" indent="0" algn="l" rtl="0">
              <a:lnSpc>
                <a:spcPct val="100000"/>
              </a:lnSpc>
              <a:spcBef>
                <a:spcPts val="0"/>
              </a:spcBef>
              <a:spcAft>
                <a:spcPts val="0"/>
              </a:spcAft>
              <a:buSzPts val="1400"/>
              <a:buNone/>
            </a:pPr>
            <a:endParaRPr/>
          </a:p>
        </p:txBody>
      </p:sp>
      <p:sp>
        <p:nvSpPr>
          <p:cNvPr id="488" name="Google Shape;488;p45: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489" name="Google Shape;489;p45: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46: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6" name="Google Shape;496;p46: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47: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0" name="Google Shape;510;p47: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SzPts val="1400"/>
              <a:buNone/>
            </a:pPr>
            <a:r>
              <a:rPr lang="es-AR" sz="1200">
                <a:latin typeface="Calibri"/>
                <a:ea typeface="Calibri"/>
                <a:cs typeface="Calibri"/>
                <a:sym typeface="Calibri"/>
              </a:rPr>
              <a:t>La </a:t>
            </a:r>
            <a:r>
              <a:rPr lang="es-AR" sz="1200" i="1">
                <a:latin typeface="Calibri"/>
                <a:ea typeface="Calibri"/>
                <a:cs typeface="Calibri"/>
                <a:sym typeface="Calibri"/>
              </a:rPr>
              <a:t>capacitación </a:t>
            </a:r>
            <a:r>
              <a:rPr lang="es-AR" sz="1200">
                <a:latin typeface="Calibri"/>
                <a:ea typeface="Calibri"/>
                <a:cs typeface="Calibri"/>
                <a:sym typeface="Calibri"/>
              </a:rPr>
              <a:t>es el </a:t>
            </a:r>
            <a:r>
              <a:rPr lang="es-AR" sz="1200" i="1">
                <a:latin typeface="Calibri"/>
                <a:ea typeface="Calibri"/>
                <a:cs typeface="Calibri"/>
                <a:sym typeface="Calibri"/>
              </a:rPr>
              <a:t>proceso educativo de corto plazo, </a:t>
            </a:r>
            <a:r>
              <a:rPr lang="es-AR" sz="1200">
                <a:latin typeface="Calibri"/>
                <a:ea typeface="Calibri"/>
                <a:cs typeface="Calibri"/>
                <a:sym typeface="Calibri"/>
              </a:rPr>
              <a:t>aplicado de manera sistemática y organizada, por medio del cual las personas adquieren conocimientos, desarrollan habilidades y competencias en función de objetivos definidos. La </a:t>
            </a:r>
            <a:r>
              <a:rPr lang="es-AR" sz="1200" i="1">
                <a:latin typeface="Calibri"/>
                <a:ea typeface="Calibri"/>
                <a:cs typeface="Calibri"/>
                <a:sym typeface="Calibri"/>
              </a:rPr>
              <a:t>capacitación </a:t>
            </a:r>
            <a:r>
              <a:rPr lang="es-AR" sz="1200">
                <a:latin typeface="Calibri"/>
                <a:ea typeface="Calibri"/>
                <a:cs typeface="Calibri"/>
                <a:sym typeface="Calibri"/>
              </a:rPr>
              <a:t>entraña la transmisión de conocimientos específicos relativos al trabajo, actitudes frente a aspectos de la organización, de la tarea y del ambiente, así como desarrollo de habilidades y competencias.</a:t>
            </a:r>
            <a:endParaRPr/>
          </a:p>
          <a:p>
            <a:pPr marL="0" lvl="0" indent="0" algn="just" rtl="0">
              <a:lnSpc>
                <a:spcPct val="100000"/>
              </a:lnSpc>
              <a:spcBef>
                <a:spcPts val="0"/>
              </a:spcBef>
              <a:spcAft>
                <a:spcPts val="0"/>
              </a:spcAft>
              <a:buSzPts val="1400"/>
              <a:buNone/>
            </a:pPr>
            <a:r>
              <a:rPr lang="es-AR" sz="1200" i="1">
                <a:latin typeface="Calibri"/>
                <a:ea typeface="Calibri"/>
                <a:cs typeface="Calibri"/>
                <a:sym typeface="Calibri"/>
              </a:rPr>
              <a:t>La finalidad de la capacitación es ayudar a los empleados de todos los niveles a alcanzar los objetivos de la empresa, al proporcionarles la posibilidad de adquirir el conocimiento, la práctica y la conducta requeridos por la organización. (Chiavenato)</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s-AR" sz="1200" b="1" i="0">
                <a:solidFill>
                  <a:schemeClr val="dk1"/>
                </a:solidFill>
                <a:latin typeface="Arial"/>
                <a:ea typeface="Arial"/>
                <a:cs typeface="Arial"/>
                <a:sym typeface="Arial"/>
              </a:rPr>
              <a:t>El Desarrollo</a:t>
            </a:r>
            <a:r>
              <a:rPr lang="es-AR" sz="1200" b="0" i="0">
                <a:solidFill>
                  <a:schemeClr val="dk1"/>
                </a:solidFill>
                <a:latin typeface="Arial"/>
                <a:ea typeface="Arial"/>
                <a:cs typeface="Arial"/>
                <a:sym typeface="Arial"/>
              </a:rPr>
              <a:t> se refiere a la educación que recibe una persona para el crecimiento profesional a fin de estimular la efectividad en el cargo. Tiene objetivos a largo plazo y generalmente busca desarrollar actitudes relacionadas con una determinada filosofía que la empresa quiere desarrollar.</a:t>
            </a:r>
            <a:endParaRPr/>
          </a:p>
          <a:p>
            <a:pPr marL="0" lvl="0" indent="0" algn="l" rtl="0">
              <a:lnSpc>
                <a:spcPct val="100000"/>
              </a:lnSpc>
              <a:spcBef>
                <a:spcPts val="0"/>
              </a:spcBef>
              <a:spcAft>
                <a:spcPts val="0"/>
              </a:spcAft>
              <a:buSzPts val="1400"/>
              <a:buNone/>
            </a:pPr>
            <a:r>
              <a:rPr lang="es-AR" sz="1200" b="0" i="1" u="none" strike="noStrike">
                <a:solidFill>
                  <a:schemeClr val="dk1"/>
                </a:solidFill>
                <a:latin typeface="Arial"/>
                <a:ea typeface="Arial"/>
                <a:cs typeface="Arial"/>
                <a:sym typeface="Arial"/>
              </a:rPr>
              <a:t>Desarrollo profesional: </a:t>
            </a:r>
            <a:r>
              <a:rPr lang="es-AR" sz="1200" b="0" i="0" u="none" strike="noStrike">
                <a:solidFill>
                  <a:schemeClr val="dk1"/>
                </a:solidFill>
                <a:latin typeface="Arial"/>
                <a:ea typeface="Arial"/>
                <a:cs typeface="Arial"/>
                <a:sym typeface="Arial"/>
              </a:rPr>
              <a:t>es la </a:t>
            </a:r>
            <a:r>
              <a:rPr lang="es-AR" sz="1200" b="0" i="1" u="none" strike="noStrike">
                <a:solidFill>
                  <a:schemeClr val="dk1"/>
                </a:solidFill>
                <a:latin typeface="Arial"/>
                <a:ea typeface="Arial"/>
                <a:cs typeface="Arial"/>
                <a:sym typeface="Arial"/>
              </a:rPr>
              <a:t>educación profesional </a:t>
            </a:r>
            <a:r>
              <a:rPr lang="es-AR" sz="1200" b="0" i="0" u="none" strike="noStrike">
                <a:solidFill>
                  <a:schemeClr val="dk1"/>
                </a:solidFill>
                <a:latin typeface="Arial"/>
                <a:ea typeface="Arial"/>
                <a:cs typeface="Arial"/>
                <a:sym typeface="Arial"/>
              </a:rPr>
              <a:t>que perfecciona a la persona para ejercer una especialidad dentro de una profesión. La educación profesional busca ampliar, desarrollar y perfeccionar a la persona para su crecimiento profesional en determinada especialidad dentro de la organización o para que se vuelva más eficiente y productiva en su puesto. Sus objetivos son menos amplios que los de la formación, están ubicados en el mediano plazo y buscan proporcionar</a:t>
            </a:r>
            <a:endParaRPr/>
          </a:p>
          <a:p>
            <a:pPr marL="0" lvl="0" indent="0" algn="l" rtl="0">
              <a:lnSpc>
                <a:spcPct val="100000"/>
              </a:lnSpc>
              <a:spcBef>
                <a:spcPts val="0"/>
              </a:spcBef>
              <a:spcAft>
                <a:spcPts val="0"/>
              </a:spcAft>
              <a:buSzPts val="1400"/>
              <a:buNone/>
            </a:pPr>
            <a:r>
              <a:rPr lang="es-AR" sz="1200" b="0" i="0" u="none" strike="noStrike">
                <a:solidFill>
                  <a:schemeClr val="dk1"/>
                </a:solidFill>
                <a:latin typeface="Arial"/>
                <a:ea typeface="Arial"/>
                <a:cs typeface="Arial"/>
                <a:sym typeface="Arial"/>
              </a:rPr>
              <a:t>conocimientos que trasciendan a los que exige el puesto actual, al prepararla así para asumir funciones más complejas. Se imparte en las organizaciones o en empresas especializadas en desarrollo de personal. (Chiavenato)</a:t>
            </a:r>
            <a:endParaRPr/>
          </a:p>
        </p:txBody>
      </p:sp>
      <p:sp>
        <p:nvSpPr>
          <p:cNvPr id="511" name="Google Shape;511;p47: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512" name="Google Shape;512;p47: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66:notes"/>
          <p:cNvSpPr txBox="1">
            <a:spLocks noGrp="1"/>
          </p:cNvSpPr>
          <p:nvPr>
            <p:ph type="body" idx="1"/>
          </p:nvPr>
        </p:nvSpPr>
        <p:spPr>
          <a:xfrm>
            <a:off x="228576" y="4560570"/>
            <a:ext cx="6858048" cy="444058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7" name="Google Shape;527;p66: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48: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9" name="Google Shape;549;p48: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550" name="Google Shape;550;p48: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551" name="Google Shape;551;p48: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35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Cover-People">
  <p:cSld name="Cover-People">
    <p:spTree>
      <p:nvGrpSpPr>
        <p:cNvPr id="1" name="Shape 14"/>
        <p:cNvGrpSpPr/>
        <p:nvPr/>
      </p:nvGrpSpPr>
      <p:grpSpPr>
        <a:xfrm>
          <a:off x="0" y="0"/>
          <a:ext cx="0" cy="0"/>
          <a:chOff x="0" y="0"/>
          <a:chExt cx="0" cy="0"/>
        </a:xfrm>
      </p:grpSpPr>
      <p:sp>
        <p:nvSpPr>
          <p:cNvPr id="15" name="Google Shape;15;p50"/>
          <p:cNvSpPr/>
          <p:nvPr/>
        </p:nvSpPr>
        <p:spPr>
          <a:xfrm>
            <a:off x="-7943" y="6286500"/>
            <a:ext cx="9907200" cy="17463"/>
          </a:xfrm>
          <a:prstGeom prst="rect">
            <a:avLst/>
          </a:prstGeom>
          <a:gradFill>
            <a:gsLst>
              <a:gs pos="0">
                <a:srgbClr val="E5E6E8"/>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50"/>
          <p:cNvSpPr/>
          <p:nvPr/>
        </p:nvSpPr>
        <p:spPr>
          <a:xfrm>
            <a:off x="-24978" y="1196959"/>
            <a:ext cx="9907200" cy="17463"/>
          </a:xfrm>
          <a:prstGeom prst="rect">
            <a:avLst/>
          </a:prstGeom>
          <a:gradFill>
            <a:gsLst>
              <a:gs pos="0">
                <a:srgbClr val="E5E6E8"/>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Diapositiva de título">
  <p:cSld name="2_Diapositiva de título">
    <p:spTree>
      <p:nvGrpSpPr>
        <p:cNvPr id="1" name="Shape 17"/>
        <p:cNvGrpSpPr/>
        <p:nvPr/>
      </p:nvGrpSpPr>
      <p:grpSpPr>
        <a:xfrm>
          <a:off x="0" y="0"/>
          <a:ext cx="0" cy="0"/>
          <a:chOff x="0" y="0"/>
          <a:chExt cx="0" cy="0"/>
        </a:xfrm>
      </p:grpSpPr>
      <p:sp>
        <p:nvSpPr>
          <p:cNvPr id="18" name="Google Shape;18;p51"/>
          <p:cNvSpPr/>
          <p:nvPr/>
        </p:nvSpPr>
        <p:spPr>
          <a:xfrm>
            <a:off x="-24978" y="1196959"/>
            <a:ext cx="9907200" cy="17463"/>
          </a:xfrm>
          <a:prstGeom prst="rect">
            <a:avLst/>
          </a:prstGeom>
          <a:gradFill>
            <a:gsLst>
              <a:gs pos="0">
                <a:srgbClr val="E5E6E8"/>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9"/>
        <p:cNvGrpSpPr/>
        <p:nvPr/>
      </p:nvGrpSpPr>
      <p:grpSpPr>
        <a:xfrm>
          <a:off x="0" y="0"/>
          <a:ext cx="0" cy="0"/>
          <a:chOff x="0" y="0"/>
          <a:chExt cx="0" cy="0"/>
        </a:xfrm>
      </p:grpSpPr>
      <p:sp>
        <p:nvSpPr>
          <p:cNvPr id="20" name="Google Shape;20;p52"/>
          <p:cNvSpPr txBox="1">
            <a:spLocks noGrp="1"/>
          </p:cNvSpPr>
          <p:nvPr>
            <p:ph type="ctrTitle"/>
          </p:nvPr>
        </p:nvSpPr>
        <p:spPr>
          <a:xfrm>
            <a:off x="1238250" y="1122363"/>
            <a:ext cx="74295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875"/>
              <a:buFont typeface="Calibri"/>
              <a:buNone/>
              <a:defRPr sz="487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52"/>
          <p:cNvSpPr txBox="1">
            <a:spLocks noGrp="1"/>
          </p:cNvSpPr>
          <p:nvPr>
            <p:ph type="subTitle" idx="1"/>
          </p:nvPr>
        </p:nvSpPr>
        <p:spPr>
          <a:xfrm>
            <a:off x="1238250" y="3602038"/>
            <a:ext cx="74295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813"/>
              </a:spcBef>
              <a:spcAft>
                <a:spcPts val="0"/>
              </a:spcAft>
              <a:buClr>
                <a:schemeClr val="dk1"/>
              </a:buClr>
              <a:buSzPts val="1950"/>
              <a:buNone/>
              <a:defRPr sz="1950"/>
            </a:lvl1pPr>
            <a:lvl2pPr lvl="1" algn="ctr">
              <a:lnSpc>
                <a:spcPct val="90000"/>
              </a:lnSpc>
              <a:spcBef>
                <a:spcPts val="406"/>
              </a:spcBef>
              <a:spcAft>
                <a:spcPts val="0"/>
              </a:spcAft>
              <a:buClr>
                <a:schemeClr val="dk1"/>
              </a:buClr>
              <a:buSzPts val="1625"/>
              <a:buNone/>
              <a:defRPr sz="1625"/>
            </a:lvl2pPr>
            <a:lvl3pPr lvl="2" algn="ctr">
              <a:lnSpc>
                <a:spcPct val="90000"/>
              </a:lnSpc>
              <a:spcBef>
                <a:spcPts val="406"/>
              </a:spcBef>
              <a:spcAft>
                <a:spcPts val="0"/>
              </a:spcAft>
              <a:buClr>
                <a:schemeClr val="dk1"/>
              </a:buClr>
              <a:buSzPts val="1463"/>
              <a:buNone/>
              <a:defRPr sz="1463"/>
            </a:lvl3pPr>
            <a:lvl4pPr lvl="3" algn="ctr">
              <a:lnSpc>
                <a:spcPct val="90000"/>
              </a:lnSpc>
              <a:spcBef>
                <a:spcPts val="406"/>
              </a:spcBef>
              <a:spcAft>
                <a:spcPts val="0"/>
              </a:spcAft>
              <a:buClr>
                <a:schemeClr val="dk1"/>
              </a:buClr>
              <a:buSzPts val="1300"/>
              <a:buNone/>
              <a:defRPr sz="1300"/>
            </a:lvl4pPr>
            <a:lvl5pPr lvl="4" algn="ctr">
              <a:lnSpc>
                <a:spcPct val="90000"/>
              </a:lnSpc>
              <a:spcBef>
                <a:spcPts val="406"/>
              </a:spcBef>
              <a:spcAft>
                <a:spcPts val="0"/>
              </a:spcAft>
              <a:buClr>
                <a:schemeClr val="dk1"/>
              </a:buClr>
              <a:buSzPts val="1300"/>
              <a:buNone/>
              <a:defRPr sz="1300"/>
            </a:lvl5pPr>
            <a:lvl6pPr lvl="5" algn="ctr">
              <a:lnSpc>
                <a:spcPct val="90000"/>
              </a:lnSpc>
              <a:spcBef>
                <a:spcPts val="406"/>
              </a:spcBef>
              <a:spcAft>
                <a:spcPts val="0"/>
              </a:spcAft>
              <a:buClr>
                <a:schemeClr val="dk1"/>
              </a:buClr>
              <a:buSzPts val="1300"/>
              <a:buNone/>
              <a:defRPr sz="1300"/>
            </a:lvl6pPr>
            <a:lvl7pPr lvl="6" algn="ctr">
              <a:lnSpc>
                <a:spcPct val="90000"/>
              </a:lnSpc>
              <a:spcBef>
                <a:spcPts val="406"/>
              </a:spcBef>
              <a:spcAft>
                <a:spcPts val="0"/>
              </a:spcAft>
              <a:buClr>
                <a:schemeClr val="dk1"/>
              </a:buClr>
              <a:buSzPts val="1300"/>
              <a:buNone/>
              <a:defRPr sz="1300"/>
            </a:lvl7pPr>
            <a:lvl8pPr lvl="7" algn="ctr">
              <a:lnSpc>
                <a:spcPct val="90000"/>
              </a:lnSpc>
              <a:spcBef>
                <a:spcPts val="406"/>
              </a:spcBef>
              <a:spcAft>
                <a:spcPts val="0"/>
              </a:spcAft>
              <a:buClr>
                <a:schemeClr val="dk1"/>
              </a:buClr>
              <a:buSzPts val="1300"/>
              <a:buNone/>
              <a:defRPr sz="1300"/>
            </a:lvl8pPr>
            <a:lvl9pPr lvl="8" algn="ctr">
              <a:lnSpc>
                <a:spcPct val="90000"/>
              </a:lnSpc>
              <a:spcBef>
                <a:spcPts val="406"/>
              </a:spcBef>
              <a:spcAft>
                <a:spcPts val="0"/>
              </a:spcAft>
              <a:buClr>
                <a:schemeClr val="dk1"/>
              </a:buClr>
              <a:buSzPts val="1300"/>
              <a:buNone/>
              <a:defRPr sz="1300"/>
            </a:lvl9pPr>
          </a:lstStyle>
          <a:p>
            <a:endParaRPr/>
          </a:p>
        </p:txBody>
      </p:sp>
      <p:sp>
        <p:nvSpPr>
          <p:cNvPr id="22" name="Google Shape;22;p52"/>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52"/>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52"/>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solidFill>
                <a:srgbClr val="FFFFFF"/>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53"/>
          <p:cNvSpPr txBox="1">
            <a:spLocks noGrp="1"/>
          </p:cNvSpPr>
          <p:nvPr>
            <p:ph type="title"/>
          </p:nvPr>
        </p:nvSpPr>
        <p:spPr>
          <a:xfrm>
            <a:off x="681038" y="365126"/>
            <a:ext cx="854392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3"/>
          <p:cNvSpPr txBox="1">
            <a:spLocks noGrp="1"/>
          </p:cNvSpPr>
          <p:nvPr>
            <p:ph type="body" idx="1"/>
          </p:nvPr>
        </p:nvSpPr>
        <p:spPr>
          <a:xfrm>
            <a:off x="681038" y="1825625"/>
            <a:ext cx="8543925"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813"/>
              </a:spcBef>
              <a:spcAft>
                <a:spcPts val="0"/>
              </a:spcAft>
              <a:buClr>
                <a:schemeClr val="dk1"/>
              </a:buClr>
              <a:buSzPts val="1800"/>
              <a:buChar char="•"/>
              <a:defRPr/>
            </a:lvl1pPr>
            <a:lvl2pPr marL="914400" lvl="1" indent="-342900" algn="l">
              <a:lnSpc>
                <a:spcPct val="90000"/>
              </a:lnSpc>
              <a:spcBef>
                <a:spcPts val="406"/>
              </a:spcBef>
              <a:spcAft>
                <a:spcPts val="0"/>
              </a:spcAft>
              <a:buClr>
                <a:schemeClr val="dk1"/>
              </a:buClr>
              <a:buSzPts val="1800"/>
              <a:buChar char="•"/>
              <a:defRPr/>
            </a:lvl2pPr>
            <a:lvl3pPr marL="1371600" lvl="2" indent="-342900" algn="l">
              <a:lnSpc>
                <a:spcPct val="90000"/>
              </a:lnSpc>
              <a:spcBef>
                <a:spcPts val="406"/>
              </a:spcBef>
              <a:spcAft>
                <a:spcPts val="0"/>
              </a:spcAft>
              <a:buClr>
                <a:schemeClr val="dk1"/>
              </a:buClr>
              <a:buSzPts val="1800"/>
              <a:buChar char="•"/>
              <a:defRPr/>
            </a:lvl3pPr>
            <a:lvl4pPr marL="1828800" lvl="3" indent="-342900" algn="l">
              <a:lnSpc>
                <a:spcPct val="90000"/>
              </a:lnSpc>
              <a:spcBef>
                <a:spcPts val="406"/>
              </a:spcBef>
              <a:spcAft>
                <a:spcPts val="0"/>
              </a:spcAft>
              <a:buClr>
                <a:schemeClr val="dk1"/>
              </a:buClr>
              <a:buSzPts val="1800"/>
              <a:buChar char="•"/>
              <a:defRPr/>
            </a:lvl4pPr>
            <a:lvl5pPr marL="2286000" lvl="4" indent="-342900" algn="l">
              <a:lnSpc>
                <a:spcPct val="90000"/>
              </a:lnSpc>
              <a:spcBef>
                <a:spcPts val="406"/>
              </a:spcBef>
              <a:spcAft>
                <a:spcPts val="0"/>
              </a:spcAft>
              <a:buClr>
                <a:schemeClr val="dk1"/>
              </a:buClr>
              <a:buSzPts val="1800"/>
              <a:buChar char="•"/>
              <a:defRPr/>
            </a:lvl5pPr>
            <a:lvl6pPr marL="2743200" lvl="5" indent="-342900" algn="l">
              <a:lnSpc>
                <a:spcPct val="90000"/>
              </a:lnSpc>
              <a:spcBef>
                <a:spcPts val="406"/>
              </a:spcBef>
              <a:spcAft>
                <a:spcPts val="0"/>
              </a:spcAft>
              <a:buClr>
                <a:schemeClr val="dk1"/>
              </a:buClr>
              <a:buSzPts val="1800"/>
              <a:buChar char="•"/>
              <a:defRPr/>
            </a:lvl6pPr>
            <a:lvl7pPr marL="3200400" lvl="6" indent="-342900" algn="l">
              <a:lnSpc>
                <a:spcPct val="90000"/>
              </a:lnSpc>
              <a:spcBef>
                <a:spcPts val="406"/>
              </a:spcBef>
              <a:spcAft>
                <a:spcPts val="0"/>
              </a:spcAft>
              <a:buClr>
                <a:schemeClr val="dk1"/>
              </a:buClr>
              <a:buSzPts val="1800"/>
              <a:buChar char="•"/>
              <a:defRPr/>
            </a:lvl7pPr>
            <a:lvl8pPr marL="3657600" lvl="7" indent="-342900" algn="l">
              <a:lnSpc>
                <a:spcPct val="90000"/>
              </a:lnSpc>
              <a:spcBef>
                <a:spcPts val="406"/>
              </a:spcBef>
              <a:spcAft>
                <a:spcPts val="0"/>
              </a:spcAft>
              <a:buClr>
                <a:schemeClr val="dk1"/>
              </a:buClr>
              <a:buSzPts val="1800"/>
              <a:buChar char="•"/>
              <a:defRPr/>
            </a:lvl8pPr>
            <a:lvl9pPr marL="4114800" lvl="8" indent="-342900" algn="l">
              <a:lnSpc>
                <a:spcPct val="90000"/>
              </a:lnSpc>
              <a:spcBef>
                <a:spcPts val="406"/>
              </a:spcBef>
              <a:spcAft>
                <a:spcPts val="0"/>
              </a:spcAft>
              <a:buClr>
                <a:schemeClr val="dk1"/>
              </a:buClr>
              <a:buSzPts val="1800"/>
              <a:buChar char="•"/>
              <a:defRPr/>
            </a:lvl9pPr>
          </a:lstStyle>
          <a:p>
            <a:endParaRPr/>
          </a:p>
        </p:txBody>
      </p:sp>
      <p:sp>
        <p:nvSpPr>
          <p:cNvPr id="28" name="Google Shape;28;p53"/>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3"/>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53"/>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1"/>
        <p:cNvGrpSpPr/>
        <p:nvPr/>
      </p:nvGrpSpPr>
      <p:grpSpPr>
        <a:xfrm>
          <a:off x="0" y="0"/>
          <a:ext cx="0" cy="0"/>
          <a:chOff x="0" y="0"/>
          <a:chExt cx="0" cy="0"/>
        </a:xfrm>
      </p:grpSpPr>
      <p:sp>
        <p:nvSpPr>
          <p:cNvPr id="32" name="Google Shape;32;p54"/>
          <p:cNvSpPr txBox="1">
            <a:spLocks noGrp="1"/>
          </p:cNvSpPr>
          <p:nvPr>
            <p:ph type="title"/>
          </p:nvPr>
        </p:nvSpPr>
        <p:spPr>
          <a:xfrm>
            <a:off x="675878" y="1709739"/>
            <a:ext cx="8543925"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875"/>
              <a:buFont typeface="Calibri"/>
              <a:buNone/>
              <a:defRPr sz="487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4"/>
          <p:cNvSpPr txBox="1">
            <a:spLocks noGrp="1"/>
          </p:cNvSpPr>
          <p:nvPr>
            <p:ph type="body" idx="1"/>
          </p:nvPr>
        </p:nvSpPr>
        <p:spPr>
          <a:xfrm>
            <a:off x="675878" y="4589464"/>
            <a:ext cx="8543925"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813"/>
              </a:spcBef>
              <a:spcAft>
                <a:spcPts val="0"/>
              </a:spcAft>
              <a:buClr>
                <a:srgbClr val="888888"/>
              </a:buClr>
              <a:buSzPts val="1950"/>
              <a:buNone/>
              <a:defRPr sz="1950">
                <a:solidFill>
                  <a:srgbClr val="888888"/>
                </a:solidFill>
              </a:defRPr>
            </a:lvl1pPr>
            <a:lvl2pPr marL="914400" lvl="1" indent="-228600" algn="l">
              <a:lnSpc>
                <a:spcPct val="90000"/>
              </a:lnSpc>
              <a:spcBef>
                <a:spcPts val="406"/>
              </a:spcBef>
              <a:spcAft>
                <a:spcPts val="0"/>
              </a:spcAft>
              <a:buClr>
                <a:srgbClr val="888888"/>
              </a:buClr>
              <a:buSzPts val="1625"/>
              <a:buNone/>
              <a:defRPr sz="1625">
                <a:solidFill>
                  <a:srgbClr val="888888"/>
                </a:solidFill>
              </a:defRPr>
            </a:lvl2pPr>
            <a:lvl3pPr marL="1371600" lvl="2" indent="-228600" algn="l">
              <a:lnSpc>
                <a:spcPct val="90000"/>
              </a:lnSpc>
              <a:spcBef>
                <a:spcPts val="406"/>
              </a:spcBef>
              <a:spcAft>
                <a:spcPts val="0"/>
              </a:spcAft>
              <a:buClr>
                <a:srgbClr val="888888"/>
              </a:buClr>
              <a:buSzPts val="1463"/>
              <a:buNone/>
              <a:defRPr sz="1463">
                <a:solidFill>
                  <a:srgbClr val="888888"/>
                </a:solidFill>
              </a:defRPr>
            </a:lvl3pPr>
            <a:lvl4pPr marL="1828800" lvl="3" indent="-228600" algn="l">
              <a:lnSpc>
                <a:spcPct val="90000"/>
              </a:lnSpc>
              <a:spcBef>
                <a:spcPts val="406"/>
              </a:spcBef>
              <a:spcAft>
                <a:spcPts val="0"/>
              </a:spcAft>
              <a:buClr>
                <a:srgbClr val="888888"/>
              </a:buClr>
              <a:buSzPts val="1300"/>
              <a:buNone/>
              <a:defRPr sz="1300">
                <a:solidFill>
                  <a:srgbClr val="888888"/>
                </a:solidFill>
              </a:defRPr>
            </a:lvl4pPr>
            <a:lvl5pPr marL="2286000" lvl="4" indent="-228600" algn="l">
              <a:lnSpc>
                <a:spcPct val="90000"/>
              </a:lnSpc>
              <a:spcBef>
                <a:spcPts val="406"/>
              </a:spcBef>
              <a:spcAft>
                <a:spcPts val="0"/>
              </a:spcAft>
              <a:buClr>
                <a:srgbClr val="888888"/>
              </a:buClr>
              <a:buSzPts val="1300"/>
              <a:buNone/>
              <a:defRPr sz="1300">
                <a:solidFill>
                  <a:srgbClr val="888888"/>
                </a:solidFill>
              </a:defRPr>
            </a:lvl5pPr>
            <a:lvl6pPr marL="2743200" lvl="5" indent="-228600" algn="l">
              <a:lnSpc>
                <a:spcPct val="90000"/>
              </a:lnSpc>
              <a:spcBef>
                <a:spcPts val="406"/>
              </a:spcBef>
              <a:spcAft>
                <a:spcPts val="0"/>
              </a:spcAft>
              <a:buClr>
                <a:srgbClr val="888888"/>
              </a:buClr>
              <a:buSzPts val="1300"/>
              <a:buNone/>
              <a:defRPr sz="1300">
                <a:solidFill>
                  <a:srgbClr val="888888"/>
                </a:solidFill>
              </a:defRPr>
            </a:lvl6pPr>
            <a:lvl7pPr marL="3200400" lvl="6" indent="-228600" algn="l">
              <a:lnSpc>
                <a:spcPct val="90000"/>
              </a:lnSpc>
              <a:spcBef>
                <a:spcPts val="406"/>
              </a:spcBef>
              <a:spcAft>
                <a:spcPts val="0"/>
              </a:spcAft>
              <a:buClr>
                <a:srgbClr val="888888"/>
              </a:buClr>
              <a:buSzPts val="1300"/>
              <a:buNone/>
              <a:defRPr sz="1300">
                <a:solidFill>
                  <a:srgbClr val="888888"/>
                </a:solidFill>
              </a:defRPr>
            </a:lvl7pPr>
            <a:lvl8pPr marL="3657600" lvl="7" indent="-228600" algn="l">
              <a:lnSpc>
                <a:spcPct val="90000"/>
              </a:lnSpc>
              <a:spcBef>
                <a:spcPts val="406"/>
              </a:spcBef>
              <a:spcAft>
                <a:spcPts val="0"/>
              </a:spcAft>
              <a:buClr>
                <a:srgbClr val="888888"/>
              </a:buClr>
              <a:buSzPts val="1300"/>
              <a:buNone/>
              <a:defRPr sz="1300">
                <a:solidFill>
                  <a:srgbClr val="888888"/>
                </a:solidFill>
              </a:defRPr>
            </a:lvl8pPr>
            <a:lvl9pPr marL="4114800" lvl="8" indent="-228600" algn="l">
              <a:lnSpc>
                <a:spcPct val="90000"/>
              </a:lnSpc>
              <a:spcBef>
                <a:spcPts val="406"/>
              </a:spcBef>
              <a:spcAft>
                <a:spcPts val="0"/>
              </a:spcAft>
              <a:buClr>
                <a:srgbClr val="888888"/>
              </a:buClr>
              <a:buSzPts val="1300"/>
              <a:buNone/>
              <a:defRPr sz="1300">
                <a:solidFill>
                  <a:srgbClr val="888888"/>
                </a:solidFill>
              </a:defRPr>
            </a:lvl9pPr>
          </a:lstStyle>
          <a:p>
            <a:endParaRPr/>
          </a:p>
        </p:txBody>
      </p:sp>
      <p:sp>
        <p:nvSpPr>
          <p:cNvPr id="34" name="Google Shape;34;p54"/>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4"/>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4"/>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7"/>
        <p:cNvGrpSpPr/>
        <p:nvPr/>
      </p:nvGrpSpPr>
      <p:grpSpPr>
        <a:xfrm>
          <a:off x="0" y="0"/>
          <a:ext cx="0" cy="0"/>
          <a:chOff x="0" y="0"/>
          <a:chExt cx="0" cy="0"/>
        </a:xfrm>
      </p:grpSpPr>
      <p:sp>
        <p:nvSpPr>
          <p:cNvPr id="38" name="Google Shape;38;p55"/>
          <p:cNvSpPr txBox="1">
            <a:spLocks noGrp="1"/>
          </p:cNvSpPr>
          <p:nvPr>
            <p:ph type="title"/>
          </p:nvPr>
        </p:nvSpPr>
        <p:spPr>
          <a:xfrm>
            <a:off x="681038" y="365126"/>
            <a:ext cx="854392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5"/>
          <p:cNvSpPr txBox="1">
            <a:spLocks noGrp="1"/>
          </p:cNvSpPr>
          <p:nvPr>
            <p:ph type="body" idx="1"/>
          </p:nvPr>
        </p:nvSpPr>
        <p:spPr>
          <a:xfrm>
            <a:off x="681038" y="1825625"/>
            <a:ext cx="421005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813"/>
              </a:spcBef>
              <a:spcAft>
                <a:spcPts val="0"/>
              </a:spcAft>
              <a:buClr>
                <a:schemeClr val="dk1"/>
              </a:buClr>
              <a:buSzPts val="1800"/>
              <a:buChar char="•"/>
              <a:defRPr/>
            </a:lvl1pPr>
            <a:lvl2pPr marL="914400" lvl="1" indent="-342900" algn="l">
              <a:lnSpc>
                <a:spcPct val="90000"/>
              </a:lnSpc>
              <a:spcBef>
                <a:spcPts val="406"/>
              </a:spcBef>
              <a:spcAft>
                <a:spcPts val="0"/>
              </a:spcAft>
              <a:buClr>
                <a:schemeClr val="dk1"/>
              </a:buClr>
              <a:buSzPts val="1800"/>
              <a:buChar char="•"/>
              <a:defRPr/>
            </a:lvl2pPr>
            <a:lvl3pPr marL="1371600" lvl="2" indent="-342900" algn="l">
              <a:lnSpc>
                <a:spcPct val="90000"/>
              </a:lnSpc>
              <a:spcBef>
                <a:spcPts val="406"/>
              </a:spcBef>
              <a:spcAft>
                <a:spcPts val="0"/>
              </a:spcAft>
              <a:buClr>
                <a:schemeClr val="dk1"/>
              </a:buClr>
              <a:buSzPts val="1800"/>
              <a:buChar char="•"/>
              <a:defRPr/>
            </a:lvl3pPr>
            <a:lvl4pPr marL="1828800" lvl="3" indent="-342900" algn="l">
              <a:lnSpc>
                <a:spcPct val="90000"/>
              </a:lnSpc>
              <a:spcBef>
                <a:spcPts val="406"/>
              </a:spcBef>
              <a:spcAft>
                <a:spcPts val="0"/>
              </a:spcAft>
              <a:buClr>
                <a:schemeClr val="dk1"/>
              </a:buClr>
              <a:buSzPts val="1800"/>
              <a:buChar char="•"/>
              <a:defRPr/>
            </a:lvl4pPr>
            <a:lvl5pPr marL="2286000" lvl="4" indent="-342900" algn="l">
              <a:lnSpc>
                <a:spcPct val="90000"/>
              </a:lnSpc>
              <a:spcBef>
                <a:spcPts val="406"/>
              </a:spcBef>
              <a:spcAft>
                <a:spcPts val="0"/>
              </a:spcAft>
              <a:buClr>
                <a:schemeClr val="dk1"/>
              </a:buClr>
              <a:buSzPts val="1800"/>
              <a:buChar char="•"/>
              <a:defRPr/>
            </a:lvl5pPr>
            <a:lvl6pPr marL="2743200" lvl="5" indent="-342900" algn="l">
              <a:lnSpc>
                <a:spcPct val="90000"/>
              </a:lnSpc>
              <a:spcBef>
                <a:spcPts val="406"/>
              </a:spcBef>
              <a:spcAft>
                <a:spcPts val="0"/>
              </a:spcAft>
              <a:buClr>
                <a:schemeClr val="dk1"/>
              </a:buClr>
              <a:buSzPts val="1800"/>
              <a:buChar char="•"/>
              <a:defRPr/>
            </a:lvl6pPr>
            <a:lvl7pPr marL="3200400" lvl="6" indent="-342900" algn="l">
              <a:lnSpc>
                <a:spcPct val="90000"/>
              </a:lnSpc>
              <a:spcBef>
                <a:spcPts val="406"/>
              </a:spcBef>
              <a:spcAft>
                <a:spcPts val="0"/>
              </a:spcAft>
              <a:buClr>
                <a:schemeClr val="dk1"/>
              </a:buClr>
              <a:buSzPts val="1800"/>
              <a:buChar char="•"/>
              <a:defRPr/>
            </a:lvl7pPr>
            <a:lvl8pPr marL="3657600" lvl="7" indent="-342900" algn="l">
              <a:lnSpc>
                <a:spcPct val="90000"/>
              </a:lnSpc>
              <a:spcBef>
                <a:spcPts val="406"/>
              </a:spcBef>
              <a:spcAft>
                <a:spcPts val="0"/>
              </a:spcAft>
              <a:buClr>
                <a:schemeClr val="dk1"/>
              </a:buClr>
              <a:buSzPts val="1800"/>
              <a:buChar char="•"/>
              <a:defRPr/>
            </a:lvl8pPr>
            <a:lvl9pPr marL="4114800" lvl="8" indent="-342900" algn="l">
              <a:lnSpc>
                <a:spcPct val="90000"/>
              </a:lnSpc>
              <a:spcBef>
                <a:spcPts val="406"/>
              </a:spcBef>
              <a:spcAft>
                <a:spcPts val="0"/>
              </a:spcAft>
              <a:buClr>
                <a:schemeClr val="dk1"/>
              </a:buClr>
              <a:buSzPts val="1800"/>
              <a:buChar char="•"/>
              <a:defRPr/>
            </a:lvl9pPr>
          </a:lstStyle>
          <a:p>
            <a:endParaRPr/>
          </a:p>
        </p:txBody>
      </p:sp>
      <p:sp>
        <p:nvSpPr>
          <p:cNvPr id="40" name="Google Shape;40;p55"/>
          <p:cNvSpPr txBox="1">
            <a:spLocks noGrp="1"/>
          </p:cNvSpPr>
          <p:nvPr>
            <p:ph type="body" idx="2"/>
          </p:nvPr>
        </p:nvSpPr>
        <p:spPr>
          <a:xfrm>
            <a:off x="5014913" y="1825625"/>
            <a:ext cx="421005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813"/>
              </a:spcBef>
              <a:spcAft>
                <a:spcPts val="0"/>
              </a:spcAft>
              <a:buClr>
                <a:schemeClr val="dk1"/>
              </a:buClr>
              <a:buSzPts val="1800"/>
              <a:buChar char="•"/>
              <a:defRPr/>
            </a:lvl1pPr>
            <a:lvl2pPr marL="914400" lvl="1" indent="-342900" algn="l">
              <a:lnSpc>
                <a:spcPct val="90000"/>
              </a:lnSpc>
              <a:spcBef>
                <a:spcPts val="406"/>
              </a:spcBef>
              <a:spcAft>
                <a:spcPts val="0"/>
              </a:spcAft>
              <a:buClr>
                <a:schemeClr val="dk1"/>
              </a:buClr>
              <a:buSzPts val="1800"/>
              <a:buChar char="•"/>
              <a:defRPr/>
            </a:lvl2pPr>
            <a:lvl3pPr marL="1371600" lvl="2" indent="-342900" algn="l">
              <a:lnSpc>
                <a:spcPct val="90000"/>
              </a:lnSpc>
              <a:spcBef>
                <a:spcPts val="406"/>
              </a:spcBef>
              <a:spcAft>
                <a:spcPts val="0"/>
              </a:spcAft>
              <a:buClr>
                <a:schemeClr val="dk1"/>
              </a:buClr>
              <a:buSzPts val="1800"/>
              <a:buChar char="•"/>
              <a:defRPr/>
            </a:lvl3pPr>
            <a:lvl4pPr marL="1828800" lvl="3" indent="-342900" algn="l">
              <a:lnSpc>
                <a:spcPct val="90000"/>
              </a:lnSpc>
              <a:spcBef>
                <a:spcPts val="406"/>
              </a:spcBef>
              <a:spcAft>
                <a:spcPts val="0"/>
              </a:spcAft>
              <a:buClr>
                <a:schemeClr val="dk1"/>
              </a:buClr>
              <a:buSzPts val="1800"/>
              <a:buChar char="•"/>
              <a:defRPr/>
            </a:lvl4pPr>
            <a:lvl5pPr marL="2286000" lvl="4" indent="-342900" algn="l">
              <a:lnSpc>
                <a:spcPct val="90000"/>
              </a:lnSpc>
              <a:spcBef>
                <a:spcPts val="406"/>
              </a:spcBef>
              <a:spcAft>
                <a:spcPts val="0"/>
              </a:spcAft>
              <a:buClr>
                <a:schemeClr val="dk1"/>
              </a:buClr>
              <a:buSzPts val="1800"/>
              <a:buChar char="•"/>
              <a:defRPr/>
            </a:lvl5pPr>
            <a:lvl6pPr marL="2743200" lvl="5" indent="-342900" algn="l">
              <a:lnSpc>
                <a:spcPct val="90000"/>
              </a:lnSpc>
              <a:spcBef>
                <a:spcPts val="406"/>
              </a:spcBef>
              <a:spcAft>
                <a:spcPts val="0"/>
              </a:spcAft>
              <a:buClr>
                <a:schemeClr val="dk1"/>
              </a:buClr>
              <a:buSzPts val="1800"/>
              <a:buChar char="•"/>
              <a:defRPr/>
            </a:lvl6pPr>
            <a:lvl7pPr marL="3200400" lvl="6" indent="-342900" algn="l">
              <a:lnSpc>
                <a:spcPct val="90000"/>
              </a:lnSpc>
              <a:spcBef>
                <a:spcPts val="406"/>
              </a:spcBef>
              <a:spcAft>
                <a:spcPts val="0"/>
              </a:spcAft>
              <a:buClr>
                <a:schemeClr val="dk1"/>
              </a:buClr>
              <a:buSzPts val="1800"/>
              <a:buChar char="•"/>
              <a:defRPr/>
            </a:lvl7pPr>
            <a:lvl8pPr marL="3657600" lvl="7" indent="-342900" algn="l">
              <a:lnSpc>
                <a:spcPct val="90000"/>
              </a:lnSpc>
              <a:spcBef>
                <a:spcPts val="406"/>
              </a:spcBef>
              <a:spcAft>
                <a:spcPts val="0"/>
              </a:spcAft>
              <a:buClr>
                <a:schemeClr val="dk1"/>
              </a:buClr>
              <a:buSzPts val="1800"/>
              <a:buChar char="•"/>
              <a:defRPr/>
            </a:lvl8pPr>
            <a:lvl9pPr marL="4114800" lvl="8" indent="-342900" algn="l">
              <a:lnSpc>
                <a:spcPct val="90000"/>
              </a:lnSpc>
              <a:spcBef>
                <a:spcPts val="406"/>
              </a:spcBef>
              <a:spcAft>
                <a:spcPts val="0"/>
              </a:spcAft>
              <a:buClr>
                <a:schemeClr val="dk1"/>
              </a:buClr>
              <a:buSzPts val="1800"/>
              <a:buChar char="•"/>
              <a:defRPr/>
            </a:lvl9pPr>
          </a:lstStyle>
          <a:p>
            <a:endParaRPr/>
          </a:p>
        </p:txBody>
      </p:sp>
      <p:sp>
        <p:nvSpPr>
          <p:cNvPr id="41" name="Google Shape;41;p55"/>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5"/>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55"/>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4"/>
        <p:cNvGrpSpPr/>
        <p:nvPr/>
      </p:nvGrpSpPr>
      <p:grpSpPr>
        <a:xfrm>
          <a:off x="0" y="0"/>
          <a:ext cx="0" cy="0"/>
          <a:chOff x="0" y="0"/>
          <a:chExt cx="0" cy="0"/>
        </a:xfrm>
      </p:grpSpPr>
      <p:sp>
        <p:nvSpPr>
          <p:cNvPr id="45" name="Google Shape;45;p56"/>
          <p:cNvSpPr txBox="1">
            <a:spLocks noGrp="1"/>
          </p:cNvSpPr>
          <p:nvPr>
            <p:ph type="title"/>
          </p:nvPr>
        </p:nvSpPr>
        <p:spPr>
          <a:xfrm>
            <a:off x="682328" y="365126"/>
            <a:ext cx="854392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56"/>
          <p:cNvSpPr txBox="1">
            <a:spLocks noGrp="1"/>
          </p:cNvSpPr>
          <p:nvPr>
            <p:ph type="body" idx="1"/>
          </p:nvPr>
        </p:nvSpPr>
        <p:spPr>
          <a:xfrm>
            <a:off x="682328" y="1681163"/>
            <a:ext cx="4190702"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813"/>
              </a:spcBef>
              <a:spcAft>
                <a:spcPts val="0"/>
              </a:spcAft>
              <a:buClr>
                <a:schemeClr val="dk1"/>
              </a:buClr>
              <a:buSzPts val="1950"/>
              <a:buNone/>
              <a:defRPr sz="1950" b="1"/>
            </a:lvl1pPr>
            <a:lvl2pPr marL="914400" lvl="1" indent="-228600" algn="l">
              <a:lnSpc>
                <a:spcPct val="90000"/>
              </a:lnSpc>
              <a:spcBef>
                <a:spcPts val="406"/>
              </a:spcBef>
              <a:spcAft>
                <a:spcPts val="0"/>
              </a:spcAft>
              <a:buClr>
                <a:schemeClr val="dk1"/>
              </a:buClr>
              <a:buSzPts val="1625"/>
              <a:buNone/>
              <a:defRPr sz="1625" b="1"/>
            </a:lvl2pPr>
            <a:lvl3pPr marL="1371600" lvl="2" indent="-228600" algn="l">
              <a:lnSpc>
                <a:spcPct val="90000"/>
              </a:lnSpc>
              <a:spcBef>
                <a:spcPts val="406"/>
              </a:spcBef>
              <a:spcAft>
                <a:spcPts val="0"/>
              </a:spcAft>
              <a:buClr>
                <a:schemeClr val="dk1"/>
              </a:buClr>
              <a:buSzPts val="1463"/>
              <a:buNone/>
              <a:defRPr sz="1463" b="1"/>
            </a:lvl3pPr>
            <a:lvl4pPr marL="1828800" lvl="3" indent="-228600" algn="l">
              <a:lnSpc>
                <a:spcPct val="90000"/>
              </a:lnSpc>
              <a:spcBef>
                <a:spcPts val="406"/>
              </a:spcBef>
              <a:spcAft>
                <a:spcPts val="0"/>
              </a:spcAft>
              <a:buClr>
                <a:schemeClr val="dk1"/>
              </a:buClr>
              <a:buSzPts val="1300"/>
              <a:buNone/>
              <a:defRPr sz="1300" b="1"/>
            </a:lvl4pPr>
            <a:lvl5pPr marL="2286000" lvl="4" indent="-228600" algn="l">
              <a:lnSpc>
                <a:spcPct val="90000"/>
              </a:lnSpc>
              <a:spcBef>
                <a:spcPts val="406"/>
              </a:spcBef>
              <a:spcAft>
                <a:spcPts val="0"/>
              </a:spcAft>
              <a:buClr>
                <a:schemeClr val="dk1"/>
              </a:buClr>
              <a:buSzPts val="1300"/>
              <a:buNone/>
              <a:defRPr sz="1300" b="1"/>
            </a:lvl5pPr>
            <a:lvl6pPr marL="2743200" lvl="5" indent="-228600" algn="l">
              <a:lnSpc>
                <a:spcPct val="90000"/>
              </a:lnSpc>
              <a:spcBef>
                <a:spcPts val="406"/>
              </a:spcBef>
              <a:spcAft>
                <a:spcPts val="0"/>
              </a:spcAft>
              <a:buClr>
                <a:schemeClr val="dk1"/>
              </a:buClr>
              <a:buSzPts val="1300"/>
              <a:buNone/>
              <a:defRPr sz="1300" b="1"/>
            </a:lvl6pPr>
            <a:lvl7pPr marL="3200400" lvl="6" indent="-228600" algn="l">
              <a:lnSpc>
                <a:spcPct val="90000"/>
              </a:lnSpc>
              <a:spcBef>
                <a:spcPts val="406"/>
              </a:spcBef>
              <a:spcAft>
                <a:spcPts val="0"/>
              </a:spcAft>
              <a:buClr>
                <a:schemeClr val="dk1"/>
              </a:buClr>
              <a:buSzPts val="1300"/>
              <a:buNone/>
              <a:defRPr sz="1300" b="1"/>
            </a:lvl7pPr>
            <a:lvl8pPr marL="3657600" lvl="7" indent="-228600" algn="l">
              <a:lnSpc>
                <a:spcPct val="90000"/>
              </a:lnSpc>
              <a:spcBef>
                <a:spcPts val="406"/>
              </a:spcBef>
              <a:spcAft>
                <a:spcPts val="0"/>
              </a:spcAft>
              <a:buClr>
                <a:schemeClr val="dk1"/>
              </a:buClr>
              <a:buSzPts val="1300"/>
              <a:buNone/>
              <a:defRPr sz="1300" b="1"/>
            </a:lvl8pPr>
            <a:lvl9pPr marL="4114800" lvl="8" indent="-228600" algn="l">
              <a:lnSpc>
                <a:spcPct val="90000"/>
              </a:lnSpc>
              <a:spcBef>
                <a:spcPts val="406"/>
              </a:spcBef>
              <a:spcAft>
                <a:spcPts val="0"/>
              </a:spcAft>
              <a:buClr>
                <a:schemeClr val="dk1"/>
              </a:buClr>
              <a:buSzPts val="1300"/>
              <a:buNone/>
              <a:defRPr sz="1300" b="1"/>
            </a:lvl9pPr>
          </a:lstStyle>
          <a:p>
            <a:endParaRPr/>
          </a:p>
        </p:txBody>
      </p:sp>
      <p:sp>
        <p:nvSpPr>
          <p:cNvPr id="47" name="Google Shape;47;p56"/>
          <p:cNvSpPr txBox="1">
            <a:spLocks noGrp="1"/>
          </p:cNvSpPr>
          <p:nvPr>
            <p:ph type="body" idx="2"/>
          </p:nvPr>
        </p:nvSpPr>
        <p:spPr>
          <a:xfrm>
            <a:off x="682328" y="2505075"/>
            <a:ext cx="4190702"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813"/>
              </a:spcBef>
              <a:spcAft>
                <a:spcPts val="0"/>
              </a:spcAft>
              <a:buClr>
                <a:schemeClr val="dk1"/>
              </a:buClr>
              <a:buSzPts val="1800"/>
              <a:buChar char="•"/>
              <a:defRPr/>
            </a:lvl1pPr>
            <a:lvl2pPr marL="914400" lvl="1" indent="-342900" algn="l">
              <a:lnSpc>
                <a:spcPct val="90000"/>
              </a:lnSpc>
              <a:spcBef>
                <a:spcPts val="406"/>
              </a:spcBef>
              <a:spcAft>
                <a:spcPts val="0"/>
              </a:spcAft>
              <a:buClr>
                <a:schemeClr val="dk1"/>
              </a:buClr>
              <a:buSzPts val="1800"/>
              <a:buChar char="•"/>
              <a:defRPr/>
            </a:lvl2pPr>
            <a:lvl3pPr marL="1371600" lvl="2" indent="-342900" algn="l">
              <a:lnSpc>
                <a:spcPct val="90000"/>
              </a:lnSpc>
              <a:spcBef>
                <a:spcPts val="406"/>
              </a:spcBef>
              <a:spcAft>
                <a:spcPts val="0"/>
              </a:spcAft>
              <a:buClr>
                <a:schemeClr val="dk1"/>
              </a:buClr>
              <a:buSzPts val="1800"/>
              <a:buChar char="•"/>
              <a:defRPr/>
            </a:lvl3pPr>
            <a:lvl4pPr marL="1828800" lvl="3" indent="-342900" algn="l">
              <a:lnSpc>
                <a:spcPct val="90000"/>
              </a:lnSpc>
              <a:spcBef>
                <a:spcPts val="406"/>
              </a:spcBef>
              <a:spcAft>
                <a:spcPts val="0"/>
              </a:spcAft>
              <a:buClr>
                <a:schemeClr val="dk1"/>
              </a:buClr>
              <a:buSzPts val="1800"/>
              <a:buChar char="•"/>
              <a:defRPr/>
            </a:lvl4pPr>
            <a:lvl5pPr marL="2286000" lvl="4" indent="-342900" algn="l">
              <a:lnSpc>
                <a:spcPct val="90000"/>
              </a:lnSpc>
              <a:spcBef>
                <a:spcPts val="406"/>
              </a:spcBef>
              <a:spcAft>
                <a:spcPts val="0"/>
              </a:spcAft>
              <a:buClr>
                <a:schemeClr val="dk1"/>
              </a:buClr>
              <a:buSzPts val="1800"/>
              <a:buChar char="•"/>
              <a:defRPr/>
            </a:lvl5pPr>
            <a:lvl6pPr marL="2743200" lvl="5" indent="-342900" algn="l">
              <a:lnSpc>
                <a:spcPct val="90000"/>
              </a:lnSpc>
              <a:spcBef>
                <a:spcPts val="406"/>
              </a:spcBef>
              <a:spcAft>
                <a:spcPts val="0"/>
              </a:spcAft>
              <a:buClr>
                <a:schemeClr val="dk1"/>
              </a:buClr>
              <a:buSzPts val="1800"/>
              <a:buChar char="•"/>
              <a:defRPr/>
            </a:lvl6pPr>
            <a:lvl7pPr marL="3200400" lvl="6" indent="-342900" algn="l">
              <a:lnSpc>
                <a:spcPct val="90000"/>
              </a:lnSpc>
              <a:spcBef>
                <a:spcPts val="406"/>
              </a:spcBef>
              <a:spcAft>
                <a:spcPts val="0"/>
              </a:spcAft>
              <a:buClr>
                <a:schemeClr val="dk1"/>
              </a:buClr>
              <a:buSzPts val="1800"/>
              <a:buChar char="•"/>
              <a:defRPr/>
            </a:lvl7pPr>
            <a:lvl8pPr marL="3657600" lvl="7" indent="-342900" algn="l">
              <a:lnSpc>
                <a:spcPct val="90000"/>
              </a:lnSpc>
              <a:spcBef>
                <a:spcPts val="406"/>
              </a:spcBef>
              <a:spcAft>
                <a:spcPts val="0"/>
              </a:spcAft>
              <a:buClr>
                <a:schemeClr val="dk1"/>
              </a:buClr>
              <a:buSzPts val="1800"/>
              <a:buChar char="•"/>
              <a:defRPr/>
            </a:lvl8pPr>
            <a:lvl9pPr marL="4114800" lvl="8" indent="-342900" algn="l">
              <a:lnSpc>
                <a:spcPct val="90000"/>
              </a:lnSpc>
              <a:spcBef>
                <a:spcPts val="406"/>
              </a:spcBef>
              <a:spcAft>
                <a:spcPts val="0"/>
              </a:spcAft>
              <a:buClr>
                <a:schemeClr val="dk1"/>
              </a:buClr>
              <a:buSzPts val="1800"/>
              <a:buChar char="•"/>
              <a:defRPr/>
            </a:lvl9pPr>
          </a:lstStyle>
          <a:p>
            <a:endParaRPr/>
          </a:p>
        </p:txBody>
      </p:sp>
      <p:sp>
        <p:nvSpPr>
          <p:cNvPr id="48" name="Google Shape;48;p56"/>
          <p:cNvSpPr txBox="1">
            <a:spLocks noGrp="1"/>
          </p:cNvSpPr>
          <p:nvPr>
            <p:ph type="body" idx="3"/>
          </p:nvPr>
        </p:nvSpPr>
        <p:spPr>
          <a:xfrm>
            <a:off x="5014913" y="1681163"/>
            <a:ext cx="4211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813"/>
              </a:spcBef>
              <a:spcAft>
                <a:spcPts val="0"/>
              </a:spcAft>
              <a:buClr>
                <a:schemeClr val="dk1"/>
              </a:buClr>
              <a:buSzPts val="1950"/>
              <a:buNone/>
              <a:defRPr sz="1950" b="1"/>
            </a:lvl1pPr>
            <a:lvl2pPr marL="914400" lvl="1" indent="-228600" algn="l">
              <a:lnSpc>
                <a:spcPct val="90000"/>
              </a:lnSpc>
              <a:spcBef>
                <a:spcPts val="406"/>
              </a:spcBef>
              <a:spcAft>
                <a:spcPts val="0"/>
              </a:spcAft>
              <a:buClr>
                <a:schemeClr val="dk1"/>
              </a:buClr>
              <a:buSzPts val="1625"/>
              <a:buNone/>
              <a:defRPr sz="1625" b="1"/>
            </a:lvl2pPr>
            <a:lvl3pPr marL="1371600" lvl="2" indent="-228600" algn="l">
              <a:lnSpc>
                <a:spcPct val="90000"/>
              </a:lnSpc>
              <a:spcBef>
                <a:spcPts val="406"/>
              </a:spcBef>
              <a:spcAft>
                <a:spcPts val="0"/>
              </a:spcAft>
              <a:buClr>
                <a:schemeClr val="dk1"/>
              </a:buClr>
              <a:buSzPts val="1463"/>
              <a:buNone/>
              <a:defRPr sz="1463" b="1"/>
            </a:lvl3pPr>
            <a:lvl4pPr marL="1828800" lvl="3" indent="-228600" algn="l">
              <a:lnSpc>
                <a:spcPct val="90000"/>
              </a:lnSpc>
              <a:spcBef>
                <a:spcPts val="406"/>
              </a:spcBef>
              <a:spcAft>
                <a:spcPts val="0"/>
              </a:spcAft>
              <a:buClr>
                <a:schemeClr val="dk1"/>
              </a:buClr>
              <a:buSzPts val="1300"/>
              <a:buNone/>
              <a:defRPr sz="1300" b="1"/>
            </a:lvl4pPr>
            <a:lvl5pPr marL="2286000" lvl="4" indent="-228600" algn="l">
              <a:lnSpc>
                <a:spcPct val="90000"/>
              </a:lnSpc>
              <a:spcBef>
                <a:spcPts val="406"/>
              </a:spcBef>
              <a:spcAft>
                <a:spcPts val="0"/>
              </a:spcAft>
              <a:buClr>
                <a:schemeClr val="dk1"/>
              </a:buClr>
              <a:buSzPts val="1300"/>
              <a:buNone/>
              <a:defRPr sz="1300" b="1"/>
            </a:lvl5pPr>
            <a:lvl6pPr marL="2743200" lvl="5" indent="-228600" algn="l">
              <a:lnSpc>
                <a:spcPct val="90000"/>
              </a:lnSpc>
              <a:spcBef>
                <a:spcPts val="406"/>
              </a:spcBef>
              <a:spcAft>
                <a:spcPts val="0"/>
              </a:spcAft>
              <a:buClr>
                <a:schemeClr val="dk1"/>
              </a:buClr>
              <a:buSzPts val="1300"/>
              <a:buNone/>
              <a:defRPr sz="1300" b="1"/>
            </a:lvl6pPr>
            <a:lvl7pPr marL="3200400" lvl="6" indent="-228600" algn="l">
              <a:lnSpc>
                <a:spcPct val="90000"/>
              </a:lnSpc>
              <a:spcBef>
                <a:spcPts val="406"/>
              </a:spcBef>
              <a:spcAft>
                <a:spcPts val="0"/>
              </a:spcAft>
              <a:buClr>
                <a:schemeClr val="dk1"/>
              </a:buClr>
              <a:buSzPts val="1300"/>
              <a:buNone/>
              <a:defRPr sz="1300" b="1"/>
            </a:lvl7pPr>
            <a:lvl8pPr marL="3657600" lvl="7" indent="-228600" algn="l">
              <a:lnSpc>
                <a:spcPct val="90000"/>
              </a:lnSpc>
              <a:spcBef>
                <a:spcPts val="406"/>
              </a:spcBef>
              <a:spcAft>
                <a:spcPts val="0"/>
              </a:spcAft>
              <a:buClr>
                <a:schemeClr val="dk1"/>
              </a:buClr>
              <a:buSzPts val="1300"/>
              <a:buNone/>
              <a:defRPr sz="1300" b="1"/>
            </a:lvl8pPr>
            <a:lvl9pPr marL="4114800" lvl="8" indent="-228600" algn="l">
              <a:lnSpc>
                <a:spcPct val="90000"/>
              </a:lnSpc>
              <a:spcBef>
                <a:spcPts val="406"/>
              </a:spcBef>
              <a:spcAft>
                <a:spcPts val="0"/>
              </a:spcAft>
              <a:buClr>
                <a:schemeClr val="dk1"/>
              </a:buClr>
              <a:buSzPts val="1300"/>
              <a:buNone/>
              <a:defRPr sz="1300" b="1"/>
            </a:lvl9pPr>
          </a:lstStyle>
          <a:p>
            <a:endParaRPr/>
          </a:p>
        </p:txBody>
      </p:sp>
      <p:sp>
        <p:nvSpPr>
          <p:cNvPr id="49" name="Google Shape;49;p56"/>
          <p:cNvSpPr txBox="1">
            <a:spLocks noGrp="1"/>
          </p:cNvSpPr>
          <p:nvPr>
            <p:ph type="body" idx="4"/>
          </p:nvPr>
        </p:nvSpPr>
        <p:spPr>
          <a:xfrm>
            <a:off x="5014913" y="2505075"/>
            <a:ext cx="4211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813"/>
              </a:spcBef>
              <a:spcAft>
                <a:spcPts val="0"/>
              </a:spcAft>
              <a:buClr>
                <a:schemeClr val="dk1"/>
              </a:buClr>
              <a:buSzPts val="1800"/>
              <a:buChar char="•"/>
              <a:defRPr/>
            </a:lvl1pPr>
            <a:lvl2pPr marL="914400" lvl="1" indent="-342900" algn="l">
              <a:lnSpc>
                <a:spcPct val="90000"/>
              </a:lnSpc>
              <a:spcBef>
                <a:spcPts val="406"/>
              </a:spcBef>
              <a:spcAft>
                <a:spcPts val="0"/>
              </a:spcAft>
              <a:buClr>
                <a:schemeClr val="dk1"/>
              </a:buClr>
              <a:buSzPts val="1800"/>
              <a:buChar char="•"/>
              <a:defRPr/>
            </a:lvl2pPr>
            <a:lvl3pPr marL="1371600" lvl="2" indent="-342900" algn="l">
              <a:lnSpc>
                <a:spcPct val="90000"/>
              </a:lnSpc>
              <a:spcBef>
                <a:spcPts val="406"/>
              </a:spcBef>
              <a:spcAft>
                <a:spcPts val="0"/>
              </a:spcAft>
              <a:buClr>
                <a:schemeClr val="dk1"/>
              </a:buClr>
              <a:buSzPts val="1800"/>
              <a:buChar char="•"/>
              <a:defRPr/>
            </a:lvl3pPr>
            <a:lvl4pPr marL="1828800" lvl="3" indent="-342900" algn="l">
              <a:lnSpc>
                <a:spcPct val="90000"/>
              </a:lnSpc>
              <a:spcBef>
                <a:spcPts val="406"/>
              </a:spcBef>
              <a:spcAft>
                <a:spcPts val="0"/>
              </a:spcAft>
              <a:buClr>
                <a:schemeClr val="dk1"/>
              </a:buClr>
              <a:buSzPts val="1800"/>
              <a:buChar char="•"/>
              <a:defRPr/>
            </a:lvl4pPr>
            <a:lvl5pPr marL="2286000" lvl="4" indent="-342900" algn="l">
              <a:lnSpc>
                <a:spcPct val="90000"/>
              </a:lnSpc>
              <a:spcBef>
                <a:spcPts val="406"/>
              </a:spcBef>
              <a:spcAft>
                <a:spcPts val="0"/>
              </a:spcAft>
              <a:buClr>
                <a:schemeClr val="dk1"/>
              </a:buClr>
              <a:buSzPts val="1800"/>
              <a:buChar char="•"/>
              <a:defRPr/>
            </a:lvl5pPr>
            <a:lvl6pPr marL="2743200" lvl="5" indent="-342900" algn="l">
              <a:lnSpc>
                <a:spcPct val="90000"/>
              </a:lnSpc>
              <a:spcBef>
                <a:spcPts val="406"/>
              </a:spcBef>
              <a:spcAft>
                <a:spcPts val="0"/>
              </a:spcAft>
              <a:buClr>
                <a:schemeClr val="dk1"/>
              </a:buClr>
              <a:buSzPts val="1800"/>
              <a:buChar char="•"/>
              <a:defRPr/>
            </a:lvl6pPr>
            <a:lvl7pPr marL="3200400" lvl="6" indent="-342900" algn="l">
              <a:lnSpc>
                <a:spcPct val="90000"/>
              </a:lnSpc>
              <a:spcBef>
                <a:spcPts val="406"/>
              </a:spcBef>
              <a:spcAft>
                <a:spcPts val="0"/>
              </a:spcAft>
              <a:buClr>
                <a:schemeClr val="dk1"/>
              </a:buClr>
              <a:buSzPts val="1800"/>
              <a:buChar char="•"/>
              <a:defRPr/>
            </a:lvl7pPr>
            <a:lvl8pPr marL="3657600" lvl="7" indent="-342900" algn="l">
              <a:lnSpc>
                <a:spcPct val="90000"/>
              </a:lnSpc>
              <a:spcBef>
                <a:spcPts val="406"/>
              </a:spcBef>
              <a:spcAft>
                <a:spcPts val="0"/>
              </a:spcAft>
              <a:buClr>
                <a:schemeClr val="dk1"/>
              </a:buClr>
              <a:buSzPts val="1800"/>
              <a:buChar char="•"/>
              <a:defRPr/>
            </a:lvl8pPr>
            <a:lvl9pPr marL="4114800" lvl="8" indent="-342900" algn="l">
              <a:lnSpc>
                <a:spcPct val="90000"/>
              </a:lnSpc>
              <a:spcBef>
                <a:spcPts val="406"/>
              </a:spcBef>
              <a:spcAft>
                <a:spcPts val="0"/>
              </a:spcAft>
              <a:buClr>
                <a:schemeClr val="dk1"/>
              </a:buClr>
              <a:buSzPts val="1800"/>
              <a:buChar char="•"/>
              <a:defRPr/>
            </a:lvl9pPr>
          </a:lstStyle>
          <a:p>
            <a:endParaRPr/>
          </a:p>
        </p:txBody>
      </p:sp>
      <p:sp>
        <p:nvSpPr>
          <p:cNvPr id="50" name="Google Shape;50;p56"/>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56"/>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56"/>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57"/>
          <p:cNvSpPr txBox="1">
            <a:spLocks noGrp="1"/>
          </p:cNvSpPr>
          <p:nvPr>
            <p:ph type="title"/>
          </p:nvPr>
        </p:nvSpPr>
        <p:spPr>
          <a:xfrm>
            <a:off x="681038" y="365126"/>
            <a:ext cx="854392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57"/>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57"/>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57"/>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sz="1000">
              <a:solidFill>
                <a:schemeClr val="dk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8"/>
        <p:cNvGrpSpPr/>
        <p:nvPr/>
      </p:nvGrpSpPr>
      <p:grpSpPr>
        <a:xfrm>
          <a:off x="0" y="0"/>
          <a:ext cx="0" cy="0"/>
          <a:chOff x="0" y="0"/>
          <a:chExt cx="0" cy="0"/>
        </a:xfrm>
      </p:grpSpPr>
      <p:sp>
        <p:nvSpPr>
          <p:cNvPr id="59" name="Google Shape;59;p58"/>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58"/>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58"/>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2"/>
        <p:cNvGrpSpPr/>
        <p:nvPr/>
      </p:nvGrpSpPr>
      <p:grpSpPr>
        <a:xfrm>
          <a:off x="0" y="0"/>
          <a:ext cx="0" cy="0"/>
          <a:chOff x="0" y="0"/>
          <a:chExt cx="0" cy="0"/>
        </a:xfrm>
      </p:grpSpPr>
      <p:sp>
        <p:nvSpPr>
          <p:cNvPr id="63" name="Google Shape;63;p59"/>
          <p:cNvSpPr txBox="1">
            <a:spLocks noGrp="1"/>
          </p:cNvSpPr>
          <p:nvPr>
            <p:ph type="title"/>
          </p:nvPr>
        </p:nvSpPr>
        <p:spPr>
          <a:xfrm>
            <a:off x="682328" y="457200"/>
            <a:ext cx="3194943"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600"/>
              <a:buFont typeface="Calibri"/>
              <a:buNone/>
              <a:defRPr sz="2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59"/>
          <p:cNvSpPr txBox="1">
            <a:spLocks noGrp="1"/>
          </p:cNvSpPr>
          <p:nvPr>
            <p:ph type="body" idx="1"/>
          </p:nvPr>
        </p:nvSpPr>
        <p:spPr>
          <a:xfrm>
            <a:off x="4211340" y="987426"/>
            <a:ext cx="5014913" cy="4873625"/>
          </a:xfrm>
          <a:prstGeom prst="rect">
            <a:avLst/>
          </a:prstGeom>
          <a:noFill/>
          <a:ln>
            <a:noFill/>
          </a:ln>
        </p:spPr>
        <p:txBody>
          <a:bodyPr spcFirstLastPara="1" wrap="square" lIns="91425" tIns="45700" rIns="91425" bIns="45700" anchor="t" anchorCtr="0">
            <a:normAutofit/>
          </a:bodyPr>
          <a:lstStyle>
            <a:lvl1pPr marL="457200" lvl="0" indent="-393700" algn="l">
              <a:lnSpc>
                <a:spcPct val="90000"/>
              </a:lnSpc>
              <a:spcBef>
                <a:spcPts val="813"/>
              </a:spcBef>
              <a:spcAft>
                <a:spcPts val="0"/>
              </a:spcAft>
              <a:buClr>
                <a:schemeClr val="dk1"/>
              </a:buClr>
              <a:buSzPts val="2600"/>
              <a:buChar char="•"/>
              <a:defRPr sz="2600"/>
            </a:lvl1pPr>
            <a:lvl2pPr marL="914400" lvl="1" indent="-373062" algn="l">
              <a:lnSpc>
                <a:spcPct val="90000"/>
              </a:lnSpc>
              <a:spcBef>
                <a:spcPts val="406"/>
              </a:spcBef>
              <a:spcAft>
                <a:spcPts val="0"/>
              </a:spcAft>
              <a:buClr>
                <a:schemeClr val="dk1"/>
              </a:buClr>
              <a:buSzPts val="2275"/>
              <a:buChar char="•"/>
              <a:defRPr sz="2275"/>
            </a:lvl2pPr>
            <a:lvl3pPr marL="1371600" lvl="2" indent="-352425" algn="l">
              <a:lnSpc>
                <a:spcPct val="90000"/>
              </a:lnSpc>
              <a:spcBef>
                <a:spcPts val="406"/>
              </a:spcBef>
              <a:spcAft>
                <a:spcPts val="0"/>
              </a:spcAft>
              <a:buClr>
                <a:schemeClr val="dk1"/>
              </a:buClr>
              <a:buSzPts val="1950"/>
              <a:buChar char="•"/>
              <a:defRPr sz="1950"/>
            </a:lvl3pPr>
            <a:lvl4pPr marL="1828800" lvl="3" indent="-331787" algn="l">
              <a:lnSpc>
                <a:spcPct val="90000"/>
              </a:lnSpc>
              <a:spcBef>
                <a:spcPts val="406"/>
              </a:spcBef>
              <a:spcAft>
                <a:spcPts val="0"/>
              </a:spcAft>
              <a:buClr>
                <a:schemeClr val="dk1"/>
              </a:buClr>
              <a:buSzPts val="1625"/>
              <a:buChar char="•"/>
              <a:defRPr sz="1625"/>
            </a:lvl4pPr>
            <a:lvl5pPr marL="2286000" lvl="4" indent="-331787" algn="l">
              <a:lnSpc>
                <a:spcPct val="90000"/>
              </a:lnSpc>
              <a:spcBef>
                <a:spcPts val="406"/>
              </a:spcBef>
              <a:spcAft>
                <a:spcPts val="0"/>
              </a:spcAft>
              <a:buClr>
                <a:schemeClr val="dk1"/>
              </a:buClr>
              <a:buSzPts val="1625"/>
              <a:buChar char="•"/>
              <a:defRPr sz="1625"/>
            </a:lvl5pPr>
            <a:lvl6pPr marL="2743200" lvl="5" indent="-331787" algn="l">
              <a:lnSpc>
                <a:spcPct val="90000"/>
              </a:lnSpc>
              <a:spcBef>
                <a:spcPts val="406"/>
              </a:spcBef>
              <a:spcAft>
                <a:spcPts val="0"/>
              </a:spcAft>
              <a:buClr>
                <a:schemeClr val="dk1"/>
              </a:buClr>
              <a:buSzPts val="1625"/>
              <a:buChar char="•"/>
              <a:defRPr sz="1625"/>
            </a:lvl6pPr>
            <a:lvl7pPr marL="3200400" lvl="6" indent="-331787" algn="l">
              <a:lnSpc>
                <a:spcPct val="90000"/>
              </a:lnSpc>
              <a:spcBef>
                <a:spcPts val="406"/>
              </a:spcBef>
              <a:spcAft>
                <a:spcPts val="0"/>
              </a:spcAft>
              <a:buClr>
                <a:schemeClr val="dk1"/>
              </a:buClr>
              <a:buSzPts val="1625"/>
              <a:buChar char="•"/>
              <a:defRPr sz="1625"/>
            </a:lvl7pPr>
            <a:lvl8pPr marL="3657600" lvl="7" indent="-331787" algn="l">
              <a:lnSpc>
                <a:spcPct val="90000"/>
              </a:lnSpc>
              <a:spcBef>
                <a:spcPts val="406"/>
              </a:spcBef>
              <a:spcAft>
                <a:spcPts val="0"/>
              </a:spcAft>
              <a:buClr>
                <a:schemeClr val="dk1"/>
              </a:buClr>
              <a:buSzPts val="1625"/>
              <a:buChar char="•"/>
              <a:defRPr sz="1625"/>
            </a:lvl8pPr>
            <a:lvl9pPr marL="4114800" lvl="8" indent="-331787" algn="l">
              <a:lnSpc>
                <a:spcPct val="90000"/>
              </a:lnSpc>
              <a:spcBef>
                <a:spcPts val="406"/>
              </a:spcBef>
              <a:spcAft>
                <a:spcPts val="0"/>
              </a:spcAft>
              <a:buClr>
                <a:schemeClr val="dk1"/>
              </a:buClr>
              <a:buSzPts val="1625"/>
              <a:buChar char="•"/>
              <a:defRPr sz="1625"/>
            </a:lvl9pPr>
          </a:lstStyle>
          <a:p>
            <a:endParaRPr/>
          </a:p>
        </p:txBody>
      </p:sp>
      <p:sp>
        <p:nvSpPr>
          <p:cNvPr id="65" name="Google Shape;65;p59"/>
          <p:cNvSpPr txBox="1">
            <a:spLocks noGrp="1"/>
          </p:cNvSpPr>
          <p:nvPr>
            <p:ph type="body" idx="2"/>
          </p:nvPr>
        </p:nvSpPr>
        <p:spPr>
          <a:xfrm>
            <a:off x="682328" y="2057400"/>
            <a:ext cx="3194943"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813"/>
              </a:spcBef>
              <a:spcAft>
                <a:spcPts val="0"/>
              </a:spcAft>
              <a:buClr>
                <a:schemeClr val="dk1"/>
              </a:buClr>
              <a:buSzPts val="1300"/>
              <a:buNone/>
              <a:defRPr sz="1300"/>
            </a:lvl1pPr>
            <a:lvl2pPr marL="914400" lvl="1" indent="-228600" algn="l">
              <a:lnSpc>
                <a:spcPct val="90000"/>
              </a:lnSpc>
              <a:spcBef>
                <a:spcPts val="406"/>
              </a:spcBef>
              <a:spcAft>
                <a:spcPts val="0"/>
              </a:spcAft>
              <a:buClr>
                <a:schemeClr val="dk1"/>
              </a:buClr>
              <a:buSzPts val="1138"/>
              <a:buNone/>
              <a:defRPr sz="1138"/>
            </a:lvl2pPr>
            <a:lvl3pPr marL="1371600" lvl="2" indent="-228600" algn="l">
              <a:lnSpc>
                <a:spcPct val="90000"/>
              </a:lnSpc>
              <a:spcBef>
                <a:spcPts val="406"/>
              </a:spcBef>
              <a:spcAft>
                <a:spcPts val="0"/>
              </a:spcAft>
              <a:buClr>
                <a:schemeClr val="dk1"/>
              </a:buClr>
              <a:buSzPts val="975"/>
              <a:buNone/>
              <a:defRPr sz="975"/>
            </a:lvl3pPr>
            <a:lvl4pPr marL="1828800" lvl="3" indent="-228600" algn="l">
              <a:lnSpc>
                <a:spcPct val="90000"/>
              </a:lnSpc>
              <a:spcBef>
                <a:spcPts val="406"/>
              </a:spcBef>
              <a:spcAft>
                <a:spcPts val="0"/>
              </a:spcAft>
              <a:buClr>
                <a:schemeClr val="dk1"/>
              </a:buClr>
              <a:buSzPts val="813"/>
              <a:buNone/>
              <a:defRPr sz="813"/>
            </a:lvl4pPr>
            <a:lvl5pPr marL="2286000" lvl="4" indent="-228600" algn="l">
              <a:lnSpc>
                <a:spcPct val="90000"/>
              </a:lnSpc>
              <a:spcBef>
                <a:spcPts val="406"/>
              </a:spcBef>
              <a:spcAft>
                <a:spcPts val="0"/>
              </a:spcAft>
              <a:buClr>
                <a:schemeClr val="dk1"/>
              </a:buClr>
              <a:buSzPts val="813"/>
              <a:buNone/>
              <a:defRPr sz="813"/>
            </a:lvl5pPr>
            <a:lvl6pPr marL="2743200" lvl="5" indent="-228600" algn="l">
              <a:lnSpc>
                <a:spcPct val="90000"/>
              </a:lnSpc>
              <a:spcBef>
                <a:spcPts val="406"/>
              </a:spcBef>
              <a:spcAft>
                <a:spcPts val="0"/>
              </a:spcAft>
              <a:buClr>
                <a:schemeClr val="dk1"/>
              </a:buClr>
              <a:buSzPts val="813"/>
              <a:buNone/>
              <a:defRPr sz="813"/>
            </a:lvl6pPr>
            <a:lvl7pPr marL="3200400" lvl="6" indent="-228600" algn="l">
              <a:lnSpc>
                <a:spcPct val="90000"/>
              </a:lnSpc>
              <a:spcBef>
                <a:spcPts val="406"/>
              </a:spcBef>
              <a:spcAft>
                <a:spcPts val="0"/>
              </a:spcAft>
              <a:buClr>
                <a:schemeClr val="dk1"/>
              </a:buClr>
              <a:buSzPts val="813"/>
              <a:buNone/>
              <a:defRPr sz="813"/>
            </a:lvl7pPr>
            <a:lvl8pPr marL="3657600" lvl="7" indent="-228600" algn="l">
              <a:lnSpc>
                <a:spcPct val="90000"/>
              </a:lnSpc>
              <a:spcBef>
                <a:spcPts val="406"/>
              </a:spcBef>
              <a:spcAft>
                <a:spcPts val="0"/>
              </a:spcAft>
              <a:buClr>
                <a:schemeClr val="dk1"/>
              </a:buClr>
              <a:buSzPts val="813"/>
              <a:buNone/>
              <a:defRPr sz="813"/>
            </a:lvl8pPr>
            <a:lvl9pPr marL="4114800" lvl="8" indent="-228600" algn="l">
              <a:lnSpc>
                <a:spcPct val="90000"/>
              </a:lnSpc>
              <a:spcBef>
                <a:spcPts val="406"/>
              </a:spcBef>
              <a:spcAft>
                <a:spcPts val="0"/>
              </a:spcAft>
              <a:buClr>
                <a:schemeClr val="dk1"/>
              </a:buClr>
              <a:buSzPts val="813"/>
              <a:buNone/>
              <a:defRPr sz="813"/>
            </a:lvl9pPr>
          </a:lstStyle>
          <a:p>
            <a:endParaRPr/>
          </a:p>
        </p:txBody>
      </p:sp>
      <p:sp>
        <p:nvSpPr>
          <p:cNvPr id="66" name="Google Shape;66;p59"/>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59"/>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59"/>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9"/>
        <p:cNvGrpSpPr/>
        <p:nvPr/>
      </p:nvGrpSpPr>
      <p:grpSpPr>
        <a:xfrm>
          <a:off x="0" y="0"/>
          <a:ext cx="0" cy="0"/>
          <a:chOff x="0" y="0"/>
          <a:chExt cx="0" cy="0"/>
        </a:xfrm>
      </p:grpSpPr>
      <p:sp>
        <p:nvSpPr>
          <p:cNvPr id="70" name="Google Shape;70;p60"/>
          <p:cNvSpPr txBox="1">
            <a:spLocks noGrp="1"/>
          </p:cNvSpPr>
          <p:nvPr>
            <p:ph type="title"/>
          </p:nvPr>
        </p:nvSpPr>
        <p:spPr>
          <a:xfrm>
            <a:off x="682328" y="457200"/>
            <a:ext cx="3194943"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600"/>
              <a:buFont typeface="Calibri"/>
              <a:buNone/>
              <a:defRPr sz="2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60"/>
          <p:cNvSpPr>
            <a:spLocks noGrp="1"/>
          </p:cNvSpPr>
          <p:nvPr>
            <p:ph type="pic" idx="2"/>
          </p:nvPr>
        </p:nvSpPr>
        <p:spPr>
          <a:xfrm>
            <a:off x="4211340" y="987426"/>
            <a:ext cx="5014913" cy="4873625"/>
          </a:xfrm>
          <a:prstGeom prst="rect">
            <a:avLst/>
          </a:prstGeom>
          <a:noFill/>
          <a:ln>
            <a:noFill/>
          </a:ln>
        </p:spPr>
      </p:sp>
      <p:sp>
        <p:nvSpPr>
          <p:cNvPr id="72" name="Google Shape;72;p60"/>
          <p:cNvSpPr txBox="1">
            <a:spLocks noGrp="1"/>
          </p:cNvSpPr>
          <p:nvPr>
            <p:ph type="body" idx="1"/>
          </p:nvPr>
        </p:nvSpPr>
        <p:spPr>
          <a:xfrm>
            <a:off x="682328" y="2057400"/>
            <a:ext cx="3194943"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813"/>
              </a:spcBef>
              <a:spcAft>
                <a:spcPts val="0"/>
              </a:spcAft>
              <a:buClr>
                <a:schemeClr val="dk1"/>
              </a:buClr>
              <a:buSzPts val="1300"/>
              <a:buNone/>
              <a:defRPr sz="1300"/>
            </a:lvl1pPr>
            <a:lvl2pPr marL="914400" lvl="1" indent="-228600" algn="l">
              <a:lnSpc>
                <a:spcPct val="90000"/>
              </a:lnSpc>
              <a:spcBef>
                <a:spcPts val="406"/>
              </a:spcBef>
              <a:spcAft>
                <a:spcPts val="0"/>
              </a:spcAft>
              <a:buClr>
                <a:schemeClr val="dk1"/>
              </a:buClr>
              <a:buSzPts val="1138"/>
              <a:buNone/>
              <a:defRPr sz="1138"/>
            </a:lvl2pPr>
            <a:lvl3pPr marL="1371600" lvl="2" indent="-228600" algn="l">
              <a:lnSpc>
                <a:spcPct val="90000"/>
              </a:lnSpc>
              <a:spcBef>
                <a:spcPts val="406"/>
              </a:spcBef>
              <a:spcAft>
                <a:spcPts val="0"/>
              </a:spcAft>
              <a:buClr>
                <a:schemeClr val="dk1"/>
              </a:buClr>
              <a:buSzPts val="975"/>
              <a:buNone/>
              <a:defRPr sz="975"/>
            </a:lvl3pPr>
            <a:lvl4pPr marL="1828800" lvl="3" indent="-228600" algn="l">
              <a:lnSpc>
                <a:spcPct val="90000"/>
              </a:lnSpc>
              <a:spcBef>
                <a:spcPts val="406"/>
              </a:spcBef>
              <a:spcAft>
                <a:spcPts val="0"/>
              </a:spcAft>
              <a:buClr>
                <a:schemeClr val="dk1"/>
              </a:buClr>
              <a:buSzPts val="813"/>
              <a:buNone/>
              <a:defRPr sz="813"/>
            </a:lvl4pPr>
            <a:lvl5pPr marL="2286000" lvl="4" indent="-228600" algn="l">
              <a:lnSpc>
                <a:spcPct val="90000"/>
              </a:lnSpc>
              <a:spcBef>
                <a:spcPts val="406"/>
              </a:spcBef>
              <a:spcAft>
                <a:spcPts val="0"/>
              </a:spcAft>
              <a:buClr>
                <a:schemeClr val="dk1"/>
              </a:buClr>
              <a:buSzPts val="813"/>
              <a:buNone/>
              <a:defRPr sz="813"/>
            </a:lvl5pPr>
            <a:lvl6pPr marL="2743200" lvl="5" indent="-228600" algn="l">
              <a:lnSpc>
                <a:spcPct val="90000"/>
              </a:lnSpc>
              <a:spcBef>
                <a:spcPts val="406"/>
              </a:spcBef>
              <a:spcAft>
                <a:spcPts val="0"/>
              </a:spcAft>
              <a:buClr>
                <a:schemeClr val="dk1"/>
              </a:buClr>
              <a:buSzPts val="813"/>
              <a:buNone/>
              <a:defRPr sz="813"/>
            </a:lvl6pPr>
            <a:lvl7pPr marL="3200400" lvl="6" indent="-228600" algn="l">
              <a:lnSpc>
                <a:spcPct val="90000"/>
              </a:lnSpc>
              <a:spcBef>
                <a:spcPts val="406"/>
              </a:spcBef>
              <a:spcAft>
                <a:spcPts val="0"/>
              </a:spcAft>
              <a:buClr>
                <a:schemeClr val="dk1"/>
              </a:buClr>
              <a:buSzPts val="813"/>
              <a:buNone/>
              <a:defRPr sz="813"/>
            </a:lvl7pPr>
            <a:lvl8pPr marL="3657600" lvl="7" indent="-228600" algn="l">
              <a:lnSpc>
                <a:spcPct val="90000"/>
              </a:lnSpc>
              <a:spcBef>
                <a:spcPts val="406"/>
              </a:spcBef>
              <a:spcAft>
                <a:spcPts val="0"/>
              </a:spcAft>
              <a:buClr>
                <a:schemeClr val="dk1"/>
              </a:buClr>
              <a:buSzPts val="813"/>
              <a:buNone/>
              <a:defRPr sz="813"/>
            </a:lvl8pPr>
            <a:lvl9pPr marL="4114800" lvl="8" indent="-228600" algn="l">
              <a:lnSpc>
                <a:spcPct val="90000"/>
              </a:lnSpc>
              <a:spcBef>
                <a:spcPts val="406"/>
              </a:spcBef>
              <a:spcAft>
                <a:spcPts val="0"/>
              </a:spcAft>
              <a:buClr>
                <a:schemeClr val="dk1"/>
              </a:buClr>
              <a:buSzPts val="813"/>
              <a:buNone/>
              <a:defRPr sz="813"/>
            </a:lvl9pPr>
          </a:lstStyle>
          <a:p>
            <a:endParaRPr/>
          </a:p>
        </p:txBody>
      </p:sp>
      <p:sp>
        <p:nvSpPr>
          <p:cNvPr id="73" name="Google Shape;73;p60"/>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60"/>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60"/>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solidFill>
                <a:schemeClr val="dk1"/>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6"/>
        <p:cNvGrpSpPr/>
        <p:nvPr/>
      </p:nvGrpSpPr>
      <p:grpSpPr>
        <a:xfrm>
          <a:off x="0" y="0"/>
          <a:ext cx="0" cy="0"/>
          <a:chOff x="0" y="0"/>
          <a:chExt cx="0" cy="0"/>
        </a:xfrm>
      </p:grpSpPr>
      <p:sp>
        <p:nvSpPr>
          <p:cNvPr id="77" name="Google Shape;77;p61"/>
          <p:cNvSpPr txBox="1">
            <a:spLocks noGrp="1"/>
          </p:cNvSpPr>
          <p:nvPr>
            <p:ph type="title"/>
          </p:nvPr>
        </p:nvSpPr>
        <p:spPr>
          <a:xfrm>
            <a:off x="681038" y="365126"/>
            <a:ext cx="854392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61"/>
          <p:cNvSpPr txBox="1">
            <a:spLocks noGrp="1"/>
          </p:cNvSpPr>
          <p:nvPr>
            <p:ph type="body" idx="1"/>
          </p:nvPr>
        </p:nvSpPr>
        <p:spPr>
          <a:xfrm rot="5400000">
            <a:off x="2777332" y="-270669"/>
            <a:ext cx="4351338" cy="85439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813"/>
              </a:spcBef>
              <a:spcAft>
                <a:spcPts val="0"/>
              </a:spcAft>
              <a:buClr>
                <a:schemeClr val="dk1"/>
              </a:buClr>
              <a:buSzPts val="1800"/>
              <a:buChar char="•"/>
              <a:defRPr/>
            </a:lvl1pPr>
            <a:lvl2pPr marL="914400" lvl="1" indent="-342900" algn="l">
              <a:lnSpc>
                <a:spcPct val="90000"/>
              </a:lnSpc>
              <a:spcBef>
                <a:spcPts val="406"/>
              </a:spcBef>
              <a:spcAft>
                <a:spcPts val="0"/>
              </a:spcAft>
              <a:buClr>
                <a:schemeClr val="dk1"/>
              </a:buClr>
              <a:buSzPts val="1800"/>
              <a:buChar char="•"/>
              <a:defRPr/>
            </a:lvl2pPr>
            <a:lvl3pPr marL="1371600" lvl="2" indent="-342900" algn="l">
              <a:lnSpc>
                <a:spcPct val="90000"/>
              </a:lnSpc>
              <a:spcBef>
                <a:spcPts val="406"/>
              </a:spcBef>
              <a:spcAft>
                <a:spcPts val="0"/>
              </a:spcAft>
              <a:buClr>
                <a:schemeClr val="dk1"/>
              </a:buClr>
              <a:buSzPts val="1800"/>
              <a:buChar char="•"/>
              <a:defRPr/>
            </a:lvl3pPr>
            <a:lvl4pPr marL="1828800" lvl="3" indent="-342900" algn="l">
              <a:lnSpc>
                <a:spcPct val="90000"/>
              </a:lnSpc>
              <a:spcBef>
                <a:spcPts val="406"/>
              </a:spcBef>
              <a:spcAft>
                <a:spcPts val="0"/>
              </a:spcAft>
              <a:buClr>
                <a:schemeClr val="dk1"/>
              </a:buClr>
              <a:buSzPts val="1800"/>
              <a:buChar char="•"/>
              <a:defRPr/>
            </a:lvl4pPr>
            <a:lvl5pPr marL="2286000" lvl="4" indent="-342900" algn="l">
              <a:lnSpc>
                <a:spcPct val="90000"/>
              </a:lnSpc>
              <a:spcBef>
                <a:spcPts val="406"/>
              </a:spcBef>
              <a:spcAft>
                <a:spcPts val="0"/>
              </a:spcAft>
              <a:buClr>
                <a:schemeClr val="dk1"/>
              </a:buClr>
              <a:buSzPts val="1800"/>
              <a:buChar char="•"/>
              <a:defRPr/>
            </a:lvl5pPr>
            <a:lvl6pPr marL="2743200" lvl="5" indent="-342900" algn="l">
              <a:lnSpc>
                <a:spcPct val="90000"/>
              </a:lnSpc>
              <a:spcBef>
                <a:spcPts val="406"/>
              </a:spcBef>
              <a:spcAft>
                <a:spcPts val="0"/>
              </a:spcAft>
              <a:buClr>
                <a:schemeClr val="dk1"/>
              </a:buClr>
              <a:buSzPts val="1800"/>
              <a:buChar char="•"/>
              <a:defRPr/>
            </a:lvl6pPr>
            <a:lvl7pPr marL="3200400" lvl="6" indent="-342900" algn="l">
              <a:lnSpc>
                <a:spcPct val="90000"/>
              </a:lnSpc>
              <a:spcBef>
                <a:spcPts val="406"/>
              </a:spcBef>
              <a:spcAft>
                <a:spcPts val="0"/>
              </a:spcAft>
              <a:buClr>
                <a:schemeClr val="dk1"/>
              </a:buClr>
              <a:buSzPts val="1800"/>
              <a:buChar char="•"/>
              <a:defRPr/>
            </a:lvl7pPr>
            <a:lvl8pPr marL="3657600" lvl="7" indent="-342900" algn="l">
              <a:lnSpc>
                <a:spcPct val="90000"/>
              </a:lnSpc>
              <a:spcBef>
                <a:spcPts val="406"/>
              </a:spcBef>
              <a:spcAft>
                <a:spcPts val="0"/>
              </a:spcAft>
              <a:buClr>
                <a:schemeClr val="dk1"/>
              </a:buClr>
              <a:buSzPts val="1800"/>
              <a:buChar char="•"/>
              <a:defRPr/>
            </a:lvl8pPr>
            <a:lvl9pPr marL="4114800" lvl="8" indent="-342900" algn="l">
              <a:lnSpc>
                <a:spcPct val="90000"/>
              </a:lnSpc>
              <a:spcBef>
                <a:spcPts val="406"/>
              </a:spcBef>
              <a:spcAft>
                <a:spcPts val="0"/>
              </a:spcAft>
              <a:buClr>
                <a:schemeClr val="dk1"/>
              </a:buClr>
              <a:buSzPts val="1800"/>
              <a:buChar char="•"/>
              <a:defRPr/>
            </a:lvl9pPr>
          </a:lstStyle>
          <a:p>
            <a:endParaRPr/>
          </a:p>
        </p:txBody>
      </p:sp>
      <p:sp>
        <p:nvSpPr>
          <p:cNvPr id="79" name="Google Shape;79;p61"/>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61"/>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61"/>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2"/>
        <p:cNvGrpSpPr/>
        <p:nvPr/>
      </p:nvGrpSpPr>
      <p:grpSpPr>
        <a:xfrm>
          <a:off x="0" y="0"/>
          <a:ext cx="0" cy="0"/>
          <a:chOff x="0" y="0"/>
          <a:chExt cx="0" cy="0"/>
        </a:xfrm>
      </p:grpSpPr>
      <p:sp>
        <p:nvSpPr>
          <p:cNvPr id="83" name="Google Shape;83;p62"/>
          <p:cNvSpPr txBox="1">
            <a:spLocks noGrp="1"/>
          </p:cNvSpPr>
          <p:nvPr>
            <p:ph type="title"/>
          </p:nvPr>
        </p:nvSpPr>
        <p:spPr>
          <a:xfrm rot="5400000">
            <a:off x="5251052" y="2203053"/>
            <a:ext cx="5811838" cy="213598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62"/>
          <p:cNvSpPr txBox="1">
            <a:spLocks noGrp="1"/>
          </p:cNvSpPr>
          <p:nvPr>
            <p:ph type="body" idx="1"/>
          </p:nvPr>
        </p:nvSpPr>
        <p:spPr>
          <a:xfrm rot="5400000">
            <a:off x="917178" y="128985"/>
            <a:ext cx="5811838" cy="62841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813"/>
              </a:spcBef>
              <a:spcAft>
                <a:spcPts val="0"/>
              </a:spcAft>
              <a:buClr>
                <a:schemeClr val="dk1"/>
              </a:buClr>
              <a:buSzPts val="1800"/>
              <a:buChar char="•"/>
              <a:defRPr/>
            </a:lvl1pPr>
            <a:lvl2pPr marL="914400" lvl="1" indent="-342900" algn="l">
              <a:lnSpc>
                <a:spcPct val="90000"/>
              </a:lnSpc>
              <a:spcBef>
                <a:spcPts val="406"/>
              </a:spcBef>
              <a:spcAft>
                <a:spcPts val="0"/>
              </a:spcAft>
              <a:buClr>
                <a:schemeClr val="dk1"/>
              </a:buClr>
              <a:buSzPts val="1800"/>
              <a:buChar char="•"/>
              <a:defRPr/>
            </a:lvl2pPr>
            <a:lvl3pPr marL="1371600" lvl="2" indent="-342900" algn="l">
              <a:lnSpc>
                <a:spcPct val="90000"/>
              </a:lnSpc>
              <a:spcBef>
                <a:spcPts val="406"/>
              </a:spcBef>
              <a:spcAft>
                <a:spcPts val="0"/>
              </a:spcAft>
              <a:buClr>
                <a:schemeClr val="dk1"/>
              </a:buClr>
              <a:buSzPts val="1800"/>
              <a:buChar char="•"/>
              <a:defRPr/>
            </a:lvl3pPr>
            <a:lvl4pPr marL="1828800" lvl="3" indent="-342900" algn="l">
              <a:lnSpc>
                <a:spcPct val="90000"/>
              </a:lnSpc>
              <a:spcBef>
                <a:spcPts val="406"/>
              </a:spcBef>
              <a:spcAft>
                <a:spcPts val="0"/>
              </a:spcAft>
              <a:buClr>
                <a:schemeClr val="dk1"/>
              </a:buClr>
              <a:buSzPts val="1800"/>
              <a:buChar char="•"/>
              <a:defRPr/>
            </a:lvl4pPr>
            <a:lvl5pPr marL="2286000" lvl="4" indent="-342900" algn="l">
              <a:lnSpc>
                <a:spcPct val="90000"/>
              </a:lnSpc>
              <a:spcBef>
                <a:spcPts val="406"/>
              </a:spcBef>
              <a:spcAft>
                <a:spcPts val="0"/>
              </a:spcAft>
              <a:buClr>
                <a:schemeClr val="dk1"/>
              </a:buClr>
              <a:buSzPts val="1800"/>
              <a:buChar char="•"/>
              <a:defRPr/>
            </a:lvl5pPr>
            <a:lvl6pPr marL="2743200" lvl="5" indent="-342900" algn="l">
              <a:lnSpc>
                <a:spcPct val="90000"/>
              </a:lnSpc>
              <a:spcBef>
                <a:spcPts val="406"/>
              </a:spcBef>
              <a:spcAft>
                <a:spcPts val="0"/>
              </a:spcAft>
              <a:buClr>
                <a:schemeClr val="dk1"/>
              </a:buClr>
              <a:buSzPts val="1800"/>
              <a:buChar char="•"/>
              <a:defRPr/>
            </a:lvl6pPr>
            <a:lvl7pPr marL="3200400" lvl="6" indent="-342900" algn="l">
              <a:lnSpc>
                <a:spcPct val="90000"/>
              </a:lnSpc>
              <a:spcBef>
                <a:spcPts val="406"/>
              </a:spcBef>
              <a:spcAft>
                <a:spcPts val="0"/>
              </a:spcAft>
              <a:buClr>
                <a:schemeClr val="dk1"/>
              </a:buClr>
              <a:buSzPts val="1800"/>
              <a:buChar char="•"/>
              <a:defRPr/>
            </a:lvl7pPr>
            <a:lvl8pPr marL="3657600" lvl="7" indent="-342900" algn="l">
              <a:lnSpc>
                <a:spcPct val="90000"/>
              </a:lnSpc>
              <a:spcBef>
                <a:spcPts val="406"/>
              </a:spcBef>
              <a:spcAft>
                <a:spcPts val="0"/>
              </a:spcAft>
              <a:buClr>
                <a:schemeClr val="dk1"/>
              </a:buClr>
              <a:buSzPts val="1800"/>
              <a:buChar char="•"/>
              <a:defRPr/>
            </a:lvl8pPr>
            <a:lvl9pPr marL="4114800" lvl="8" indent="-342900" algn="l">
              <a:lnSpc>
                <a:spcPct val="90000"/>
              </a:lnSpc>
              <a:spcBef>
                <a:spcPts val="406"/>
              </a:spcBef>
              <a:spcAft>
                <a:spcPts val="0"/>
              </a:spcAft>
              <a:buClr>
                <a:schemeClr val="dk1"/>
              </a:buClr>
              <a:buSzPts val="1800"/>
              <a:buChar char="•"/>
              <a:defRPr/>
            </a:lvl9pPr>
          </a:lstStyle>
          <a:p>
            <a:endParaRPr/>
          </a:p>
        </p:txBody>
      </p:sp>
      <p:sp>
        <p:nvSpPr>
          <p:cNvPr id="85" name="Google Shape;85;p62"/>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62"/>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62"/>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Contacts Info">
  <p:cSld name="Contacts Info">
    <p:spTree>
      <p:nvGrpSpPr>
        <p:cNvPr id="1" name="Shape 88"/>
        <p:cNvGrpSpPr/>
        <p:nvPr/>
      </p:nvGrpSpPr>
      <p:grpSpPr>
        <a:xfrm>
          <a:off x="0" y="0"/>
          <a:ext cx="0" cy="0"/>
          <a:chOff x="0" y="0"/>
          <a:chExt cx="0" cy="0"/>
        </a:xfrm>
      </p:grpSpPr>
      <p:sp>
        <p:nvSpPr>
          <p:cNvPr id="89" name="Google Shape;89;p63"/>
          <p:cNvSpPr txBox="1">
            <a:spLocks noGrp="1"/>
          </p:cNvSpPr>
          <p:nvPr>
            <p:ph type="sldNum" idx="12"/>
          </p:nvPr>
        </p:nvSpPr>
        <p:spPr>
          <a:xfrm>
            <a:off x="9648000" y="6732000"/>
            <a:ext cx="252000" cy="104775"/>
          </a:xfrm>
          <a:prstGeom prst="rect">
            <a:avLst/>
          </a:prstGeom>
          <a:noFill/>
          <a:ln>
            <a:noFill/>
          </a:ln>
        </p:spPr>
        <p:txBody>
          <a:bodyPr spcFirstLastPara="1" wrap="square" lIns="36000" tIns="0" rIns="36000" bIns="0" anchor="ctr" anchorCtr="0">
            <a:spAutoFit/>
          </a:bodyPr>
          <a:lstStyle>
            <a:lvl1pPr marL="0" marR="0" lvl="0"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AR"/>
              <a:t>‹#›</a:t>
            </a:fld>
            <a:endParaRPr/>
          </a:p>
        </p:txBody>
      </p:sp>
      <p:pic>
        <p:nvPicPr>
          <p:cNvPr id="90" name="Google Shape;90;p63" descr="images (1).jpg"/>
          <p:cNvPicPr preferRelativeResize="0"/>
          <p:nvPr/>
        </p:nvPicPr>
        <p:blipFill rotWithShape="1">
          <a:blip r:embed="rId2">
            <a:alphaModFix/>
          </a:blip>
          <a:srcRect t="47743" r="60368" b="19890"/>
          <a:stretch/>
        </p:blipFill>
        <p:spPr>
          <a:xfrm>
            <a:off x="6357982" y="2571744"/>
            <a:ext cx="3524240" cy="4286255"/>
          </a:xfrm>
          <a:prstGeom prst="rect">
            <a:avLst/>
          </a:prstGeom>
          <a:noFill/>
          <a:ln>
            <a:noFill/>
          </a:ln>
        </p:spPr>
      </p:pic>
      <p:pic>
        <p:nvPicPr>
          <p:cNvPr id="91" name="Google Shape;91;p63" descr="images (1).jpg"/>
          <p:cNvPicPr preferRelativeResize="0"/>
          <p:nvPr/>
        </p:nvPicPr>
        <p:blipFill rotWithShape="1">
          <a:blip r:embed="rId2">
            <a:alphaModFix/>
          </a:blip>
          <a:srcRect l="58789" r="-998" b="67294"/>
          <a:stretch/>
        </p:blipFill>
        <p:spPr>
          <a:xfrm>
            <a:off x="0" y="0"/>
            <a:ext cx="2724146" cy="3143248"/>
          </a:xfrm>
          <a:prstGeom prst="rect">
            <a:avLst/>
          </a:prstGeom>
          <a:noFill/>
          <a:ln>
            <a:noFill/>
          </a:ln>
        </p:spPr>
      </p:pic>
      <p:sp>
        <p:nvSpPr>
          <p:cNvPr id="92" name="Google Shape;92;p63"/>
          <p:cNvSpPr/>
          <p:nvPr/>
        </p:nvSpPr>
        <p:spPr>
          <a:xfrm rot="10800000" flipH="1">
            <a:off x="3309926" y="1214422"/>
            <a:ext cx="6572296" cy="45719"/>
          </a:xfrm>
          <a:prstGeom prst="rect">
            <a:avLst/>
          </a:prstGeom>
          <a:gradFill>
            <a:gsLst>
              <a:gs pos="0">
                <a:srgbClr val="E5E6E8"/>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3" name="Google Shape;93;p63"/>
          <p:cNvSpPr/>
          <p:nvPr/>
        </p:nvSpPr>
        <p:spPr>
          <a:xfrm flipH="1">
            <a:off x="0" y="5715016"/>
            <a:ext cx="5524504" cy="45719"/>
          </a:xfrm>
          <a:prstGeom prst="rect">
            <a:avLst/>
          </a:prstGeom>
          <a:gradFill>
            <a:gsLst>
              <a:gs pos="0">
                <a:srgbClr val="E5E6E8"/>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9"/>
          <p:cNvSpPr txBox="1">
            <a:spLocks noGrp="1"/>
          </p:cNvSpPr>
          <p:nvPr>
            <p:ph type="title"/>
          </p:nvPr>
        </p:nvSpPr>
        <p:spPr>
          <a:xfrm>
            <a:off x="681038" y="365126"/>
            <a:ext cx="8543925"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575"/>
              <a:buFont typeface="Calibri"/>
              <a:buNone/>
              <a:defRPr sz="3575"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49"/>
          <p:cNvSpPr txBox="1">
            <a:spLocks noGrp="1"/>
          </p:cNvSpPr>
          <p:nvPr>
            <p:ph type="body" idx="1"/>
          </p:nvPr>
        </p:nvSpPr>
        <p:spPr>
          <a:xfrm>
            <a:off x="681038" y="1825625"/>
            <a:ext cx="8543925" cy="4351338"/>
          </a:xfrm>
          <a:prstGeom prst="rect">
            <a:avLst/>
          </a:prstGeom>
          <a:noFill/>
          <a:ln>
            <a:noFill/>
          </a:ln>
        </p:spPr>
        <p:txBody>
          <a:bodyPr spcFirstLastPara="1" wrap="square" lIns="91425" tIns="45700" rIns="91425" bIns="45700" anchor="t" anchorCtr="0">
            <a:normAutofit/>
          </a:bodyPr>
          <a:lstStyle>
            <a:lvl1pPr marL="457200" marR="0" lvl="0" indent="-373062" algn="l" rtl="0">
              <a:lnSpc>
                <a:spcPct val="90000"/>
              </a:lnSpc>
              <a:spcBef>
                <a:spcPts val="813"/>
              </a:spcBef>
              <a:spcAft>
                <a:spcPts val="0"/>
              </a:spcAft>
              <a:buClr>
                <a:schemeClr val="dk1"/>
              </a:buClr>
              <a:buSzPts val="2275"/>
              <a:buFont typeface="Arial"/>
              <a:buChar char="•"/>
              <a:defRPr sz="2275" b="0" i="0" u="none" strike="noStrike" cap="none">
                <a:solidFill>
                  <a:schemeClr val="dk1"/>
                </a:solidFill>
                <a:latin typeface="Calibri"/>
                <a:ea typeface="Calibri"/>
                <a:cs typeface="Calibri"/>
                <a:sym typeface="Calibri"/>
              </a:defRPr>
            </a:lvl1pPr>
            <a:lvl2pPr marL="914400" marR="0" lvl="1" indent="-352425" algn="l" rtl="0">
              <a:lnSpc>
                <a:spcPct val="90000"/>
              </a:lnSpc>
              <a:spcBef>
                <a:spcPts val="406"/>
              </a:spcBef>
              <a:spcAft>
                <a:spcPts val="0"/>
              </a:spcAft>
              <a:buClr>
                <a:schemeClr val="dk1"/>
              </a:buClr>
              <a:buSzPts val="1950"/>
              <a:buFont typeface="Arial"/>
              <a:buChar char="•"/>
              <a:defRPr sz="1950" b="0" i="0" u="none" strike="noStrike" cap="none">
                <a:solidFill>
                  <a:schemeClr val="dk1"/>
                </a:solidFill>
                <a:latin typeface="Calibri"/>
                <a:ea typeface="Calibri"/>
                <a:cs typeface="Calibri"/>
                <a:sym typeface="Calibri"/>
              </a:defRPr>
            </a:lvl2pPr>
            <a:lvl3pPr marL="1371600" marR="0" lvl="2" indent="-331787" algn="l" rtl="0">
              <a:lnSpc>
                <a:spcPct val="90000"/>
              </a:lnSpc>
              <a:spcBef>
                <a:spcPts val="406"/>
              </a:spcBef>
              <a:spcAft>
                <a:spcPts val="0"/>
              </a:spcAft>
              <a:buClr>
                <a:schemeClr val="dk1"/>
              </a:buClr>
              <a:buSzPts val="1625"/>
              <a:buFont typeface="Arial"/>
              <a:buChar char="•"/>
              <a:defRPr sz="1625" b="0" i="0" u="none" strike="noStrike" cap="none">
                <a:solidFill>
                  <a:schemeClr val="dk1"/>
                </a:solidFill>
                <a:latin typeface="Calibri"/>
                <a:ea typeface="Calibri"/>
                <a:cs typeface="Calibri"/>
                <a:sym typeface="Calibri"/>
              </a:defRPr>
            </a:lvl3pPr>
            <a:lvl4pPr marL="1828800" marR="0" lvl="3" indent="-321500"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4pPr>
            <a:lvl5pPr marL="2286000" marR="0" lvl="4" indent="-321500"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5pPr>
            <a:lvl6pPr marL="2743200" marR="0" lvl="5" indent="-321500"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6pPr>
            <a:lvl7pPr marL="3200400" marR="0" lvl="6" indent="-321500"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7pPr>
            <a:lvl8pPr marL="3657600" marR="0" lvl="7" indent="-321500"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8pPr>
            <a:lvl9pPr marL="4114800" marR="0" lvl="8" indent="-321500"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9pPr>
          </a:lstStyle>
          <a:p>
            <a:endParaRPr/>
          </a:p>
        </p:txBody>
      </p:sp>
      <p:sp>
        <p:nvSpPr>
          <p:cNvPr id="11" name="Google Shape;11;p49"/>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75"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49"/>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75"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9"/>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sz="1000">
              <a:solidFill>
                <a:schemeClr val="dk1"/>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11.png"/><Relationship Id="rId4" Type="http://schemas.openxmlformats.org/officeDocument/2006/relationships/image" Target="../media/image24.jp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21.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descr="https://encrypted-tbn2.gstatic.com/images?q=tbn:ANd9GcRcyGsKQFbNE159vcUw6iMcDisELRoVKzvai6d3iJrA-_BtH5dgBw"/>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99" name="Google Shape;99;p1" descr="images.jpg"/>
          <p:cNvPicPr preferRelativeResize="0"/>
          <p:nvPr/>
        </p:nvPicPr>
        <p:blipFill rotWithShape="1">
          <a:blip r:embed="rId3">
            <a:alphaModFix/>
          </a:blip>
          <a:srcRect l="11057" t="16025" r="10335" b="11856"/>
          <a:stretch/>
        </p:blipFill>
        <p:spPr>
          <a:xfrm>
            <a:off x="2381232" y="1968455"/>
            <a:ext cx="4633512" cy="1530335"/>
          </a:xfrm>
          <a:prstGeom prst="rect">
            <a:avLst/>
          </a:prstGeom>
          <a:noFill/>
          <a:ln>
            <a:noFill/>
          </a:ln>
        </p:spPr>
      </p:pic>
      <p:sp>
        <p:nvSpPr>
          <p:cNvPr id="100" name="Google Shape;100;p1"/>
          <p:cNvSpPr txBox="1"/>
          <p:nvPr/>
        </p:nvSpPr>
        <p:spPr>
          <a:xfrm>
            <a:off x="2381232" y="3998856"/>
            <a:ext cx="6143668" cy="133882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s-AR" sz="1800" b="1" i="0" u="none" strike="noStrike" cap="none">
                <a:solidFill>
                  <a:schemeClr val="dk1"/>
                </a:solidFill>
                <a:latin typeface="Calibri"/>
                <a:ea typeface="Calibri"/>
                <a:cs typeface="Calibri"/>
                <a:sym typeface="Calibri"/>
              </a:rPr>
              <a:t>INGENIERIA INDUSTRIAL</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es-AR" sz="1800" b="1" i="0" u="none" strike="noStrike" cap="none">
                <a:solidFill>
                  <a:schemeClr val="dk1"/>
                </a:solidFill>
                <a:latin typeface="Calibri"/>
                <a:ea typeface="Calibri"/>
                <a:cs typeface="Calibri"/>
                <a:sym typeface="Calibri"/>
              </a:rPr>
              <a:t>CATEDRA RELACIONES INDUSTRIALES</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es-AR" sz="1800" b="1" i="0" u="none" strike="noStrike" cap="none">
                <a:solidFill>
                  <a:schemeClr val="dk1"/>
                </a:solidFill>
                <a:latin typeface="Calibri"/>
                <a:ea typeface="Calibri"/>
                <a:cs typeface="Calibri"/>
                <a:sym typeface="Calibri"/>
              </a:rPr>
              <a:t>Clase 17 - Gestión del Talento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g276846b1dce_0_4"/>
          <p:cNvPicPr preferRelativeResize="0"/>
          <p:nvPr/>
        </p:nvPicPr>
        <p:blipFill>
          <a:blip r:embed="rId3">
            <a:alphaModFix/>
          </a:blip>
          <a:stretch>
            <a:fillRect/>
          </a:stretch>
        </p:blipFill>
        <p:spPr>
          <a:xfrm>
            <a:off x="152398" y="977590"/>
            <a:ext cx="9601203" cy="551280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g276846b1dce_0_9"/>
          <p:cNvPicPr preferRelativeResize="0"/>
          <p:nvPr/>
        </p:nvPicPr>
        <p:blipFill>
          <a:blip r:embed="rId3">
            <a:alphaModFix/>
          </a:blip>
          <a:stretch>
            <a:fillRect/>
          </a:stretch>
        </p:blipFill>
        <p:spPr>
          <a:xfrm>
            <a:off x="152400" y="152400"/>
            <a:ext cx="9601201" cy="541260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4"/>
          <p:cNvSpPr/>
          <p:nvPr/>
        </p:nvSpPr>
        <p:spPr>
          <a:xfrm>
            <a:off x="1515454" y="1583195"/>
            <a:ext cx="6194398" cy="428628"/>
          </a:xfrm>
          <a:prstGeom prst="roundRect">
            <a:avLst>
              <a:gd name="adj" fmla="val 16667"/>
            </a:avLst>
          </a:prstGeom>
          <a:solidFill>
            <a:srgbClr val="DBDADA"/>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Gestión del Talento</a:t>
            </a:r>
            <a:endParaRPr sz="1400" b="0" i="0" u="none" strike="noStrike" cap="none">
              <a:solidFill>
                <a:srgbClr val="000000"/>
              </a:solidFill>
              <a:latin typeface="Arial"/>
              <a:ea typeface="Arial"/>
              <a:cs typeface="Arial"/>
              <a:sym typeface="Arial"/>
            </a:endParaRPr>
          </a:p>
        </p:txBody>
      </p:sp>
      <p:sp>
        <p:nvSpPr>
          <p:cNvPr id="108" name="Google Shape;108;p24"/>
          <p:cNvSpPr/>
          <p:nvPr/>
        </p:nvSpPr>
        <p:spPr>
          <a:xfrm>
            <a:off x="1301140" y="1583195"/>
            <a:ext cx="571504" cy="428628"/>
          </a:xfrm>
          <a:prstGeom prst="ellipse">
            <a:avLst/>
          </a:prstGeom>
          <a:solidFill>
            <a:srgbClr val="8296B0"/>
          </a:solidFill>
          <a:ln>
            <a:noFill/>
          </a:ln>
          <a:effectLst>
            <a:outerShdw blurRad="44450" dist="27940" dir="5400000" algn="ctr">
              <a:srgbClr val="000000">
                <a:alpha val="3137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109" name="Google Shape;109;p24"/>
          <p:cNvSpPr/>
          <p:nvPr/>
        </p:nvSpPr>
        <p:spPr>
          <a:xfrm>
            <a:off x="2093228" y="2226137"/>
            <a:ext cx="5616624" cy="416150"/>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Identificación del Talento</a:t>
            </a:r>
            <a:endParaRPr sz="1400" b="0" i="0" u="none" strike="noStrike" cap="none">
              <a:solidFill>
                <a:srgbClr val="000000"/>
              </a:solidFill>
              <a:latin typeface="Arial"/>
              <a:ea typeface="Arial"/>
              <a:cs typeface="Arial"/>
              <a:sym typeface="Arial"/>
            </a:endParaRPr>
          </a:p>
        </p:txBody>
      </p:sp>
      <p:sp>
        <p:nvSpPr>
          <p:cNvPr id="110" name="Google Shape;110;p24">
            <a:hlinkClick r:id="rId3" action="ppaction://hlinksldjump"/>
          </p:cNvPr>
          <p:cNvSpPr/>
          <p:nvPr/>
        </p:nvSpPr>
        <p:spPr>
          <a:xfrm>
            <a:off x="1737748" y="2226137"/>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111" name="Google Shape;111;p24"/>
          <p:cNvSpPr/>
          <p:nvPr/>
        </p:nvSpPr>
        <p:spPr>
          <a:xfrm>
            <a:off x="2093228" y="2884469"/>
            <a:ext cx="5616624" cy="504056"/>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 Desarrollo del Talento</a:t>
            </a:r>
            <a:endParaRPr sz="1400" b="0" i="0" u="none" strike="noStrike" cap="none">
              <a:solidFill>
                <a:srgbClr val="000000"/>
              </a:solidFill>
              <a:latin typeface="Arial"/>
              <a:ea typeface="Arial"/>
              <a:cs typeface="Arial"/>
              <a:sym typeface="Arial"/>
            </a:endParaRPr>
          </a:p>
        </p:txBody>
      </p:sp>
      <p:sp>
        <p:nvSpPr>
          <p:cNvPr id="112" name="Google Shape;112;p24"/>
          <p:cNvSpPr/>
          <p:nvPr/>
        </p:nvSpPr>
        <p:spPr>
          <a:xfrm>
            <a:off x="1737748" y="2869079"/>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113" name="Google Shape;113;p24"/>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Gestión del Talento</a:t>
            </a:r>
            <a:endParaRPr sz="1400" b="0" i="0" u="none" strike="noStrike" cap="none">
              <a:solidFill>
                <a:srgbClr val="000000"/>
              </a:solidFill>
              <a:latin typeface="Arial"/>
              <a:ea typeface="Arial"/>
              <a:cs typeface="Arial"/>
              <a:sym typeface="Arial"/>
            </a:endParaRPr>
          </a:p>
        </p:txBody>
      </p:sp>
      <p:sp>
        <p:nvSpPr>
          <p:cNvPr id="114" name="Google Shape;114;p24"/>
          <p:cNvSpPr/>
          <p:nvPr/>
        </p:nvSpPr>
        <p:spPr>
          <a:xfrm>
            <a:off x="285981" y="1591745"/>
            <a:ext cx="864096" cy="428628"/>
          </a:xfrm>
          <a:prstGeom prst="stripedRightArrow">
            <a:avLst>
              <a:gd name="adj1" fmla="val 50000"/>
              <a:gd name="adj2" fmla="val 50000"/>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5" name="Google Shape;115;p24" descr="Resultado de imagen para utn regional buenos aires ingenieria industrial"/>
          <p:cNvPicPr preferRelativeResize="0"/>
          <p:nvPr/>
        </p:nvPicPr>
        <p:blipFill rotWithShape="1">
          <a:blip r:embed="rId4">
            <a:alphaModFix/>
          </a:blip>
          <a:srcRect/>
          <a:stretch/>
        </p:blipFill>
        <p:spPr>
          <a:xfrm>
            <a:off x="7041232" y="0"/>
            <a:ext cx="2637692" cy="1011116"/>
          </a:xfrm>
          <a:prstGeom prst="rect">
            <a:avLst/>
          </a:prstGeom>
          <a:noFill/>
          <a:ln>
            <a:noFill/>
          </a:ln>
        </p:spPr>
      </p:pic>
      <p:sp>
        <p:nvSpPr>
          <p:cNvPr id="116" name="Google Shape;116;p24"/>
          <p:cNvSpPr/>
          <p:nvPr/>
        </p:nvSpPr>
        <p:spPr>
          <a:xfrm>
            <a:off x="2093228" y="3604549"/>
            <a:ext cx="5616624" cy="504056"/>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 Retención del talento</a:t>
            </a:r>
            <a:endParaRPr sz="1400" b="0" i="0" u="none" strike="noStrike" cap="none">
              <a:solidFill>
                <a:srgbClr val="000000"/>
              </a:solidFill>
              <a:latin typeface="Arial"/>
              <a:ea typeface="Arial"/>
              <a:cs typeface="Arial"/>
              <a:sym typeface="Arial"/>
            </a:endParaRPr>
          </a:p>
        </p:txBody>
      </p:sp>
      <p:sp>
        <p:nvSpPr>
          <p:cNvPr id="117" name="Google Shape;117;p24"/>
          <p:cNvSpPr/>
          <p:nvPr/>
        </p:nvSpPr>
        <p:spPr>
          <a:xfrm>
            <a:off x="1737748" y="3589159"/>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121"/>
        <p:cNvGrpSpPr/>
        <p:nvPr/>
      </p:nvGrpSpPr>
      <p:grpSpPr>
        <a:xfrm>
          <a:off x="0" y="0"/>
          <a:ext cx="0" cy="0"/>
          <a:chOff x="0" y="0"/>
          <a:chExt cx="0" cy="0"/>
        </a:xfrm>
      </p:grpSpPr>
      <p:sp>
        <p:nvSpPr>
          <p:cNvPr id="122" name="Google Shape;122;p64"/>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Gestión del Talento</a:t>
            </a:r>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Caso de aplicación</a:t>
            </a:r>
            <a:endParaRPr sz="1400" b="0" i="0" u="none" strike="noStrike" cap="none">
              <a:solidFill>
                <a:srgbClr val="000000"/>
              </a:solidFill>
              <a:latin typeface="Arial"/>
              <a:ea typeface="Arial"/>
              <a:cs typeface="Arial"/>
              <a:sym typeface="Arial"/>
            </a:endParaRPr>
          </a:p>
        </p:txBody>
      </p:sp>
      <p:pic>
        <p:nvPicPr>
          <p:cNvPr id="123" name="Google Shape;123;p64"/>
          <p:cNvPicPr preferRelativeResize="0"/>
          <p:nvPr/>
        </p:nvPicPr>
        <p:blipFill rotWithShape="1">
          <a:blip r:embed="rId3">
            <a:alphaModFix/>
          </a:blip>
          <a:srcRect/>
          <a:stretch/>
        </p:blipFill>
        <p:spPr>
          <a:xfrm>
            <a:off x="963576" y="1313808"/>
            <a:ext cx="7629525" cy="5257800"/>
          </a:xfrm>
          <a:prstGeom prst="rect">
            <a:avLst/>
          </a:prstGeom>
          <a:noFill/>
          <a:ln>
            <a:noFill/>
          </a:ln>
        </p:spPr>
      </p:pic>
      <p:pic>
        <p:nvPicPr>
          <p:cNvPr id="124" name="Google Shape;124;p64" descr="Resultado de imagen para utn regional buenos aires ingenieria industrial"/>
          <p:cNvPicPr preferRelativeResize="0"/>
          <p:nvPr/>
        </p:nvPicPr>
        <p:blipFill rotWithShape="1">
          <a:blip r:embed="rId4">
            <a:alphaModFix/>
          </a:blip>
          <a:srcRect/>
          <a:stretch/>
        </p:blipFill>
        <p:spPr>
          <a:xfrm>
            <a:off x="7041232" y="0"/>
            <a:ext cx="2637692" cy="101111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28"/>
        <p:cNvGrpSpPr/>
        <p:nvPr/>
      </p:nvGrpSpPr>
      <p:grpSpPr>
        <a:xfrm>
          <a:off x="0" y="0"/>
          <a:ext cx="0" cy="0"/>
          <a:chOff x="0" y="0"/>
          <a:chExt cx="0" cy="0"/>
        </a:xfrm>
      </p:grpSpPr>
      <p:pic>
        <p:nvPicPr>
          <p:cNvPr id="129" name="Google Shape;129;p65"/>
          <p:cNvPicPr preferRelativeResize="0"/>
          <p:nvPr/>
        </p:nvPicPr>
        <p:blipFill rotWithShape="1">
          <a:blip r:embed="rId3">
            <a:alphaModFix/>
          </a:blip>
          <a:srcRect/>
          <a:stretch/>
        </p:blipFill>
        <p:spPr>
          <a:xfrm>
            <a:off x="2355018" y="278613"/>
            <a:ext cx="4991005" cy="706227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5"/>
          <p:cNvSpPr txBox="1"/>
          <p:nvPr/>
        </p:nvSpPr>
        <p:spPr>
          <a:xfrm>
            <a:off x="524508" y="1474619"/>
            <a:ext cx="8856984" cy="1446550"/>
          </a:xfrm>
          <a:prstGeom prst="rect">
            <a:avLst/>
          </a:prstGeom>
          <a:solidFill>
            <a:srgbClr val="F2F2F2"/>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3A3838"/>
                </a:solidFill>
                <a:latin typeface="Calibri"/>
                <a:ea typeface="Calibri"/>
                <a:cs typeface="Calibri"/>
                <a:sym typeface="Calibri"/>
              </a:rPr>
              <a:t>La </a:t>
            </a:r>
            <a:r>
              <a:rPr lang="es-AR" sz="1800" b="1" i="0" u="none" strike="noStrike" cap="none">
                <a:solidFill>
                  <a:srgbClr val="0070C0"/>
                </a:solidFill>
                <a:latin typeface="Arimo"/>
                <a:ea typeface="Arimo"/>
                <a:cs typeface="Arimo"/>
                <a:sym typeface="Arimo"/>
              </a:rPr>
              <a:t>gestión del talento </a:t>
            </a:r>
            <a:r>
              <a:rPr lang="es-AR" sz="1800" b="1" i="0" u="none" strike="noStrike" cap="none">
                <a:solidFill>
                  <a:srgbClr val="3A3838"/>
                </a:solidFill>
                <a:latin typeface="Calibri"/>
                <a:ea typeface="Calibri"/>
                <a:cs typeface="Calibri"/>
                <a:sym typeface="Calibri"/>
              </a:rPr>
              <a:t>representa los esfuerzos de una organización </a:t>
            </a:r>
            <a:r>
              <a:rPr lang="es-AR" sz="1800" b="1" i="0" u="none" strike="noStrike" cap="none">
                <a:solidFill>
                  <a:srgbClr val="FF0000"/>
                </a:solidFill>
                <a:latin typeface="Calibri"/>
                <a:ea typeface="Calibri"/>
                <a:cs typeface="Calibri"/>
                <a:sym typeface="Calibri"/>
              </a:rPr>
              <a:t>para ATRAER, IDENTIFICAR, DESARROLLAR y RETENER</a:t>
            </a:r>
            <a:r>
              <a:rPr lang="es-AR" sz="1800" b="1" i="0" u="none" strike="noStrike" cap="none">
                <a:solidFill>
                  <a:srgbClr val="3A3838"/>
                </a:solidFill>
                <a:latin typeface="Calibri"/>
                <a:ea typeface="Calibri"/>
                <a:cs typeface="Calibri"/>
                <a:sym typeface="Calibri"/>
              </a:rPr>
              <a:t> a sus empleados valiosos y competentes.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3A3838"/>
                </a:solidFill>
                <a:latin typeface="Calibri"/>
                <a:ea typeface="Calibri"/>
                <a:cs typeface="Calibri"/>
                <a:sym typeface="Calibri"/>
              </a:rPr>
              <a:t>Su objetivo es tener personas con las capacidades y el compromiso necesario para lograr el éxito actual y futuro de la organización. </a:t>
            </a:r>
            <a:endParaRPr sz="1600" b="0" i="0" u="none" strike="noStrike" cap="none">
              <a:solidFill>
                <a:srgbClr val="3A3838"/>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600"/>
              <a:buFont typeface="Arial"/>
              <a:buNone/>
            </a:pPr>
            <a:endParaRPr sz="1600" b="0" i="0" u="none" strike="noStrike" cap="none">
              <a:solidFill>
                <a:srgbClr val="3A3838"/>
              </a:solidFill>
              <a:latin typeface="Calibri"/>
              <a:ea typeface="Calibri"/>
              <a:cs typeface="Calibri"/>
              <a:sym typeface="Calibri"/>
            </a:endParaRPr>
          </a:p>
        </p:txBody>
      </p:sp>
      <p:sp>
        <p:nvSpPr>
          <p:cNvPr id="147" name="Google Shape;147;p25"/>
          <p:cNvSpPr/>
          <p:nvPr/>
        </p:nvSpPr>
        <p:spPr>
          <a:xfrm>
            <a:off x="4482505" y="3936832"/>
            <a:ext cx="4250010" cy="156966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0070C0"/>
                </a:solidFill>
                <a:latin typeface="Arimo"/>
                <a:ea typeface="Arimo"/>
                <a:cs typeface="Arimo"/>
                <a:sym typeface="Arimo"/>
              </a:rPr>
              <a:t>¿</a:t>
            </a:r>
            <a:r>
              <a:rPr lang="es-AR" sz="1800" b="0" i="0" u="none" strike="noStrike" cap="none">
                <a:solidFill>
                  <a:srgbClr val="0070C0"/>
                </a:solidFill>
                <a:latin typeface="Arimo"/>
                <a:ea typeface="Arimo"/>
                <a:cs typeface="Arimo"/>
                <a:sym typeface="Arimo"/>
              </a:rPr>
              <a:t>Tenemos el </a:t>
            </a:r>
            <a:r>
              <a:rPr lang="es-AR" sz="2400" b="1" i="0" u="none" strike="noStrike" cap="none">
                <a:solidFill>
                  <a:srgbClr val="0070C0"/>
                </a:solidFill>
                <a:latin typeface="Arimo"/>
                <a:ea typeface="Arimo"/>
                <a:cs typeface="Arimo"/>
                <a:sym typeface="Arimo"/>
              </a:rPr>
              <a:t>talento</a:t>
            </a:r>
            <a:r>
              <a:rPr lang="es-AR" sz="1800" b="1" i="0" u="none" strike="noStrike" cap="none">
                <a:solidFill>
                  <a:srgbClr val="0070C0"/>
                </a:solidFill>
                <a:latin typeface="Arimo"/>
                <a:ea typeface="Arimo"/>
                <a:cs typeface="Arimo"/>
                <a:sym typeface="Arimo"/>
              </a:rPr>
              <a:t> </a:t>
            </a:r>
            <a:r>
              <a:rPr lang="es-AR" sz="1800" b="1" i="0" u="none" strike="noStrike" cap="none">
                <a:solidFill>
                  <a:srgbClr val="7030A0"/>
                </a:solidFill>
                <a:latin typeface="Arimo"/>
                <a:ea typeface="Arimo"/>
                <a:cs typeface="Arimo"/>
                <a:sym typeface="Arimo"/>
              </a:rPr>
              <a:t>para desarrollar e implementar las estrategias </a:t>
            </a:r>
            <a:r>
              <a:rPr lang="es-AR" sz="1800" b="0" i="0" u="none" strike="noStrike" cap="none">
                <a:solidFill>
                  <a:srgbClr val="0070C0"/>
                </a:solidFill>
                <a:latin typeface="Arimo"/>
                <a:ea typeface="Arimo"/>
                <a:cs typeface="Arimo"/>
                <a:sym typeface="Arimo"/>
              </a:rPr>
              <a:t>que nos permitirán el éxito en este mundo de negocios cambiante y competitivo?</a:t>
            </a:r>
            <a:endParaRPr sz="1400" b="0" i="0" u="none" strike="noStrike" cap="none">
              <a:solidFill>
                <a:srgbClr val="000000"/>
              </a:solidFill>
              <a:latin typeface="Arial"/>
              <a:ea typeface="Arial"/>
              <a:cs typeface="Arial"/>
              <a:sym typeface="Arial"/>
            </a:endParaRPr>
          </a:p>
        </p:txBody>
      </p:sp>
      <p:sp>
        <p:nvSpPr>
          <p:cNvPr id="148" name="Google Shape;148;p25"/>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Gestión del Talento</a:t>
            </a:r>
            <a:endParaRPr sz="1400" b="0" i="0" u="none" strike="noStrike" cap="none">
              <a:solidFill>
                <a:srgbClr val="000000"/>
              </a:solidFill>
              <a:latin typeface="Arial"/>
              <a:ea typeface="Arial"/>
              <a:cs typeface="Arial"/>
              <a:sym typeface="Arial"/>
            </a:endParaRPr>
          </a:p>
        </p:txBody>
      </p:sp>
      <p:pic>
        <p:nvPicPr>
          <p:cNvPr id="149" name="Google Shape;149;p25"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pic>
        <p:nvPicPr>
          <p:cNvPr id="150" name="Google Shape;150;p25"/>
          <p:cNvPicPr preferRelativeResize="0"/>
          <p:nvPr/>
        </p:nvPicPr>
        <p:blipFill rotWithShape="1">
          <a:blip r:embed="rId4">
            <a:alphaModFix/>
          </a:blip>
          <a:srcRect/>
          <a:stretch/>
        </p:blipFill>
        <p:spPr>
          <a:xfrm>
            <a:off x="1064568" y="3101777"/>
            <a:ext cx="3429000" cy="3429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6"/>
          <p:cNvSpPr/>
          <p:nvPr/>
        </p:nvSpPr>
        <p:spPr>
          <a:xfrm>
            <a:off x="1856656" y="1268760"/>
            <a:ext cx="7416824" cy="1152128"/>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Obtención de buenos resultados económicos.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Obtención de buenos resultados operativos.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Remuneración competitiva, Incentivos personales.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Fuerte imagen de marca.</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Valores asociados a la marca.</a:t>
            </a:r>
            <a:endParaRPr sz="1400" b="0" i="0" u="none" strike="noStrike" cap="none">
              <a:solidFill>
                <a:srgbClr val="000000"/>
              </a:solidFill>
              <a:latin typeface="Arial"/>
              <a:ea typeface="Arial"/>
              <a:cs typeface="Arial"/>
              <a:sym typeface="Arial"/>
            </a:endParaRPr>
          </a:p>
        </p:txBody>
      </p:sp>
      <p:sp>
        <p:nvSpPr>
          <p:cNvPr id="156" name="Google Shape;156;p26"/>
          <p:cNvSpPr/>
          <p:nvPr/>
        </p:nvSpPr>
        <p:spPr>
          <a:xfrm>
            <a:off x="416496" y="1268760"/>
            <a:ext cx="1872208" cy="1152128"/>
          </a:xfrm>
          <a:prstGeom prst="chevron">
            <a:avLst>
              <a:gd name="adj" fmla="val 25801"/>
            </a:avLst>
          </a:prstGeom>
          <a:solidFill>
            <a:srgbClr val="FFF2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Atracción del talento</a:t>
            </a:r>
            <a:endParaRPr sz="1400" b="0" i="0" u="none" strike="noStrike" cap="none">
              <a:solidFill>
                <a:srgbClr val="002060"/>
              </a:solidFill>
              <a:latin typeface="Calibri"/>
              <a:ea typeface="Calibri"/>
              <a:cs typeface="Calibri"/>
              <a:sym typeface="Calibri"/>
            </a:endParaRPr>
          </a:p>
        </p:txBody>
      </p:sp>
      <p:sp>
        <p:nvSpPr>
          <p:cNvPr id="157" name="Google Shape;157;p26"/>
          <p:cNvSpPr/>
          <p:nvPr/>
        </p:nvSpPr>
        <p:spPr>
          <a:xfrm>
            <a:off x="1784648" y="2492896"/>
            <a:ext cx="7488832" cy="1152128"/>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Reclutamiento y selección.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Análisis de necesidades de talento.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Evaluación de desempeño.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Evaluación de potencial.</a:t>
            </a:r>
            <a:endParaRPr sz="1400" b="0" i="0" u="none" strike="noStrike" cap="none">
              <a:solidFill>
                <a:schemeClr val="dk1"/>
              </a:solidFill>
              <a:latin typeface="Calibri"/>
              <a:ea typeface="Calibri"/>
              <a:cs typeface="Calibri"/>
              <a:sym typeface="Calibri"/>
            </a:endParaRPr>
          </a:p>
        </p:txBody>
      </p:sp>
      <p:sp>
        <p:nvSpPr>
          <p:cNvPr id="158" name="Google Shape;158;p26"/>
          <p:cNvSpPr/>
          <p:nvPr/>
        </p:nvSpPr>
        <p:spPr>
          <a:xfrm>
            <a:off x="416496" y="2492896"/>
            <a:ext cx="1872208" cy="1152128"/>
          </a:xfrm>
          <a:prstGeom prst="chevron">
            <a:avLst>
              <a:gd name="adj" fmla="val 25801"/>
            </a:avLst>
          </a:prstGeom>
          <a:solidFill>
            <a:srgbClr val="CCCC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Identificación y captación del talento</a:t>
            </a:r>
            <a:endParaRPr sz="1400" b="0" i="0" u="none" strike="noStrike" cap="none">
              <a:solidFill>
                <a:schemeClr val="dk1"/>
              </a:solidFill>
              <a:latin typeface="Calibri"/>
              <a:ea typeface="Calibri"/>
              <a:cs typeface="Calibri"/>
              <a:sym typeface="Calibri"/>
            </a:endParaRPr>
          </a:p>
        </p:txBody>
      </p:sp>
      <p:sp>
        <p:nvSpPr>
          <p:cNvPr id="159" name="Google Shape;159;p26"/>
          <p:cNvSpPr/>
          <p:nvPr/>
        </p:nvSpPr>
        <p:spPr>
          <a:xfrm>
            <a:off x="1784648" y="3717032"/>
            <a:ext cx="7488832" cy="1152128"/>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Formación para desarrollar trabajo, promoción y cambio de actividad.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Formación para reconocer empresa y valores.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Formación sobre el entorno de la empresa.</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Planes personalizados de formación.</a:t>
            </a:r>
            <a:endParaRPr sz="1400" b="0" i="0" u="none" strike="noStrike" cap="none">
              <a:solidFill>
                <a:schemeClr val="dk1"/>
              </a:solidFill>
              <a:latin typeface="Calibri"/>
              <a:ea typeface="Calibri"/>
              <a:cs typeface="Calibri"/>
              <a:sym typeface="Calibri"/>
            </a:endParaRPr>
          </a:p>
        </p:txBody>
      </p:sp>
      <p:sp>
        <p:nvSpPr>
          <p:cNvPr id="160" name="Google Shape;160;p26"/>
          <p:cNvSpPr/>
          <p:nvPr/>
        </p:nvSpPr>
        <p:spPr>
          <a:xfrm>
            <a:off x="416496" y="3717032"/>
            <a:ext cx="1872208" cy="1152128"/>
          </a:xfrm>
          <a:prstGeom prst="chevron">
            <a:avLst>
              <a:gd name="adj" fmla="val 25801"/>
            </a:avLst>
          </a:prstGeom>
          <a:solidFill>
            <a:srgbClr val="FFCC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Desarrollo del talento</a:t>
            </a:r>
            <a:endParaRPr sz="1400" b="0" i="0" u="none" strike="noStrike" cap="none">
              <a:solidFill>
                <a:schemeClr val="dk1"/>
              </a:solidFill>
              <a:latin typeface="Calibri"/>
              <a:ea typeface="Calibri"/>
              <a:cs typeface="Calibri"/>
              <a:sym typeface="Calibri"/>
            </a:endParaRPr>
          </a:p>
        </p:txBody>
      </p:sp>
      <p:sp>
        <p:nvSpPr>
          <p:cNvPr id="161" name="Google Shape;161;p26"/>
          <p:cNvSpPr/>
          <p:nvPr/>
        </p:nvSpPr>
        <p:spPr>
          <a:xfrm>
            <a:off x="1784648" y="4941168"/>
            <a:ext cx="7488832" cy="1152128"/>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Generación de compromiso y motivación.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Política salarial y de incentivos personales.</a:t>
            </a:r>
            <a:endParaRPr sz="1400" b="0" i="0" u="none" strike="noStrike" cap="none">
              <a:solidFill>
                <a:schemeClr val="dk1"/>
              </a:solidFill>
              <a:latin typeface="Calibri"/>
              <a:ea typeface="Calibri"/>
              <a:cs typeface="Calibri"/>
              <a:sym typeface="Calibri"/>
            </a:endParaRPr>
          </a:p>
        </p:txBody>
      </p:sp>
      <p:sp>
        <p:nvSpPr>
          <p:cNvPr id="162" name="Google Shape;162;p26"/>
          <p:cNvSpPr/>
          <p:nvPr/>
        </p:nvSpPr>
        <p:spPr>
          <a:xfrm>
            <a:off x="416496" y="4941168"/>
            <a:ext cx="1872208" cy="1152128"/>
          </a:xfrm>
          <a:prstGeom prst="chevron">
            <a:avLst>
              <a:gd name="adj" fmla="val 25801"/>
            </a:avLst>
          </a:prstGeom>
          <a:solidFill>
            <a:srgbClr val="CC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AR" sz="1200" b="0" i="0" u="none" strike="noStrike" cap="none">
                <a:solidFill>
                  <a:schemeClr val="dk1"/>
                </a:solidFill>
                <a:latin typeface="Calibri"/>
                <a:ea typeface="Calibri"/>
                <a:cs typeface="Calibri"/>
                <a:sym typeface="Calibri"/>
              </a:rPr>
              <a:t>Retención del talento</a:t>
            </a:r>
            <a:endParaRPr sz="1200" b="0" i="0" u="none" strike="noStrike" cap="none">
              <a:solidFill>
                <a:schemeClr val="dk1"/>
              </a:solidFill>
              <a:latin typeface="Calibri"/>
              <a:ea typeface="Calibri"/>
              <a:cs typeface="Calibri"/>
              <a:sym typeface="Calibri"/>
            </a:endParaRPr>
          </a:p>
        </p:txBody>
      </p:sp>
      <p:sp>
        <p:nvSpPr>
          <p:cNvPr id="163" name="Google Shape;163;p26"/>
          <p:cNvSpPr/>
          <p:nvPr/>
        </p:nvSpPr>
        <p:spPr>
          <a:xfrm>
            <a:off x="4323295" y="6141204"/>
            <a:ext cx="4953000" cy="60016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s-AR" sz="1100" b="1" i="0" u="none" strike="noStrike" cap="none" dirty="0">
                <a:solidFill>
                  <a:schemeClr val="dk1"/>
                </a:solidFill>
                <a:latin typeface="Calibri"/>
                <a:ea typeface="Calibri"/>
                <a:cs typeface="Calibri"/>
                <a:sym typeface="Calibri"/>
              </a:rPr>
              <a:t>Fuente: </a:t>
            </a:r>
            <a:r>
              <a:rPr lang="es-AR" sz="1100" b="0" i="0" u="none" strike="noStrike" cap="none" dirty="0">
                <a:solidFill>
                  <a:schemeClr val="dk1"/>
                </a:solidFill>
                <a:latin typeface="Calibri"/>
                <a:ea typeface="Calibri"/>
                <a:cs typeface="Calibri"/>
                <a:sym typeface="Calibri"/>
              </a:rPr>
              <a:t>Gestión del talento en la empresa. Lecciones desde</a:t>
            </a:r>
            <a:endParaRPr sz="1400" b="0" i="0" u="none" strike="noStrike" cap="none" dirty="0">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100"/>
              <a:buFont typeface="Arial"/>
              <a:buNone/>
            </a:pPr>
            <a:r>
              <a:rPr lang="es-AR" sz="1100" b="0" i="0" u="none" strike="noStrike" cap="none" dirty="0">
                <a:solidFill>
                  <a:schemeClr val="dk1"/>
                </a:solidFill>
                <a:latin typeface="Calibri"/>
                <a:ea typeface="Calibri"/>
                <a:cs typeface="Calibri"/>
                <a:sym typeface="Calibri"/>
              </a:rPr>
              <a:t>el ámbito deportivo: modelos Fútbol Club Barcelona</a:t>
            </a:r>
            <a:endParaRPr sz="1400" b="0" i="0" u="none" strike="noStrike" cap="none" dirty="0">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100"/>
              <a:buFont typeface="Arial"/>
              <a:buNone/>
            </a:pPr>
            <a:r>
              <a:rPr lang="es-AR" sz="1100" b="0" i="0" u="none" strike="noStrike" cap="none" dirty="0">
                <a:solidFill>
                  <a:schemeClr val="dk1"/>
                </a:solidFill>
                <a:latin typeface="Calibri"/>
                <a:ea typeface="Calibri"/>
                <a:cs typeface="Calibri"/>
                <a:sym typeface="Calibri"/>
              </a:rPr>
              <a:t>‘versus’ Real Madrid Club de Fútbol</a:t>
            </a:r>
            <a:endParaRPr sz="1100" b="0" i="0" u="none" strike="noStrike" cap="none" dirty="0">
              <a:solidFill>
                <a:schemeClr val="dk1"/>
              </a:solidFill>
              <a:latin typeface="Calibri"/>
              <a:ea typeface="Calibri"/>
              <a:cs typeface="Calibri"/>
              <a:sym typeface="Calibri"/>
            </a:endParaRPr>
          </a:p>
        </p:txBody>
      </p:sp>
      <p:sp>
        <p:nvSpPr>
          <p:cNvPr id="164" name="Google Shape;164;p26"/>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UNIDAD 8: </a:t>
            </a: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Etapas de la gestión del talento</a:t>
            </a:r>
            <a:endParaRPr sz="1400" b="0" i="0" u="none" strike="noStrike" cap="none">
              <a:solidFill>
                <a:srgbClr val="000000"/>
              </a:solidFill>
              <a:latin typeface="Arial"/>
              <a:ea typeface="Arial"/>
              <a:cs typeface="Arial"/>
              <a:sym typeface="Arial"/>
            </a:endParaRPr>
          </a:p>
        </p:txBody>
      </p:sp>
      <p:pic>
        <p:nvPicPr>
          <p:cNvPr id="165" name="Google Shape;165;p26"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p:nvPr/>
        </p:nvSpPr>
        <p:spPr>
          <a:xfrm>
            <a:off x="1856656" y="1268760"/>
            <a:ext cx="7416824" cy="1152128"/>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D8D8D8"/>
              </a:buClr>
              <a:buSzPts val="1400"/>
              <a:buFont typeface="Noto Sans"/>
              <a:buChar char="✔"/>
            </a:pPr>
            <a:r>
              <a:rPr lang="es-AR" sz="1400" b="0" i="0" u="none" strike="noStrike" cap="none">
                <a:solidFill>
                  <a:srgbClr val="D8D8D8"/>
                </a:solidFill>
                <a:latin typeface="Calibri"/>
                <a:ea typeface="Calibri"/>
                <a:cs typeface="Calibri"/>
                <a:sym typeface="Calibri"/>
              </a:rPr>
              <a:t>Obtención de buenos resultados económicos.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D8D8D8"/>
              </a:buClr>
              <a:buSzPts val="1400"/>
              <a:buFont typeface="Noto Sans"/>
              <a:buChar char="✔"/>
            </a:pPr>
            <a:r>
              <a:rPr lang="es-AR" sz="1400" b="0" i="0" u="none" strike="noStrike" cap="none">
                <a:solidFill>
                  <a:srgbClr val="D8D8D8"/>
                </a:solidFill>
                <a:latin typeface="Calibri"/>
                <a:ea typeface="Calibri"/>
                <a:cs typeface="Calibri"/>
                <a:sym typeface="Calibri"/>
              </a:rPr>
              <a:t>Obtención de buenos resultados operativos.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D8D8D8"/>
              </a:buClr>
              <a:buSzPts val="1400"/>
              <a:buFont typeface="Noto Sans"/>
              <a:buChar char="✔"/>
            </a:pPr>
            <a:r>
              <a:rPr lang="es-AR" sz="1400" b="0" i="0" u="none" strike="noStrike" cap="none">
                <a:solidFill>
                  <a:srgbClr val="D8D8D8"/>
                </a:solidFill>
                <a:latin typeface="Calibri"/>
                <a:ea typeface="Calibri"/>
                <a:cs typeface="Calibri"/>
                <a:sym typeface="Calibri"/>
              </a:rPr>
              <a:t>Remuneración competitiva, Incentivos personales.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D8D8D8"/>
              </a:buClr>
              <a:buSzPts val="1400"/>
              <a:buFont typeface="Noto Sans"/>
              <a:buChar char="✔"/>
            </a:pPr>
            <a:r>
              <a:rPr lang="es-AR" sz="1400" b="0" i="0" u="none" strike="noStrike" cap="none">
                <a:solidFill>
                  <a:srgbClr val="D8D8D8"/>
                </a:solidFill>
                <a:latin typeface="Calibri"/>
                <a:ea typeface="Calibri"/>
                <a:cs typeface="Calibri"/>
                <a:sym typeface="Calibri"/>
              </a:rPr>
              <a:t>Fuerte imagen de marca.</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D8D8D8"/>
              </a:buClr>
              <a:buSzPts val="1400"/>
              <a:buFont typeface="Noto Sans"/>
              <a:buChar char="✔"/>
            </a:pPr>
            <a:r>
              <a:rPr lang="es-AR" sz="1400" b="0" i="0" u="none" strike="noStrike" cap="none">
                <a:solidFill>
                  <a:srgbClr val="D8D8D8"/>
                </a:solidFill>
                <a:latin typeface="Calibri"/>
                <a:ea typeface="Calibri"/>
                <a:cs typeface="Calibri"/>
                <a:sym typeface="Calibri"/>
              </a:rPr>
              <a:t>Valores asociados a la marca.</a:t>
            </a:r>
            <a:endParaRPr sz="1400" b="0" i="0" u="none" strike="noStrike" cap="none">
              <a:solidFill>
                <a:srgbClr val="000000"/>
              </a:solidFill>
              <a:latin typeface="Arial"/>
              <a:ea typeface="Arial"/>
              <a:cs typeface="Arial"/>
              <a:sym typeface="Arial"/>
            </a:endParaRPr>
          </a:p>
        </p:txBody>
      </p:sp>
      <p:sp>
        <p:nvSpPr>
          <p:cNvPr id="173" name="Google Shape;173;p27"/>
          <p:cNvSpPr/>
          <p:nvPr/>
        </p:nvSpPr>
        <p:spPr>
          <a:xfrm>
            <a:off x="416496" y="1268760"/>
            <a:ext cx="1872208" cy="1152128"/>
          </a:xfrm>
          <a:prstGeom prst="chevron">
            <a:avLst>
              <a:gd name="adj" fmla="val 25801"/>
            </a:avLst>
          </a:prstGeom>
          <a:solidFill>
            <a:srgbClr val="D8D8D8"/>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chemeClr val="lt1"/>
                </a:solidFill>
                <a:latin typeface="Calibri"/>
                <a:ea typeface="Calibri"/>
                <a:cs typeface="Calibri"/>
                <a:sym typeface="Calibri"/>
              </a:rPr>
              <a:t>Atracción del talento</a:t>
            </a:r>
            <a:endParaRPr sz="1800" b="1" i="0" u="none" strike="noStrike" cap="none">
              <a:solidFill>
                <a:schemeClr val="lt1"/>
              </a:solidFill>
              <a:latin typeface="Calibri"/>
              <a:ea typeface="Calibri"/>
              <a:cs typeface="Calibri"/>
              <a:sym typeface="Calibri"/>
            </a:endParaRPr>
          </a:p>
        </p:txBody>
      </p:sp>
      <p:sp>
        <p:nvSpPr>
          <p:cNvPr id="174" name="Google Shape;174;p27"/>
          <p:cNvSpPr/>
          <p:nvPr/>
        </p:nvSpPr>
        <p:spPr>
          <a:xfrm>
            <a:off x="1784648" y="2492896"/>
            <a:ext cx="7488832" cy="1152128"/>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88900" algn="ctr" rtl="0">
              <a:lnSpc>
                <a:spcPct val="100000"/>
              </a:lnSpc>
              <a:spcBef>
                <a:spcPts val="0"/>
              </a:spcBef>
              <a:spcAft>
                <a:spcPts val="0"/>
              </a:spcAft>
              <a:buClr>
                <a:srgbClr val="D8D8D8"/>
              </a:buClr>
              <a:buSzPts val="1400"/>
              <a:buFont typeface="Noto Sans"/>
              <a:buChar char="✔"/>
            </a:pPr>
            <a:r>
              <a:rPr lang="es-AR" sz="1400" b="0" i="0" u="none" strike="noStrike" cap="none">
                <a:solidFill>
                  <a:srgbClr val="D8D8D8"/>
                </a:solidFill>
                <a:latin typeface="Calibri"/>
                <a:ea typeface="Calibri"/>
                <a:cs typeface="Calibri"/>
                <a:sym typeface="Calibri"/>
              </a:rPr>
              <a:t>Reclutamiento y selección.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Análisis de necesidades de talento.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Evaluación de desempeño.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Evaluación de potencial.</a:t>
            </a:r>
            <a:endParaRPr sz="1400" b="0" i="0" u="none" strike="noStrike" cap="none">
              <a:solidFill>
                <a:schemeClr val="dk1"/>
              </a:solidFill>
              <a:latin typeface="Calibri"/>
              <a:ea typeface="Calibri"/>
              <a:cs typeface="Calibri"/>
              <a:sym typeface="Calibri"/>
            </a:endParaRPr>
          </a:p>
        </p:txBody>
      </p:sp>
      <p:sp>
        <p:nvSpPr>
          <p:cNvPr id="175" name="Google Shape;175;p27"/>
          <p:cNvSpPr/>
          <p:nvPr/>
        </p:nvSpPr>
        <p:spPr>
          <a:xfrm>
            <a:off x="416496" y="2492896"/>
            <a:ext cx="1872208" cy="1152128"/>
          </a:xfrm>
          <a:prstGeom prst="chevron">
            <a:avLst>
              <a:gd name="adj" fmla="val 25801"/>
            </a:avLst>
          </a:prstGeom>
          <a:solidFill>
            <a:srgbClr val="CCCC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Identificación y captación del talento</a:t>
            </a:r>
            <a:endParaRPr sz="1400" b="0" i="0" u="none" strike="noStrike" cap="none">
              <a:solidFill>
                <a:schemeClr val="dk1"/>
              </a:solidFill>
              <a:latin typeface="Calibri"/>
              <a:ea typeface="Calibri"/>
              <a:cs typeface="Calibri"/>
              <a:sym typeface="Calibri"/>
            </a:endParaRPr>
          </a:p>
        </p:txBody>
      </p:sp>
      <p:sp>
        <p:nvSpPr>
          <p:cNvPr id="176" name="Google Shape;176;p27"/>
          <p:cNvSpPr/>
          <p:nvPr/>
        </p:nvSpPr>
        <p:spPr>
          <a:xfrm>
            <a:off x="1784648" y="3717032"/>
            <a:ext cx="7488832" cy="1152128"/>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Formación para desarrollar trabajo, promoción y cambio de actividad.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Formación para reconocer empresa y valores.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Formación sobre el entorno de la empresa.</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Planes personalizados de formación.</a:t>
            </a:r>
            <a:endParaRPr sz="1400" b="0" i="0" u="none" strike="noStrike" cap="none">
              <a:solidFill>
                <a:schemeClr val="dk1"/>
              </a:solidFill>
              <a:latin typeface="Calibri"/>
              <a:ea typeface="Calibri"/>
              <a:cs typeface="Calibri"/>
              <a:sym typeface="Calibri"/>
            </a:endParaRPr>
          </a:p>
        </p:txBody>
      </p:sp>
      <p:sp>
        <p:nvSpPr>
          <p:cNvPr id="177" name="Google Shape;177;p27"/>
          <p:cNvSpPr/>
          <p:nvPr/>
        </p:nvSpPr>
        <p:spPr>
          <a:xfrm>
            <a:off x="416496" y="3717032"/>
            <a:ext cx="1872208" cy="1152128"/>
          </a:xfrm>
          <a:prstGeom prst="chevron">
            <a:avLst>
              <a:gd name="adj" fmla="val 25801"/>
            </a:avLst>
          </a:prstGeom>
          <a:solidFill>
            <a:srgbClr val="FFCC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Desarrollo del talento</a:t>
            </a:r>
            <a:endParaRPr sz="1400" b="0" i="0" u="none" strike="noStrike" cap="none">
              <a:solidFill>
                <a:schemeClr val="dk1"/>
              </a:solidFill>
              <a:latin typeface="Calibri"/>
              <a:ea typeface="Calibri"/>
              <a:cs typeface="Calibri"/>
              <a:sym typeface="Calibri"/>
            </a:endParaRPr>
          </a:p>
        </p:txBody>
      </p:sp>
      <p:sp>
        <p:nvSpPr>
          <p:cNvPr id="178" name="Google Shape;178;p27"/>
          <p:cNvSpPr/>
          <p:nvPr/>
        </p:nvSpPr>
        <p:spPr>
          <a:xfrm>
            <a:off x="1784648" y="4941168"/>
            <a:ext cx="7488832" cy="1152128"/>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Generación de compromiso y motivación.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Política salarial y de incentivos personales.</a:t>
            </a:r>
            <a:endParaRPr sz="1400" b="0" i="0" u="none" strike="noStrike" cap="none">
              <a:solidFill>
                <a:schemeClr val="dk1"/>
              </a:solidFill>
              <a:latin typeface="Calibri"/>
              <a:ea typeface="Calibri"/>
              <a:cs typeface="Calibri"/>
              <a:sym typeface="Calibri"/>
            </a:endParaRPr>
          </a:p>
        </p:txBody>
      </p:sp>
      <p:sp>
        <p:nvSpPr>
          <p:cNvPr id="179" name="Google Shape;179;p27"/>
          <p:cNvSpPr/>
          <p:nvPr/>
        </p:nvSpPr>
        <p:spPr>
          <a:xfrm>
            <a:off x="416496" y="4941168"/>
            <a:ext cx="1872208" cy="1152128"/>
          </a:xfrm>
          <a:prstGeom prst="chevron">
            <a:avLst>
              <a:gd name="adj" fmla="val 25801"/>
            </a:avLst>
          </a:prstGeom>
          <a:solidFill>
            <a:srgbClr val="CC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AR" sz="1200" b="0" i="0" u="none" strike="noStrike" cap="none">
                <a:solidFill>
                  <a:schemeClr val="dk1"/>
                </a:solidFill>
                <a:latin typeface="Calibri"/>
                <a:ea typeface="Calibri"/>
                <a:cs typeface="Calibri"/>
                <a:sym typeface="Calibri"/>
              </a:rPr>
              <a:t>Retención del talento</a:t>
            </a:r>
            <a:endParaRPr sz="1200" b="0" i="0" u="none" strike="noStrike" cap="none">
              <a:solidFill>
                <a:schemeClr val="dk1"/>
              </a:solidFill>
              <a:latin typeface="Calibri"/>
              <a:ea typeface="Calibri"/>
              <a:cs typeface="Calibri"/>
              <a:sym typeface="Calibri"/>
            </a:endParaRPr>
          </a:p>
        </p:txBody>
      </p:sp>
      <p:sp>
        <p:nvSpPr>
          <p:cNvPr id="180" name="Google Shape;180;p27"/>
          <p:cNvSpPr/>
          <p:nvPr/>
        </p:nvSpPr>
        <p:spPr>
          <a:xfrm>
            <a:off x="4323295" y="6141204"/>
            <a:ext cx="4953000" cy="60016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s-AR" sz="1100" b="1" i="0" u="none" strike="noStrike" cap="none">
                <a:solidFill>
                  <a:schemeClr val="dk1"/>
                </a:solidFill>
                <a:latin typeface="Calibri"/>
                <a:ea typeface="Calibri"/>
                <a:cs typeface="Calibri"/>
                <a:sym typeface="Calibri"/>
              </a:rPr>
              <a:t>Fuente: </a:t>
            </a:r>
            <a:r>
              <a:rPr lang="es-AR" sz="1100" b="0" i="0" u="none" strike="noStrike" cap="none">
                <a:solidFill>
                  <a:schemeClr val="dk1"/>
                </a:solidFill>
                <a:latin typeface="Calibri"/>
                <a:ea typeface="Calibri"/>
                <a:cs typeface="Calibri"/>
                <a:sym typeface="Calibri"/>
              </a:rPr>
              <a:t>Gestión del talento en la empresa. Lecciones desde</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100"/>
              <a:buFont typeface="Arial"/>
              <a:buNone/>
            </a:pPr>
            <a:r>
              <a:rPr lang="es-AR" sz="1100" b="0" i="0" u="none" strike="noStrike" cap="none">
                <a:solidFill>
                  <a:schemeClr val="dk1"/>
                </a:solidFill>
                <a:latin typeface="Calibri"/>
                <a:ea typeface="Calibri"/>
                <a:cs typeface="Calibri"/>
                <a:sym typeface="Calibri"/>
              </a:rPr>
              <a:t>el ámbito deportivo: modelos Fútbol Club Barcelona</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100"/>
              <a:buFont typeface="Arial"/>
              <a:buNone/>
            </a:pPr>
            <a:r>
              <a:rPr lang="es-AR" sz="1100" b="0" i="0" u="none" strike="noStrike" cap="none">
                <a:solidFill>
                  <a:schemeClr val="dk1"/>
                </a:solidFill>
                <a:latin typeface="Calibri"/>
                <a:ea typeface="Calibri"/>
                <a:cs typeface="Calibri"/>
                <a:sym typeface="Calibri"/>
              </a:rPr>
              <a:t>‘versus’ Real Madrid Club de Fútbol</a:t>
            </a:r>
            <a:endParaRPr sz="1100" b="0" i="0" u="none" strike="noStrike" cap="none">
              <a:solidFill>
                <a:schemeClr val="dk1"/>
              </a:solidFill>
              <a:latin typeface="Calibri"/>
              <a:ea typeface="Calibri"/>
              <a:cs typeface="Calibri"/>
              <a:sym typeface="Calibri"/>
            </a:endParaRPr>
          </a:p>
        </p:txBody>
      </p:sp>
      <p:sp>
        <p:nvSpPr>
          <p:cNvPr id="181" name="Google Shape;181;p27"/>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UNIDAD 8: </a:t>
            </a: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Etapas de la gestión del talento</a:t>
            </a:r>
            <a:endParaRPr sz="1400" b="0" i="0" u="none" strike="noStrike" cap="none">
              <a:solidFill>
                <a:srgbClr val="000000"/>
              </a:solidFill>
              <a:latin typeface="Arial"/>
              <a:ea typeface="Arial"/>
              <a:cs typeface="Arial"/>
              <a:sym typeface="Arial"/>
            </a:endParaRPr>
          </a:p>
        </p:txBody>
      </p:sp>
      <p:pic>
        <p:nvPicPr>
          <p:cNvPr id="182" name="Google Shape;182;p27"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89" name="Google Shape;189;p28" descr="Ronaldo.jpg"/>
          <p:cNvPicPr preferRelativeResize="0"/>
          <p:nvPr/>
        </p:nvPicPr>
        <p:blipFill rotWithShape="1">
          <a:blip r:embed="rId3">
            <a:alphaModFix/>
          </a:blip>
          <a:srcRect/>
          <a:stretch/>
        </p:blipFill>
        <p:spPr>
          <a:xfrm>
            <a:off x="7617296" y="2348880"/>
            <a:ext cx="2038350" cy="3048000"/>
          </a:xfrm>
          <a:prstGeom prst="rect">
            <a:avLst/>
          </a:prstGeom>
          <a:noFill/>
          <a:ln>
            <a:noFill/>
          </a:ln>
        </p:spPr>
      </p:pic>
      <p:pic>
        <p:nvPicPr>
          <p:cNvPr id="190" name="Google Shape;190;p28" descr="Messi.jpg"/>
          <p:cNvPicPr preferRelativeResize="0"/>
          <p:nvPr/>
        </p:nvPicPr>
        <p:blipFill rotWithShape="1">
          <a:blip r:embed="rId4">
            <a:alphaModFix/>
          </a:blip>
          <a:srcRect l="36627" r="8996"/>
          <a:stretch/>
        </p:blipFill>
        <p:spPr>
          <a:xfrm>
            <a:off x="200472" y="2348880"/>
            <a:ext cx="2175792" cy="3024336"/>
          </a:xfrm>
          <a:prstGeom prst="rect">
            <a:avLst/>
          </a:prstGeom>
          <a:noFill/>
          <a:ln>
            <a:noFill/>
          </a:ln>
        </p:spPr>
      </p:pic>
      <p:sp>
        <p:nvSpPr>
          <p:cNvPr id="191" name="Google Shape;191;p28"/>
          <p:cNvSpPr/>
          <p:nvPr/>
        </p:nvSpPr>
        <p:spPr>
          <a:xfrm>
            <a:off x="5025008" y="2492896"/>
            <a:ext cx="2736304" cy="3960440"/>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accent1"/>
              </a:buClr>
              <a:buSzPts val="1400"/>
              <a:buFont typeface="Noto Sans"/>
              <a:buNone/>
            </a:pPr>
            <a:endParaRPr sz="1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chemeClr val="accent1"/>
              </a:buClr>
              <a:buSzPts val="1400"/>
              <a:buFont typeface="Noto Sans"/>
              <a:buNone/>
            </a:pPr>
            <a:endParaRPr sz="1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Alta capacidad para atraer talento presente, de aplicación inmediata en el corto plazo.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Baja retención, principalmente asociada a incentivos económicos y resultados operativos de la organización.</a:t>
            </a:r>
            <a:endParaRPr sz="1400" b="0" i="0" u="none" strike="noStrike" cap="none">
              <a:solidFill>
                <a:srgbClr val="000000"/>
              </a:solidFill>
              <a:latin typeface="Arial"/>
              <a:ea typeface="Arial"/>
              <a:cs typeface="Arial"/>
              <a:sym typeface="Arial"/>
            </a:endParaRPr>
          </a:p>
        </p:txBody>
      </p:sp>
      <p:sp>
        <p:nvSpPr>
          <p:cNvPr id="192" name="Google Shape;192;p28"/>
          <p:cNvSpPr/>
          <p:nvPr/>
        </p:nvSpPr>
        <p:spPr>
          <a:xfrm>
            <a:off x="2000672" y="2492896"/>
            <a:ext cx="2736304" cy="3960440"/>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accent1"/>
              </a:buClr>
              <a:buSzPts val="1400"/>
              <a:buFont typeface="Noto Sans"/>
              <a:buNone/>
            </a:pPr>
            <a:endParaRPr sz="1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chemeClr val="accent1"/>
              </a:buClr>
              <a:buSzPts val="1400"/>
              <a:buFont typeface="Noto Sans"/>
              <a:buNone/>
            </a:pPr>
            <a:endParaRPr sz="1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Alta capacidad para atraer talento y potencial.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Captura temprana del talento.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Identificación interna mediante evaluaciones de desempeño y potencial.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Características diferenciales de la organización (valores)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Alta retención debido a lazos emocionales.</a:t>
            </a:r>
            <a:endParaRPr sz="1400" b="0" i="0" u="none" strike="noStrike" cap="none">
              <a:solidFill>
                <a:srgbClr val="000000"/>
              </a:solidFill>
              <a:latin typeface="Arial"/>
              <a:ea typeface="Arial"/>
              <a:cs typeface="Arial"/>
              <a:sym typeface="Arial"/>
            </a:endParaRPr>
          </a:p>
        </p:txBody>
      </p:sp>
      <p:sp>
        <p:nvSpPr>
          <p:cNvPr id="193" name="Google Shape;193;p28"/>
          <p:cNvSpPr/>
          <p:nvPr/>
        </p:nvSpPr>
        <p:spPr>
          <a:xfrm rot="5400000">
            <a:off x="5457056" y="908720"/>
            <a:ext cx="1872208" cy="2736304"/>
          </a:xfrm>
          <a:prstGeom prst="chevron">
            <a:avLst>
              <a:gd name="adj" fmla="val 25801"/>
            </a:avLst>
          </a:prstGeom>
          <a:solidFill>
            <a:srgbClr val="A4F0D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28"/>
          <p:cNvSpPr txBox="1"/>
          <p:nvPr/>
        </p:nvSpPr>
        <p:spPr>
          <a:xfrm>
            <a:off x="5025002" y="1823796"/>
            <a:ext cx="2736304" cy="90611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1" i="0" u="none" strike="noStrike" cap="none">
                <a:solidFill>
                  <a:schemeClr val="dk1"/>
                </a:solidFill>
                <a:latin typeface="Calibri"/>
                <a:ea typeface="Calibri"/>
                <a:cs typeface="Calibri"/>
                <a:sym typeface="Calibri"/>
              </a:rPr>
              <a:t>MODELO DE CAPTURA EXTERNA DEL TALENTO</a:t>
            </a:r>
            <a:endParaRPr sz="1400" b="1" i="0" u="none" strike="noStrike" cap="none">
              <a:solidFill>
                <a:schemeClr val="dk1"/>
              </a:solidFill>
              <a:latin typeface="Calibri"/>
              <a:ea typeface="Calibri"/>
              <a:cs typeface="Calibri"/>
              <a:sym typeface="Calibri"/>
            </a:endParaRPr>
          </a:p>
        </p:txBody>
      </p:sp>
      <p:sp>
        <p:nvSpPr>
          <p:cNvPr id="195" name="Google Shape;195;p28"/>
          <p:cNvSpPr/>
          <p:nvPr/>
        </p:nvSpPr>
        <p:spPr>
          <a:xfrm rot="5400000">
            <a:off x="2432720" y="908720"/>
            <a:ext cx="1872208" cy="2736304"/>
          </a:xfrm>
          <a:prstGeom prst="chevron">
            <a:avLst>
              <a:gd name="adj" fmla="val 25801"/>
            </a:avLst>
          </a:prstGeom>
          <a:solidFill>
            <a:srgbClr val="CCCC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28"/>
          <p:cNvSpPr txBox="1"/>
          <p:nvPr/>
        </p:nvSpPr>
        <p:spPr>
          <a:xfrm>
            <a:off x="2000652" y="1823796"/>
            <a:ext cx="2736304" cy="90611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1" i="0" u="none" strike="noStrike" cap="none">
                <a:solidFill>
                  <a:schemeClr val="dk1"/>
                </a:solidFill>
                <a:latin typeface="Calibri"/>
                <a:ea typeface="Calibri"/>
                <a:cs typeface="Calibri"/>
                <a:sym typeface="Calibri"/>
              </a:rPr>
              <a:t>MODELO DE DESARROLLO INTERNO DEL TALENTO</a:t>
            </a:r>
            <a:endParaRPr sz="1400" b="1" i="0" u="none" strike="noStrike" cap="none">
              <a:solidFill>
                <a:schemeClr val="dk1"/>
              </a:solidFill>
              <a:latin typeface="Calibri"/>
              <a:ea typeface="Calibri"/>
              <a:cs typeface="Calibri"/>
              <a:sym typeface="Calibri"/>
            </a:endParaRPr>
          </a:p>
        </p:txBody>
      </p:sp>
      <p:sp>
        <p:nvSpPr>
          <p:cNvPr id="197" name="Google Shape;197;p28"/>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UNIDAD 8: </a:t>
            </a: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Dos modelos de gestión del talento</a:t>
            </a:r>
            <a:endParaRPr sz="1400" b="0" i="0" u="none" strike="noStrike" cap="none">
              <a:solidFill>
                <a:srgbClr val="000000"/>
              </a:solidFill>
              <a:latin typeface="Arial"/>
              <a:ea typeface="Arial"/>
              <a:cs typeface="Arial"/>
              <a:sym typeface="Arial"/>
            </a:endParaRPr>
          </a:p>
        </p:txBody>
      </p:sp>
      <p:pic>
        <p:nvPicPr>
          <p:cNvPr id="198" name="Google Shape;198;p28" descr="Resultado de imagen para utn regional buenos aires ingenieria industrial"/>
          <p:cNvPicPr preferRelativeResize="0"/>
          <p:nvPr/>
        </p:nvPicPr>
        <p:blipFill rotWithShape="1">
          <a:blip r:embed="rId5">
            <a:alphaModFix/>
          </a:blip>
          <a:srcRect/>
          <a:stretch/>
        </p:blipFill>
        <p:spPr>
          <a:xfrm>
            <a:off x="7041232" y="0"/>
            <a:ext cx="2637692" cy="101111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9"/>
          <p:cNvSpPr/>
          <p:nvPr/>
        </p:nvSpPr>
        <p:spPr>
          <a:xfrm>
            <a:off x="1494906" y="2127726"/>
            <a:ext cx="6194398" cy="428628"/>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Gestión del Talento</a:t>
            </a:r>
            <a:endParaRPr sz="1400" b="0" i="0" u="none" strike="noStrike" cap="none">
              <a:solidFill>
                <a:srgbClr val="000000"/>
              </a:solidFill>
              <a:latin typeface="Arial"/>
              <a:ea typeface="Arial"/>
              <a:cs typeface="Arial"/>
              <a:sym typeface="Arial"/>
            </a:endParaRPr>
          </a:p>
        </p:txBody>
      </p:sp>
      <p:sp>
        <p:nvSpPr>
          <p:cNvPr id="206" name="Google Shape;206;p29"/>
          <p:cNvSpPr/>
          <p:nvPr/>
        </p:nvSpPr>
        <p:spPr>
          <a:xfrm>
            <a:off x="1280592" y="2127726"/>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207" name="Google Shape;207;p29"/>
          <p:cNvSpPr/>
          <p:nvPr/>
        </p:nvSpPr>
        <p:spPr>
          <a:xfrm>
            <a:off x="2072680" y="2770668"/>
            <a:ext cx="5616624" cy="416150"/>
          </a:xfrm>
          <a:prstGeom prst="roundRect">
            <a:avLst>
              <a:gd name="adj" fmla="val 16667"/>
            </a:avLst>
          </a:prstGeom>
          <a:solidFill>
            <a:srgbClr val="DBDADA"/>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Identificación del Talento</a:t>
            </a:r>
            <a:endParaRPr sz="1400" b="0" i="0" u="none" strike="noStrike" cap="none">
              <a:solidFill>
                <a:srgbClr val="000000"/>
              </a:solidFill>
              <a:latin typeface="Arial"/>
              <a:ea typeface="Arial"/>
              <a:cs typeface="Arial"/>
              <a:sym typeface="Arial"/>
            </a:endParaRPr>
          </a:p>
        </p:txBody>
      </p:sp>
      <p:sp>
        <p:nvSpPr>
          <p:cNvPr id="208" name="Google Shape;208;p29">
            <a:hlinkClick r:id="rId3" action="ppaction://hlinksldjump"/>
          </p:cNvPr>
          <p:cNvSpPr/>
          <p:nvPr/>
        </p:nvSpPr>
        <p:spPr>
          <a:xfrm>
            <a:off x="1717200" y="2770668"/>
            <a:ext cx="571504" cy="428628"/>
          </a:xfrm>
          <a:prstGeom prst="ellipse">
            <a:avLst/>
          </a:prstGeom>
          <a:solidFill>
            <a:srgbClr val="8296B0"/>
          </a:solidFill>
          <a:ln>
            <a:noFill/>
          </a:ln>
          <a:effectLst>
            <a:outerShdw blurRad="44450" dist="27940" dir="5400000" algn="ctr">
              <a:srgbClr val="000000">
                <a:alpha val="3137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209" name="Google Shape;209;p29"/>
          <p:cNvSpPr/>
          <p:nvPr/>
        </p:nvSpPr>
        <p:spPr>
          <a:xfrm>
            <a:off x="2072680" y="3429000"/>
            <a:ext cx="5616624" cy="504056"/>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 Desarrollo del Talento</a:t>
            </a:r>
            <a:endParaRPr sz="1400" b="0" i="0" u="none" strike="noStrike" cap="none">
              <a:solidFill>
                <a:srgbClr val="000000"/>
              </a:solidFill>
              <a:latin typeface="Arial"/>
              <a:ea typeface="Arial"/>
              <a:cs typeface="Arial"/>
              <a:sym typeface="Arial"/>
            </a:endParaRPr>
          </a:p>
        </p:txBody>
      </p:sp>
      <p:sp>
        <p:nvSpPr>
          <p:cNvPr id="210" name="Google Shape;210;p29"/>
          <p:cNvSpPr/>
          <p:nvPr/>
        </p:nvSpPr>
        <p:spPr>
          <a:xfrm>
            <a:off x="1717200" y="3413610"/>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211" name="Google Shape;211;p29"/>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Gestión del Talento</a:t>
            </a:r>
            <a:endParaRPr sz="1400" b="0" i="0" u="none" strike="noStrike" cap="none">
              <a:solidFill>
                <a:srgbClr val="000000"/>
              </a:solidFill>
              <a:latin typeface="Arial"/>
              <a:ea typeface="Arial"/>
              <a:cs typeface="Arial"/>
              <a:sym typeface="Arial"/>
            </a:endParaRPr>
          </a:p>
        </p:txBody>
      </p:sp>
      <p:sp>
        <p:nvSpPr>
          <p:cNvPr id="212" name="Google Shape;212;p29"/>
          <p:cNvSpPr/>
          <p:nvPr/>
        </p:nvSpPr>
        <p:spPr>
          <a:xfrm>
            <a:off x="632520" y="2784348"/>
            <a:ext cx="864096" cy="428628"/>
          </a:xfrm>
          <a:prstGeom prst="stripedRightArrow">
            <a:avLst>
              <a:gd name="adj1" fmla="val 50000"/>
              <a:gd name="adj2" fmla="val 50000"/>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13" name="Google Shape;213;p29" descr="Resultado de imagen para utn regional buenos aires ingenieria industrial"/>
          <p:cNvPicPr preferRelativeResize="0"/>
          <p:nvPr/>
        </p:nvPicPr>
        <p:blipFill rotWithShape="1">
          <a:blip r:embed="rId4">
            <a:alphaModFix/>
          </a:blip>
          <a:srcRect/>
          <a:stretch/>
        </p:blipFill>
        <p:spPr>
          <a:xfrm>
            <a:off x="7041232" y="0"/>
            <a:ext cx="2637692" cy="1011116"/>
          </a:xfrm>
          <a:prstGeom prst="rect">
            <a:avLst/>
          </a:prstGeom>
          <a:noFill/>
          <a:ln>
            <a:noFill/>
          </a:ln>
        </p:spPr>
      </p:pic>
      <p:sp>
        <p:nvSpPr>
          <p:cNvPr id="214" name="Google Shape;214;p29"/>
          <p:cNvSpPr/>
          <p:nvPr/>
        </p:nvSpPr>
        <p:spPr>
          <a:xfrm>
            <a:off x="2072680" y="4149080"/>
            <a:ext cx="5616624" cy="504056"/>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 Retención del talento</a:t>
            </a:r>
            <a:endParaRPr sz="1400" b="0" i="0" u="none" strike="noStrike" cap="none">
              <a:solidFill>
                <a:srgbClr val="000000"/>
              </a:solidFill>
              <a:latin typeface="Arial"/>
              <a:ea typeface="Arial"/>
              <a:cs typeface="Arial"/>
              <a:sym typeface="Arial"/>
            </a:endParaRPr>
          </a:p>
        </p:txBody>
      </p:sp>
      <p:sp>
        <p:nvSpPr>
          <p:cNvPr id="215" name="Google Shape;215;p29"/>
          <p:cNvSpPr/>
          <p:nvPr/>
        </p:nvSpPr>
        <p:spPr>
          <a:xfrm>
            <a:off x="1717200" y="4133690"/>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0"/>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Identificación del talento</a:t>
            </a:r>
            <a:endParaRPr sz="1400" b="0" i="0" u="none" strike="noStrike" cap="none">
              <a:solidFill>
                <a:srgbClr val="000000"/>
              </a:solidFill>
              <a:latin typeface="Arial"/>
              <a:ea typeface="Arial"/>
              <a:cs typeface="Arial"/>
              <a:sym typeface="Arial"/>
            </a:endParaRPr>
          </a:p>
        </p:txBody>
      </p:sp>
      <p:sp>
        <p:nvSpPr>
          <p:cNvPr id="223" name="Google Shape;223;p30"/>
          <p:cNvSpPr/>
          <p:nvPr/>
        </p:nvSpPr>
        <p:spPr>
          <a:xfrm>
            <a:off x="1571864" y="2407706"/>
            <a:ext cx="2733063" cy="466601"/>
          </a:xfrm>
          <a:prstGeom prst="roundRect">
            <a:avLst>
              <a:gd name="adj" fmla="val 16667"/>
            </a:avLst>
          </a:prstGeom>
          <a:solidFill>
            <a:schemeClr val="accent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chemeClr val="lt1"/>
                </a:solidFill>
                <a:latin typeface="Calibri"/>
                <a:ea typeface="Calibri"/>
                <a:cs typeface="Calibri"/>
                <a:sym typeface="Calibri"/>
              </a:rPr>
              <a:t>DESEMPEÑO</a:t>
            </a:r>
            <a:endParaRPr sz="1400" b="0" i="0" u="none" strike="noStrike" cap="none">
              <a:solidFill>
                <a:srgbClr val="000000"/>
              </a:solidFill>
              <a:latin typeface="Arial"/>
              <a:ea typeface="Arial"/>
              <a:cs typeface="Arial"/>
              <a:sym typeface="Arial"/>
            </a:endParaRPr>
          </a:p>
        </p:txBody>
      </p:sp>
      <p:sp>
        <p:nvSpPr>
          <p:cNvPr id="224" name="Google Shape;224;p30"/>
          <p:cNvSpPr txBox="1"/>
          <p:nvPr/>
        </p:nvSpPr>
        <p:spPr>
          <a:xfrm>
            <a:off x="2603960" y="1351100"/>
            <a:ext cx="4896544"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060"/>
              </a:buClr>
              <a:buSzPts val="2800"/>
              <a:buFont typeface="Noto Sans"/>
              <a:buNone/>
            </a:pPr>
            <a:r>
              <a:rPr lang="es-AR" sz="2800" b="0" i="0" u="none" strike="noStrike" cap="none">
                <a:solidFill>
                  <a:srgbClr val="002060"/>
                </a:solidFill>
                <a:latin typeface="Calibri"/>
                <a:ea typeface="Calibri"/>
                <a:cs typeface="Calibri"/>
                <a:sym typeface="Calibri"/>
              </a:rPr>
              <a:t>¿Cómo identificamos el talento?</a:t>
            </a:r>
            <a:endParaRPr sz="1400" b="0" i="0" u="none" strike="noStrike" cap="none">
              <a:solidFill>
                <a:srgbClr val="000000"/>
              </a:solidFill>
              <a:latin typeface="Arial"/>
              <a:ea typeface="Arial"/>
              <a:cs typeface="Arial"/>
              <a:sym typeface="Arial"/>
            </a:endParaRPr>
          </a:p>
        </p:txBody>
      </p:sp>
      <p:sp>
        <p:nvSpPr>
          <p:cNvPr id="225" name="Google Shape;225;p30"/>
          <p:cNvSpPr/>
          <p:nvPr/>
        </p:nvSpPr>
        <p:spPr>
          <a:xfrm>
            <a:off x="5699300" y="2407706"/>
            <a:ext cx="2998116" cy="466601"/>
          </a:xfrm>
          <a:prstGeom prst="roundRect">
            <a:avLst>
              <a:gd name="adj" fmla="val 16667"/>
            </a:avLst>
          </a:prstGeom>
          <a:solidFill>
            <a:srgbClr val="7030A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chemeClr val="lt1"/>
                </a:solidFill>
                <a:latin typeface="Calibri"/>
                <a:ea typeface="Calibri"/>
                <a:cs typeface="Calibri"/>
                <a:sym typeface="Calibri"/>
              </a:rPr>
              <a:t>POTENCIAL</a:t>
            </a:r>
            <a:endParaRPr sz="1400" b="0" i="0" u="none" strike="noStrike" cap="none">
              <a:solidFill>
                <a:srgbClr val="000000"/>
              </a:solidFill>
              <a:latin typeface="Arial"/>
              <a:ea typeface="Arial"/>
              <a:cs typeface="Arial"/>
              <a:sym typeface="Arial"/>
            </a:endParaRPr>
          </a:p>
        </p:txBody>
      </p:sp>
      <p:sp>
        <p:nvSpPr>
          <p:cNvPr id="226" name="Google Shape;226;p30"/>
          <p:cNvSpPr txBox="1"/>
          <p:nvPr/>
        </p:nvSpPr>
        <p:spPr>
          <a:xfrm>
            <a:off x="1568624" y="2978368"/>
            <a:ext cx="2827034" cy="160043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2060"/>
              </a:buClr>
              <a:buSzPts val="1400"/>
              <a:buFont typeface="Noto Sans"/>
              <a:buChar char="▪"/>
            </a:pPr>
            <a:r>
              <a:rPr lang="es-AR" sz="1400" b="0" i="0" u="none" strike="noStrike" cap="none">
                <a:solidFill>
                  <a:srgbClr val="002060"/>
                </a:solidFill>
                <a:latin typeface="Calibri"/>
                <a:ea typeface="Calibri"/>
                <a:cs typeface="Calibri"/>
                <a:sym typeface="Calibri"/>
              </a:rPr>
              <a:t>¿Quiénes tienen  buen desempeño o desempeños destacados en la org?</a:t>
            </a:r>
            <a:endParaRPr sz="1400" b="0" i="0" u="none" strike="noStrike" cap="none">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2060"/>
              </a:buClr>
              <a:buSzPts val="1400"/>
              <a:buFont typeface="Noto Sans"/>
              <a:buNone/>
            </a:pPr>
            <a:endParaRPr sz="1400" b="0" i="0" u="none" strike="noStrike" cap="none">
              <a:solidFill>
                <a:srgbClr val="002060"/>
              </a:solidFill>
              <a:latin typeface="Calibri"/>
              <a:ea typeface="Calibri"/>
              <a:cs typeface="Calibri"/>
              <a:sym typeface="Calibri"/>
            </a:endParaRPr>
          </a:p>
          <a:p>
            <a:pPr marL="285750" marR="0" lvl="0" indent="-285750" algn="l" rtl="0">
              <a:lnSpc>
                <a:spcPct val="100000"/>
              </a:lnSpc>
              <a:spcBef>
                <a:spcPts val="0"/>
              </a:spcBef>
              <a:spcAft>
                <a:spcPts val="0"/>
              </a:spcAft>
              <a:buClr>
                <a:srgbClr val="002060"/>
              </a:buClr>
              <a:buSzPts val="1400"/>
              <a:buFont typeface="Noto Sans"/>
              <a:buChar char="▪"/>
            </a:pPr>
            <a:r>
              <a:rPr lang="es-AR" sz="1400" b="0" i="0" u="none" strike="noStrike" cap="none">
                <a:solidFill>
                  <a:srgbClr val="002060"/>
                </a:solidFill>
                <a:latin typeface="Calibri"/>
                <a:ea typeface="Calibri"/>
                <a:cs typeface="Calibri"/>
                <a:sym typeface="Calibri"/>
              </a:rPr>
              <a:t>¿Quiénes demuestran competencias que la org. necesita?</a:t>
            </a:r>
            <a:endParaRPr sz="1400" b="0" i="0" u="none" strike="noStrike" cap="none">
              <a:solidFill>
                <a:srgbClr val="000000"/>
              </a:solidFill>
              <a:latin typeface="Arial"/>
              <a:ea typeface="Arial"/>
              <a:cs typeface="Arial"/>
              <a:sym typeface="Arial"/>
            </a:endParaRPr>
          </a:p>
        </p:txBody>
      </p:sp>
      <p:pic>
        <p:nvPicPr>
          <p:cNvPr id="227" name="Google Shape;227;p30" descr="Agregar"/>
          <p:cNvPicPr preferRelativeResize="0"/>
          <p:nvPr/>
        </p:nvPicPr>
        <p:blipFill rotWithShape="1">
          <a:blip r:embed="rId3">
            <a:alphaModFix/>
          </a:blip>
          <a:srcRect/>
          <a:stretch/>
        </p:blipFill>
        <p:spPr>
          <a:xfrm>
            <a:off x="4628859" y="2300469"/>
            <a:ext cx="648282" cy="648282"/>
          </a:xfrm>
          <a:prstGeom prst="rect">
            <a:avLst/>
          </a:prstGeom>
          <a:noFill/>
          <a:ln>
            <a:noFill/>
          </a:ln>
        </p:spPr>
      </p:pic>
      <p:pic>
        <p:nvPicPr>
          <p:cNvPr id="228" name="Google Shape;228;p30" descr="Resultado de imagen para utn regional buenos aires ingenieria industrial"/>
          <p:cNvPicPr preferRelativeResize="0"/>
          <p:nvPr/>
        </p:nvPicPr>
        <p:blipFill rotWithShape="1">
          <a:blip r:embed="rId4">
            <a:alphaModFix/>
          </a:blip>
          <a:srcRect/>
          <a:stretch/>
        </p:blipFill>
        <p:spPr>
          <a:xfrm>
            <a:off x="7041232" y="41620"/>
            <a:ext cx="2637692" cy="1011116"/>
          </a:xfrm>
          <a:prstGeom prst="rect">
            <a:avLst/>
          </a:prstGeom>
          <a:noFill/>
          <a:ln>
            <a:noFill/>
          </a:ln>
        </p:spPr>
      </p:pic>
      <p:pic>
        <p:nvPicPr>
          <p:cNvPr id="229" name="Google Shape;229;p30" descr="Resultado de imagen para utn regional buenos aires ingenieria industrial"/>
          <p:cNvPicPr preferRelativeResize="0"/>
          <p:nvPr/>
        </p:nvPicPr>
        <p:blipFill rotWithShape="1">
          <a:blip r:embed="rId4">
            <a:alphaModFix/>
          </a:blip>
          <a:srcRect/>
          <a:stretch/>
        </p:blipFill>
        <p:spPr>
          <a:xfrm>
            <a:off x="7041232" y="41620"/>
            <a:ext cx="2637692" cy="1011116"/>
          </a:xfrm>
          <a:prstGeom prst="rect">
            <a:avLst/>
          </a:prstGeom>
          <a:noFill/>
          <a:ln>
            <a:noFill/>
          </a:ln>
        </p:spPr>
      </p:pic>
      <p:sp>
        <p:nvSpPr>
          <p:cNvPr id="230" name="Google Shape;230;p30"/>
          <p:cNvSpPr txBox="1"/>
          <p:nvPr/>
        </p:nvSpPr>
        <p:spPr>
          <a:xfrm>
            <a:off x="175818" y="4609136"/>
            <a:ext cx="1718885" cy="20313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002060"/>
                </a:solidFill>
                <a:latin typeface="Calibri"/>
                <a:ea typeface="Calibri"/>
                <a:cs typeface="Calibri"/>
                <a:sym typeface="Calibri"/>
              </a:rPr>
              <a:t>Esta información proviene del proceso de </a:t>
            </a:r>
            <a:r>
              <a:rPr lang="es-AR" sz="1800" b="1" i="0" u="none" strike="noStrike" cap="none">
                <a:solidFill>
                  <a:srgbClr val="2E75B5"/>
                </a:solidFill>
                <a:latin typeface="Calibri"/>
                <a:ea typeface="Calibri"/>
                <a:cs typeface="Calibri"/>
                <a:sym typeface="Calibri"/>
              </a:rPr>
              <a:t>gestión del desempeño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rgbClr val="002060"/>
              </a:solidFill>
              <a:latin typeface="Calibri"/>
              <a:ea typeface="Calibri"/>
              <a:cs typeface="Calibri"/>
              <a:sym typeface="Calibri"/>
            </a:endParaRPr>
          </a:p>
        </p:txBody>
      </p:sp>
      <p:pic>
        <p:nvPicPr>
          <p:cNvPr id="231" name="Google Shape;231;p30"/>
          <p:cNvPicPr preferRelativeResize="0"/>
          <p:nvPr/>
        </p:nvPicPr>
        <p:blipFill rotWithShape="1">
          <a:blip r:embed="rId5">
            <a:alphaModFix/>
          </a:blip>
          <a:srcRect/>
          <a:stretch/>
        </p:blipFill>
        <p:spPr>
          <a:xfrm flipH="1">
            <a:off x="1928664" y="4578806"/>
            <a:ext cx="1196436" cy="1196436"/>
          </a:xfrm>
          <a:prstGeom prst="rect">
            <a:avLst/>
          </a:prstGeom>
          <a:noFill/>
          <a:ln>
            <a:noFill/>
          </a:ln>
        </p:spPr>
      </p:pic>
      <p:pic>
        <p:nvPicPr>
          <p:cNvPr id="232" name="Google Shape;232;p30"/>
          <p:cNvPicPr preferRelativeResize="0"/>
          <p:nvPr/>
        </p:nvPicPr>
        <p:blipFill rotWithShape="1">
          <a:blip r:embed="rId6">
            <a:alphaModFix/>
          </a:blip>
          <a:srcRect/>
          <a:stretch/>
        </p:blipFill>
        <p:spPr>
          <a:xfrm>
            <a:off x="5774370" y="3183594"/>
            <a:ext cx="2847975" cy="1600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1"/>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Identificación de Potencial</a:t>
            </a:r>
            <a:endParaRPr sz="1400" b="0" i="0" u="none" strike="noStrike" cap="none">
              <a:solidFill>
                <a:srgbClr val="000000"/>
              </a:solidFill>
              <a:latin typeface="Arial"/>
              <a:ea typeface="Arial"/>
              <a:cs typeface="Arial"/>
              <a:sym typeface="Arial"/>
            </a:endParaRPr>
          </a:p>
        </p:txBody>
      </p:sp>
      <p:pic>
        <p:nvPicPr>
          <p:cNvPr id="238" name="Google Shape;238;p31" descr="Resultado de imagen para utn regional buenos aires ingenieria industrial"/>
          <p:cNvPicPr preferRelativeResize="0"/>
          <p:nvPr/>
        </p:nvPicPr>
        <p:blipFill rotWithShape="1">
          <a:blip r:embed="rId3">
            <a:alphaModFix/>
          </a:blip>
          <a:srcRect/>
          <a:stretch/>
        </p:blipFill>
        <p:spPr>
          <a:xfrm>
            <a:off x="7041232" y="41620"/>
            <a:ext cx="2637692" cy="1011116"/>
          </a:xfrm>
          <a:prstGeom prst="rect">
            <a:avLst/>
          </a:prstGeom>
          <a:noFill/>
          <a:ln>
            <a:noFill/>
          </a:ln>
        </p:spPr>
      </p:pic>
      <p:pic>
        <p:nvPicPr>
          <p:cNvPr id="239" name="Google Shape;239;p31" descr="C:\Users\miolza\AppData\Local\Microsoft\Windows\Temporary Internet Files\Content.IE5\PM59WDFW\20120925-unequal[1].gif"/>
          <p:cNvPicPr preferRelativeResize="0"/>
          <p:nvPr/>
        </p:nvPicPr>
        <p:blipFill rotWithShape="1">
          <a:blip r:embed="rId4">
            <a:alphaModFix/>
          </a:blip>
          <a:srcRect/>
          <a:stretch/>
        </p:blipFill>
        <p:spPr>
          <a:xfrm>
            <a:off x="4399297" y="1333286"/>
            <a:ext cx="829479" cy="1073263"/>
          </a:xfrm>
          <a:prstGeom prst="rect">
            <a:avLst/>
          </a:prstGeom>
          <a:noFill/>
          <a:ln>
            <a:noFill/>
          </a:ln>
        </p:spPr>
      </p:pic>
      <p:sp>
        <p:nvSpPr>
          <p:cNvPr id="240" name="Google Shape;240;p31"/>
          <p:cNvSpPr/>
          <p:nvPr/>
        </p:nvSpPr>
        <p:spPr>
          <a:xfrm>
            <a:off x="986387" y="1636618"/>
            <a:ext cx="2733063" cy="466601"/>
          </a:xfrm>
          <a:prstGeom prst="roundRect">
            <a:avLst>
              <a:gd name="adj" fmla="val 16667"/>
            </a:avLst>
          </a:prstGeom>
          <a:solidFill>
            <a:schemeClr val="accent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chemeClr val="lt1"/>
                </a:solidFill>
                <a:latin typeface="Calibri"/>
                <a:ea typeface="Calibri"/>
                <a:cs typeface="Calibri"/>
                <a:sym typeface="Calibri"/>
              </a:rPr>
              <a:t>ALTO DESEMPEÑO</a:t>
            </a:r>
            <a:endParaRPr sz="1400" b="0" i="0" u="none" strike="noStrike" cap="none">
              <a:solidFill>
                <a:srgbClr val="000000"/>
              </a:solidFill>
              <a:latin typeface="Arial"/>
              <a:ea typeface="Arial"/>
              <a:cs typeface="Arial"/>
              <a:sym typeface="Arial"/>
            </a:endParaRPr>
          </a:p>
        </p:txBody>
      </p:sp>
      <p:sp>
        <p:nvSpPr>
          <p:cNvPr id="241" name="Google Shape;241;p31"/>
          <p:cNvSpPr/>
          <p:nvPr/>
        </p:nvSpPr>
        <p:spPr>
          <a:xfrm>
            <a:off x="5909151" y="1636618"/>
            <a:ext cx="2998116" cy="466601"/>
          </a:xfrm>
          <a:prstGeom prst="roundRect">
            <a:avLst>
              <a:gd name="adj" fmla="val 16667"/>
            </a:avLst>
          </a:prstGeom>
          <a:solidFill>
            <a:srgbClr val="7030A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chemeClr val="lt1"/>
                </a:solidFill>
                <a:latin typeface="Calibri"/>
                <a:ea typeface="Calibri"/>
                <a:cs typeface="Calibri"/>
                <a:sym typeface="Calibri"/>
              </a:rPr>
              <a:t>ALTO POTENCIAL</a:t>
            </a:r>
            <a:endParaRPr sz="1400" b="0" i="0" u="none" strike="noStrike" cap="none">
              <a:solidFill>
                <a:srgbClr val="000000"/>
              </a:solidFill>
              <a:latin typeface="Arial"/>
              <a:ea typeface="Arial"/>
              <a:cs typeface="Arial"/>
              <a:sym typeface="Arial"/>
            </a:endParaRPr>
          </a:p>
        </p:txBody>
      </p:sp>
      <p:sp>
        <p:nvSpPr>
          <p:cNvPr id="242" name="Google Shape;242;p31"/>
          <p:cNvSpPr txBox="1"/>
          <p:nvPr/>
        </p:nvSpPr>
        <p:spPr>
          <a:xfrm>
            <a:off x="687614" y="2230993"/>
            <a:ext cx="3744416" cy="18466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Calibri"/>
                <a:ea typeface="Calibri"/>
                <a:cs typeface="Calibri"/>
                <a:sym typeface="Calibri"/>
              </a:rPr>
              <a:t>Se refiere al </a:t>
            </a:r>
            <a:r>
              <a:rPr lang="es-AR" sz="1600" b="1" i="0" u="none" strike="noStrike" cap="none">
                <a:solidFill>
                  <a:srgbClr val="002060"/>
                </a:solidFill>
                <a:latin typeface="Calibri"/>
                <a:ea typeface="Calibri"/>
                <a:cs typeface="Calibri"/>
                <a:sym typeface="Calibri"/>
              </a:rPr>
              <a:t>éxito en el puesto actual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2060"/>
              </a:solidFill>
              <a:latin typeface="Calibri"/>
              <a:ea typeface="Calibri"/>
              <a:cs typeface="Calibri"/>
              <a:sym typeface="Calibri"/>
            </a:endParaRPr>
          </a:p>
          <a:p>
            <a:pPr marL="0" marR="0" lvl="0" indent="-88900" algn="l" rtl="0">
              <a:lnSpc>
                <a:spcPct val="100000"/>
              </a:lnSpc>
              <a:spcBef>
                <a:spcPts val="0"/>
              </a:spcBef>
              <a:spcAft>
                <a:spcPts val="0"/>
              </a:spcAft>
              <a:buClr>
                <a:srgbClr val="002060"/>
              </a:buClr>
              <a:buSzPts val="1400"/>
              <a:buFont typeface="Noto Sans"/>
              <a:buChar char="▪"/>
            </a:pPr>
            <a:r>
              <a:rPr lang="es-AR" sz="1400" b="0" i="0" u="none" strike="noStrike" cap="none">
                <a:solidFill>
                  <a:srgbClr val="002060"/>
                </a:solidFill>
                <a:latin typeface="Calibri"/>
                <a:ea typeface="Calibri"/>
                <a:cs typeface="Calibri"/>
                <a:sym typeface="Calibri"/>
              </a:rPr>
              <a:t>Desempeño superior sostenido a lo largo del tiempo.</a:t>
            </a:r>
            <a:endParaRPr sz="1400" b="0" i="0" u="none" strike="noStrike" cap="none">
              <a:solidFill>
                <a:srgbClr val="000000"/>
              </a:solidFill>
              <a:latin typeface="Arial"/>
              <a:ea typeface="Arial"/>
              <a:cs typeface="Arial"/>
              <a:sym typeface="Arial"/>
            </a:endParaRPr>
          </a:p>
          <a:p>
            <a:pPr marL="0" marR="0" lvl="0" indent="-88900" algn="l" rtl="0">
              <a:lnSpc>
                <a:spcPct val="100000"/>
              </a:lnSpc>
              <a:spcBef>
                <a:spcPts val="0"/>
              </a:spcBef>
              <a:spcAft>
                <a:spcPts val="0"/>
              </a:spcAft>
              <a:buClr>
                <a:srgbClr val="002060"/>
              </a:buClr>
              <a:buSzPts val="1400"/>
              <a:buFont typeface="Noto Sans"/>
              <a:buChar char="▪"/>
            </a:pPr>
            <a:r>
              <a:rPr lang="es-AR" sz="1400" b="0" i="0" u="none" strike="noStrike" cap="none">
                <a:solidFill>
                  <a:srgbClr val="002060"/>
                </a:solidFill>
                <a:latin typeface="Calibri"/>
                <a:ea typeface="Calibri"/>
                <a:cs typeface="Calibri"/>
                <a:sym typeface="Calibri"/>
              </a:rPr>
              <a:t>Comprometido con los objetivos organizacionales.</a:t>
            </a:r>
            <a:endParaRPr sz="1400" b="0" i="0" u="none" strike="noStrike" cap="none">
              <a:solidFill>
                <a:srgbClr val="000000"/>
              </a:solidFill>
              <a:latin typeface="Arial"/>
              <a:ea typeface="Arial"/>
              <a:cs typeface="Arial"/>
              <a:sym typeface="Arial"/>
            </a:endParaRPr>
          </a:p>
          <a:p>
            <a:pPr marL="0" marR="0" lvl="0" indent="-88900" algn="l" rtl="0">
              <a:lnSpc>
                <a:spcPct val="100000"/>
              </a:lnSpc>
              <a:spcBef>
                <a:spcPts val="0"/>
              </a:spcBef>
              <a:spcAft>
                <a:spcPts val="0"/>
              </a:spcAft>
              <a:buClr>
                <a:srgbClr val="002060"/>
              </a:buClr>
              <a:buSzPts val="1400"/>
              <a:buFont typeface="Noto Sans"/>
              <a:buChar char="▪"/>
            </a:pPr>
            <a:r>
              <a:rPr lang="es-AR" sz="1400" b="0" i="0" u="none" strike="noStrike" cap="none">
                <a:solidFill>
                  <a:srgbClr val="002060"/>
                </a:solidFill>
                <a:latin typeface="Calibri"/>
                <a:ea typeface="Calibri"/>
                <a:cs typeface="Calibri"/>
                <a:sym typeface="Calibri"/>
              </a:rPr>
              <a:t>Recurso confiable en la organización.</a:t>
            </a:r>
            <a:endParaRPr sz="1400" b="0" i="0" u="none" strike="noStrike" cap="none">
              <a:solidFill>
                <a:srgbClr val="000000"/>
              </a:solidFill>
              <a:latin typeface="Arial"/>
              <a:ea typeface="Arial"/>
              <a:cs typeface="Arial"/>
              <a:sym typeface="Arial"/>
            </a:endParaRPr>
          </a:p>
          <a:p>
            <a:pPr marL="0" marR="0" lvl="0" indent="-88900" algn="l" rtl="0">
              <a:lnSpc>
                <a:spcPct val="100000"/>
              </a:lnSpc>
              <a:spcBef>
                <a:spcPts val="0"/>
              </a:spcBef>
              <a:spcAft>
                <a:spcPts val="0"/>
              </a:spcAft>
              <a:buClr>
                <a:srgbClr val="002060"/>
              </a:buClr>
              <a:buSzPts val="1400"/>
              <a:buFont typeface="Noto Sans"/>
              <a:buChar char="▪"/>
            </a:pPr>
            <a:r>
              <a:rPr lang="es-AR" sz="1400" b="0" i="0" u="none" strike="noStrike" cap="none">
                <a:solidFill>
                  <a:srgbClr val="002060"/>
                </a:solidFill>
                <a:latin typeface="Calibri"/>
                <a:ea typeface="Calibri"/>
                <a:cs typeface="Calibri"/>
                <a:sym typeface="Calibri"/>
              </a:rPr>
              <a:t>Le gusta lo que hace.</a:t>
            </a:r>
            <a:endParaRPr sz="1400" b="0" i="0" u="none" strike="noStrike" cap="none">
              <a:solidFill>
                <a:srgbClr val="000000"/>
              </a:solidFill>
              <a:latin typeface="Arial"/>
              <a:ea typeface="Arial"/>
              <a:cs typeface="Arial"/>
              <a:sym typeface="Arial"/>
            </a:endParaRPr>
          </a:p>
        </p:txBody>
      </p:sp>
      <p:sp>
        <p:nvSpPr>
          <p:cNvPr id="243" name="Google Shape;243;p31"/>
          <p:cNvSpPr txBox="1"/>
          <p:nvPr/>
        </p:nvSpPr>
        <p:spPr>
          <a:xfrm>
            <a:off x="5974089" y="2106642"/>
            <a:ext cx="3697190" cy="190821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AR" sz="1600" b="1" i="0" u="none" strike="noStrike" cap="none">
                <a:solidFill>
                  <a:srgbClr val="002060"/>
                </a:solidFill>
                <a:latin typeface="Calibri"/>
                <a:ea typeface="Calibri"/>
                <a:cs typeface="Calibri"/>
                <a:sym typeface="Calibri"/>
              </a:rPr>
              <a:t>Probabilidad de tener éxito en puestos de mayor jerarquía o complejidad.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002060"/>
              </a:solidFill>
              <a:latin typeface="Calibri"/>
              <a:ea typeface="Calibri"/>
              <a:cs typeface="Calibri"/>
              <a:sym typeface="Calibri"/>
            </a:endParaRPr>
          </a:p>
          <a:p>
            <a:pPr marL="0" marR="0" lvl="0" indent="-88900" algn="l" rtl="0">
              <a:lnSpc>
                <a:spcPct val="100000"/>
              </a:lnSpc>
              <a:spcBef>
                <a:spcPts val="0"/>
              </a:spcBef>
              <a:spcAft>
                <a:spcPts val="0"/>
              </a:spcAft>
              <a:buClr>
                <a:srgbClr val="002060"/>
              </a:buClr>
              <a:buSzPts val="1400"/>
              <a:buFont typeface="Noto Sans"/>
              <a:buChar char="▪"/>
            </a:pPr>
            <a:r>
              <a:rPr lang="es-AR" sz="1400" b="0" i="0" u="none" strike="noStrike" cap="none">
                <a:solidFill>
                  <a:srgbClr val="002060"/>
                </a:solidFill>
                <a:latin typeface="Calibri"/>
                <a:ea typeface="Calibri"/>
                <a:cs typeface="Calibri"/>
                <a:sym typeface="Calibri"/>
              </a:rPr>
              <a:t>Agilidad de aprendizaje</a:t>
            </a:r>
            <a:endParaRPr sz="1400" b="0" i="0" u="none" strike="noStrike" cap="none">
              <a:solidFill>
                <a:srgbClr val="002060"/>
              </a:solidFill>
              <a:latin typeface="Calibri"/>
              <a:ea typeface="Calibri"/>
              <a:cs typeface="Calibri"/>
              <a:sym typeface="Calibri"/>
            </a:endParaRPr>
          </a:p>
          <a:p>
            <a:pPr marL="0" marR="0" lvl="0" indent="-88900" algn="l" rtl="0">
              <a:lnSpc>
                <a:spcPct val="100000"/>
              </a:lnSpc>
              <a:spcBef>
                <a:spcPts val="0"/>
              </a:spcBef>
              <a:spcAft>
                <a:spcPts val="0"/>
              </a:spcAft>
              <a:buClr>
                <a:srgbClr val="002060"/>
              </a:buClr>
              <a:buSzPts val="1400"/>
              <a:buFont typeface="Noto Sans"/>
              <a:buChar char="▪"/>
            </a:pPr>
            <a:r>
              <a:rPr lang="es-AR" sz="1400" b="0" i="0" u="none" strike="noStrike" cap="none">
                <a:solidFill>
                  <a:srgbClr val="002060"/>
                </a:solidFill>
                <a:latin typeface="Calibri"/>
                <a:ea typeface="Calibri"/>
                <a:cs typeface="Calibri"/>
                <a:sym typeface="Calibri"/>
              </a:rPr>
              <a:t>Habilidades de liderazgo</a:t>
            </a:r>
            <a:endParaRPr sz="1400" b="0" i="0" u="none" strike="noStrike" cap="none">
              <a:solidFill>
                <a:srgbClr val="002060"/>
              </a:solidFill>
              <a:latin typeface="Calibri"/>
              <a:ea typeface="Calibri"/>
              <a:cs typeface="Calibri"/>
              <a:sym typeface="Calibri"/>
            </a:endParaRPr>
          </a:p>
          <a:p>
            <a:pPr marL="0" marR="0" lvl="0" indent="-88900" algn="l" rtl="0">
              <a:lnSpc>
                <a:spcPct val="100000"/>
              </a:lnSpc>
              <a:spcBef>
                <a:spcPts val="0"/>
              </a:spcBef>
              <a:spcAft>
                <a:spcPts val="0"/>
              </a:spcAft>
              <a:buClr>
                <a:srgbClr val="002060"/>
              </a:buClr>
              <a:buSzPts val="1400"/>
              <a:buFont typeface="Noto Sans"/>
              <a:buChar char="▪"/>
            </a:pPr>
            <a:r>
              <a:rPr lang="es-AR" sz="1400" b="0" i="0" u="none" strike="noStrike" cap="none">
                <a:solidFill>
                  <a:srgbClr val="002060"/>
                </a:solidFill>
                <a:latin typeface="Calibri"/>
                <a:ea typeface="Calibri"/>
                <a:cs typeface="Calibri"/>
                <a:sym typeface="Calibri"/>
              </a:rPr>
              <a:t>Se siente conforntable en contextos de ambigüedad. Complejidad y cambio.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2060"/>
              </a:solidFill>
              <a:latin typeface="Calibri"/>
              <a:ea typeface="Calibri"/>
              <a:cs typeface="Calibri"/>
              <a:sym typeface="Calibri"/>
            </a:endParaRPr>
          </a:p>
        </p:txBody>
      </p:sp>
      <p:pic>
        <p:nvPicPr>
          <p:cNvPr id="244" name="Google Shape;244;p31"/>
          <p:cNvPicPr preferRelativeResize="0"/>
          <p:nvPr/>
        </p:nvPicPr>
        <p:blipFill rotWithShape="1">
          <a:blip r:embed="rId5">
            <a:alphaModFix/>
          </a:blip>
          <a:srcRect l="13663" t="63609" r="57505" b="26310"/>
          <a:stretch/>
        </p:blipFill>
        <p:spPr>
          <a:xfrm>
            <a:off x="3362256" y="5011582"/>
            <a:ext cx="2969026" cy="583624"/>
          </a:xfrm>
          <a:prstGeom prst="rect">
            <a:avLst/>
          </a:prstGeom>
          <a:noFill/>
          <a:ln>
            <a:noFill/>
          </a:ln>
        </p:spPr>
      </p:pic>
      <p:sp>
        <p:nvSpPr>
          <p:cNvPr id="245" name="Google Shape;245;p31"/>
          <p:cNvSpPr/>
          <p:nvPr/>
        </p:nvSpPr>
        <p:spPr>
          <a:xfrm>
            <a:off x="1516899" y="4541689"/>
            <a:ext cx="7390368" cy="338554"/>
          </a:xfrm>
          <a:prstGeom prst="rect">
            <a:avLst/>
          </a:prstGeom>
          <a:solidFill>
            <a:srgbClr val="F2F2F2"/>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AR" sz="1600" b="1" i="0" u="none" strike="noStrike" cap="none">
                <a:solidFill>
                  <a:srgbClr val="7030A0"/>
                </a:solidFill>
                <a:latin typeface="Calibri"/>
                <a:ea typeface="Calibri"/>
                <a:cs typeface="Calibri"/>
                <a:sym typeface="Calibri"/>
              </a:rPr>
              <a:t>Sólo 1 de cada 7 empleados con alto desempeño es un Alto Potencial.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2"/>
          <p:cNvSpPr txBox="1"/>
          <p:nvPr/>
        </p:nvSpPr>
        <p:spPr>
          <a:xfrm>
            <a:off x="121586" y="1254505"/>
            <a:ext cx="236526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AR" sz="1800" b="1" i="0" u="none" strike="noStrike" cap="none">
                <a:solidFill>
                  <a:srgbClr val="002060"/>
                </a:solidFill>
                <a:latin typeface="Calibri"/>
                <a:ea typeface="Calibri"/>
                <a:cs typeface="Calibri"/>
                <a:sym typeface="Calibri"/>
              </a:rPr>
              <a:t>Si en el presente tiene:</a:t>
            </a:r>
            <a:endParaRPr sz="1400" b="0" i="0" u="none" strike="noStrike" cap="none">
              <a:solidFill>
                <a:srgbClr val="000000"/>
              </a:solidFill>
              <a:latin typeface="Arial"/>
              <a:ea typeface="Arial"/>
              <a:cs typeface="Arial"/>
              <a:sym typeface="Arial"/>
            </a:endParaRPr>
          </a:p>
        </p:txBody>
      </p:sp>
      <p:pic>
        <p:nvPicPr>
          <p:cNvPr id="251" name="Google Shape;251;p32"/>
          <p:cNvPicPr preferRelativeResize="0"/>
          <p:nvPr/>
        </p:nvPicPr>
        <p:blipFill rotWithShape="1">
          <a:blip r:embed="rId3">
            <a:alphaModFix/>
          </a:blip>
          <a:srcRect/>
          <a:stretch/>
        </p:blipFill>
        <p:spPr>
          <a:xfrm rot="5400000">
            <a:off x="3608858" y="1563487"/>
            <a:ext cx="1188000" cy="1750674"/>
          </a:xfrm>
          <a:prstGeom prst="rect">
            <a:avLst/>
          </a:prstGeom>
          <a:noFill/>
          <a:ln>
            <a:noFill/>
          </a:ln>
        </p:spPr>
      </p:pic>
      <p:sp>
        <p:nvSpPr>
          <p:cNvPr id="252" name="Google Shape;252;p32"/>
          <p:cNvSpPr txBox="1"/>
          <p:nvPr/>
        </p:nvSpPr>
        <p:spPr>
          <a:xfrm>
            <a:off x="4749544" y="1283282"/>
            <a:ext cx="3515824" cy="175432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002060"/>
                </a:solidFill>
                <a:latin typeface="Calibri"/>
                <a:ea typeface="Calibri"/>
                <a:cs typeface="Calibri"/>
                <a:sym typeface="Calibri"/>
              </a:rPr>
              <a:t>Podría tener éxito en posiciones de mayor complejidad o responsabilidad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206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rgbClr val="7030A0"/>
                </a:solidFill>
                <a:latin typeface="Calibri"/>
                <a:ea typeface="Calibri"/>
                <a:cs typeface="Calibri"/>
                <a:sym typeface="Calibri"/>
              </a:rPr>
              <a:t>El Potencial es una </a:t>
            </a:r>
            <a:r>
              <a:rPr lang="es-AR" sz="1600" b="1" i="0" u="none" strike="noStrike" cap="none">
                <a:solidFill>
                  <a:srgbClr val="7030A0"/>
                </a:solidFill>
                <a:latin typeface="Calibri"/>
                <a:ea typeface="Calibri"/>
                <a:cs typeface="Calibri"/>
                <a:sym typeface="Calibri"/>
              </a:rPr>
              <a:t>hipótesis</a:t>
            </a:r>
            <a:r>
              <a:rPr lang="es-AR" sz="1600" b="0" i="0" u="none" strike="noStrike" cap="none">
                <a:solidFill>
                  <a:srgbClr val="7030A0"/>
                </a:solidFill>
                <a:latin typeface="Calibri"/>
                <a:ea typeface="Calibri"/>
                <a:cs typeface="Calibri"/>
                <a:sym typeface="Calibri"/>
              </a:rPr>
              <a:t> sobre un desempeño futuro.</a:t>
            </a:r>
            <a:endParaRPr sz="1400" b="0" i="0" u="none" strike="noStrike" cap="none">
              <a:solidFill>
                <a:srgbClr val="000000"/>
              </a:solidFill>
              <a:latin typeface="Arial"/>
              <a:ea typeface="Arial"/>
              <a:cs typeface="Arial"/>
              <a:sym typeface="Arial"/>
            </a:endParaRPr>
          </a:p>
        </p:txBody>
      </p:sp>
      <p:sp>
        <p:nvSpPr>
          <p:cNvPr id="253" name="Google Shape;253;p32"/>
          <p:cNvSpPr txBox="1"/>
          <p:nvPr/>
        </p:nvSpPr>
        <p:spPr>
          <a:xfrm>
            <a:off x="1484048" y="1661259"/>
            <a:ext cx="2278036" cy="2092881"/>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2060"/>
              </a:buClr>
              <a:buSzPts val="1600"/>
              <a:buFont typeface="Noto Sans"/>
              <a:buChar char="▪"/>
            </a:pPr>
            <a:r>
              <a:rPr lang="es-AR" sz="1600" b="0" i="0" u="none" strike="noStrike" cap="none">
                <a:solidFill>
                  <a:srgbClr val="002060"/>
                </a:solidFill>
                <a:latin typeface="Calibri"/>
                <a:ea typeface="Calibri"/>
                <a:cs typeface="Calibri"/>
                <a:sym typeface="Calibri"/>
              </a:rPr>
              <a:t>Alto desempeño sostenido</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600"/>
              <a:buFont typeface="Noto Sans"/>
              <a:buChar char="▪"/>
            </a:pPr>
            <a:r>
              <a:rPr lang="es-AR" sz="1600" b="0" i="0" u="none" strike="noStrike" cap="none">
                <a:solidFill>
                  <a:srgbClr val="002060"/>
                </a:solidFill>
                <a:latin typeface="Calibri"/>
                <a:ea typeface="Calibri"/>
                <a:cs typeface="Calibri"/>
                <a:sym typeface="Calibri"/>
              </a:rPr>
              <a:t>Agilidad para aprender</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600"/>
              <a:buFont typeface="Noto Sans"/>
              <a:buChar char="▪"/>
            </a:pPr>
            <a:r>
              <a:rPr lang="es-AR" sz="1600" b="0" i="0" u="none" strike="noStrike" cap="none">
                <a:solidFill>
                  <a:srgbClr val="002060"/>
                </a:solidFill>
                <a:latin typeface="Calibri"/>
                <a:ea typeface="Calibri"/>
                <a:cs typeface="Calibri"/>
                <a:sym typeface="Calibri"/>
              </a:rPr>
              <a:t>Con compromiso y ganas de superarse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600"/>
              <a:buFont typeface="Noto Sans"/>
              <a:buChar char="▪"/>
            </a:pPr>
            <a:r>
              <a:rPr lang="es-AR" sz="1600" b="0" i="0" u="none" strike="noStrike" cap="none">
                <a:solidFill>
                  <a:srgbClr val="002060"/>
                </a:solidFill>
                <a:latin typeface="Calibri"/>
                <a:ea typeface="Calibri"/>
                <a:cs typeface="Calibri"/>
                <a:sym typeface="Calibri"/>
              </a:rPr>
              <a:t>Aspiraciones</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Noto Sans"/>
              <a:buNone/>
            </a:pPr>
            <a:endParaRPr sz="1800" b="0" i="0" u="none" strike="noStrike" cap="none">
              <a:solidFill>
                <a:srgbClr val="002060"/>
              </a:solidFill>
              <a:latin typeface="Calibri"/>
              <a:ea typeface="Calibri"/>
              <a:cs typeface="Calibri"/>
              <a:sym typeface="Calibri"/>
            </a:endParaRPr>
          </a:p>
        </p:txBody>
      </p:sp>
      <p:sp>
        <p:nvSpPr>
          <p:cNvPr id="254" name="Google Shape;254;p32"/>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Identificación de Potencial</a:t>
            </a:r>
            <a:endParaRPr sz="1400" b="0" i="0" u="none" strike="noStrike" cap="none">
              <a:solidFill>
                <a:srgbClr val="000000"/>
              </a:solidFill>
              <a:latin typeface="Arial"/>
              <a:ea typeface="Arial"/>
              <a:cs typeface="Arial"/>
              <a:sym typeface="Arial"/>
            </a:endParaRPr>
          </a:p>
        </p:txBody>
      </p:sp>
      <p:pic>
        <p:nvPicPr>
          <p:cNvPr id="255" name="Google Shape;255;p32" descr="Resultado de imagen para utn regional buenos aires ingenieria industrial"/>
          <p:cNvPicPr preferRelativeResize="0"/>
          <p:nvPr/>
        </p:nvPicPr>
        <p:blipFill rotWithShape="1">
          <a:blip r:embed="rId4">
            <a:alphaModFix/>
          </a:blip>
          <a:srcRect/>
          <a:stretch/>
        </p:blipFill>
        <p:spPr>
          <a:xfrm>
            <a:off x="7041232" y="41620"/>
            <a:ext cx="2637692" cy="1011116"/>
          </a:xfrm>
          <a:prstGeom prst="rect">
            <a:avLst/>
          </a:prstGeom>
          <a:noFill/>
          <a:ln>
            <a:noFill/>
          </a:ln>
        </p:spPr>
      </p:pic>
      <p:sp>
        <p:nvSpPr>
          <p:cNvPr id="256" name="Google Shape;256;p32"/>
          <p:cNvSpPr/>
          <p:nvPr/>
        </p:nvSpPr>
        <p:spPr>
          <a:xfrm>
            <a:off x="3224808" y="3838776"/>
            <a:ext cx="3960440" cy="908689"/>
          </a:xfrm>
          <a:prstGeom prst="roundRect">
            <a:avLst>
              <a:gd name="adj" fmla="val 16667"/>
            </a:avLst>
          </a:prstGeom>
          <a:solidFill>
            <a:srgbClr val="D8D8D8"/>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rgbClr val="7030A0"/>
                </a:solidFill>
                <a:latin typeface="Calibri"/>
                <a:ea typeface="Calibri"/>
                <a:cs typeface="Calibri"/>
                <a:sym typeface="Calibri"/>
              </a:rPr>
              <a:t>Hay diferentes </a:t>
            </a:r>
            <a:r>
              <a:rPr lang="es-AR" sz="1600" b="1" i="0" u="none" strike="noStrike" cap="none">
                <a:solidFill>
                  <a:srgbClr val="7030A0"/>
                </a:solidFill>
                <a:latin typeface="Calibri"/>
                <a:ea typeface="Calibri"/>
                <a:cs typeface="Calibri"/>
                <a:sym typeface="Calibri"/>
              </a:rPr>
              <a:t>modelos</a:t>
            </a:r>
            <a:r>
              <a:rPr lang="es-AR" sz="1600" b="0" i="0" u="none" strike="noStrike" cap="none">
                <a:solidFill>
                  <a:srgbClr val="7030A0"/>
                </a:solidFill>
                <a:latin typeface="Calibri"/>
                <a:ea typeface="Calibri"/>
                <a:cs typeface="Calibri"/>
                <a:sym typeface="Calibri"/>
              </a:rPr>
              <a:t> para determinar el potencial de los empleados, esos son los más utilizados:</a:t>
            </a:r>
            <a:endParaRPr sz="1400" b="0" i="0" u="none" strike="noStrike" cap="none">
              <a:solidFill>
                <a:srgbClr val="000000"/>
              </a:solidFill>
              <a:latin typeface="Arial"/>
              <a:ea typeface="Arial"/>
              <a:cs typeface="Arial"/>
              <a:sym typeface="Arial"/>
            </a:endParaRPr>
          </a:p>
        </p:txBody>
      </p:sp>
      <p:sp>
        <p:nvSpPr>
          <p:cNvPr id="257" name="Google Shape;257;p32"/>
          <p:cNvSpPr txBox="1"/>
          <p:nvPr/>
        </p:nvSpPr>
        <p:spPr>
          <a:xfrm>
            <a:off x="2331626" y="5399579"/>
            <a:ext cx="25203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002060"/>
                </a:solidFill>
                <a:latin typeface="Calibri"/>
                <a:ea typeface="Calibri"/>
                <a:cs typeface="Calibri"/>
                <a:sym typeface="Calibri"/>
              </a:rPr>
              <a:t>Modelo 3 esferas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002060"/>
                </a:solidFill>
                <a:latin typeface="Calibri"/>
                <a:ea typeface="Calibri"/>
                <a:cs typeface="Calibri"/>
                <a:sym typeface="Calibri"/>
              </a:rPr>
              <a:t>Corporate Leadership Council (CLC)</a:t>
            </a:r>
            <a:endParaRPr sz="1600" b="0" i="0" u="none" strike="noStrike" cap="none">
              <a:solidFill>
                <a:srgbClr val="7030A0"/>
              </a:solidFill>
              <a:latin typeface="Calibri"/>
              <a:ea typeface="Calibri"/>
              <a:cs typeface="Calibri"/>
              <a:sym typeface="Calibri"/>
            </a:endParaRPr>
          </a:p>
        </p:txBody>
      </p:sp>
      <p:sp>
        <p:nvSpPr>
          <p:cNvPr id="258" name="Google Shape;258;p32"/>
          <p:cNvSpPr txBox="1"/>
          <p:nvPr/>
        </p:nvSpPr>
        <p:spPr>
          <a:xfrm>
            <a:off x="5739029" y="5338768"/>
            <a:ext cx="208861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002060"/>
                </a:solidFill>
                <a:latin typeface="Calibri"/>
                <a:ea typeface="Calibri"/>
                <a:cs typeface="Calibri"/>
                <a:sym typeface="Calibri"/>
              </a:rPr>
              <a:t>Modelo Learning Agility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002060"/>
                </a:solidFill>
                <a:latin typeface="Calibri"/>
                <a:ea typeface="Calibri"/>
                <a:cs typeface="Calibri"/>
                <a:sym typeface="Calibri"/>
              </a:rPr>
              <a:t>Kornferry</a:t>
            </a:r>
            <a:endParaRPr sz="1800" b="0" i="0" u="none" strike="noStrike" cap="none">
              <a:solidFill>
                <a:srgbClr val="7030A0"/>
              </a:solidFill>
              <a:latin typeface="Calibri"/>
              <a:ea typeface="Calibri"/>
              <a:cs typeface="Calibri"/>
              <a:sym typeface="Calibri"/>
            </a:endParaRPr>
          </a:p>
        </p:txBody>
      </p:sp>
      <p:pic>
        <p:nvPicPr>
          <p:cNvPr id="259" name="Google Shape;259;p32"/>
          <p:cNvPicPr preferRelativeResize="0"/>
          <p:nvPr/>
        </p:nvPicPr>
        <p:blipFill rotWithShape="1">
          <a:blip r:embed="rId5">
            <a:alphaModFix/>
          </a:blip>
          <a:srcRect/>
          <a:stretch/>
        </p:blipFill>
        <p:spPr>
          <a:xfrm rot="8479299">
            <a:off x="5830172" y="4506001"/>
            <a:ext cx="705626" cy="1039833"/>
          </a:xfrm>
          <a:prstGeom prst="rect">
            <a:avLst/>
          </a:prstGeom>
          <a:noFill/>
          <a:ln>
            <a:noFill/>
          </a:ln>
        </p:spPr>
      </p:pic>
      <p:pic>
        <p:nvPicPr>
          <p:cNvPr id="260" name="Google Shape;260;p32"/>
          <p:cNvPicPr preferRelativeResize="0"/>
          <p:nvPr/>
        </p:nvPicPr>
        <p:blipFill rotWithShape="1">
          <a:blip r:embed="rId5">
            <a:alphaModFix/>
          </a:blip>
          <a:srcRect/>
          <a:stretch/>
        </p:blipFill>
        <p:spPr>
          <a:xfrm rot="-8690768">
            <a:off x="3459813" y="4506000"/>
            <a:ext cx="705626" cy="1039833"/>
          </a:xfrm>
          <a:prstGeom prst="rect">
            <a:avLst/>
          </a:prstGeom>
          <a:noFill/>
          <a:ln>
            <a:noFill/>
          </a:ln>
        </p:spPr>
      </p:pic>
      <p:pic>
        <p:nvPicPr>
          <p:cNvPr id="261" name="Google Shape;261;p32"/>
          <p:cNvPicPr preferRelativeResize="0"/>
          <p:nvPr/>
        </p:nvPicPr>
        <p:blipFill rotWithShape="1">
          <a:blip r:embed="rId6">
            <a:alphaModFix/>
          </a:blip>
          <a:srcRect l="37197" t="8961" r="28578" b="13278"/>
          <a:stretch/>
        </p:blipFill>
        <p:spPr>
          <a:xfrm>
            <a:off x="8421952" y="1646035"/>
            <a:ext cx="1378122" cy="1826576"/>
          </a:xfrm>
          <a:prstGeom prst="rect">
            <a:avLst/>
          </a:prstGeom>
          <a:noFill/>
          <a:ln>
            <a:noFill/>
          </a:ln>
        </p:spPr>
      </p:pic>
      <p:pic>
        <p:nvPicPr>
          <p:cNvPr id="262" name="Google Shape;262;p32"/>
          <p:cNvPicPr preferRelativeResize="0"/>
          <p:nvPr/>
        </p:nvPicPr>
        <p:blipFill rotWithShape="1">
          <a:blip r:embed="rId7">
            <a:alphaModFix/>
          </a:blip>
          <a:srcRect l="14486" r="4909" b="7998"/>
          <a:stretch/>
        </p:blipFill>
        <p:spPr>
          <a:xfrm>
            <a:off x="272304" y="1647769"/>
            <a:ext cx="1092598" cy="184666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3"/>
          <p:cNvSpPr txBox="1"/>
          <p:nvPr/>
        </p:nvSpPr>
        <p:spPr>
          <a:xfrm>
            <a:off x="463682" y="1310163"/>
            <a:ext cx="8915400" cy="4525963"/>
          </a:xfrm>
          <a:prstGeom prst="rect">
            <a:avLst/>
          </a:prstGeom>
          <a:noFill/>
          <a:ln>
            <a:noFill/>
          </a:ln>
        </p:spPr>
        <p:txBody>
          <a:bodyPr spcFirstLastPara="1" wrap="square" lIns="91425" tIns="45700" rIns="91425" bIns="45700" anchor="t" anchorCtr="0">
            <a:noAutofit/>
          </a:bodyPr>
          <a:lstStyle/>
          <a:p>
            <a:pPr marL="365760" marR="0" lvl="0" indent="-256032" algn="l" rtl="0">
              <a:lnSpc>
                <a:spcPct val="100000"/>
              </a:lnSpc>
              <a:spcBef>
                <a:spcPts val="0"/>
              </a:spcBef>
              <a:spcAft>
                <a:spcPts val="0"/>
              </a:spcAft>
              <a:buClr>
                <a:schemeClr val="accent1"/>
              </a:buClr>
              <a:buSzPts val="1224"/>
              <a:buFont typeface="Noto Sans"/>
              <a:buChar char="🞂"/>
            </a:pPr>
            <a:r>
              <a:rPr lang="es-AR" sz="1800" b="0" i="0" u="none" strike="noStrike" cap="none">
                <a:solidFill>
                  <a:srgbClr val="002060"/>
                </a:solidFill>
                <a:latin typeface="Calibri"/>
                <a:ea typeface="Calibri"/>
                <a:cs typeface="Calibri"/>
                <a:sym typeface="Calibri"/>
              </a:rPr>
              <a:t>El</a:t>
            </a:r>
            <a:r>
              <a:rPr lang="es-AR" sz="1600" b="0" i="0" u="none" strike="noStrike" cap="none">
                <a:solidFill>
                  <a:srgbClr val="002060"/>
                </a:solidFill>
                <a:latin typeface="Calibri"/>
                <a:ea typeface="Calibri"/>
                <a:cs typeface="Calibri"/>
                <a:sym typeface="Calibri"/>
              </a:rPr>
              <a:t> </a:t>
            </a:r>
            <a:r>
              <a:rPr lang="es-AR" sz="1800" b="0" i="0" u="none" strike="noStrike" cap="none">
                <a:solidFill>
                  <a:srgbClr val="002060"/>
                </a:solidFill>
                <a:latin typeface="Calibri"/>
                <a:ea typeface="Calibri"/>
                <a:cs typeface="Calibri"/>
                <a:sym typeface="Calibri"/>
              </a:rPr>
              <a:t>potencial de un empleado se determina por su </a:t>
            </a:r>
            <a:r>
              <a:rPr lang="es-AR" sz="2000" b="1" i="0" u="none" strike="noStrike" cap="none">
                <a:solidFill>
                  <a:srgbClr val="7030A0"/>
                </a:solidFill>
                <a:latin typeface="Calibri"/>
                <a:ea typeface="Calibri"/>
                <a:cs typeface="Calibri"/>
                <a:sym typeface="Calibri"/>
              </a:rPr>
              <a:t>habilidad, aspiración y compromiso</a:t>
            </a:r>
            <a:endParaRPr sz="1800" b="1" i="0" u="none" strike="noStrike" cap="none">
              <a:solidFill>
                <a:srgbClr val="7030A0"/>
              </a:solidFill>
              <a:latin typeface="Calibri"/>
              <a:ea typeface="Calibri"/>
              <a:cs typeface="Calibri"/>
              <a:sym typeface="Calibri"/>
            </a:endParaRPr>
          </a:p>
        </p:txBody>
      </p:sp>
      <p:sp>
        <p:nvSpPr>
          <p:cNvPr id="268" name="Google Shape;268;p33"/>
          <p:cNvSpPr txBox="1"/>
          <p:nvPr/>
        </p:nvSpPr>
        <p:spPr>
          <a:xfrm>
            <a:off x="200472" y="2147372"/>
            <a:ext cx="2736304"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Es una combinación de </a:t>
            </a:r>
            <a:r>
              <a:rPr lang="es-AR" sz="1400" b="1" i="0" u="none" strike="noStrike" cap="none">
                <a:solidFill>
                  <a:srgbClr val="002060"/>
                </a:solidFill>
                <a:latin typeface="Calibri"/>
                <a:ea typeface="Calibri"/>
                <a:cs typeface="Calibri"/>
                <a:sym typeface="Calibri"/>
              </a:rPr>
              <a:t>características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s-AR" sz="1400" b="1" i="0" u="none" strike="noStrike" cap="none">
                <a:solidFill>
                  <a:srgbClr val="002060"/>
                </a:solidFill>
                <a:latin typeface="Calibri"/>
                <a:ea typeface="Calibri"/>
                <a:cs typeface="Calibri"/>
                <a:sym typeface="Calibri"/>
              </a:rPr>
              <a:t>Innatas y habilidades adquiridas </a:t>
            </a:r>
            <a:r>
              <a:rPr lang="es-AR" sz="1400" b="0" i="0" u="none" strike="noStrike" cap="none">
                <a:solidFill>
                  <a:srgbClr val="002060"/>
                </a:solidFill>
                <a:latin typeface="Calibri"/>
                <a:ea typeface="Calibri"/>
                <a:cs typeface="Calibri"/>
                <a:sym typeface="Calibri"/>
              </a:rPr>
              <a:t>que el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empleado utiliza para realizar su trabajo</a:t>
            </a:r>
            <a:endParaRPr sz="1400" b="0" i="0" u="none" strike="noStrike" cap="none">
              <a:solidFill>
                <a:srgbClr val="000000"/>
              </a:solidFill>
              <a:latin typeface="Arial"/>
              <a:ea typeface="Arial"/>
              <a:cs typeface="Arial"/>
              <a:sym typeface="Arial"/>
            </a:endParaRPr>
          </a:p>
        </p:txBody>
      </p:sp>
      <p:sp>
        <p:nvSpPr>
          <p:cNvPr id="269" name="Google Shape;269;p33"/>
          <p:cNvSpPr txBox="1"/>
          <p:nvPr/>
        </p:nvSpPr>
        <p:spPr>
          <a:xfrm>
            <a:off x="5375424" y="5320079"/>
            <a:ext cx="4530576"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Es el punto hasta el que un empleado desea: </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002060"/>
              </a:buClr>
              <a:buSzPts val="1400"/>
              <a:buFont typeface="Arial"/>
              <a:buChar char="•"/>
            </a:pPr>
            <a:r>
              <a:rPr lang="es-AR" sz="1400" b="1" i="0" u="none" strike="noStrike" cap="none">
                <a:solidFill>
                  <a:srgbClr val="002060"/>
                </a:solidFill>
                <a:latin typeface="Calibri"/>
                <a:ea typeface="Calibri"/>
                <a:cs typeface="Calibri"/>
                <a:sym typeface="Calibri"/>
              </a:rPr>
              <a:t>Prestigio y reconocimiento </a:t>
            </a:r>
            <a:r>
              <a:rPr lang="es-AR" sz="1400" b="0" i="0" u="none" strike="noStrike" cap="none">
                <a:solidFill>
                  <a:srgbClr val="002060"/>
                </a:solidFill>
                <a:latin typeface="Calibri"/>
                <a:ea typeface="Calibri"/>
                <a:cs typeface="Calibri"/>
                <a:sym typeface="Calibri"/>
              </a:rPr>
              <a:t>en la organización  </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002060"/>
              </a:buClr>
              <a:buSzPts val="1400"/>
              <a:buFont typeface="Arial"/>
              <a:buChar char="•"/>
            </a:pPr>
            <a:r>
              <a:rPr lang="es-AR" sz="1400" b="1" i="0" u="none" strike="noStrike" cap="none">
                <a:solidFill>
                  <a:srgbClr val="002060"/>
                </a:solidFill>
                <a:latin typeface="Calibri"/>
                <a:ea typeface="Calibri"/>
                <a:cs typeface="Calibri"/>
                <a:sym typeface="Calibri"/>
              </a:rPr>
              <a:t>Ascenso e influencia </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002060"/>
              </a:buClr>
              <a:buSzPts val="1400"/>
              <a:buFont typeface="Arial"/>
              <a:buChar char="•"/>
            </a:pPr>
            <a:r>
              <a:rPr lang="es-AR" sz="1400" b="1" i="0" u="none" strike="noStrike" cap="none">
                <a:solidFill>
                  <a:srgbClr val="002060"/>
                </a:solidFill>
                <a:latin typeface="Calibri"/>
                <a:ea typeface="Calibri"/>
                <a:cs typeface="Calibri"/>
                <a:sym typeface="Calibri"/>
              </a:rPr>
              <a:t>Recompensa económica</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002060"/>
              </a:buClr>
              <a:buSzPts val="1400"/>
              <a:buFont typeface="Arial"/>
              <a:buChar char="•"/>
            </a:pPr>
            <a:r>
              <a:rPr lang="es-AR" sz="1400" b="0" i="0" u="none" strike="noStrike" cap="none">
                <a:solidFill>
                  <a:srgbClr val="002060"/>
                </a:solidFill>
                <a:latin typeface="Calibri"/>
                <a:ea typeface="Calibri"/>
                <a:cs typeface="Calibri"/>
                <a:sym typeface="Calibri"/>
              </a:rPr>
              <a:t>Equilibrio entre el trabajo y la vida privada</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002060"/>
              </a:buClr>
              <a:buSzPts val="1400"/>
              <a:buFont typeface="Arial"/>
              <a:buChar char="•"/>
            </a:pPr>
            <a:r>
              <a:rPr lang="es-AR" sz="1400" b="0" i="0" u="none" strike="noStrike" cap="none">
                <a:solidFill>
                  <a:srgbClr val="002060"/>
                </a:solidFill>
                <a:latin typeface="Calibri"/>
                <a:ea typeface="Calibri"/>
                <a:cs typeface="Calibri"/>
                <a:sym typeface="Calibri"/>
              </a:rPr>
              <a:t>Placer del trabajo en general </a:t>
            </a:r>
            <a:endParaRPr sz="1400" b="0" i="0" u="none" strike="noStrike" cap="none">
              <a:solidFill>
                <a:srgbClr val="000000"/>
              </a:solidFill>
              <a:latin typeface="Arial"/>
              <a:ea typeface="Arial"/>
              <a:cs typeface="Arial"/>
              <a:sym typeface="Arial"/>
            </a:endParaRPr>
          </a:p>
        </p:txBody>
      </p:sp>
      <p:sp>
        <p:nvSpPr>
          <p:cNvPr id="270" name="Google Shape;270;p33"/>
          <p:cNvSpPr txBox="1"/>
          <p:nvPr/>
        </p:nvSpPr>
        <p:spPr>
          <a:xfrm>
            <a:off x="6707559" y="2013014"/>
            <a:ext cx="2856936" cy="11695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Consiste en 4 elementos: </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002060"/>
              </a:buClr>
              <a:buSzPts val="1400"/>
              <a:buFont typeface="Arial"/>
              <a:buChar char="•"/>
            </a:pPr>
            <a:r>
              <a:rPr lang="es-AR" sz="1400" b="1" i="0" u="none" strike="noStrike" cap="none">
                <a:solidFill>
                  <a:srgbClr val="002060"/>
                </a:solidFill>
                <a:latin typeface="Calibri"/>
                <a:ea typeface="Calibri"/>
                <a:cs typeface="Calibri"/>
                <a:sym typeface="Calibri"/>
              </a:rPr>
              <a:t>Compromiso emocional</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002060"/>
              </a:buClr>
              <a:buSzPts val="1400"/>
              <a:buFont typeface="Arial"/>
              <a:buChar char="•"/>
            </a:pPr>
            <a:r>
              <a:rPr lang="es-AR" sz="1400" b="1" i="0" u="none" strike="noStrike" cap="none">
                <a:solidFill>
                  <a:srgbClr val="002060"/>
                </a:solidFill>
                <a:latin typeface="Calibri"/>
                <a:ea typeface="Calibri"/>
                <a:cs typeface="Calibri"/>
                <a:sym typeface="Calibri"/>
              </a:rPr>
              <a:t>Compromiso racional</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002060"/>
              </a:buClr>
              <a:buSzPts val="1400"/>
              <a:buFont typeface="Arial"/>
              <a:buChar char="•"/>
            </a:pPr>
            <a:r>
              <a:rPr lang="es-AR" sz="1400" b="1" i="0" u="none" strike="noStrike" cap="none">
                <a:solidFill>
                  <a:srgbClr val="002060"/>
                </a:solidFill>
                <a:latin typeface="Calibri"/>
                <a:ea typeface="Calibri"/>
                <a:cs typeface="Calibri"/>
                <a:sym typeface="Calibri"/>
              </a:rPr>
              <a:t>Esfuerzo discrecional</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002060"/>
              </a:buClr>
              <a:buSzPts val="1400"/>
              <a:buFont typeface="Arial"/>
              <a:buChar char="•"/>
            </a:pPr>
            <a:r>
              <a:rPr lang="es-AR" sz="1400" b="1" i="0" u="none" strike="noStrike" cap="none">
                <a:solidFill>
                  <a:srgbClr val="002060"/>
                </a:solidFill>
                <a:latin typeface="Calibri"/>
                <a:ea typeface="Calibri"/>
                <a:cs typeface="Calibri"/>
                <a:sym typeface="Calibri"/>
              </a:rPr>
              <a:t>Intención de quedarse</a:t>
            </a:r>
            <a:endParaRPr sz="1400" b="0" i="0" u="none" strike="noStrike" cap="none">
              <a:solidFill>
                <a:srgbClr val="000000"/>
              </a:solidFill>
              <a:latin typeface="Arial"/>
              <a:ea typeface="Arial"/>
              <a:cs typeface="Arial"/>
              <a:sym typeface="Arial"/>
            </a:endParaRPr>
          </a:p>
        </p:txBody>
      </p:sp>
      <p:sp>
        <p:nvSpPr>
          <p:cNvPr id="271" name="Google Shape;271;p33"/>
          <p:cNvSpPr/>
          <p:nvPr/>
        </p:nvSpPr>
        <p:spPr>
          <a:xfrm>
            <a:off x="2761382" y="3037892"/>
            <a:ext cx="2160000" cy="2160000"/>
          </a:xfrm>
          <a:prstGeom prst="ellipse">
            <a:avLst/>
          </a:prstGeom>
          <a:solidFill>
            <a:srgbClr val="FFCCCC">
              <a:alpha val="4823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1" i="0" u="none" strike="noStrike" cap="none">
                <a:solidFill>
                  <a:schemeClr val="dk1"/>
                </a:solidFill>
                <a:latin typeface="Calibri"/>
                <a:ea typeface="Calibri"/>
                <a:cs typeface="Calibri"/>
                <a:sym typeface="Calibri"/>
              </a:rPr>
              <a:t>Habilidad  </a:t>
            </a:r>
            <a:endParaRPr sz="1400" b="0" i="0" u="none" strike="noStrike" cap="none">
              <a:solidFill>
                <a:srgbClr val="000000"/>
              </a:solidFill>
              <a:latin typeface="Arial"/>
              <a:ea typeface="Arial"/>
              <a:cs typeface="Arial"/>
              <a:sym typeface="Arial"/>
            </a:endParaRPr>
          </a:p>
        </p:txBody>
      </p:sp>
      <p:sp>
        <p:nvSpPr>
          <p:cNvPr id="272" name="Google Shape;272;p33"/>
          <p:cNvSpPr/>
          <p:nvPr/>
        </p:nvSpPr>
        <p:spPr>
          <a:xfrm>
            <a:off x="4592960" y="3037892"/>
            <a:ext cx="2160000" cy="2160000"/>
          </a:xfrm>
          <a:prstGeom prst="ellipse">
            <a:avLst/>
          </a:prstGeom>
          <a:solidFill>
            <a:srgbClr val="A4F0D3">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1" i="0" u="none" strike="noStrike" cap="none">
                <a:solidFill>
                  <a:schemeClr val="dk1"/>
                </a:solidFill>
                <a:latin typeface="Calibri"/>
                <a:ea typeface="Calibri"/>
                <a:cs typeface="Calibri"/>
                <a:sym typeface="Calibri"/>
              </a:rPr>
              <a:t>Aspiración  </a:t>
            </a:r>
            <a:endParaRPr sz="1400" b="0" i="0" u="none" strike="noStrike" cap="none">
              <a:solidFill>
                <a:srgbClr val="000000"/>
              </a:solidFill>
              <a:latin typeface="Arial"/>
              <a:ea typeface="Arial"/>
              <a:cs typeface="Arial"/>
              <a:sym typeface="Arial"/>
            </a:endParaRPr>
          </a:p>
        </p:txBody>
      </p:sp>
      <p:sp>
        <p:nvSpPr>
          <p:cNvPr id="273" name="Google Shape;273;p33"/>
          <p:cNvSpPr/>
          <p:nvPr/>
        </p:nvSpPr>
        <p:spPr>
          <a:xfrm>
            <a:off x="3618680" y="1844824"/>
            <a:ext cx="2160000" cy="2160000"/>
          </a:xfrm>
          <a:prstGeom prst="ellipse">
            <a:avLst/>
          </a:prstGeom>
          <a:solidFill>
            <a:srgbClr val="CCCCFF">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1" i="0" u="none" strike="noStrike" cap="none">
                <a:solidFill>
                  <a:schemeClr val="dk1"/>
                </a:solidFill>
                <a:latin typeface="Calibri"/>
                <a:ea typeface="Calibri"/>
                <a:cs typeface="Calibri"/>
                <a:sym typeface="Calibri"/>
              </a:rPr>
              <a:t>Compromiso </a:t>
            </a:r>
            <a:endParaRPr sz="1400" b="0" i="0" u="none" strike="noStrike" cap="none">
              <a:solidFill>
                <a:srgbClr val="000000"/>
              </a:solidFill>
              <a:latin typeface="Arial"/>
              <a:ea typeface="Arial"/>
              <a:cs typeface="Arial"/>
              <a:sym typeface="Arial"/>
            </a:endParaRPr>
          </a:p>
        </p:txBody>
      </p:sp>
      <p:pic>
        <p:nvPicPr>
          <p:cNvPr id="274" name="Google Shape;274;p33"/>
          <p:cNvPicPr preferRelativeResize="0"/>
          <p:nvPr/>
        </p:nvPicPr>
        <p:blipFill rotWithShape="1">
          <a:blip r:embed="rId3">
            <a:alphaModFix/>
          </a:blip>
          <a:srcRect/>
          <a:stretch/>
        </p:blipFill>
        <p:spPr>
          <a:xfrm rot="-3211171">
            <a:off x="2550995" y="2615645"/>
            <a:ext cx="707426" cy="1042485"/>
          </a:xfrm>
          <a:prstGeom prst="rect">
            <a:avLst/>
          </a:prstGeom>
          <a:noFill/>
          <a:ln>
            <a:noFill/>
          </a:ln>
        </p:spPr>
      </p:pic>
      <p:pic>
        <p:nvPicPr>
          <p:cNvPr id="275" name="Google Shape;275;p33"/>
          <p:cNvPicPr preferRelativeResize="0"/>
          <p:nvPr/>
        </p:nvPicPr>
        <p:blipFill rotWithShape="1">
          <a:blip r:embed="rId4">
            <a:alphaModFix/>
          </a:blip>
          <a:srcRect/>
          <a:stretch/>
        </p:blipFill>
        <p:spPr>
          <a:xfrm rot="4460177">
            <a:off x="5641098" y="1914064"/>
            <a:ext cx="771301" cy="1136614"/>
          </a:xfrm>
          <a:prstGeom prst="rect">
            <a:avLst/>
          </a:prstGeom>
          <a:noFill/>
          <a:ln>
            <a:noFill/>
          </a:ln>
        </p:spPr>
      </p:pic>
      <p:pic>
        <p:nvPicPr>
          <p:cNvPr id="276" name="Google Shape;276;p33"/>
          <p:cNvPicPr preferRelativeResize="0"/>
          <p:nvPr/>
        </p:nvPicPr>
        <p:blipFill rotWithShape="1">
          <a:blip r:embed="rId5">
            <a:alphaModFix/>
          </a:blip>
          <a:srcRect/>
          <a:stretch/>
        </p:blipFill>
        <p:spPr>
          <a:xfrm rot="9170411">
            <a:off x="6013694" y="4482151"/>
            <a:ext cx="550248" cy="1119187"/>
          </a:xfrm>
          <a:prstGeom prst="rect">
            <a:avLst/>
          </a:prstGeom>
          <a:noFill/>
          <a:ln>
            <a:noFill/>
          </a:ln>
        </p:spPr>
      </p:pic>
      <p:sp>
        <p:nvSpPr>
          <p:cNvPr id="277" name="Google Shape;277;p33"/>
          <p:cNvSpPr/>
          <p:nvPr/>
        </p:nvSpPr>
        <p:spPr>
          <a:xfrm>
            <a:off x="200472" y="6334781"/>
            <a:ext cx="2898807"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Calibri"/>
                <a:ea typeface="Calibri"/>
                <a:cs typeface="Calibri"/>
                <a:sym typeface="Calibri"/>
              </a:rPr>
              <a:t>*Conference Leadership Council </a:t>
            </a:r>
            <a:endParaRPr sz="1400" b="0" i="0" u="none" strike="noStrike" cap="none">
              <a:solidFill>
                <a:srgbClr val="000000"/>
              </a:solidFill>
              <a:latin typeface="Arial"/>
              <a:ea typeface="Arial"/>
              <a:cs typeface="Arial"/>
              <a:sym typeface="Arial"/>
            </a:endParaRPr>
          </a:p>
        </p:txBody>
      </p:sp>
      <p:sp>
        <p:nvSpPr>
          <p:cNvPr id="278" name="Google Shape;278;p33"/>
          <p:cNvSpPr/>
          <p:nvPr/>
        </p:nvSpPr>
        <p:spPr>
          <a:xfrm>
            <a:off x="4407547" y="3431703"/>
            <a:ext cx="67687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s-AR" sz="5400" b="1" i="0" u="none" strike="noStrike" cap="none">
                <a:solidFill>
                  <a:srgbClr val="7030A0"/>
                </a:solidFill>
                <a:latin typeface="Calibri"/>
                <a:ea typeface="Calibri"/>
                <a:cs typeface="Calibri"/>
                <a:sym typeface="Calibri"/>
              </a:rPr>
              <a:t>P</a:t>
            </a:r>
            <a:endParaRPr sz="1400" b="0" i="0" u="none" strike="noStrike" cap="none">
              <a:solidFill>
                <a:srgbClr val="000000"/>
              </a:solidFill>
              <a:latin typeface="Arial"/>
              <a:ea typeface="Arial"/>
              <a:cs typeface="Arial"/>
              <a:sym typeface="Arial"/>
            </a:endParaRPr>
          </a:p>
        </p:txBody>
      </p:sp>
      <p:sp>
        <p:nvSpPr>
          <p:cNvPr id="279" name="Google Shape;279;p33"/>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Identificación de Potencial – Modelo CLC</a:t>
            </a:r>
            <a:endParaRPr sz="1400" b="0" i="0" u="none" strike="noStrike" cap="none">
              <a:solidFill>
                <a:srgbClr val="000000"/>
              </a:solidFill>
              <a:latin typeface="Arial"/>
              <a:ea typeface="Arial"/>
              <a:cs typeface="Arial"/>
              <a:sym typeface="Arial"/>
            </a:endParaRPr>
          </a:p>
        </p:txBody>
      </p:sp>
      <p:pic>
        <p:nvPicPr>
          <p:cNvPr id="280" name="Google Shape;280;p33" descr="Resultado de imagen para utn regional buenos aires ingenieria industrial"/>
          <p:cNvPicPr preferRelativeResize="0"/>
          <p:nvPr/>
        </p:nvPicPr>
        <p:blipFill rotWithShape="1">
          <a:blip r:embed="rId6">
            <a:alphaModFix/>
          </a:blip>
          <a:srcRect/>
          <a:stretch/>
        </p:blipFill>
        <p:spPr>
          <a:xfrm>
            <a:off x="7041232" y="41620"/>
            <a:ext cx="2637692" cy="10111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4"/>
          <p:cNvSpPr txBox="1"/>
          <p:nvPr/>
        </p:nvSpPr>
        <p:spPr>
          <a:xfrm>
            <a:off x="1100684" y="1423232"/>
            <a:ext cx="8229600" cy="498462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1"/>
              </a:buClr>
              <a:buSzPts val="1088"/>
              <a:buFont typeface="Noto Sans"/>
              <a:buNone/>
            </a:pPr>
            <a:endParaRPr sz="1600" b="0" i="0" u="none" strike="noStrike" cap="none">
              <a:solidFill>
                <a:srgbClr val="8A1C54"/>
              </a:solidFill>
              <a:latin typeface="Calibri"/>
              <a:ea typeface="Calibri"/>
              <a:cs typeface="Calibri"/>
              <a:sym typeface="Calibri"/>
            </a:endParaRPr>
          </a:p>
        </p:txBody>
      </p:sp>
      <p:sp>
        <p:nvSpPr>
          <p:cNvPr id="286" name="Google Shape;286;p34"/>
          <p:cNvSpPr/>
          <p:nvPr/>
        </p:nvSpPr>
        <p:spPr>
          <a:xfrm>
            <a:off x="2810691" y="3279811"/>
            <a:ext cx="439103" cy="395300"/>
          </a:xfrm>
          <a:prstGeom prst="ellipse">
            <a:avLst/>
          </a:prstGeom>
          <a:solidFill>
            <a:srgbClr val="FFCCCC">
              <a:alpha val="4823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87" name="Google Shape;287;p34"/>
          <p:cNvSpPr/>
          <p:nvPr/>
        </p:nvSpPr>
        <p:spPr>
          <a:xfrm>
            <a:off x="2258138" y="2240521"/>
            <a:ext cx="1019913" cy="1032096"/>
          </a:xfrm>
          <a:prstGeom prst="ellipse">
            <a:avLst/>
          </a:prstGeom>
          <a:solidFill>
            <a:srgbClr val="CCCCFF">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1"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88" name="Google Shape;288;p34"/>
          <p:cNvSpPr/>
          <p:nvPr/>
        </p:nvSpPr>
        <p:spPr>
          <a:xfrm>
            <a:off x="3235195" y="2612928"/>
            <a:ext cx="1019913" cy="1032096"/>
          </a:xfrm>
          <a:prstGeom prst="ellipse">
            <a:avLst/>
          </a:prstGeom>
          <a:solidFill>
            <a:srgbClr val="A4F0D3">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1" i="0" u="none" strike="noStrike" cap="none">
                <a:solidFill>
                  <a:schemeClr val="lt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89" name="Google Shape;289;p34"/>
          <p:cNvSpPr txBox="1"/>
          <p:nvPr/>
        </p:nvSpPr>
        <p:spPr>
          <a:xfrm>
            <a:off x="1914960" y="1844824"/>
            <a:ext cx="12907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1" i="0" u="none" strike="noStrike" cap="none">
                <a:solidFill>
                  <a:srgbClr val="002060"/>
                </a:solidFill>
                <a:latin typeface="Arimo"/>
                <a:ea typeface="Arimo"/>
                <a:cs typeface="Arimo"/>
                <a:sym typeface="Arimo"/>
              </a:rPr>
              <a:t>Compromiso</a:t>
            </a:r>
            <a:endParaRPr sz="1400" b="0" i="0" u="none" strike="noStrike" cap="none">
              <a:solidFill>
                <a:srgbClr val="000000"/>
              </a:solidFill>
              <a:latin typeface="Arial"/>
              <a:ea typeface="Arial"/>
              <a:cs typeface="Arial"/>
              <a:sym typeface="Arial"/>
            </a:endParaRPr>
          </a:p>
        </p:txBody>
      </p:sp>
      <p:sp>
        <p:nvSpPr>
          <p:cNvPr id="290" name="Google Shape;290;p34"/>
          <p:cNvSpPr txBox="1"/>
          <p:nvPr/>
        </p:nvSpPr>
        <p:spPr>
          <a:xfrm>
            <a:off x="3440832" y="2195572"/>
            <a:ext cx="117371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1" i="0" u="none" strike="noStrike" cap="none">
                <a:solidFill>
                  <a:srgbClr val="002060"/>
                </a:solidFill>
                <a:latin typeface="Arimo"/>
                <a:ea typeface="Arimo"/>
                <a:cs typeface="Arimo"/>
                <a:sym typeface="Arimo"/>
              </a:rPr>
              <a:t>Aspiración</a:t>
            </a:r>
            <a:r>
              <a:rPr lang="es-AR" sz="1800" b="1" i="0" u="none" strike="noStrike" cap="none">
                <a:solidFill>
                  <a:srgbClr val="0070C0"/>
                </a:solidFill>
                <a:latin typeface="Arimo"/>
                <a:ea typeface="Arimo"/>
                <a:cs typeface="Arimo"/>
                <a:sym typeface="Arimo"/>
              </a:rPr>
              <a:t> </a:t>
            </a:r>
            <a:endParaRPr sz="1400" b="0" i="0" u="none" strike="noStrike" cap="none">
              <a:solidFill>
                <a:srgbClr val="000000"/>
              </a:solidFill>
              <a:latin typeface="Arial"/>
              <a:ea typeface="Arial"/>
              <a:cs typeface="Arial"/>
              <a:sym typeface="Arial"/>
            </a:endParaRPr>
          </a:p>
        </p:txBody>
      </p:sp>
      <p:sp>
        <p:nvSpPr>
          <p:cNvPr id="291" name="Google Shape;291;p34"/>
          <p:cNvSpPr txBox="1"/>
          <p:nvPr/>
        </p:nvSpPr>
        <p:spPr>
          <a:xfrm>
            <a:off x="2581175" y="3761655"/>
            <a:ext cx="93166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1" i="0" u="none" strike="noStrike" cap="none">
                <a:solidFill>
                  <a:srgbClr val="002060"/>
                </a:solidFill>
                <a:latin typeface="Arimo"/>
                <a:ea typeface="Arimo"/>
                <a:cs typeface="Arimo"/>
                <a:sym typeface="Arimo"/>
              </a:rPr>
              <a:t>Habilidad</a:t>
            </a:r>
            <a:endParaRPr sz="1400" b="0" i="0" u="none" strike="noStrike" cap="none">
              <a:solidFill>
                <a:srgbClr val="000000"/>
              </a:solidFill>
              <a:latin typeface="Arial"/>
              <a:ea typeface="Arial"/>
              <a:cs typeface="Arial"/>
              <a:sym typeface="Arial"/>
            </a:endParaRPr>
          </a:p>
        </p:txBody>
      </p:sp>
      <p:sp>
        <p:nvSpPr>
          <p:cNvPr id="292" name="Google Shape;292;p34"/>
          <p:cNvSpPr/>
          <p:nvPr/>
        </p:nvSpPr>
        <p:spPr>
          <a:xfrm>
            <a:off x="6538721" y="2837651"/>
            <a:ext cx="439103" cy="395300"/>
          </a:xfrm>
          <a:prstGeom prst="ellipse">
            <a:avLst/>
          </a:prstGeom>
          <a:solidFill>
            <a:srgbClr val="A4F0D3">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1" i="0" u="none" strike="noStrike" cap="none">
                <a:solidFill>
                  <a:schemeClr val="lt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93" name="Google Shape;293;p34"/>
          <p:cNvSpPr/>
          <p:nvPr/>
        </p:nvSpPr>
        <p:spPr>
          <a:xfrm>
            <a:off x="5524837" y="2265195"/>
            <a:ext cx="1019913" cy="1032096"/>
          </a:xfrm>
          <a:prstGeom prst="ellipse">
            <a:avLst/>
          </a:prstGeom>
          <a:solidFill>
            <a:srgbClr val="CCCCFF">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1"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94" name="Google Shape;294;p34"/>
          <p:cNvSpPr/>
          <p:nvPr/>
        </p:nvSpPr>
        <p:spPr>
          <a:xfrm>
            <a:off x="5914347" y="3188992"/>
            <a:ext cx="1019913" cy="1032096"/>
          </a:xfrm>
          <a:prstGeom prst="ellipse">
            <a:avLst/>
          </a:prstGeom>
          <a:solidFill>
            <a:srgbClr val="FFCCCC">
              <a:alpha val="4823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95" name="Google Shape;295;p34"/>
          <p:cNvSpPr txBox="1"/>
          <p:nvPr/>
        </p:nvSpPr>
        <p:spPr>
          <a:xfrm>
            <a:off x="5332492" y="1916832"/>
            <a:ext cx="12907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1" i="0" u="none" strike="noStrike" cap="none">
                <a:solidFill>
                  <a:srgbClr val="002060"/>
                </a:solidFill>
                <a:latin typeface="Arimo"/>
                <a:ea typeface="Arimo"/>
                <a:cs typeface="Arimo"/>
                <a:sym typeface="Arimo"/>
              </a:rPr>
              <a:t>Compromiso</a:t>
            </a:r>
            <a:endParaRPr sz="1400" b="0" i="0" u="none" strike="noStrike" cap="none">
              <a:solidFill>
                <a:srgbClr val="000000"/>
              </a:solidFill>
              <a:latin typeface="Arial"/>
              <a:ea typeface="Arial"/>
              <a:cs typeface="Arial"/>
              <a:sym typeface="Arial"/>
            </a:endParaRPr>
          </a:p>
        </p:txBody>
      </p:sp>
      <p:sp>
        <p:nvSpPr>
          <p:cNvPr id="296" name="Google Shape;296;p34"/>
          <p:cNvSpPr txBox="1"/>
          <p:nvPr/>
        </p:nvSpPr>
        <p:spPr>
          <a:xfrm>
            <a:off x="6681192" y="2420888"/>
            <a:ext cx="107112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1" i="0" u="none" strike="noStrike" cap="none">
                <a:solidFill>
                  <a:srgbClr val="002060"/>
                </a:solidFill>
                <a:latin typeface="Arimo"/>
                <a:ea typeface="Arimo"/>
                <a:cs typeface="Arimo"/>
                <a:sym typeface="Arimo"/>
              </a:rPr>
              <a:t>Aspiración </a:t>
            </a:r>
            <a:endParaRPr sz="1400" b="0" i="0" u="none" strike="noStrike" cap="none">
              <a:solidFill>
                <a:srgbClr val="000000"/>
              </a:solidFill>
              <a:latin typeface="Arial"/>
              <a:ea typeface="Arial"/>
              <a:cs typeface="Arial"/>
              <a:sym typeface="Arial"/>
            </a:endParaRPr>
          </a:p>
        </p:txBody>
      </p:sp>
      <p:sp>
        <p:nvSpPr>
          <p:cNvPr id="297" name="Google Shape;297;p34"/>
          <p:cNvSpPr txBox="1"/>
          <p:nvPr/>
        </p:nvSpPr>
        <p:spPr>
          <a:xfrm>
            <a:off x="6947633" y="3705662"/>
            <a:ext cx="98937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1" i="0" u="none" strike="noStrike" cap="none">
                <a:solidFill>
                  <a:srgbClr val="002060"/>
                </a:solidFill>
                <a:latin typeface="Arimo"/>
                <a:ea typeface="Arimo"/>
                <a:cs typeface="Arimo"/>
                <a:sym typeface="Arimo"/>
              </a:rPr>
              <a:t>Habilidad</a:t>
            </a:r>
            <a:endParaRPr sz="1400" b="0" i="0" u="none" strike="noStrike" cap="none">
              <a:solidFill>
                <a:srgbClr val="000000"/>
              </a:solidFill>
              <a:latin typeface="Arial"/>
              <a:ea typeface="Arial"/>
              <a:cs typeface="Arial"/>
              <a:sym typeface="Arial"/>
            </a:endParaRPr>
          </a:p>
        </p:txBody>
      </p:sp>
      <p:sp>
        <p:nvSpPr>
          <p:cNvPr id="298" name="Google Shape;298;p34"/>
          <p:cNvSpPr/>
          <p:nvPr/>
        </p:nvSpPr>
        <p:spPr>
          <a:xfrm>
            <a:off x="4159288" y="5169996"/>
            <a:ext cx="439103" cy="395300"/>
          </a:xfrm>
          <a:prstGeom prst="ellipse">
            <a:avLst/>
          </a:prstGeom>
          <a:solidFill>
            <a:srgbClr val="CCCCFF">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1"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99" name="Google Shape;299;p34"/>
          <p:cNvSpPr/>
          <p:nvPr/>
        </p:nvSpPr>
        <p:spPr>
          <a:xfrm>
            <a:off x="3358927" y="5414721"/>
            <a:ext cx="1019913" cy="1032096"/>
          </a:xfrm>
          <a:prstGeom prst="ellipse">
            <a:avLst/>
          </a:prstGeom>
          <a:solidFill>
            <a:srgbClr val="FFCCCC">
              <a:alpha val="4823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00" name="Google Shape;300;p34"/>
          <p:cNvSpPr/>
          <p:nvPr/>
        </p:nvSpPr>
        <p:spPr>
          <a:xfrm>
            <a:off x="4378840" y="5421240"/>
            <a:ext cx="1019913" cy="1032096"/>
          </a:xfrm>
          <a:prstGeom prst="ellipse">
            <a:avLst/>
          </a:prstGeom>
          <a:solidFill>
            <a:srgbClr val="A4F0D3">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1" i="0" u="none" strike="noStrike" cap="none">
                <a:solidFill>
                  <a:schemeClr val="lt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01" name="Google Shape;301;p34"/>
          <p:cNvSpPr txBox="1"/>
          <p:nvPr/>
        </p:nvSpPr>
        <p:spPr>
          <a:xfrm>
            <a:off x="3753633" y="4849415"/>
            <a:ext cx="119936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1" i="0" u="none" strike="noStrike" cap="none">
                <a:solidFill>
                  <a:srgbClr val="002060"/>
                </a:solidFill>
                <a:latin typeface="Arimo"/>
                <a:ea typeface="Arimo"/>
                <a:cs typeface="Arimo"/>
                <a:sym typeface="Arimo"/>
              </a:rPr>
              <a:t>Compromiso</a:t>
            </a:r>
            <a:endParaRPr sz="1400" b="0" i="0" u="none" strike="noStrike" cap="none">
              <a:solidFill>
                <a:srgbClr val="000000"/>
              </a:solidFill>
              <a:latin typeface="Arial"/>
              <a:ea typeface="Arial"/>
              <a:cs typeface="Arial"/>
              <a:sym typeface="Arial"/>
            </a:endParaRPr>
          </a:p>
        </p:txBody>
      </p:sp>
      <p:sp>
        <p:nvSpPr>
          <p:cNvPr id="302" name="Google Shape;302;p34"/>
          <p:cNvSpPr txBox="1"/>
          <p:nvPr/>
        </p:nvSpPr>
        <p:spPr>
          <a:xfrm>
            <a:off x="2144688" y="5877272"/>
            <a:ext cx="98937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1" i="0" u="none" strike="noStrike" cap="none">
                <a:solidFill>
                  <a:srgbClr val="002060"/>
                </a:solidFill>
                <a:latin typeface="Arimo"/>
                <a:ea typeface="Arimo"/>
                <a:cs typeface="Arimo"/>
                <a:sym typeface="Arimo"/>
              </a:rPr>
              <a:t>Habilidad</a:t>
            </a:r>
            <a:endParaRPr sz="1400" b="0" i="0" u="none" strike="noStrike" cap="none">
              <a:solidFill>
                <a:srgbClr val="000000"/>
              </a:solidFill>
              <a:latin typeface="Arial"/>
              <a:ea typeface="Arial"/>
              <a:cs typeface="Arial"/>
              <a:sym typeface="Arial"/>
            </a:endParaRPr>
          </a:p>
        </p:txBody>
      </p:sp>
      <p:sp>
        <p:nvSpPr>
          <p:cNvPr id="303" name="Google Shape;303;p34"/>
          <p:cNvSpPr txBox="1"/>
          <p:nvPr/>
        </p:nvSpPr>
        <p:spPr>
          <a:xfrm>
            <a:off x="5413507" y="6076281"/>
            <a:ext cx="117371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1" i="0" u="none" strike="noStrike" cap="none">
                <a:solidFill>
                  <a:srgbClr val="002060"/>
                </a:solidFill>
                <a:latin typeface="Arimo"/>
                <a:ea typeface="Arimo"/>
                <a:cs typeface="Arimo"/>
                <a:sym typeface="Arimo"/>
              </a:rPr>
              <a:t>Aspiración</a:t>
            </a:r>
            <a:r>
              <a:rPr lang="es-AR" sz="1800" b="1" i="0" u="none" strike="noStrike" cap="none">
                <a:solidFill>
                  <a:srgbClr val="0070C0"/>
                </a:solidFill>
                <a:latin typeface="Arimo"/>
                <a:ea typeface="Arimo"/>
                <a:cs typeface="Arimo"/>
                <a:sym typeface="Arimo"/>
              </a:rPr>
              <a:t> </a:t>
            </a:r>
            <a:endParaRPr sz="1400" b="0" i="0" u="none" strike="noStrike" cap="none">
              <a:solidFill>
                <a:srgbClr val="000000"/>
              </a:solidFill>
              <a:latin typeface="Arial"/>
              <a:ea typeface="Arial"/>
              <a:cs typeface="Arial"/>
              <a:sym typeface="Arial"/>
            </a:endParaRPr>
          </a:p>
        </p:txBody>
      </p:sp>
      <p:sp>
        <p:nvSpPr>
          <p:cNvPr id="304" name="Google Shape;304;p34"/>
          <p:cNvSpPr txBox="1"/>
          <p:nvPr/>
        </p:nvSpPr>
        <p:spPr>
          <a:xfrm>
            <a:off x="2975337" y="4470384"/>
            <a:ext cx="3075457"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AR" sz="2000" b="0" i="0" u="none" strike="noStrike" cap="none">
                <a:solidFill>
                  <a:srgbClr val="7030A0"/>
                </a:solidFill>
                <a:latin typeface="Calibri"/>
                <a:ea typeface="Calibri"/>
                <a:cs typeface="Calibri"/>
                <a:sym typeface="Calibri"/>
              </a:rPr>
              <a:t>Estrellas no comprometidas</a:t>
            </a:r>
            <a:endParaRPr sz="1400" b="0" i="0" u="none" strike="noStrike" cap="none">
              <a:solidFill>
                <a:srgbClr val="000000"/>
              </a:solidFill>
              <a:latin typeface="Arial"/>
              <a:ea typeface="Arial"/>
              <a:cs typeface="Arial"/>
              <a:sym typeface="Arial"/>
            </a:endParaRPr>
          </a:p>
        </p:txBody>
      </p:sp>
      <p:sp>
        <p:nvSpPr>
          <p:cNvPr id="305" name="Google Shape;305;p34"/>
          <p:cNvSpPr txBox="1"/>
          <p:nvPr/>
        </p:nvSpPr>
        <p:spPr>
          <a:xfrm>
            <a:off x="7126881" y="1301319"/>
            <a:ext cx="2461058"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AR" sz="2000" b="0" i="0" u="none" strike="noStrike" cap="none">
                <a:solidFill>
                  <a:srgbClr val="7030A0"/>
                </a:solidFill>
                <a:latin typeface="Calibri"/>
                <a:ea typeface="Calibri"/>
                <a:cs typeface="Calibri"/>
                <a:sym typeface="Calibri"/>
              </a:rPr>
              <a:t>Estrellas desalineadas</a:t>
            </a:r>
            <a:endParaRPr sz="1400" b="0" i="0" u="none" strike="noStrike" cap="none">
              <a:solidFill>
                <a:srgbClr val="000000"/>
              </a:solidFill>
              <a:latin typeface="Arial"/>
              <a:ea typeface="Arial"/>
              <a:cs typeface="Arial"/>
              <a:sym typeface="Arial"/>
            </a:endParaRPr>
          </a:p>
        </p:txBody>
      </p:sp>
      <p:sp>
        <p:nvSpPr>
          <p:cNvPr id="306" name="Google Shape;306;p34"/>
          <p:cNvSpPr txBox="1"/>
          <p:nvPr/>
        </p:nvSpPr>
        <p:spPr>
          <a:xfrm>
            <a:off x="233472" y="1400250"/>
            <a:ext cx="304500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AR" sz="2000" b="0" i="0" u="none" strike="noStrike" cap="none">
                <a:solidFill>
                  <a:srgbClr val="7030A0"/>
                </a:solidFill>
                <a:latin typeface="Calibri"/>
                <a:ea typeface="Calibri"/>
                <a:cs typeface="Calibri"/>
                <a:sym typeface="Calibri"/>
              </a:rPr>
              <a:t>Soñadores comprometidos</a:t>
            </a:r>
            <a:endParaRPr sz="1400" b="0" i="0" u="none" strike="noStrike" cap="none">
              <a:solidFill>
                <a:srgbClr val="000000"/>
              </a:solidFill>
              <a:latin typeface="Arial"/>
              <a:ea typeface="Arial"/>
              <a:cs typeface="Arial"/>
              <a:sym typeface="Arial"/>
            </a:endParaRPr>
          </a:p>
        </p:txBody>
      </p:sp>
      <p:sp>
        <p:nvSpPr>
          <p:cNvPr id="307" name="Google Shape;307;p34"/>
          <p:cNvSpPr txBox="1"/>
          <p:nvPr/>
        </p:nvSpPr>
        <p:spPr>
          <a:xfrm>
            <a:off x="8025903" y="1725899"/>
            <a:ext cx="1584175" cy="2677656"/>
          </a:xfrm>
          <a:prstGeom prst="rect">
            <a:avLst/>
          </a:prstGeom>
          <a:solidFill>
            <a:srgbClr val="F2F2F2"/>
          </a:solid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Los empleados con alta habilidad y compromiso pero con baja aspiración, difícilmente lleguen a posiciones más senior porque simplemente no lo desean lo suficiente.</a:t>
            </a:r>
            <a:endParaRPr sz="1400" b="0" i="0" u="none" strike="noStrike" cap="none">
              <a:solidFill>
                <a:srgbClr val="000000"/>
              </a:solidFill>
              <a:latin typeface="Arial"/>
              <a:ea typeface="Arial"/>
              <a:cs typeface="Arial"/>
              <a:sym typeface="Arial"/>
            </a:endParaRPr>
          </a:p>
        </p:txBody>
      </p:sp>
      <p:sp>
        <p:nvSpPr>
          <p:cNvPr id="308" name="Google Shape;308;p34"/>
          <p:cNvSpPr txBox="1"/>
          <p:nvPr/>
        </p:nvSpPr>
        <p:spPr>
          <a:xfrm>
            <a:off x="6587374" y="5052248"/>
            <a:ext cx="2973021" cy="1600438"/>
          </a:xfrm>
          <a:prstGeom prst="rect">
            <a:avLst/>
          </a:prstGeom>
          <a:solidFill>
            <a:srgbClr val="F2F2F2"/>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Las estrellas no comprometidas son empleados con una gran aspiración y habilidad. Sin embargo, no están del todo comprometidos con su trabajo o con la organización, y pueden no estar dispuestos a quedarse en el largo plazo..</a:t>
            </a:r>
            <a:endParaRPr sz="1400" b="0" i="0" u="none" strike="noStrike" cap="none">
              <a:solidFill>
                <a:srgbClr val="000000"/>
              </a:solidFill>
              <a:latin typeface="Arial"/>
              <a:ea typeface="Arial"/>
              <a:cs typeface="Arial"/>
              <a:sym typeface="Arial"/>
            </a:endParaRPr>
          </a:p>
        </p:txBody>
      </p:sp>
      <p:sp>
        <p:nvSpPr>
          <p:cNvPr id="309" name="Google Shape;309;p34"/>
          <p:cNvSpPr txBox="1"/>
          <p:nvPr/>
        </p:nvSpPr>
        <p:spPr>
          <a:xfrm>
            <a:off x="255721" y="1823342"/>
            <a:ext cx="1584175" cy="2677656"/>
          </a:xfrm>
          <a:prstGeom prst="rect">
            <a:avLst/>
          </a:prstGeom>
          <a:solidFill>
            <a:srgbClr val="F2F2F2"/>
          </a:solid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Los soñadores comprometidos quieren roles de mayor nivel y están comprometidos, pero tienen una habilidad promedio.  A menos que la organización pueda desarrollar sus competencias necesarias, la probabilidad de éxito en el próximo nivel es baja.</a:t>
            </a:r>
            <a:endParaRPr sz="1400" b="0" i="0" u="none" strike="noStrike" cap="none">
              <a:solidFill>
                <a:srgbClr val="000000"/>
              </a:solidFill>
              <a:latin typeface="Arial"/>
              <a:ea typeface="Arial"/>
              <a:cs typeface="Arial"/>
              <a:sym typeface="Arial"/>
            </a:endParaRPr>
          </a:p>
        </p:txBody>
      </p:sp>
      <p:sp>
        <p:nvSpPr>
          <p:cNvPr id="310" name="Google Shape;310;p34"/>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Identificación de Potencial – Modelo CLC</a:t>
            </a:r>
            <a:endParaRPr sz="1400" b="0" i="0" u="none" strike="noStrike" cap="none">
              <a:solidFill>
                <a:srgbClr val="000000"/>
              </a:solidFill>
              <a:latin typeface="Arial"/>
              <a:ea typeface="Arial"/>
              <a:cs typeface="Arial"/>
              <a:sym typeface="Arial"/>
            </a:endParaRPr>
          </a:p>
        </p:txBody>
      </p:sp>
      <p:pic>
        <p:nvPicPr>
          <p:cNvPr id="311" name="Google Shape;311;p34" descr="Resultado de imagen para utn regional buenos aires ingenieria industrial"/>
          <p:cNvPicPr preferRelativeResize="0"/>
          <p:nvPr/>
        </p:nvPicPr>
        <p:blipFill rotWithShape="1">
          <a:blip r:embed="rId3">
            <a:alphaModFix/>
          </a:blip>
          <a:srcRect/>
          <a:stretch/>
        </p:blipFill>
        <p:spPr>
          <a:xfrm>
            <a:off x="7041232" y="41620"/>
            <a:ext cx="2637692" cy="10111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0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9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9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9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9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0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0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9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9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0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0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0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0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5"/>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Identificación de Potencial – Modelo Learning Agility KF</a:t>
            </a:r>
            <a:endParaRPr sz="1400" b="0" i="0" u="none" strike="noStrike" cap="none">
              <a:solidFill>
                <a:srgbClr val="000000"/>
              </a:solidFill>
              <a:latin typeface="Arial"/>
              <a:ea typeface="Arial"/>
              <a:cs typeface="Arial"/>
              <a:sym typeface="Arial"/>
            </a:endParaRPr>
          </a:p>
        </p:txBody>
      </p:sp>
      <p:pic>
        <p:nvPicPr>
          <p:cNvPr id="317" name="Google Shape;317;p35" descr="Resultado de imagen para utn regional buenos aires ingenieria industrial"/>
          <p:cNvPicPr preferRelativeResize="0"/>
          <p:nvPr/>
        </p:nvPicPr>
        <p:blipFill rotWithShape="1">
          <a:blip r:embed="rId3">
            <a:alphaModFix/>
          </a:blip>
          <a:srcRect/>
          <a:stretch/>
        </p:blipFill>
        <p:spPr>
          <a:xfrm>
            <a:off x="7041232" y="41620"/>
            <a:ext cx="2637692" cy="1011116"/>
          </a:xfrm>
          <a:prstGeom prst="rect">
            <a:avLst/>
          </a:prstGeom>
          <a:noFill/>
          <a:ln>
            <a:noFill/>
          </a:ln>
        </p:spPr>
      </p:pic>
      <p:grpSp>
        <p:nvGrpSpPr>
          <p:cNvPr id="318" name="Google Shape;318;p35"/>
          <p:cNvGrpSpPr/>
          <p:nvPr/>
        </p:nvGrpSpPr>
        <p:grpSpPr>
          <a:xfrm>
            <a:off x="776536" y="1484784"/>
            <a:ext cx="8883748" cy="5197473"/>
            <a:chOff x="-10260" y="1229620"/>
            <a:chExt cx="9654133" cy="5485505"/>
          </a:xfrm>
        </p:grpSpPr>
        <p:pic>
          <p:nvPicPr>
            <p:cNvPr id="319" name="Google Shape;319;p35" descr="Entrenamiento en Leadership Architect &amp; Succession con base en la ..."/>
            <p:cNvPicPr preferRelativeResize="0"/>
            <p:nvPr/>
          </p:nvPicPr>
          <p:blipFill rotWithShape="1">
            <a:blip r:embed="rId4">
              <a:alphaModFix/>
            </a:blip>
            <a:srcRect t="16536"/>
            <a:stretch/>
          </p:blipFill>
          <p:spPr>
            <a:xfrm>
              <a:off x="-10260" y="1229620"/>
              <a:ext cx="9144002" cy="5485505"/>
            </a:xfrm>
            <a:prstGeom prst="rect">
              <a:avLst/>
            </a:prstGeom>
            <a:noFill/>
            <a:ln>
              <a:noFill/>
            </a:ln>
          </p:spPr>
        </p:pic>
        <p:sp>
          <p:nvSpPr>
            <p:cNvPr id="320" name="Google Shape;320;p35"/>
            <p:cNvSpPr/>
            <p:nvPr/>
          </p:nvSpPr>
          <p:spPr>
            <a:xfrm>
              <a:off x="5467409" y="6021288"/>
              <a:ext cx="4176464" cy="69383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6"/>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Herramientas de identificación del talento</a:t>
            </a:r>
            <a:endParaRPr sz="1400" b="0" i="0" u="none" strike="noStrike" cap="none">
              <a:solidFill>
                <a:srgbClr val="000000"/>
              </a:solidFill>
              <a:latin typeface="Arial"/>
              <a:ea typeface="Arial"/>
              <a:cs typeface="Arial"/>
              <a:sym typeface="Arial"/>
            </a:endParaRPr>
          </a:p>
        </p:txBody>
      </p:sp>
      <p:sp>
        <p:nvSpPr>
          <p:cNvPr id="328" name="Google Shape;328;p36"/>
          <p:cNvSpPr/>
          <p:nvPr/>
        </p:nvSpPr>
        <p:spPr>
          <a:xfrm>
            <a:off x="1136576" y="1844824"/>
            <a:ext cx="2733063" cy="898649"/>
          </a:xfrm>
          <a:prstGeom prst="roundRect">
            <a:avLst>
              <a:gd name="adj" fmla="val 16667"/>
            </a:avLst>
          </a:prstGeom>
          <a:solidFill>
            <a:schemeClr val="accent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chemeClr val="lt1"/>
                </a:solidFill>
                <a:latin typeface="Calibri"/>
                <a:ea typeface="Calibri"/>
                <a:cs typeface="Calibri"/>
                <a:sym typeface="Calibri"/>
              </a:rPr>
              <a:t>Matriz de talento potencial (o 9-box)</a:t>
            </a:r>
            <a:endParaRPr sz="1400" b="0" i="0" u="none" strike="noStrike" cap="none">
              <a:solidFill>
                <a:srgbClr val="000000"/>
              </a:solidFill>
              <a:latin typeface="Arial"/>
              <a:ea typeface="Arial"/>
              <a:cs typeface="Arial"/>
              <a:sym typeface="Arial"/>
            </a:endParaRPr>
          </a:p>
        </p:txBody>
      </p:sp>
      <p:sp>
        <p:nvSpPr>
          <p:cNvPr id="329" name="Google Shape;329;p36"/>
          <p:cNvSpPr/>
          <p:nvPr/>
        </p:nvSpPr>
        <p:spPr>
          <a:xfrm>
            <a:off x="5457056" y="1844824"/>
            <a:ext cx="2733063" cy="898649"/>
          </a:xfrm>
          <a:prstGeom prst="roundRect">
            <a:avLst>
              <a:gd name="adj" fmla="val 16667"/>
            </a:avLst>
          </a:prstGeom>
          <a:solidFill>
            <a:srgbClr val="7030A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chemeClr val="lt1"/>
                </a:solidFill>
                <a:latin typeface="Calibri"/>
                <a:ea typeface="Calibri"/>
                <a:cs typeface="Calibri"/>
                <a:sym typeface="Calibri"/>
              </a:rPr>
              <a:t>Planes de Sucesión</a:t>
            </a:r>
            <a:endParaRPr sz="1400" b="0" i="0" u="none" strike="noStrike" cap="none">
              <a:solidFill>
                <a:srgbClr val="000000"/>
              </a:solidFill>
              <a:latin typeface="Arial"/>
              <a:ea typeface="Arial"/>
              <a:cs typeface="Arial"/>
              <a:sym typeface="Arial"/>
            </a:endParaRPr>
          </a:p>
        </p:txBody>
      </p:sp>
      <p:pic>
        <p:nvPicPr>
          <p:cNvPr id="330" name="Google Shape;330;p36" descr="Resultado de imagen para utn regional buenos aires ingenieria industrial"/>
          <p:cNvPicPr preferRelativeResize="0"/>
          <p:nvPr/>
        </p:nvPicPr>
        <p:blipFill rotWithShape="1">
          <a:blip r:embed="rId3">
            <a:alphaModFix/>
          </a:blip>
          <a:srcRect/>
          <a:stretch/>
        </p:blipFill>
        <p:spPr>
          <a:xfrm>
            <a:off x="7041232" y="41620"/>
            <a:ext cx="2637692" cy="1011116"/>
          </a:xfrm>
          <a:prstGeom prst="rect">
            <a:avLst/>
          </a:prstGeom>
          <a:noFill/>
          <a:ln>
            <a:noFill/>
          </a:ln>
        </p:spPr>
      </p:pic>
      <p:pic>
        <p:nvPicPr>
          <p:cNvPr id="331" name="Google Shape;331;p36" descr="Resultado de imagen para utn regional buenos aires ingenieria industrial"/>
          <p:cNvPicPr preferRelativeResize="0"/>
          <p:nvPr/>
        </p:nvPicPr>
        <p:blipFill rotWithShape="1">
          <a:blip r:embed="rId3">
            <a:alphaModFix/>
          </a:blip>
          <a:srcRect/>
          <a:stretch/>
        </p:blipFill>
        <p:spPr>
          <a:xfrm>
            <a:off x="7041232" y="41620"/>
            <a:ext cx="2637692" cy="1011116"/>
          </a:xfrm>
          <a:prstGeom prst="rect">
            <a:avLst/>
          </a:prstGeom>
          <a:noFill/>
          <a:ln>
            <a:noFill/>
          </a:ln>
        </p:spPr>
      </p:pic>
      <p:pic>
        <p:nvPicPr>
          <p:cNvPr id="332" name="Google Shape;332;p36"/>
          <p:cNvPicPr preferRelativeResize="0"/>
          <p:nvPr/>
        </p:nvPicPr>
        <p:blipFill rotWithShape="1">
          <a:blip r:embed="rId4">
            <a:alphaModFix/>
          </a:blip>
          <a:srcRect t="12211" b="11035"/>
          <a:stretch/>
        </p:blipFill>
        <p:spPr>
          <a:xfrm>
            <a:off x="1640632" y="2923493"/>
            <a:ext cx="1822292" cy="1800200"/>
          </a:xfrm>
          <a:prstGeom prst="rect">
            <a:avLst/>
          </a:prstGeom>
          <a:noFill/>
          <a:ln>
            <a:noFill/>
          </a:ln>
        </p:spPr>
      </p:pic>
      <p:pic>
        <p:nvPicPr>
          <p:cNvPr id="333" name="Google Shape;333;p36" descr="Agregar"/>
          <p:cNvPicPr preferRelativeResize="0"/>
          <p:nvPr/>
        </p:nvPicPr>
        <p:blipFill rotWithShape="1">
          <a:blip r:embed="rId5">
            <a:alphaModFix/>
          </a:blip>
          <a:srcRect/>
          <a:stretch/>
        </p:blipFill>
        <p:spPr>
          <a:xfrm>
            <a:off x="4339206" y="1970007"/>
            <a:ext cx="648282" cy="648282"/>
          </a:xfrm>
          <a:prstGeom prst="rect">
            <a:avLst/>
          </a:prstGeom>
          <a:noFill/>
          <a:ln>
            <a:noFill/>
          </a:ln>
        </p:spPr>
      </p:pic>
      <p:sp>
        <p:nvSpPr>
          <p:cNvPr id="334" name="Google Shape;334;p36"/>
          <p:cNvSpPr txBox="1"/>
          <p:nvPr/>
        </p:nvSpPr>
        <p:spPr>
          <a:xfrm>
            <a:off x="1280592" y="5085184"/>
            <a:ext cx="2505075"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002060"/>
                </a:solidFill>
                <a:latin typeface="Calibri"/>
                <a:ea typeface="Calibri"/>
                <a:cs typeface="Calibri"/>
                <a:sym typeface="Calibri"/>
              </a:rPr>
              <a:t>Mapa del talento </a:t>
            </a:r>
            <a:r>
              <a:rPr lang="es-AR" sz="1800" b="0" i="0" u="none" strike="noStrike" cap="none">
                <a:solidFill>
                  <a:srgbClr val="002060"/>
                </a:solidFill>
                <a:latin typeface="Calibri"/>
                <a:ea typeface="Calibri"/>
                <a:cs typeface="Calibri"/>
                <a:sym typeface="Calibri"/>
              </a:rPr>
              <a:t>de la organización</a:t>
            </a:r>
            <a:endParaRPr sz="1400" b="0" i="0" u="none" strike="noStrike" cap="none">
              <a:solidFill>
                <a:srgbClr val="000000"/>
              </a:solidFill>
              <a:latin typeface="Arial"/>
              <a:ea typeface="Arial"/>
              <a:cs typeface="Arial"/>
              <a:sym typeface="Arial"/>
            </a:endParaRPr>
          </a:p>
        </p:txBody>
      </p:sp>
      <p:sp>
        <p:nvSpPr>
          <p:cNvPr id="335" name="Google Shape;335;p36"/>
          <p:cNvSpPr txBox="1"/>
          <p:nvPr/>
        </p:nvSpPr>
        <p:spPr>
          <a:xfrm>
            <a:off x="5571049" y="5113734"/>
            <a:ext cx="2505075"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Planificación de las </a:t>
            </a:r>
            <a:r>
              <a:rPr lang="es-AR" sz="1800" b="1" i="0" u="none" strike="noStrike" cap="none">
                <a:solidFill>
                  <a:srgbClr val="002060"/>
                </a:solidFill>
                <a:latin typeface="Calibri"/>
                <a:ea typeface="Calibri"/>
                <a:cs typeface="Calibri"/>
                <a:sym typeface="Calibri"/>
              </a:rPr>
              <a:t>sucesiones</a:t>
            </a:r>
            <a:endParaRPr sz="1400" b="0" i="0" u="none" strike="noStrike" cap="none">
              <a:solidFill>
                <a:srgbClr val="000000"/>
              </a:solidFill>
              <a:latin typeface="Arial"/>
              <a:ea typeface="Arial"/>
              <a:cs typeface="Arial"/>
              <a:sym typeface="Arial"/>
            </a:endParaRPr>
          </a:p>
        </p:txBody>
      </p:sp>
      <p:pic>
        <p:nvPicPr>
          <p:cNvPr id="336" name="Google Shape;336;p36"/>
          <p:cNvPicPr preferRelativeResize="0"/>
          <p:nvPr/>
        </p:nvPicPr>
        <p:blipFill rotWithShape="1">
          <a:blip r:embed="rId6">
            <a:alphaModFix/>
          </a:blip>
          <a:srcRect/>
          <a:stretch/>
        </p:blipFill>
        <p:spPr>
          <a:xfrm>
            <a:off x="5056326" y="2916622"/>
            <a:ext cx="3969812" cy="18001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27;p36">
            <a:extLst>
              <a:ext uri="{FF2B5EF4-FFF2-40B4-BE49-F238E27FC236}">
                <a16:creationId xmlns:a16="http://schemas.microsoft.com/office/drawing/2014/main" id="{890AF5A6-0EB2-4725-44C5-BAE9A0DDBA78}"/>
              </a:ext>
            </a:extLst>
          </p:cNvPr>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Herramientas de identificación del talento</a:t>
            </a:r>
            <a:endParaRPr sz="1400" b="0" i="0" u="none" strike="noStrike" cap="none">
              <a:solidFill>
                <a:srgbClr val="000000"/>
              </a:solidFill>
              <a:latin typeface="Arial"/>
              <a:ea typeface="Arial"/>
              <a:cs typeface="Arial"/>
              <a:sym typeface="Arial"/>
            </a:endParaRPr>
          </a:p>
        </p:txBody>
      </p:sp>
      <p:pic>
        <p:nvPicPr>
          <p:cNvPr id="3" name="Google Shape;331;p36" descr="Resultado de imagen para utn regional buenos aires ingenieria industrial">
            <a:extLst>
              <a:ext uri="{FF2B5EF4-FFF2-40B4-BE49-F238E27FC236}">
                <a16:creationId xmlns:a16="http://schemas.microsoft.com/office/drawing/2014/main" id="{E2885E0E-A47B-8CD5-FDB9-D4DBBB887295}"/>
              </a:ext>
            </a:extLst>
          </p:cNvPr>
          <p:cNvPicPr preferRelativeResize="0"/>
          <p:nvPr/>
        </p:nvPicPr>
        <p:blipFill rotWithShape="1">
          <a:blip r:embed="rId3">
            <a:alphaModFix/>
          </a:blip>
          <a:srcRect/>
          <a:stretch/>
        </p:blipFill>
        <p:spPr>
          <a:xfrm>
            <a:off x="7041232" y="41620"/>
            <a:ext cx="2637692" cy="1011116"/>
          </a:xfrm>
          <a:prstGeom prst="rect">
            <a:avLst/>
          </a:prstGeom>
          <a:noFill/>
          <a:ln>
            <a:noFill/>
          </a:ln>
        </p:spPr>
      </p:pic>
      <p:pic>
        <p:nvPicPr>
          <p:cNvPr id="1026" name="Picture 2" descr="Matriz de evaluación del potencial 9 grid box">
            <a:extLst>
              <a:ext uri="{FF2B5EF4-FFF2-40B4-BE49-F238E27FC236}">
                <a16:creationId xmlns:a16="http://schemas.microsoft.com/office/drawing/2014/main" id="{E08F2DE8-E299-C415-4AA4-B206B67ACD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181" y="1650381"/>
            <a:ext cx="6450051" cy="4300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4523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27;p36">
            <a:extLst>
              <a:ext uri="{FF2B5EF4-FFF2-40B4-BE49-F238E27FC236}">
                <a16:creationId xmlns:a16="http://schemas.microsoft.com/office/drawing/2014/main" id="{890AF5A6-0EB2-4725-44C5-BAE9A0DDBA78}"/>
              </a:ext>
            </a:extLst>
          </p:cNvPr>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Herramientas de identificación del talento</a:t>
            </a:r>
            <a:endParaRPr sz="1400" b="0" i="0" u="none" strike="noStrike" cap="none">
              <a:solidFill>
                <a:srgbClr val="000000"/>
              </a:solidFill>
              <a:latin typeface="Arial"/>
              <a:ea typeface="Arial"/>
              <a:cs typeface="Arial"/>
              <a:sym typeface="Arial"/>
            </a:endParaRPr>
          </a:p>
        </p:txBody>
      </p:sp>
      <p:pic>
        <p:nvPicPr>
          <p:cNvPr id="3" name="Google Shape;331;p36" descr="Resultado de imagen para utn regional buenos aires ingenieria industrial">
            <a:extLst>
              <a:ext uri="{FF2B5EF4-FFF2-40B4-BE49-F238E27FC236}">
                <a16:creationId xmlns:a16="http://schemas.microsoft.com/office/drawing/2014/main" id="{E2885E0E-A47B-8CD5-FDB9-D4DBBB887295}"/>
              </a:ext>
            </a:extLst>
          </p:cNvPr>
          <p:cNvPicPr preferRelativeResize="0"/>
          <p:nvPr/>
        </p:nvPicPr>
        <p:blipFill rotWithShape="1">
          <a:blip r:embed="rId3">
            <a:alphaModFix/>
          </a:blip>
          <a:srcRect/>
          <a:stretch/>
        </p:blipFill>
        <p:spPr>
          <a:xfrm>
            <a:off x="7041232" y="41620"/>
            <a:ext cx="2637692" cy="1011116"/>
          </a:xfrm>
          <a:prstGeom prst="rect">
            <a:avLst/>
          </a:prstGeom>
          <a:noFill/>
          <a:ln>
            <a:noFill/>
          </a:ln>
        </p:spPr>
      </p:pic>
      <p:sp>
        <p:nvSpPr>
          <p:cNvPr id="4" name="TextBox 3">
            <a:extLst>
              <a:ext uri="{FF2B5EF4-FFF2-40B4-BE49-F238E27FC236}">
                <a16:creationId xmlns:a16="http://schemas.microsoft.com/office/drawing/2014/main" id="{4A8954D6-B8B2-A320-CC29-A1F6273D2C49}"/>
              </a:ext>
            </a:extLst>
          </p:cNvPr>
          <p:cNvSpPr txBox="1"/>
          <p:nvPr/>
        </p:nvSpPr>
        <p:spPr>
          <a:xfrm>
            <a:off x="535259" y="1650380"/>
            <a:ext cx="8497229" cy="954107"/>
          </a:xfrm>
          <a:prstGeom prst="rect">
            <a:avLst/>
          </a:prstGeom>
          <a:noFill/>
        </p:spPr>
        <p:txBody>
          <a:bodyPr wrap="square" rtlCol="0">
            <a:spAutoFit/>
          </a:bodyPr>
          <a:lstStyle/>
          <a:p>
            <a:r>
              <a:rPr lang="en-US" b="1" i="0" dirty="0">
                <a:solidFill>
                  <a:srgbClr val="374151"/>
                </a:solidFill>
                <a:effectLst/>
                <a:latin typeface="Söhne"/>
              </a:rPr>
              <a:t>Un Caso </a:t>
            </a:r>
            <a:r>
              <a:rPr lang="en-US" b="1" i="0" dirty="0" err="1">
                <a:solidFill>
                  <a:srgbClr val="374151"/>
                </a:solidFill>
                <a:effectLst/>
                <a:latin typeface="Söhne"/>
              </a:rPr>
              <a:t>Practico</a:t>
            </a:r>
            <a:endParaRPr lang="en-US" b="1" i="0" dirty="0">
              <a:solidFill>
                <a:srgbClr val="374151"/>
              </a:solidFill>
              <a:effectLst/>
              <a:latin typeface="Söhne"/>
            </a:endParaRPr>
          </a:p>
          <a:p>
            <a:endParaRPr lang="en-US" dirty="0">
              <a:solidFill>
                <a:srgbClr val="374151"/>
              </a:solidFill>
              <a:latin typeface="Söhne"/>
            </a:endParaRPr>
          </a:p>
          <a:p>
            <a:r>
              <a:rPr lang="en-US" b="0" i="0" dirty="0" err="1">
                <a:solidFill>
                  <a:srgbClr val="374151"/>
                </a:solidFill>
                <a:effectLst/>
                <a:latin typeface="Söhne"/>
              </a:rPr>
              <a:t>Imagina</a:t>
            </a:r>
            <a:r>
              <a:rPr lang="en-US" b="0" i="0" dirty="0">
                <a:solidFill>
                  <a:srgbClr val="374151"/>
                </a:solidFill>
                <a:effectLst/>
                <a:latin typeface="Söhne"/>
              </a:rPr>
              <a:t> que </a:t>
            </a:r>
            <a:r>
              <a:rPr lang="en-US" b="0" i="0" dirty="0" err="1">
                <a:solidFill>
                  <a:srgbClr val="374151"/>
                </a:solidFill>
                <a:effectLst/>
                <a:latin typeface="Söhne"/>
              </a:rPr>
              <a:t>trabajas</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a:t>
            </a:r>
            <a:r>
              <a:rPr lang="en-US" b="0" i="0" dirty="0" err="1">
                <a:solidFill>
                  <a:srgbClr val="374151"/>
                </a:solidFill>
                <a:effectLst/>
                <a:latin typeface="Söhne"/>
              </a:rPr>
              <a:t>una</a:t>
            </a:r>
            <a:r>
              <a:rPr lang="en-US" b="0" i="0" dirty="0">
                <a:solidFill>
                  <a:srgbClr val="374151"/>
                </a:solidFill>
                <a:effectLst/>
                <a:latin typeface="Söhne"/>
              </a:rPr>
              <a:t> </a:t>
            </a:r>
            <a:r>
              <a:rPr lang="en-US" b="0" i="0" dirty="0" err="1">
                <a:solidFill>
                  <a:srgbClr val="374151"/>
                </a:solidFill>
                <a:effectLst/>
                <a:latin typeface="Söhne"/>
              </a:rPr>
              <a:t>empresa</a:t>
            </a:r>
            <a:r>
              <a:rPr lang="en-US" b="0" i="0" dirty="0">
                <a:solidFill>
                  <a:srgbClr val="374151"/>
                </a:solidFill>
                <a:effectLst/>
                <a:latin typeface="Söhne"/>
              </a:rPr>
              <a:t> </a:t>
            </a:r>
            <a:r>
              <a:rPr lang="en-US" b="0" i="0" dirty="0" err="1">
                <a:solidFill>
                  <a:srgbClr val="374151"/>
                </a:solidFill>
                <a:effectLst/>
                <a:latin typeface="Söhne"/>
              </a:rPr>
              <a:t>llamada</a:t>
            </a:r>
            <a:r>
              <a:rPr lang="en-US" b="0" i="0" dirty="0">
                <a:solidFill>
                  <a:srgbClr val="374151"/>
                </a:solidFill>
                <a:effectLst/>
                <a:latin typeface="Söhne"/>
              </a:rPr>
              <a:t> "</a:t>
            </a:r>
            <a:r>
              <a:rPr lang="en-US" b="1" i="0" dirty="0" err="1">
                <a:solidFill>
                  <a:srgbClr val="374151"/>
                </a:solidFill>
                <a:effectLst/>
                <a:latin typeface="Söhne"/>
              </a:rPr>
              <a:t>TechSolutions</a:t>
            </a:r>
            <a:r>
              <a:rPr lang="en-US" b="0" i="0" dirty="0">
                <a:solidFill>
                  <a:srgbClr val="374151"/>
                </a:solidFill>
                <a:effectLst/>
                <a:latin typeface="Söhne"/>
              </a:rPr>
              <a:t>" que se </a:t>
            </a:r>
            <a:r>
              <a:rPr lang="en-US" b="0" i="0" dirty="0" err="1">
                <a:solidFill>
                  <a:srgbClr val="374151"/>
                </a:solidFill>
                <a:effectLst/>
                <a:latin typeface="Söhne"/>
              </a:rPr>
              <a:t>dedica</a:t>
            </a:r>
            <a:r>
              <a:rPr lang="en-US" b="0" i="0" dirty="0">
                <a:solidFill>
                  <a:srgbClr val="374151"/>
                </a:solidFill>
                <a:effectLst/>
                <a:latin typeface="Söhne"/>
              </a:rPr>
              <a:t> al </a:t>
            </a:r>
            <a:r>
              <a:rPr lang="en-US" b="0" i="0" dirty="0" err="1">
                <a:solidFill>
                  <a:srgbClr val="374151"/>
                </a:solidFill>
                <a:effectLst/>
                <a:latin typeface="Söhne"/>
              </a:rPr>
              <a:t>desarrollo</a:t>
            </a:r>
            <a:r>
              <a:rPr lang="en-US" b="0" i="0" dirty="0">
                <a:solidFill>
                  <a:srgbClr val="374151"/>
                </a:solidFill>
                <a:effectLst/>
                <a:latin typeface="Söhne"/>
              </a:rPr>
              <a:t> de software. </a:t>
            </a:r>
            <a:r>
              <a:rPr lang="en-US" b="0" i="0" dirty="0" err="1">
                <a:solidFill>
                  <a:srgbClr val="374151"/>
                </a:solidFill>
                <a:effectLst/>
                <a:latin typeface="Söhne"/>
              </a:rPr>
              <a:t>Vamos</a:t>
            </a:r>
            <a:r>
              <a:rPr lang="en-US" b="0" i="0" dirty="0">
                <a:solidFill>
                  <a:srgbClr val="374151"/>
                </a:solidFill>
                <a:effectLst/>
                <a:latin typeface="Söhne"/>
              </a:rPr>
              <a:t> a usar la </a:t>
            </a:r>
            <a:r>
              <a:rPr lang="en-US" b="0" i="0" dirty="0" err="1">
                <a:solidFill>
                  <a:srgbClr val="374151"/>
                </a:solidFill>
                <a:effectLst/>
                <a:latin typeface="Söhne"/>
              </a:rPr>
              <a:t>matriz</a:t>
            </a:r>
            <a:r>
              <a:rPr lang="en-US" b="0" i="0" dirty="0">
                <a:solidFill>
                  <a:srgbClr val="374151"/>
                </a:solidFill>
                <a:effectLst/>
                <a:latin typeface="Söhne"/>
              </a:rPr>
              <a:t> de </a:t>
            </a:r>
            <a:r>
              <a:rPr lang="en-US" dirty="0">
                <a:solidFill>
                  <a:srgbClr val="374151"/>
                </a:solidFill>
                <a:latin typeface="Söhne"/>
              </a:rPr>
              <a:t> Nine Boxes </a:t>
            </a:r>
            <a:r>
              <a:rPr lang="en-US" b="0" i="0" dirty="0">
                <a:solidFill>
                  <a:srgbClr val="374151"/>
                </a:solidFill>
                <a:effectLst/>
                <a:latin typeface="Söhne"/>
              </a:rPr>
              <a:t>para </a:t>
            </a:r>
            <a:r>
              <a:rPr lang="en-US" b="0" i="0" dirty="0" err="1">
                <a:solidFill>
                  <a:srgbClr val="374151"/>
                </a:solidFill>
                <a:effectLst/>
                <a:latin typeface="Söhne"/>
              </a:rPr>
              <a:t>evaluar</a:t>
            </a:r>
            <a:r>
              <a:rPr lang="en-US" b="0" i="0" dirty="0">
                <a:solidFill>
                  <a:srgbClr val="374151"/>
                </a:solidFill>
                <a:effectLst/>
                <a:latin typeface="Söhne"/>
              </a:rPr>
              <a:t> a dos </a:t>
            </a:r>
            <a:r>
              <a:rPr lang="en-US" b="0" i="0" dirty="0" err="1">
                <a:solidFill>
                  <a:srgbClr val="374151"/>
                </a:solidFill>
                <a:effectLst/>
                <a:latin typeface="Söhne"/>
              </a:rPr>
              <a:t>empleados</a:t>
            </a:r>
            <a:r>
              <a:rPr lang="en-US" b="0" i="0" dirty="0">
                <a:solidFill>
                  <a:srgbClr val="374151"/>
                </a:solidFill>
                <a:effectLst/>
                <a:latin typeface="Söhne"/>
              </a:rPr>
              <a:t>: Ana y Juan.</a:t>
            </a:r>
            <a:endParaRPr lang="en-AR" dirty="0"/>
          </a:p>
        </p:txBody>
      </p:sp>
      <p:sp>
        <p:nvSpPr>
          <p:cNvPr id="5" name="TextBox 4">
            <a:extLst>
              <a:ext uri="{FF2B5EF4-FFF2-40B4-BE49-F238E27FC236}">
                <a16:creationId xmlns:a16="http://schemas.microsoft.com/office/drawing/2014/main" id="{59DEBC12-0B2D-1A44-6877-78CB09A2CB0C}"/>
              </a:ext>
            </a:extLst>
          </p:cNvPr>
          <p:cNvSpPr txBox="1"/>
          <p:nvPr/>
        </p:nvSpPr>
        <p:spPr>
          <a:xfrm>
            <a:off x="535259" y="2816668"/>
            <a:ext cx="4728117" cy="2031325"/>
          </a:xfrm>
          <a:prstGeom prst="rect">
            <a:avLst/>
          </a:prstGeom>
          <a:noFill/>
        </p:spPr>
        <p:txBody>
          <a:bodyPr wrap="square" rtlCol="0">
            <a:spAutoFit/>
          </a:bodyPr>
          <a:lstStyle/>
          <a:p>
            <a:r>
              <a:rPr lang="en-AR" dirty="0"/>
              <a:t>Ana </a:t>
            </a:r>
          </a:p>
          <a:p>
            <a:pPr algn="just"/>
            <a:r>
              <a:rPr lang="en-US" b="0" i="0" dirty="0">
                <a:solidFill>
                  <a:srgbClr val="374151"/>
                </a:solidFill>
                <a:effectLst/>
                <a:latin typeface="Söhne"/>
              </a:rPr>
              <a:t>Es </a:t>
            </a:r>
            <a:r>
              <a:rPr lang="en-US" b="0" i="0" dirty="0" err="1">
                <a:solidFill>
                  <a:srgbClr val="374151"/>
                </a:solidFill>
                <a:effectLst/>
                <a:latin typeface="Söhne"/>
              </a:rPr>
              <a:t>una</a:t>
            </a:r>
            <a:r>
              <a:rPr lang="en-US" b="0" i="0" dirty="0">
                <a:solidFill>
                  <a:srgbClr val="374151"/>
                </a:solidFill>
                <a:effectLst/>
                <a:latin typeface="Söhne"/>
              </a:rPr>
              <a:t> </a:t>
            </a:r>
            <a:r>
              <a:rPr lang="en-US" b="0" i="0" dirty="0" err="1">
                <a:solidFill>
                  <a:srgbClr val="374151"/>
                </a:solidFill>
                <a:effectLst/>
                <a:latin typeface="Söhne"/>
              </a:rPr>
              <a:t>desarrolladora</a:t>
            </a:r>
            <a:r>
              <a:rPr lang="en-US" b="0" i="0" dirty="0">
                <a:solidFill>
                  <a:srgbClr val="374151"/>
                </a:solidFill>
                <a:effectLst/>
                <a:latin typeface="Söhne"/>
              </a:rPr>
              <a:t> de software que ha </a:t>
            </a:r>
            <a:r>
              <a:rPr lang="en-US" b="0" i="0" dirty="0" err="1">
                <a:solidFill>
                  <a:srgbClr val="374151"/>
                </a:solidFill>
                <a:effectLst/>
                <a:latin typeface="Söhne"/>
              </a:rPr>
              <a:t>estado</a:t>
            </a:r>
            <a:r>
              <a:rPr lang="en-US" b="0" i="0" dirty="0">
                <a:solidFill>
                  <a:srgbClr val="374151"/>
                </a:solidFill>
                <a:effectLst/>
                <a:latin typeface="Söhne"/>
              </a:rPr>
              <a:t> </a:t>
            </a:r>
            <a:r>
              <a:rPr lang="en-US" b="0" i="0" dirty="0" err="1">
                <a:solidFill>
                  <a:srgbClr val="374151"/>
                </a:solidFill>
                <a:effectLst/>
                <a:latin typeface="Söhne"/>
              </a:rPr>
              <a:t>trabajando</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la </a:t>
            </a:r>
            <a:r>
              <a:rPr lang="en-US" b="0" i="0" dirty="0" err="1">
                <a:solidFill>
                  <a:srgbClr val="374151"/>
                </a:solidFill>
                <a:effectLst/>
                <a:latin typeface="Söhne"/>
              </a:rPr>
              <a:t>empresa</a:t>
            </a:r>
            <a:r>
              <a:rPr lang="en-US" b="0" i="0" dirty="0">
                <a:solidFill>
                  <a:srgbClr val="374151"/>
                </a:solidFill>
                <a:effectLst/>
                <a:latin typeface="Söhne"/>
              </a:rPr>
              <a:t> </a:t>
            </a:r>
            <a:r>
              <a:rPr lang="en-US" b="0" i="0" dirty="0" err="1">
                <a:solidFill>
                  <a:srgbClr val="374151"/>
                </a:solidFill>
                <a:effectLst/>
                <a:latin typeface="Söhne"/>
              </a:rPr>
              <a:t>durante</a:t>
            </a:r>
            <a:r>
              <a:rPr lang="en-US" b="0" i="0" dirty="0">
                <a:solidFill>
                  <a:srgbClr val="374151"/>
                </a:solidFill>
                <a:effectLst/>
                <a:latin typeface="Söhne"/>
              </a:rPr>
              <a:t> </a:t>
            </a:r>
            <a:r>
              <a:rPr lang="en-US" b="0" i="0" dirty="0" err="1">
                <a:solidFill>
                  <a:srgbClr val="374151"/>
                </a:solidFill>
                <a:effectLst/>
                <a:latin typeface="Söhne"/>
              </a:rPr>
              <a:t>tres</a:t>
            </a:r>
            <a:r>
              <a:rPr lang="en-US" b="0" i="0" dirty="0">
                <a:solidFill>
                  <a:srgbClr val="374151"/>
                </a:solidFill>
                <a:effectLst/>
                <a:latin typeface="Söhne"/>
              </a:rPr>
              <a:t> </a:t>
            </a:r>
            <a:r>
              <a:rPr lang="en-US" b="0" i="0" dirty="0" err="1">
                <a:solidFill>
                  <a:srgbClr val="374151"/>
                </a:solidFill>
                <a:effectLst/>
                <a:latin typeface="Söhne"/>
              </a:rPr>
              <a:t>años</a:t>
            </a:r>
            <a:r>
              <a:rPr lang="en-US" b="0" i="0" dirty="0">
                <a:solidFill>
                  <a:srgbClr val="374151"/>
                </a:solidFill>
                <a:effectLst/>
                <a:latin typeface="Söhne"/>
              </a:rPr>
              <a:t>. Ha </a:t>
            </a:r>
            <a:r>
              <a:rPr lang="en-US" b="0" i="0" dirty="0" err="1">
                <a:solidFill>
                  <a:srgbClr val="374151"/>
                </a:solidFill>
                <a:effectLst/>
                <a:latin typeface="Söhne"/>
              </a:rPr>
              <a:t>demostrado</a:t>
            </a:r>
            <a:r>
              <a:rPr lang="en-US" b="0" i="0" dirty="0">
                <a:solidFill>
                  <a:srgbClr val="374151"/>
                </a:solidFill>
                <a:effectLst/>
                <a:latin typeface="Söhne"/>
              </a:rPr>
              <a:t> </a:t>
            </a:r>
            <a:r>
              <a:rPr lang="en-US" b="0" i="0" dirty="0" err="1">
                <a:solidFill>
                  <a:srgbClr val="374151"/>
                </a:solidFill>
                <a:effectLst/>
                <a:latin typeface="Söhne"/>
              </a:rPr>
              <a:t>constantemente</a:t>
            </a:r>
            <a:r>
              <a:rPr lang="en-US" b="0" i="0" dirty="0">
                <a:solidFill>
                  <a:srgbClr val="374151"/>
                </a:solidFill>
                <a:effectLst/>
                <a:latin typeface="Söhne"/>
              </a:rPr>
              <a:t> un </a:t>
            </a:r>
            <a:r>
              <a:rPr lang="en-US" b="0" i="0" dirty="0" err="1">
                <a:solidFill>
                  <a:srgbClr val="374151"/>
                </a:solidFill>
                <a:effectLst/>
                <a:latin typeface="Söhne"/>
              </a:rPr>
              <a:t>rendimiento</a:t>
            </a:r>
            <a:r>
              <a:rPr lang="en-US" b="0" i="0" dirty="0">
                <a:solidFill>
                  <a:srgbClr val="374151"/>
                </a:solidFill>
                <a:effectLst/>
                <a:latin typeface="Söhne"/>
              </a:rPr>
              <a:t> </a:t>
            </a:r>
            <a:r>
              <a:rPr lang="en-US" b="0" i="0" dirty="0" err="1">
                <a:solidFill>
                  <a:srgbClr val="374151"/>
                </a:solidFill>
                <a:effectLst/>
                <a:latin typeface="Söhne"/>
              </a:rPr>
              <a:t>excepcional</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sus </a:t>
            </a:r>
            <a:r>
              <a:rPr lang="en-US" b="0" i="0" dirty="0" err="1">
                <a:solidFill>
                  <a:srgbClr val="374151"/>
                </a:solidFill>
                <a:effectLst/>
                <a:latin typeface="Söhne"/>
              </a:rPr>
              <a:t>proyectos</a:t>
            </a:r>
            <a:r>
              <a:rPr lang="en-US" b="0" i="0" dirty="0">
                <a:solidFill>
                  <a:srgbClr val="374151"/>
                </a:solidFill>
                <a:effectLst/>
                <a:latin typeface="Söhne"/>
              </a:rPr>
              <a:t>, </a:t>
            </a:r>
            <a:r>
              <a:rPr lang="en-US" b="0" i="0" dirty="0" err="1">
                <a:solidFill>
                  <a:srgbClr val="374151"/>
                </a:solidFill>
                <a:effectLst/>
                <a:latin typeface="Söhne"/>
              </a:rPr>
              <a:t>entregando</a:t>
            </a:r>
            <a:r>
              <a:rPr lang="en-US" b="0" i="0" dirty="0">
                <a:solidFill>
                  <a:srgbClr val="374151"/>
                </a:solidFill>
                <a:effectLst/>
                <a:latin typeface="Söhne"/>
              </a:rPr>
              <a:t> </a:t>
            </a:r>
            <a:r>
              <a:rPr lang="en-US" b="0" i="0" dirty="0" err="1">
                <a:solidFill>
                  <a:srgbClr val="374151"/>
                </a:solidFill>
                <a:effectLst/>
                <a:latin typeface="Söhne"/>
              </a:rPr>
              <a:t>soluciones</a:t>
            </a:r>
            <a:r>
              <a:rPr lang="en-US" b="0" i="0" dirty="0">
                <a:solidFill>
                  <a:srgbClr val="374151"/>
                </a:solidFill>
                <a:effectLst/>
                <a:latin typeface="Söhne"/>
              </a:rPr>
              <a:t> de </a:t>
            </a:r>
            <a:r>
              <a:rPr lang="en-US" b="0" i="0" dirty="0" err="1">
                <a:solidFill>
                  <a:srgbClr val="374151"/>
                </a:solidFill>
                <a:effectLst/>
                <a:latin typeface="Söhne"/>
              </a:rPr>
              <a:t>alta</a:t>
            </a:r>
            <a:r>
              <a:rPr lang="en-US" b="0" i="0" dirty="0">
                <a:solidFill>
                  <a:srgbClr val="374151"/>
                </a:solidFill>
                <a:effectLst/>
                <a:latin typeface="Söhne"/>
              </a:rPr>
              <a:t> </a:t>
            </a:r>
            <a:r>
              <a:rPr lang="en-US" b="0" i="0" dirty="0" err="1">
                <a:solidFill>
                  <a:srgbClr val="374151"/>
                </a:solidFill>
                <a:effectLst/>
                <a:latin typeface="Söhne"/>
              </a:rPr>
              <a:t>calidad</a:t>
            </a:r>
            <a:r>
              <a:rPr lang="en-US" b="0" i="0" dirty="0">
                <a:solidFill>
                  <a:srgbClr val="374151"/>
                </a:solidFill>
                <a:effectLst/>
                <a:latin typeface="Söhne"/>
              </a:rPr>
              <a:t> a </a:t>
            </a:r>
            <a:r>
              <a:rPr lang="en-US" b="0" i="0" dirty="0" err="1">
                <a:solidFill>
                  <a:srgbClr val="374151"/>
                </a:solidFill>
                <a:effectLst/>
                <a:latin typeface="Söhne"/>
              </a:rPr>
              <a:t>tiempo</a:t>
            </a:r>
            <a:r>
              <a:rPr lang="en-US" b="0" i="0" dirty="0">
                <a:solidFill>
                  <a:srgbClr val="374151"/>
                </a:solidFill>
                <a:effectLst/>
                <a:latin typeface="Söhne"/>
              </a:rPr>
              <a:t>. </a:t>
            </a:r>
            <a:r>
              <a:rPr lang="en-US" b="0" i="0" dirty="0" err="1">
                <a:solidFill>
                  <a:srgbClr val="374151"/>
                </a:solidFill>
                <a:effectLst/>
                <a:latin typeface="Söhne"/>
              </a:rPr>
              <a:t>Además</a:t>
            </a:r>
            <a:r>
              <a:rPr lang="en-US" b="0" i="0" dirty="0">
                <a:solidFill>
                  <a:srgbClr val="374151"/>
                </a:solidFill>
                <a:effectLst/>
                <a:latin typeface="Söhne"/>
              </a:rPr>
              <a:t>, </a:t>
            </a:r>
            <a:r>
              <a:rPr lang="en-US" b="0" i="0" dirty="0" err="1">
                <a:solidFill>
                  <a:srgbClr val="374151"/>
                </a:solidFill>
                <a:effectLst/>
                <a:latin typeface="Söhne"/>
              </a:rPr>
              <a:t>muestra</a:t>
            </a:r>
            <a:r>
              <a:rPr lang="en-US" b="0" i="0" dirty="0">
                <a:solidFill>
                  <a:srgbClr val="374151"/>
                </a:solidFill>
                <a:effectLst/>
                <a:latin typeface="Söhne"/>
              </a:rPr>
              <a:t> </a:t>
            </a:r>
            <a:r>
              <a:rPr lang="en-US" b="0" i="0" dirty="0" err="1">
                <a:solidFill>
                  <a:srgbClr val="374151"/>
                </a:solidFill>
                <a:effectLst/>
                <a:latin typeface="Söhne"/>
              </a:rPr>
              <a:t>una</a:t>
            </a:r>
            <a:r>
              <a:rPr lang="en-US" b="0" i="0" dirty="0">
                <a:solidFill>
                  <a:srgbClr val="374151"/>
                </a:solidFill>
                <a:effectLst/>
                <a:latin typeface="Söhne"/>
              </a:rPr>
              <a:t> gran </a:t>
            </a:r>
            <a:r>
              <a:rPr lang="en-US" b="0" i="0" dirty="0" err="1">
                <a:solidFill>
                  <a:srgbClr val="374151"/>
                </a:solidFill>
                <a:effectLst/>
                <a:latin typeface="Söhne"/>
              </a:rPr>
              <a:t>capacidad</a:t>
            </a:r>
            <a:r>
              <a:rPr lang="en-US" b="0" i="0" dirty="0">
                <a:solidFill>
                  <a:srgbClr val="374151"/>
                </a:solidFill>
                <a:effectLst/>
                <a:latin typeface="Söhne"/>
              </a:rPr>
              <a:t> para </a:t>
            </a:r>
            <a:r>
              <a:rPr lang="en-US" b="0" i="0" dirty="0" err="1">
                <a:solidFill>
                  <a:srgbClr val="374151"/>
                </a:solidFill>
                <a:effectLst/>
                <a:latin typeface="Söhne"/>
              </a:rPr>
              <a:t>aprender</a:t>
            </a:r>
            <a:r>
              <a:rPr lang="en-US" b="0" i="0" dirty="0">
                <a:solidFill>
                  <a:srgbClr val="374151"/>
                </a:solidFill>
                <a:effectLst/>
                <a:latin typeface="Söhne"/>
              </a:rPr>
              <a:t> </a:t>
            </a:r>
            <a:r>
              <a:rPr lang="en-US" b="0" i="0" dirty="0" err="1">
                <a:solidFill>
                  <a:srgbClr val="374151"/>
                </a:solidFill>
                <a:effectLst/>
                <a:latin typeface="Söhne"/>
              </a:rPr>
              <a:t>nuevas</a:t>
            </a:r>
            <a:r>
              <a:rPr lang="en-US" b="0" i="0" dirty="0">
                <a:solidFill>
                  <a:srgbClr val="374151"/>
                </a:solidFill>
                <a:effectLst/>
                <a:latin typeface="Söhne"/>
              </a:rPr>
              <a:t> </a:t>
            </a:r>
            <a:r>
              <a:rPr lang="en-US" b="0" i="0" dirty="0" err="1">
                <a:solidFill>
                  <a:srgbClr val="374151"/>
                </a:solidFill>
                <a:effectLst/>
                <a:latin typeface="Söhne"/>
              </a:rPr>
              <a:t>tecnologías</a:t>
            </a:r>
            <a:r>
              <a:rPr lang="en-US" b="0" i="0" dirty="0">
                <a:solidFill>
                  <a:srgbClr val="374151"/>
                </a:solidFill>
                <a:effectLst/>
                <a:latin typeface="Söhne"/>
              </a:rPr>
              <a:t> y </a:t>
            </a:r>
            <a:r>
              <a:rPr lang="en-US" b="0" i="0" dirty="0" err="1">
                <a:solidFill>
                  <a:srgbClr val="374151"/>
                </a:solidFill>
                <a:effectLst/>
                <a:latin typeface="Söhne"/>
              </a:rPr>
              <a:t>liderar</a:t>
            </a:r>
            <a:r>
              <a:rPr lang="en-US" b="0" i="0" dirty="0">
                <a:solidFill>
                  <a:srgbClr val="374151"/>
                </a:solidFill>
                <a:effectLst/>
                <a:latin typeface="Söhne"/>
              </a:rPr>
              <a:t> </a:t>
            </a:r>
            <a:r>
              <a:rPr lang="en-US" b="0" i="0" dirty="0" err="1">
                <a:solidFill>
                  <a:srgbClr val="374151"/>
                </a:solidFill>
                <a:effectLst/>
                <a:latin typeface="Söhne"/>
              </a:rPr>
              <a:t>equipos</a:t>
            </a:r>
            <a:r>
              <a:rPr lang="en-US" b="0" i="0" dirty="0">
                <a:solidFill>
                  <a:srgbClr val="374151"/>
                </a:solidFill>
                <a:effectLst/>
                <a:latin typeface="Söhne"/>
              </a:rPr>
              <a:t> </a:t>
            </a:r>
            <a:r>
              <a:rPr lang="en-US" b="0" i="0" dirty="0" err="1">
                <a:solidFill>
                  <a:srgbClr val="374151"/>
                </a:solidFill>
                <a:effectLst/>
                <a:latin typeface="Söhne"/>
              </a:rPr>
              <a:t>pequeños</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a:t>
            </a:r>
            <a:r>
              <a:rPr lang="en-US" b="0" i="0" dirty="0" err="1">
                <a:solidFill>
                  <a:srgbClr val="374151"/>
                </a:solidFill>
                <a:effectLst/>
                <a:latin typeface="Söhne"/>
              </a:rPr>
              <a:t>proyectos</a:t>
            </a:r>
            <a:r>
              <a:rPr lang="en-US" b="0" i="0" dirty="0">
                <a:solidFill>
                  <a:srgbClr val="374151"/>
                </a:solidFill>
                <a:effectLst/>
                <a:latin typeface="Söhne"/>
              </a:rPr>
              <a:t>. Dado </a:t>
            </a:r>
            <a:r>
              <a:rPr lang="en-US" b="0" i="0" dirty="0" err="1">
                <a:solidFill>
                  <a:srgbClr val="374151"/>
                </a:solidFill>
                <a:effectLst/>
                <a:latin typeface="Söhne"/>
              </a:rPr>
              <a:t>su</a:t>
            </a:r>
            <a:r>
              <a:rPr lang="en-US" b="0" i="0" dirty="0">
                <a:solidFill>
                  <a:srgbClr val="374151"/>
                </a:solidFill>
                <a:effectLst/>
                <a:latin typeface="Söhne"/>
              </a:rPr>
              <a:t> alto </a:t>
            </a:r>
            <a:r>
              <a:rPr lang="en-US" b="0" i="0" dirty="0" err="1">
                <a:solidFill>
                  <a:srgbClr val="374151"/>
                </a:solidFill>
                <a:effectLst/>
                <a:latin typeface="Söhne"/>
              </a:rPr>
              <a:t>rendimiento</a:t>
            </a:r>
            <a:r>
              <a:rPr lang="en-US" b="0" i="0" dirty="0">
                <a:solidFill>
                  <a:srgbClr val="374151"/>
                </a:solidFill>
                <a:effectLst/>
                <a:latin typeface="Söhne"/>
              </a:rPr>
              <a:t> actual y </a:t>
            </a:r>
            <a:r>
              <a:rPr lang="en-US" b="0" i="0" dirty="0" err="1">
                <a:solidFill>
                  <a:srgbClr val="374151"/>
                </a:solidFill>
                <a:effectLst/>
                <a:latin typeface="Söhne"/>
              </a:rPr>
              <a:t>su</a:t>
            </a:r>
            <a:r>
              <a:rPr lang="en-US" b="0" i="0" dirty="0">
                <a:solidFill>
                  <a:srgbClr val="374151"/>
                </a:solidFill>
                <a:effectLst/>
                <a:latin typeface="Söhne"/>
              </a:rPr>
              <a:t> </a:t>
            </a:r>
            <a:r>
              <a:rPr lang="en-US" b="0" i="0" dirty="0" err="1">
                <a:solidFill>
                  <a:srgbClr val="374151"/>
                </a:solidFill>
                <a:effectLst/>
                <a:latin typeface="Söhne"/>
              </a:rPr>
              <a:t>potencial</a:t>
            </a:r>
            <a:r>
              <a:rPr lang="en-US" b="0" i="0" dirty="0">
                <a:solidFill>
                  <a:srgbClr val="374151"/>
                </a:solidFill>
                <a:effectLst/>
                <a:latin typeface="Söhne"/>
              </a:rPr>
              <a:t> para </a:t>
            </a:r>
            <a:r>
              <a:rPr lang="en-US" b="0" i="0" dirty="0" err="1">
                <a:solidFill>
                  <a:srgbClr val="374151"/>
                </a:solidFill>
                <a:effectLst/>
                <a:latin typeface="Söhne"/>
              </a:rPr>
              <a:t>asumir</a:t>
            </a:r>
            <a:r>
              <a:rPr lang="en-US" b="0" i="0" dirty="0">
                <a:solidFill>
                  <a:srgbClr val="374151"/>
                </a:solidFill>
                <a:effectLst/>
                <a:latin typeface="Söhne"/>
              </a:rPr>
              <a:t> roles </a:t>
            </a:r>
            <a:r>
              <a:rPr lang="en-US" b="0" i="0" dirty="0" err="1">
                <a:solidFill>
                  <a:srgbClr val="374151"/>
                </a:solidFill>
                <a:effectLst/>
                <a:latin typeface="Söhne"/>
              </a:rPr>
              <a:t>más</a:t>
            </a:r>
            <a:r>
              <a:rPr lang="en-US" b="0" i="0" dirty="0">
                <a:solidFill>
                  <a:srgbClr val="374151"/>
                </a:solidFill>
                <a:effectLst/>
                <a:latin typeface="Söhne"/>
              </a:rPr>
              <a:t> </a:t>
            </a:r>
            <a:r>
              <a:rPr lang="en-US" b="0" i="0" dirty="0" err="1">
                <a:solidFill>
                  <a:srgbClr val="374151"/>
                </a:solidFill>
                <a:effectLst/>
                <a:latin typeface="Söhne"/>
              </a:rPr>
              <a:t>desafiantes</a:t>
            </a:r>
            <a:r>
              <a:rPr lang="en-US" dirty="0">
                <a:solidFill>
                  <a:srgbClr val="374151"/>
                </a:solidFill>
                <a:latin typeface="Söhne"/>
              </a:rPr>
              <a:t>.</a:t>
            </a:r>
            <a:endParaRPr lang="en-AR" dirty="0"/>
          </a:p>
        </p:txBody>
      </p:sp>
      <p:sp>
        <p:nvSpPr>
          <p:cNvPr id="7" name="TextBox 6">
            <a:extLst>
              <a:ext uri="{FF2B5EF4-FFF2-40B4-BE49-F238E27FC236}">
                <a16:creationId xmlns:a16="http://schemas.microsoft.com/office/drawing/2014/main" id="{76607637-7C22-947D-3772-06BACACD3B4E}"/>
              </a:ext>
            </a:extLst>
          </p:cNvPr>
          <p:cNvSpPr txBox="1"/>
          <p:nvPr/>
        </p:nvSpPr>
        <p:spPr>
          <a:xfrm>
            <a:off x="5527495" y="2740515"/>
            <a:ext cx="4059044" cy="1815882"/>
          </a:xfrm>
          <a:prstGeom prst="rect">
            <a:avLst/>
          </a:prstGeom>
          <a:noFill/>
        </p:spPr>
        <p:txBody>
          <a:bodyPr wrap="square" rtlCol="0">
            <a:spAutoFit/>
          </a:bodyPr>
          <a:lstStyle/>
          <a:p>
            <a:pPr algn="l"/>
            <a:r>
              <a:rPr lang="en-US" b="1" i="0" dirty="0">
                <a:solidFill>
                  <a:srgbClr val="374151"/>
                </a:solidFill>
                <a:effectLst/>
                <a:latin typeface="Söhne"/>
              </a:rPr>
              <a:t>Juan </a:t>
            </a:r>
          </a:p>
          <a:p>
            <a:pPr algn="l"/>
            <a:r>
              <a:rPr lang="en-US" dirty="0">
                <a:solidFill>
                  <a:srgbClr val="374151"/>
                </a:solidFill>
                <a:latin typeface="Söhne"/>
              </a:rPr>
              <a:t>E</a:t>
            </a:r>
            <a:r>
              <a:rPr lang="en-US" b="0" i="0" dirty="0">
                <a:solidFill>
                  <a:srgbClr val="374151"/>
                </a:solidFill>
                <a:effectLst/>
                <a:latin typeface="Söhne"/>
              </a:rPr>
              <a:t>s </a:t>
            </a:r>
            <a:r>
              <a:rPr lang="en-US" b="0" i="0" dirty="0" err="1">
                <a:solidFill>
                  <a:srgbClr val="374151"/>
                </a:solidFill>
                <a:effectLst/>
                <a:latin typeface="Söhne"/>
              </a:rPr>
              <a:t>también</a:t>
            </a:r>
            <a:r>
              <a:rPr lang="en-US" b="0" i="0" dirty="0">
                <a:solidFill>
                  <a:srgbClr val="374151"/>
                </a:solidFill>
                <a:effectLst/>
                <a:latin typeface="Söhne"/>
              </a:rPr>
              <a:t> un </a:t>
            </a:r>
            <a:r>
              <a:rPr lang="en-US" b="0" i="0" dirty="0" err="1">
                <a:solidFill>
                  <a:srgbClr val="374151"/>
                </a:solidFill>
                <a:effectLst/>
                <a:latin typeface="Söhne"/>
              </a:rPr>
              <a:t>desarrollador</a:t>
            </a:r>
            <a:r>
              <a:rPr lang="en-US" b="0" i="0" dirty="0">
                <a:solidFill>
                  <a:srgbClr val="374151"/>
                </a:solidFill>
                <a:effectLst/>
                <a:latin typeface="Söhne"/>
              </a:rPr>
              <a:t> de software y ha </a:t>
            </a:r>
            <a:r>
              <a:rPr lang="en-US" b="0" i="0" dirty="0" err="1">
                <a:solidFill>
                  <a:srgbClr val="374151"/>
                </a:solidFill>
                <a:effectLst/>
                <a:latin typeface="Söhne"/>
              </a:rPr>
              <a:t>estado</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la </a:t>
            </a:r>
            <a:r>
              <a:rPr lang="en-US" b="0" i="0" dirty="0" err="1">
                <a:solidFill>
                  <a:srgbClr val="374151"/>
                </a:solidFill>
                <a:effectLst/>
                <a:latin typeface="Söhne"/>
              </a:rPr>
              <a:t>empresa</a:t>
            </a:r>
            <a:r>
              <a:rPr lang="en-US" b="0" i="0" dirty="0">
                <a:solidFill>
                  <a:srgbClr val="374151"/>
                </a:solidFill>
                <a:effectLst/>
                <a:latin typeface="Söhne"/>
              </a:rPr>
              <a:t> </a:t>
            </a:r>
            <a:r>
              <a:rPr lang="en-US" b="0" i="0" dirty="0" err="1">
                <a:solidFill>
                  <a:srgbClr val="374151"/>
                </a:solidFill>
                <a:effectLst/>
                <a:latin typeface="Söhne"/>
              </a:rPr>
              <a:t>durante</a:t>
            </a:r>
            <a:r>
              <a:rPr lang="en-US" b="0" i="0" dirty="0">
                <a:solidFill>
                  <a:srgbClr val="374151"/>
                </a:solidFill>
                <a:effectLst/>
                <a:latin typeface="Söhne"/>
              </a:rPr>
              <a:t> un </a:t>
            </a:r>
            <a:r>
              <a:rPr lang="en-US" b="0" i="0" dirty="0" err="1">
                <a:solidFill>
                  <a:srgbClr val="374151"/>
                </a:solidFill>
                <a:effectLst/>
                <a:latin typeface="Söhne"/>
              </a:rPr>
              <a:t>año</a:t>
            </a:r>
            <a:r>
              <a:rPr lang="en-US" b="0" i="0" dirty="0">
                <a:solidFill>
                  <a:srgbClr val="374151"/>
                </a:solidFill>
                <a:effectLst/>
                <a:latin typeface="Söhne"/>
              </a:rPr>
              <a:t>. Si bien </a:t>
            </a:r>
            <a:r>
              <a:rPr lang="en-US" b="0" i="0" dirty="0" err="1">
                <a:solidFill>
                  <a:srgbClr val="374151"/>
                </a:solidFill>
                <a:effectLst/>
                <a:latin typeface="Söhne"/>
              </a:rPr>
              <a:t>su</a:t>
            </a:r>
            <a:r>
              <a:rPr lang="en-US" b="0" i="0" dirty="0">
                <a:solidFill>
                  <a:srgbClr val="374151"/>
                </a:solidFill>
                <a:effectLst/>
                <a:latin typeface="Söhne"/>
              </a:rPr>
              <a:t> </a:t>
            </a:r>
            <a:r>
              <a:rPr lang="en-US" b="0" i="0" dirty="0" err="1">
                <a:solidFill>
                  <a:srgbClr val="374151"/>
                </a:solidFill>
                <a:effectLst/>
                <a:latin typeface="Söhne"/>
              </a:rPr>
              <a:t>desempeño</a:t>
            </a:r>
            <a:r>
              <a:rPr lang="en-US" b="0" i="0" dirty="0">
                <a:solidFill>
                  <a:srgbClr val="374151"/>
                </a:solidFill>
                <a:effectLst/>
                <a:latin typeface="Söhne"/>
              </a:rPr>
              <a:t> es </a:t>
            </a:r>
            <a:r>
              <a:rPr lang="en-US" b="0" i="0" dirty="0" err="1">
                <a:solidFill>
                  <a:srgbClr val="374151"/>
                </a:solidFill>
                <a:effectLst/>
                <a:latin typeface="Söhne"/>
              </a:rPr>
              <a:t>sólido</a:t>
            </a:r>
            <a:r>
              <a:rPr lang="en-US" b="0" i="0" dirty="0">
                <a:solidFill>
                  <a:srgbClr val="374151"/>
                </a:solidFill>
                <a:effectLst/>
                <a:latin typeface="Söhne"/>
              </a:rPr>
              <a:t> y </a:t>
            </a:r>
            <a:r>
              <a:rPr lang="en-US" b="0" i="0" dirty="0" err="1">
                <a:solidFill>
                  <a:srgbClr val="374151"/>
                </a:solidFill>
                <a:effectLst/>
                <a:latin typeface="Söhne"/>
              </a:rPr>
              <a:t>cumple</a:t>
            </a:r>
            <a:r>
              <a:rPr lang="en-US" b="0" i="0" dirty="0">
                <a:solidFill>
                  <a:srgbClr val="374151"/>
                </a:solidFill>
                <a:effectLst/>
                <a:latin typeface="Söhne"/>
              </a:rPr>
              <a:t> con las </a:t>
            </a:r>
            <a:r>
              <a:rPr lang="en-US" b="0" i="0" dirty="0" err="1">
                <a:solidFill>
                  <a:srgbClr val="374151"/>
                </a:solidFill>
                <a:effectLst/>
                <a:latin typeface="Söhne"/>
              </a:rPr>
              <a:t>expectativas</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sus </a:t>
            </a:r>
            <a:r>
              <a:rPr lang="en-US" b="0" i="0" dirty="0" err="1">
                <a:solidFill>
                  <a:srgbClr val="374151"/>
                </a:solidFill>
                <a:effectLst/>
                <a:latin typeface="Söhne"/>
              </a:rPr>
              <a:t>tareas</a:t>
            </a:r>
            <a:r>
              <a:rPr lang="en-US" b="0" i="0" dirty="0">
                <a:solidFill>
                  <a:srgbClr val="374151"/>
                </a:solidFill>
                <a:effectLst/>
                <a:latin typeface="Söhne"/>
              </a:rPr>
              <a:t>, </a:t>
            </a:r>
            <a:r>
              <a:rPr lang="en-US" b="0" i="0" dirty="0" err="1">
                <a:solidFill>
                  <a:srgbClr val="374151"/>
                </a:solidFill>
                <a:effectLst/>
                <a:latin typeface="Söhne"/>
              </a:rPr>
              <a:t>aún</a:t>
            </a:r>
            <a:r>
              <a:rPr lang="en-US" b="0" i="0" dirty="0">
                <a:solidFill>
                  <a:srgbClr val="374151"/>
                </a:solidFill>
                <a:effectLst/>
                <a:latin typeface="Söhne"/>
              </a:rPr>
              <a:t> no ha </a:t>
            </a:r>
            <a:r>
              <a:rPr lang="en-US" b="0" i="0" dirty="0" err="1">
                <a:solidFill>
                  <a:srgbClr val="374151"/>
                </a:solidFill>
                <a:effectLst/>
                <a:latin typeface="Söhne"/>
              </a:rPr>
              <a:t>demostrado</a:t>
            </a:r>
            <a:r>
              <a:rPr lang="en-US" b="0" i="0" dirty="0">
                <a:solidFill>
                  <a:srgbClr val="374151"/>
                </a:solidFill>
                <a:effectLst/>
                <a:latin typeface="Söhne"/>
              </a:rPr>
              <a:t> un </a:t>
            </a:r>
            <a:r>
              <a:rPr lang="en-US" b="0" i="0" dirty="0" err="1">
                <a:solidFill>
                  <a:srgbClr val="374151"/>
                </a:solidFill>
                <a:effectLst/>
                <a:latin typeface="Söhne"/>
              </a:rPr>
              <a:t>desempeño</a:t>
            </a:r>
            <a:r>
              <a:rPr lang="en-US" b="0" i="0" dirty="0">
                <a:solidFill>
                  <a:srgbClr val="374151"/>
                </a:solidFill>
                <a:effectLst/>
                <a:latin typeface="Söhne"/>
              </a:rPr>
              <a:t> </a:t>
            </a:r>
            <a:r>
              <a:rPr lang="en-US" b="0" i="0" dirty="0" err="1">
                <a:solidFill>
                  <a:srgbClr val="374151"/>
                </a:solidFill>
                <a:effectLst/>
                <a:latin typeface="Söhne"/>
              </a:rPr>
              <a:t>excepcional</a:t>
            </a:r>
            <a:r>
              <a:rPr lang="en-US" b="0" i="0" dirty="0">
                <a:solidFill>
                  <a:srgbClr val="374151"/>
                </a:solidFill>
                <a:effectLst/>
                <a:latin typeface="Söhne"/>
              </a:rPr>
              <a:t> que lo </a:t>
            </a:r>
            <a:r>
              <a:rPr lang="en-US" b="0" i="0" dirty="0" err="1">
                <a:solidFill>
                  <a:srgbClr val="374151"/>
                </a:solidFill>
                <a:effectLst/>
                <a:latin typeface="Söhne"/>
              </a:rPr>
              <a:t>distinga</a:t>
            </a:r>
            <a:r>
              <a:rPr lang="en-US" b="0" i="0" dirty="0">
                <a:solidFill>
                  <a:srgbClr val="374151"/>
                </a:solidFill>
                <a:effectLst/>
                <a:latin typeface="Söhne"/>
              </a:rPr>
              <a:t>. Ha </a:t>
            </a:r>
            <a:r>
              <a:rPr lang="en-US" b="0" i="0" dirty="0" err="1">
                <a:solidFill>
                  <a:srgbClr val="374151"/>
                </a:solidFill>
                <a:effectLst/>
                <a:latin typeface="Söhne"/>
              </a:rPr>
              <a:t>mostrado</a:t>
            </a:r>
            <a:r>
              <a:rPr lang="en-US" b="0" i="0" dirty="0">
                <a:solidFill>
                  <a:srgbClr val="374151"/>
                </a:solidFill>
                <a:effectLst/>
                <a:latin typeface="Söhne"/>
              </a:rPr>
              <a:t> </a:t>
            </a:r>
            <a:r>
              <a:rPr lang="en-US" b="0" i="0" dirty="0" err="1">
                <a:solidFill>
                  <a:srgbClr val="374151"/>
                </a:solidFill>
                <a:effectLst/>
                <a:latin typeface="Söhne"/>
              </a:rPr>
              <a:t>interés</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a:t>
            </a:r>
            <a:r>
              <a:rPr lang="en-US" b="0" i="0" dirty="0" err="1">
                <a:solidFill>
                  <a:srgbClr val="374151"/>
                </a:solidFill>
                <a:effectLst/>
                <a:latin typeface="Söhne"/>
              </a:rPr>
              <a:t>aprender</a:t>
            </a:r>
            <a:r>
              <a:rPr lang="en-US" b="0" i="0" dirty="0">
                <a:solidFill>
                  <a:srgbClr val="374151"/>
                </a:solidFill>
                <a:effectLst/>
                <a:latin typeface="Söhne"/>
              </a:rPr>
              <a:t> y </a:t>
            </a:r>
            <a:r>
              <a:rPr lang="en-US" b="0" i="0" dirty="0" err="1">
                <a:solidFill>
                  <a:srgbClr val="374151"/>
                </a:solidFill>
                <a:effectLst/>
                <a:latin typeface="Söhne"/>
              </a:rPr>
              <a:t>mejorar</a:t>
            </a:r>
            <a:r>
              <a:rPr lang="en-US" b="0" i="0" dirty="0">
                <a:solidFill>
                  <a:srgbClr val="374151"/>
                </a:solidFill>
                <a:effectLst/>
                <a:latin typeface="Söhne"/>
              </a:rPr>
              <a:t>, </a:t>
            </a:r>
            <a:r>
              <a:rPr lang="en-US" b="0" i="0" dirty="0" err="1">
                <a:solidFill>
                  <a:srgbClr val="374151"/>
                </a:solidFill>
                <a:effectLst/>
                <a:latin typeface="Söhne"/>
              </a:rPr>
              <a:t>pero</a:t>
            </a:r>
            <a:r>
              <a:rPr lang="en-US" b="0" i="0" dirty="0">
                <a:solidFill>
                  <a:srgbClr val="374151"/>
                </a:solidFill>
                <a:effectLst/>
                <a:latin typeface="Söhne"/>
              </a:rPr>
              <a:t> hasta </a:t>
            </a:r>
            <a:r>
              <a:rPr lang="en-US" b="0" i="0" dirty="0" err="1">
                <a:solidFill>
                  <a:srgbClr val="374151"/>
                </a:solidFill>
                <a:effectLst/>
                <a:latin typeface="Söhne"/>
              </a:rPr>
              <a:t>ahora</a:t>
            </a:r>
            <a:r>
              <a:rPr lang="en-US" b="0" i="0" dirty="0">
                <a:solidFill>
                  <a:srgbClr val="374151"/>
                </a:solidFill>
                <a:effectLst/>
                <a:latin typeface="Söhne"/>
              </a:rPr>
              <a:t> no ha </a:t>
            </a:r>
            <a:r>
              <a:rPr lang="en-US" b="0" i="0" dirty="0" err="1">
                <a:solidFill>
                  <a:srgbClr val="374151"/>
                </a:solidFill>
                <a:effectLst/>
                <a:latin typeface="Söhne"/>
              </a:rPr>
              <a:t>liderado</a:t>
            </a:r>
            <a:r>
              <a:rPr lang="en-US" b="0" i="0" dirty="0">
                <a:solidFill>
                  <a:srgbClr val="374151"/>
                </a:solidFill>
                <a:effectLst/>
                <a:latin typeface="Söhne"/>
              </a:rPr>
              <a:t> </a:t>
            </a:r>
            <a:r>
              <a:rPr lang="en-US" b="0" i="0" dirty="0" err="1">
                <a:solidFill>
                  <a:srgbClr val="374151"/>
                </a:solidFill>
                <a:effectLst/>
                <a:latin typeface="Söhne"/>
              </a:rPr>
              <a:t>ningún</a:t>
            </a:r>
            <a:r>
              <a:rPr lang="en-US" b="0" i="0" dirty="0">
                <a:solidFill>
                  <a:srgbClr val="374151"/>
                </a:solidFill>
                <a:effectLst/>
                <a:latin typeface="Söhne"/>
              </a:rPr>
              <a:t> </a:t>
            </a:r>
            <a:r>
              <a:rPr lang="en-US" b="0" i="0" dirty="0" err="1">
                <a:solidFill>
                  <a:srgbClr val="374151"/>
                </a:solidFill>
                <a:effectLst/>
                <a:latin typeface="Söhne"/>
              </a:rPr>
              <a:t>proyecto</a:t>
            </a:r>
            <a:r>
              <a:rPr lang="en-US" b="0" i="0" dirty="0">
                <a:solidFill>
                  <a:srgbClr val="374151"/>
                </a:solidFill>
                <a:effectLst/>
                <a:latin typeface="Söhne"/>
              </a:rPr>
              <a:t> </a:t>
            </a:r>
            <a:r>
              <a:rPr lang="en-US" b="0" i="0" dirty="0" err="1">
                <a:solidFill>
                  <a:srgbClr val="374151"/>
                </a:solidFill>
                <a:effectLst/>
                <a:latin typeface="Söhne"/>
              </a:rPr>
              <a:t>significativo</a:t>
            </a:r>
            <a:r>
              <a:rPr lang="en-US" b="0" i="0" dirty="0">
                <a:solidFill>
                  <a:srgbClr val="374151"/>
                </a:solidFill>
                <a:effectLst/>
                <a:latin typeface="Söhne"/>
              </a:rPr>
              <a:t>. </a:t>
            </a:r>
            <a:endParaRPr lang="en-AR" dirty="0"/>
          </a:p>
        </p:txBody>
      </p:sp>
      <p:sp>
        <p:nvSpPr>
          <p:cNvPr id="8" name="TextBox 7">
            <a:extLst>
              <a:ext uri="{FF2B5EF4-FFF2-40B4-BE49-F238E27FC236}">
                <a16:creationId xmlns:a16="http://schemas.microsoft.com/office/drawing/2014/main" id="{1B94EC1F-3CF9-453B-728D-B1C337E52B18}"/>
              </a:ext>
            </a:extLst>
          </p:cNvPr>
          <p:cNvSpPr txBox="1"/>
          <p:nvPr/>
        </p:nvSpPr>
        <p:spPr>
          <a:xfrm>
            <a:off x="2739484" y="5053731"/>
            <a:ext cx="4817533" cy="400110"/>
          </a:xfrm>
          <a:prstGeom prst="rect">
            <a:avLst/>
          </a:prstGeom>
          <a:noFill/>
        </p:spPr>
        <p:txBody>
          <a:bodyPr wrap="square" rtlCol="0">
            <a:spAutoFit/>
          </a:bodyPr>
          <a:lstStyle/>
          <a:p>
            <a:r>
              <a:rPr lang="en-AR" sz="2000" b="1" dirty="0"/>
              <a:t>Donde ubicarías a Ana y Juan? </a:t>
            </a:r>
          </a:p>
        </p:txBody>
      </p:sp>
    </p:spTree>
    <p:extLst>
      <p:ext uri="{BB962C8B-B14F-4D97-AF65-F5344CB8AC3E}">
        <p14:creationId xmlns:p14="http://schemas.microsoft.com/office/powerpoint/2010/main" val="1943048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8"/>
          <p:cNvSpPr/>
          <p:nvPr/>
        </p:nvSpPr>
        <p:spPr>
          <a:xfrm>
            <a:off x="73610" y="1052736"/>
            <a:ext cx="9758779" cy="92333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2060"/>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El plan de sucesión indica </a:t>
            </a:r>
            <a:r>
              <a:rPr lang="es-AR" sz="1800" b="1" i="0" u="none" strike="noStrike" cap="none">
                <a:solidFill>
                  <a:srgbClr val="002060"/>
                </a:solidFill>
                <a:latin typeface="Calibri"/>
                <a:ea typeface="Calibri"/>
                <a:cs typeface="Calibri"/>
                <a:sym typeface="Calibri"/>
              </a:rPr>
              <a:t>qué personas</a:t>
            </a:r>
            <a:r>
              <a:rPr lang="es-AR" sz="1800" b="0" i="0" u="none" strike="noStrike" cap="none">
                <a:solidFill>
                  <a:srgbClr val="002060"/>
                </a:solidFill>
                <a:latin typeface="Calibri"/>
                <a:ea typeface="Calibri"/>
                <a:cs typeface="Calibri"/>
                <a:sym typeface="Calibri"/>
              </a:rPr>
              <a:t> podrían ocupar determinada posición relevante en determinado lapso de tiempo.</a:t>
            </a:r>
            <a:endParaRPr sz="1800" b="1" i="0" u="none" strike="noStrike" cap="none">
              <a:solidFill>
                <a:srgbClr val="002060"/>
              </a:solidFill>
              <a:latin typeface="Calibri"/>
              <a:ea typeface="Calibri"/>
              <a:cs typeface="Calibri"/>
              <a:sym typeface="Calibri"/>
            </a:endParaRPr>
          </a:p>
        </p:txBody>
      </p:sp>
      <p:sp>
        <p:nvSpPr>
          <p:cNvPr id="344" name="Google Shape;344;p38"/>
          <p:cNvSpPr/>
          <p:nvPr/>
        </p:nvSpPr>
        <p:spPr>
          <a:xfrm>
            <a:off x="5889104" y="2621672"/>
            <a:ext cx="3694900"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Es una herramienta </a:t>
            </a:r>
            <a:r>
              <a:rPr lang="es-AR" sz="1800" b="1" i="0" u="none" strike="noStrike" cap="none">
                <a:solidFill>
                  <a:srgbClr val="002060"/>
                </a:solidFill>
                <a:latin typeface="Calibri"/>
                <a:ea typeface="Calibri"/>
                <a:cs typeface="Calibri"/>
                <a:sym typeface="Calibri"/>
              </a:rPr>
              <a:t>diagnóstica</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Para que esos planes se vuelvan realidad, se definen </a:t>
            </a:r>
            <a:r>
              <a:rPr lang="es-AR" sz="1800" b="1" i="0" u="none" strike="noStrike" cap="none">
                <a:solidFill>
                  <a:srgbClr val="002060"/>
                </a:solidFill>
                <a:latin typeface="Calibri"/>
                <a:ea typeface="Calibri"/>
                <a:cs typeface="Calibri"/>
                <a:sym typeface="Calibri"/>
              </a:rPr>
              <a:t>Planes de Desarrollo.</a:t>
            </a:r>
            <a:endParaRPr sz="1400" b="0" i="0" u="none" strike="noStrike" cap="none">
              <a:solidFill>
                <a:srgbClr val="000000"/>
              </a:solidFill>
              <a:latin typeface="Arial"/>
              <a:ea typeface="Arial"/>
              <a:cs typeface="Arial"/>
              <a:sym typeface="Arial"/>
            </a:endParaRPr>
          </a:p>
        </p:txBody>
      </p:sp>
      <p:sp>
        <p:nvSpPr>
          <p:cNvPr id="345" name="Google Shape;345;p38"/>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Planes de sucesión</a:t>
            </a:r>
            <a:endParaRPr sz="1400" b="0" i="0" u="none" strike="noStrike" cap="none">
              <a:solidFill>
                <a:srgbClr val="000000"/>
              </a:solidFill>
              <a:latin typeface="Arial"/>
              <a:ea typeface="Arial"/>
              <a:cs typeface="Arial"/>
              <a:sym typeface="Arial"/>
            </a:endParaRPr>
          </a:p>
        </p:txBody>
      </p:sp>
      <p:pic>
        <p:nvPicPr>
          <p:cNvPr id="346" name="Google Shape;346;p38" descr="Resultado de imagen para utn regional buenos aires ingenieria industrial"/>
          <p:cNvPicPr preferRelativeResize="0"/>
          <p:nvPr/>
        </p:nvPicPr>
        <p:blipFill rotWithShape="1">
          <a:blip r:embed="rId3">
            <a:alphaModFix/>
          </a:blip>
          <a:srcRect/>
          <a:stretch/>
        </p:blipFill>
        <p:spPr>
          <a:xfrm>
            <a:off x="7041232" y="41620"/>
            <a:ext cx="2637692" cy="1011116"/>
          </a:xfrm>
          <a:prstGeom prst="rect">
            <a:avLst/>
          </a:prstGeom>
          <a:noFill/>
          <a:ln>
            <a:noFill/>
          </a:ln>
        </p:spPr>
      </p:pic>
      <p:grpSp>
        <p:nvGrpSpPr>
          <p:cNvPr id="347" name="Google Shape;347;p38"/>
          <p:cNvGrpSpPr/>
          <p:nvPr/>
        </p:nvGrpSpPr>
        <p:grpSpPr>
          <a:xfrm>
            <a:off x="992560" y="2348880"/>
            <a:ext cx="4279365" cy="3961905"/>
            <a:chOff x="992560" y="2348880"/>
            <a:chExt cx="4279365" cy="3961905"/>
          </a:xfrm>
        </p:grpSpPr>
        <p:pic>
          <p:nvPicPr>
            <p:cNvPr id="348" name="Google Shape;348;p38"/>
            <p:cNvPicPr preferRelativeResize="0"/>
            <p:nvPr/>
          </p:nvPicPr>
          <p:blipFill rotWithShape="1">
            <a:blip r:embed="rId4">
              <a:alphaModFix/>
            </a:blip>
            <a:srcRect/>
            <a:stretch/>
          </p:blipFill>
          <p:spPr>
            <a:xfrm>
              <a:off x="992560" y="2348880"/>
              <a:ext cx="4279365" cy="3961905"/>
            </a:xfrm>
            <a:prstGeom prst="rect">
              <a:avLst/>
            </a:prstGeom>
            <a:noFill/>
            <a:ln>
              <a:noFill/>
            </a:ln>
          </p:spPr>
        </p:pic>
        <p:sp>
          <p:nvSpPr>
            <p:cNvPr id="349" name="Google Shape;349;p38"/>
            <p:cNvSpPr/>
            <p:nvPr/>
          </p:nvSpPr>
          <p:spPr>
            <a:xfrm>
              <a:off x="3008784" y="4293096"/>
              <a:ext cx="1872208" cy="360040"/>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0" name="Google Shape;350;p38"/>
            <p:cNvSpPr/>
            <p:nvPr/>
          </p:nvSpPr>
          <p:spPr>
            <a:xfrm>
              <a:off x="3008784" y="4941900"/>
              <a:ext cx="1872208" cy="360040"/>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51" name="Google Shape;351;p38"/>
          <p:cNvSpPr txBox="1"/>
          <p:nvPr/>
        </p:nvSpPr>
        <p:spPr>
          <a:xfrm>
            <a:off x="5596871" y="4765119"/>
            <a:ext cx="4279365" cy="2092881"/>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2060"/>
              </a:buClr>
              <a:buSzPts val="1600"/>
              <a:buFont typeface="Noto Sans"/>
              <a:buChar char="▪"/>
            </a:pPr>
            <a:r>
              <a:rPr lang="es-AR" sz="1600" b="0" i="0" u="none" strike="noStrike" cap="none">
                <a:solidFill>
                  <a:srgbClr val="002060"/>
                </a:solidFill>
                <a:latin typeface="Calibri"/>
                <a:ea typeface="Calibri"/>
                <a:cs typeface="Calibri"/>
                <a:sym typeface="Calibri"/>
              </a:rPr>
              <a:t>¿Cuáles son sus fortalezas?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600"/>
              <a:buFont typeface="Noto Sans"/>
              <a:buChar char="▪"/>
            </a:pPr>
            <a:r>
              <a:rPr lang="es-AR" sz="1600" b="0" i="0" u="none" strike="noStrike" cap="none">
                <a:solidFill>
                  <a:srgbClr val="002060"/>
                </a:solidFill>
                <a:latin typeface="Calibri"/>
                <a:ea typeface="Calibri"/>
                <a:cs typeface="Calibri"/>
                <a:sym typeface="Calibri"/>
              </a:rPr>
              <a:t>¿Cuáles sus oportunidades de mejora?</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600"/>
              <a:buFont typeface="Noto Sans"/>
              <a:buChar char="▪"/>
            </a:pPr>
            <a:r>
              <a:rPr lang="es-AR" sz="1600" b="0" i="0" u="none" strike="noStrike" cap="none">
                <a:solidFill>
                  <a:srgbClr val="002060"/>
                </a:solidFill>
                <a:latin typeface="Calibri"/>
                <a:ea typeface="Calibri"/>
                <a:cs typeface="Calibri"/>
                <a:sym typeface="Calibri"/>
              </a:rPr>
              <a:t>¿Cómo se puede acelerar su desarrollo’</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600"/>
              <a:buFont typeface="Noto Sans"/>
              <a:buChar char="▪"/>
            </a:pPr>
            <a:r>
              <a:rPr lang="es-AR" sz="1600" b="0" i="0" u="none" strike="noStrike" cap="none">
                <a:solidFill>
                  <a:srgbClr val="002060"/>
                </a:solidFill>
                <a:latin typeface="Calibri"/>
                <a:ea typeface="Calibri"/>
                <a:cs typeface="Calibri"/>
                <a:sym typeface="Calibri"/>
              </a:rPr>
              <a:t>¿Por qué experiencias necesita transitar?</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600"/>
              <a:buFont typeface="Noto Sans"/>
              <a:buChar char="▪"/>
            </a:pPr>
            <a:r>
              <a:rPr lang="es-AR" sz="1600" b="0" i="0" u="none" strike="noStrike" cap="none">
                <a:solidFill>
                  <a:srgbClr val="002060"/>
                </a:solidFill>
                <a:latin typeface="Calibri"/>
                <a:ea typeface="Calibri"/>
                <a:cs typeface="Calibri"/>
                <a:sym typeface="Calibri"/>
              </a:rPr>
              <a:t>¿Qué conocimiento técnico todavía no tiene?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600"/>
              <a:buFont typeface="Noto Sans"/>
              <a:buChar char="▪"/>
            </a:pPr>
            <a:r>
              <a:rPr lang="es-AR" sz="1600" b="0" i="0" u="none" strike="noStrike" cap="none">
                <a:solidFill>
                  <a:srgbClr val="002060"/>
                </a:solidFill>
                <a:latin typeface="Calibri"/>
                <a:ea typeface="Calibri"/>
                <a:cs typeface="Calibri"/>
                <a:sym typeface="Calibri"/>
              </a:rPr>
              <a:t>¿Qué habilidades de liderazgo tiene que desarrollar?</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Noto Sans"/>
              <a:buNone/>
            </a:pPr>
            <a:endParaRPr sz="1800" b="0" i="0" u="none" strike="noStrike" cap="none">
              <a:solidFill>
                <a:srgbClr val="002060"/>
              </a:solidFill>
              <a:latin typeface="Calibri"/>
              <a:ea typeface="Calibri"/>
              <a:cs typeface="Calibri"/>
              <a:sym typeface="Calibri"/>
            </a:endParaRPr>
          </a:p>
        </p:txBody>
      </p:sp>
      <p:pic>
        <p:nvPicPr>
          <p:cNvPr id="352" name="Google Shape;352;p38"/>
          <p:cNvPicPr preferRelativeResize="0"/>
          <p:nvPr/>
        </p:nvPicPr>
        <p:blipFill rotWithShape="1">
          <a:blip r:embed="rId5">
            <a:alphaModFix/>
          </a:blip>
          <a:srcRect/>
          <a:stretch/>
        </p:blipFill>
        <p:spPr>
          <a:xfrm rot="4729940">
            <a:off x="4867824" y="4995208"/>
            <a:ext cx="808201" cy="119099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pic>
        <p:nvPicPr>
          <p:cNvPr id="357" name="Google Shape;357;g276846b1dce_0_24"/>
          <p:cNvPicPr preferRelativeResize="0"/>
          <p:nvPr/>
        </p:nvPicPr>
        <p:blipFill rotWithShape="1">
          <a:blip r:embed="rId3">
            <a:alphaModFix/>
          </a:blip>
          <a:srcRect/>
          <a:stretch/>
        </p:blipFill>
        <p:spPr>
          <a:xfrm>
            <a:off x="2355018" y="278613"/>
            <a:ext cx="4991006" cy="706227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9"/>
          <p:cNvSpPr/>
          <p:nvPr/>
        </p:nvSpPr>
        <p:spPr>
          <a:xfrm>
            <a:off x="4129100" y="1268760"/>
            <a:ext cx="1183940" cy="487591"/>
          </a:xfrm>
          <a:prstGeom prst="rect">
            <a:avLst/>
          </a:prstGeom>
          <a:solidFill>
            <a:srgbClr val="CCFF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CEO</a:t>
            </a:r>
            <a:endParaRPr sz="1400" b="0" i="0" u="none" strike="noStrike" cap="none">
              <a:solidFill>
                <a:srgbClr val="000000"/>
              </a:solidFill>
              <a:latin typeface="Arial"/>
              <a:ea typeface="Arial"/>
              <a:cs typeface="Arial"/>
              <a:sym typeface="Arial"/>
            </a:endParaRPr>
          </a:p>
        </p:txBody>
      </p:sp>
      <p:sp>
        <p:nvSpPr>
          <p:cNvPr id="365" name="Google Shape;365;p39"/>
          <p:cNvSpPr/>
          <p:nvPr/>
        </p:nvSpPr>
        <p:spPr>
          <a:xfrm>
            <a:off x="488504" y="2490805"/>
            <a:ext cx="1183940" cy="487591"/>
          </a:xfrm>
          <a:prstGeom prst="rect">
            <a:avLst/>
          </a:prstGeom>
          <a:solidFill>
            <a:srgbClr val="FFF2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CFO</a:t>
            </a:r>
            <a:endParaRPr sz="1400" b="0" i="0" u="none" strike="noStrike" cap="none">
              <a:solidFill>
                <a:srgbClr val="000000"/>
              </a:solidFill>
              <a:latin typeface="Arial"/>
              <a:ea typeface="Arial"/>
              <a:cs typeface="Arial"/>
              <a:sym typeface="Arial"/>
            </a:endParaRPr>
          </a:p>
        </p:txBody>
      </p:sp>
      <p:sp>
        <p:nvSpPr>
          <p:cNvPr id="366" name="Google Shape;366;p39"/>
          <p:cNvSpPr/>
          <p:nvPr/>
        </p:nvSpPr>
        <p:spPr>
          <a:xfrm>
            <a:off x="2648744" y="2490805"/>
            <a:ext cx="1408348" cy="487591"/>
          </a:xfrm>
          <a:prstGeom prst="rect">
            <a:avLst/>
          </a:prstGeom>
          <a:solidFill>
            <a:srgbClr val="FFCC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Operaciones</a:t>
            </a:r>
            <a:endParaRPr sz="1400" b="0" i="0" u="none" strike="noStrike" cap="none">
              <a:solidFill>
                <a:srgbClr val="000000"/>
              </a:solidFill>
              <a:latin typeface="Arial"/>
              <a:ea typeface="Arial"/>
              <a:cs typeface="Arial"/>
              <a:sym typeface="Arial"/>
            </a:endParaRPr>
          </a:p>
        </p:txBody>
      </p:sp>
      <p:sp>
        <p:nvSpPr>
          <p:cNvPr id="367" name="Google Shape;367;p39"/>
          <p:cNvSpPr/>
          <p:nvPr/>
        </p:nvSpPr>
        <p:spPr>
          <a:xfrm>
            <a:off x="5209220" y="2486172"/>
            <a:ext cx="1183940" cy="487591"/>
          </a:xfrm>
          <a:prstGeom prst="rect">
            <a:avLst/>
          </a:prstGeom>
          <a:solidFill>
            <a:srgbClr val="FFF2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Comercial</a:t>
            </a:r>
            <a:endParaRPr sz="1400" b="0" i="0" u="none" strike="noStrike" cap="none">
              <a:solidFill>
                <a:srgbClr val="000000"/>
              </a:solidFill>
              <a:latin typeface="Arial"/>
              <a:ea typeface="Arial"/>
              <a:cs typeface="Arial"/>
              <a:sym typeface="Arial"/>
            </a:endParaRPr>
          </a:p>
        </p:txBody>
      </p:sp>
      <p:sp>
        <p:nvSpPr>
          <p:cNvPr id="368" name="Google Shape;368;p39"/>
          <p:cNvSpPr/>
          <p:nvPr/>
        </p:nvSpPr>
        <p:spPr>
          <a:xfrm>
            <a:off x="7297452" y="2494935"/>
            <a:ext cx="1183940" cy="487591"/>
          </a:xfrm>
          <a:prstGeom prst="rect">
            <a:avLst/>
          </a:prstGeom>
          <a:solidFill>
            <a:srgbClr val="FFF2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RRHH</a:t>
            </a:r>
            <a:endParaRPr sz="1400" b="0" i="0" u="none" strike="noStrike" cap="none">
              <a:solidFill>
                <a:srgbClr val="000000"/>
              </a:solidFill>
              <a:latin typeface="Arial"/>
              <a:ea typeface="Arial"/>
              <a:cs typeface="Arial"/>
              <a:sym typeface="Arial"/>
            </a:endParaRPr>
          </a:p>
        </p:txBody>
      </p:sp>
      <p:cxnSp>
        <p:nvCxnSpPr>
          <p:cNvPr id="369" name="Google Shape;369;p39"/>
          <p:cNvCxnSpPr>
            <a:stCxn id="365" idx="0"/>
            <a:endCxn id="364" idx="2"/>
          </p:cNvCxnSpPr>
          <p:nvPr/>
        </p:nvCxnSpPr>
        <p:spPr>
          <a:xfrm rot="-5400000">
            <a:off x="2533524" y="303355"/>
            <a:ext cx="734400" cy="3640500"/>
          </a:xfrm>
          <a:prstGeom prst="bentConnector3">
            <a:avLst>
              <a:gd name="adj1" fmla="val 50000"/>
            </a:avLst>
          </a:prstGeom>
          <a:noFill/>
          <a:ln w="9525" cap="flat" cmpd="sng">
            <a:solidFill>
              <a:srgbClr val="7F7F7F"/>
            </a:solidFill>
            <a:prstDash val="solid"/>
            <a:miter lim="800000"/>
            <a:headEnd type="none" w="sm" len="sm"/>
            <a:tailEnd type="none" w="sm" len="sm"/>
          </a:ln>
        </p:spPr>
      </p:cxnSp>
      <p:cxnSp>
        <p:nvCxnSpPr>
          <p:cNvPr id="370" name="Google Shape;370;p39"/>
          <p:cNvCxnSpPr>
            <a:stCxn id="366" idx="0"/>
            <a:endCxn id="364" idx="2"/>
          </p:cNvCxnSpPr>
          <p:nvPr/>
        </p:nvCxnSpPr>
        <p:spPr>
          <a:xfrm rot="-5400000">
            <a:off x="3669868" y="1439455"/>
            <a:ext cx="734400" cy="1368300"/>
          </a:xfrm>
          <a:prstGeom prst="bentConnector3">
            <a:avLst>
              <a:gd name="adj1" fmla="val 50000"/>
            </a:avLst>
          </a:prstGeom>
          <a:noFill/>
          <a:ln w="9525" cap="flat" cmpd="sng">
            <a:solidFill>
              <a:srgbClr val="7F7F7F"/>
            </a:solidFill>
            <a:prstDash val="solid"/>
            <a:miter lim="800000"/>
            <a:headEnd type="none" w="sm" len="sm"/>
            <a:tailEnd type="none" w="sm" len="sm"/>
          </a:ln>
        </p:spPr>
      </p:cxnSp>
      <p:cxnSp>
        <p:nvCxnSpPr>
          <p:cNvPr id="371" name="Google Shape;371;p39"/>
          <p:cNvCxnSpPr>
            <a:stCxn id="367" idx="0"/>
            <a:endCxn id="364" idx="2"/>
          </p:cNvCxnSpPr>
          <p:nvPr/>
        </p:nvCxnSpPr>
        <p:spPr>
          <a:xfrm rot="5400000" flipH="1">
            <a:off x="4896240" y="1581222"/>
            <a:ext cx="729900" cy="1080000"/>
          </a:xfrm>
          <a:prstGeom prst="bentConnector3">
            <a:avLst>
              <a:gd name="adj1" fmla="val 50000"/>
            </a:avLst>
          </a:prstGeom>
          <a:noFill/>
          <a:ln w="9525" cap="flat" cmpd="sng">
            <a:solidFill>
              <a:srgbClr val="7F7F7F"/>
            </a:solidFill>
            <a:prstDash val="solid"/>
            <a:miter lim="800000"/>
            <a:headEnd type="none" w="sm" len="sm"/>
            <a:tailEnd type="none" w="sm" len="sm"/>
          </a:ln>
        </p:spPr>
      </p:cxnSp>
      <p:cxnSp>
        <p:nvCxnSpPr>
          <p:cNvPr id="372" name="Google Shape;372;p39"/>
          <p:cNvCxnSpPr>
            <a:stCxn id="368" idx="0"/>
            <a:endCxn id="364" idx="2"/>
          </p:cNvCxnSpPr>
          <p:nvPr/>
        </p:nvCxnSpPr>
        <p:spPr>
          <a:xfrm rot="5400000" flipH="1">
            <a:off x="5935972" y="541485"/>
            <a:ext cx="738600" cy="3168300"/>
          </a:xfrm>
          <a:prstGeom prst="bentConnector3">
            <a:avLst>
              <a:gd name="adj1" fmla="val 50000"/>
            </a:avLst>
          </a:prstGeom>
          <a:noFill/>
          <a:ln w="9525" cap="flat" cmpd="sng">
            <a:solidFill>
              <a:srgbClr val="7F7F7F"/>
            </a:solidFill>
            <a:prstDash val="solid"/>
            <a:miter lim="800000"/>
            <a:headEnd type="none" w="sm" len="sm"/>
            <a:tailEnd type="none" w="sm" len="sm"/>
          </a:ln>
        </p:spPr>
      </p:cxnSp>
      <p:sp>
        <p:nvSpPr>
          <p:cNvPr id="373" name="Google Shape;373;p39"/>
          <p:cNvSpPr/>
          <p:nvPr/>
        </p:nvSpPr>
        <p:spPr>
          <a:xfrm>
            <a:off x="1352600" y="3340527"/>
            <a:ext cx="1183940" cy="487591"/>
          </a:xfrm>
          <a:prstGeom prst="rect">
            <a:avLst/>
          </a:prstGeom>
          <a:solidFill>
            <a:srgbClr val="CCFF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Finanzas</a:t>
            </a:r>
            <a:endParaRPr sz="1400" b="0" i="0" u="none" strike="noStrike" cap="none">
              <a:solidFill>
                <a:srgbClr val="000000"/>
              </a:solidFill>
              <a:latin typeface="Arial"/>
              <a:ea typeface="Arial"/>
              <a:cs typeface="Arial"/>
              <a:sym typeface="Arial"/>
            </a:endParaRPr>
          </a:p>
        </p:txBody>
      </p:sp>
      <p:sp>
        <p:nvSpPr>
          <p:cNvPr id="374" name="Google Shape;374;p39"/>
          <p:cNvSpPr/>
          <p:nvPr/>
        </p:nvSpPr>
        <p:spPr>
          <a:xfrm>
            <a:off x="1352600" y="4006717"/>
            <a:ext cx="1183940" cy="487591"/>
          </a:xfrm>
          <a:prstGeom prst="rect">
            <a:avLst/>
          </a:prstGeom>
          <a:solidFill>
            <a:srgbClr val="FFCC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Contabilidad</a:t>
            </a:r>
            <a:endParaRPr sz="1400" b="0" i="0" u="none" strike="noStrike" cap="none">
              <a:solidFill>
                <a:srgbClr val="000000"/>
              </a:solidFill>
              <a:latin typeface="Arial"/>
              <a:ea typeface="Arial"/>
              <a:cs typeface="Arial"/>
              <a:sym typeface="Arial"/>
            </a:endParaRPr>
          </a:p>
        </p:txBody>
      </p:sp>
      <p:sp>
        <p:nvSpPr>
          <p:cNvPr id="375" name="Google Shape;375;p39"/>
          <p:cNvSpPr/>
          <p:nvPr/>
        </p:nvSpPr>
        <p:spPr>
          <a:xfrm>
            <a:off x="3530888" y="3340527"/>
            <a:ext cx="1193884" cy="487591"/>
          </a:xfrm>
          <a:prstGeom prst="rect">
            <a:avLst/>
          </a:prstGeom>
          <a:solidFill>
            <a:srgbClr val="CCFF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Producción</a:t>
            </a:r>
            <a:endParaRPr sz="1400" b="0" i="0" u="none" strike="noStrike" cap="none">
              <a:solidFill>
                <a:srgbClr val="000000"/>
              </a:solidFill>
              <a:latin typeface="Arial"/>
              <a:ea typeface="Arial"/>
              <a:cs typeface="Arial"/>
              <a:sym typeface="Arial"/>
            </a:endParaRPr>
          </a:p>
        </p:txBody>
      </p:sp>
      <p:sp>
        <p:nvSpPr>
          <p:cNvPr id="376" name="Google Shape;376;p39"/>
          <p:cNvSpPr/>
          <p:nvPr/>
        </p:nvSpPr>
        <p:spPr>
          <a:xfrm>
            <a:off x="3540832" y="3980518"/>
            <a:ext cx="1183940" cy="487591"/>
          </a:xfrm>
          <a:prstGeom prst="rect">
            <a:avLst/>
          </a:prstGeom>
          <a:solidFill>
            <a:srgbClr val="CCFF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Mant.</a:t>
            </a:r>
            <a:endParaRPr sz="1400" b="0" i="0" u="none" strike="noStrike" cap="none">
              <a:solidFill>
                <a:srgbClr val="000000"/>
              </a:solidFill>
              <a:latin typeface="Arial"/>
              <a:ea typeface="Arial"/>
              <a:cs typeface="Arial"/>
              <a:sym typeface="Arial"/>
            </a:endParaRPr>
          </a:p>
        </p:txBody>
      </p:sp>
      <p:sp>
        <p:nvSpPr>
          <p:cNvPr id="377" name="Google Shape;377;p39"/>
          <p:cNvSpPr/>
          <p:nvPr/>
        </p:nvSpPr>
        <p:spPr>
          <a:xfrm>
            <a:off x="8069442" y="3337779"/>
            <a:ext cx="1183940" cy="487591"/>
          </a:xfrm>
          <a:prstGeom prst="rect">
            <a:avLst/>
          </a:prstGeom>
          <a:solidFill>
            <a:srgbClr val="CCFF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Adm. de Personal</a:t>
            </a:r>
            <a:endParaRPr sz="1400" b="0" i="0" u="none" strike="noStrike" cap="none">
              <a:solidFill>
                <a:srgbClr val="000000"/>
              </a:solidFill>
              <a:latin typeface="Arial"/>
              <a:ea typeface="Arial"/>
              <a:cs typeface="Arial"/>
              <a:sym typeface="Arial"/>
            </a:endParaRPr>
          </a:p>
        </p:txBody>
      </p:sp>
      <p:sp>
        <p:nvSpPr>
          <p:cNvPr id="378" name="Google Shape;378;p39"/>
          <p:cNvSpPr/>
          <p:nvPr/>
        </p:nvSpPr>
        <p:spPr>
          <a:xfrm>
            <a:off x="7979712" y="4011818"/>
            <a:ext cx="1183940" cy="487591"/>
          </a:xfrm>
          <a:prstGeom prst="rect">
            <a:avLst/>
          </a:prstGeom>
          <a:solidFill>
            <a:srgbClr val="FFF2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Comp. y Beneficios.</a:t>
            </a:r>
            <a:endParaRPr sz="1400" b="0" i="0" u="none" strike="noStrike" cap="none">
              <a:solidFill>
                <a:srgbClr val="000000"/>
              </a:solidFill>
              <a:latin typeface="Arial"/>
              <a:ea typeface="Arial"/>
              <a:cs typeface="Arial"/>
              <a:sym typeface="Arial"/>
            </a:endParaRPr>
          </a:p>
        </p:txBody>
      </p:sp>
      <p:sp>
        <p:nvSpPr>
          <p:cNvPr id="379" name="Google Shape;379;p39"/>
          <p:cNvSpPr/>
          <p:nvPr/>
        </p:nvSpPr>
        <p:spPr>
          <a:xfrm>
            <a:off x="3530888" y="4671844"/>
            <a:ext cx="1183940" cy="487591"/>
          </a:xfrm>
          <a:prstGeom prst="rect">
            <a:avLst/>
          </a:prstGeom>
          <a:solidFill>
            <a:srgbClr val="CCFF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Distribución.</a:t>
            </a:r>
            <a:endParaRPr sz="1400" b="0" i="0" u="none" strike="noStrike" cap="none">
              <a:solidFill>
                <a:srgbClr val="000000"/>
              </a:solidFill>
              <a:latin typeface="Arial"/>
              <a:ea typeface="Arial"/>
              <a:cs typeface="Arial"/>
              <a:sym typeface="Arial"/>
            </a:endParaRPr>
          </a:p>
        </p:txBody>
      </p:sp>
      <p:sp>
        <p:nvSpPr>
          <p:cNvPr id="380" name="Google Shape;380;p39"/>
          <p:cNvSpPr/>
          <p:nvPr/>
        </p:nvSpPr>
        <p:spPr>
          <a:xfrm>
            <a:off x="5937998" y="3337553"/>
            <a:ext cx="1183940" cy="487591"/>
          </a:xfrm>
          <a:prstGeom prst="rect">
            <a:avLst/>
          </a:prstGeom>
          <a:solidFill>
            <a:srgbClr val="CCFF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Tiendas retail</a:t>
            </a:r>
            <a:endParaRPr sz="1400" b="0" i="0" u="none" strike="noStrike" cap="none">
              <a:solidFill>
                <a:schemeClr val="dk1"/>
              </a:solidFill>
              <a:latin typeface="Calibri"/>
              <a:ea typeface="Calibri"/>
              <a:cs typeface="Calibri"/>
              <a:sym typeface="Calibri"/>
            </a:endParaRPr>
          </a:p>
        </p:txBody>
      </p:sp>
      <p:sp>
        <p:nvSpPr>
          <p:cNvPr id="381" name="Google Shape;381;p39"/>
          <p:cNvSpPr/>
          <p:nvPr/>
        </p:nvSpPr>
        <p:spPr>
          <a:xfrm>
            <a:off x="5937998" y="4006717"/>
            <a:ext cx="1183940" cy="487591"/>
          </a:xfrm>
          <a:prstGeom prst="rect">
            <a:avLst/>
          </a:prstGeom>
          <a:solidFill>
            <a:srgbClr val="FFCC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Marketing</a:t>
            </a:r>
            <a:endParaRPr sz="1400" b="0" i="0" u="none" strike="noStrike" cap="none">
              <a:solidFill>
                <a:srgbClr val="000000"/>
              </a:solidFill>
              <a:latin typeface="Arial"/>
              <a:ea typeface="Arial"/>
              <a:cs typeface="Arial"/>
              <a:sym typeface="Arial"/>
            </a:endParaRPr>
          </a:p>
        </p:txBody>
      </p:sp>
      <p:sp>
        <p:nvSpPr>
          <p:cNvPr id="382" name="Google Shape;382;p39"/>
          <p:cNvSpPr/>
          <p:nvPr/>
        </p:nvSpPr>
        <p:spPr>
          <a:xfrm>
            <a:off x="5910589" y="4675881"/>
            <a:ext cx="1183940" cy="487591"/>
          </a:xfrm>
          <a:prstGeom prst="rect">
            <a:avLst/>
          </a:prstGeom>
          <a:solidFill>
            <a:srgbClr val="CCFF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Grandes clientes</a:t>
            </a:r>
            <a:endParaRPr sz="1400" b="0" i="0" u="none" strike="noStrike" cap="none">
              <a:solidFill>
                <a:srgbClr val="000000"/>
              </a:solidFill>
              <a:latin typeface="Arial"/>
              <a:ea typeface="Arial"/>
              <a:cs typeface="Arial"/>
              <a:sym typeface="Arial"/>
            </a:endParaRPr>
          </a:p>
        </p:txBody>
      </p:sp>
      <p:cxnSp>
        <p:nvCxnSpPr>
          <p:cNvPr id="383" name="Google Shape;383;p39"/>
          <p:cNvCxnSpPr>
            <a:stCxn id="373" idx="1"/>
            <a:endCxn id="365" idx="2"/>
          </p:cNvCxnSpPr>
          <p:nvPr/>
        </p:nvCxnSpPr>
        <p:spPr>
          <a:xfrm rot="10800000">
            <a:off x="1080500" y="2978323"/>
            <a:ext cx="272100" cy="606000"/>
          </a:xfrm>
          <a:prstGeom prst="bentConnector2">
            <a:avLst/>
          </a:prstGeom>
          <a:noFill/>
          <a:ln w="9525" cap="flat" cmpd="sng">
            <a:solidFill>
              <a:srgbClr val="7F7F7F"/>
            </a:solidFill>
            <a:prstDash val="solid"/>
            <a:miter lim="800000"/>
            <a:headEnd type="none" w="sm" len="sm"/>
            <a:tailEnd type="none" w="sm" len="sm"/>
          </a:ln>
        </p:spPr>
      </p:cxnSp>
      <p:cxnSp>
        <p:nvCxnSpPr>
          <p:cNvPr id="384" name="Google Shape;384;p39"/>
          <p:cNvCxnSpPr>
            <a:stCxn id="374" idx="1"/>
          </p:cNvCxnSpPr>
          <p:nvPr/>
        </p:nvCxnSpPr>
        <p:spPr>
          <a:xfrm rot="10800000">
            <a:off x="1080500" y="3124613"/>
            <a:ext cx="272100" cy="1125900"/>
          </a:xfrm>
          <a:prstGeom prst="bentConnector2">
            <a:avLst/>
          </a:prstGeom>
          <a:noFill/>
          <a:ln w="9525" cap="flat" cmpd="sng">
            <a:solidFill>
              <a:srgbClr val="7F7F7F"/>
            </a:solidFill>
            <a:prstDash val="solid"/>
            <a:miter lim="800000"/>
            <a:headEnd type="none" w="sm" len="sm"/>
            <a:tailEnd type="none" w="sm" len="sm"/>
          </a:ln>
        </p:spPr>
      </p:cxnSp>
      <p:cxnSp>
        <p:nvCxnSpPr>
          <p:cNvPr id="385" name="Google Shape;385;p39"/>
          <p:cNvCxnSpPr>
            <a:stCxn id="375" idx="1"/>
            <a:endCxn id="366" idx="2"/>
          </p:cNvCxnSpPr>
          <p:nvPr/>
        </p:nvCxnSpPr>
        <p:spPr>
          <a:xfrm rot="10800000">
            <a:off x="3352988" y="2978323"/>
            <a:ext cx="177900" cy="606000"/>
          </a:xfrm>
          <a:prstGeom prst="bentConnector2">
            <a:avLst/>
          </a:prstGeom>
          <a:noFill/>
          <a:ln w="9525" cap="flat" cmpd="sng">
            <a:solidFill>
              <a:srgbClr val="7F7F7F"/>
            </a:solidFill>
            <a:prstDash val="solid"/>
            <a:miter lim="800000"/>
            <a:headEnd type="none" w="sm" len="sm"/>
            <a:tailEnd type="none" w="sm" len="sm"/>
          </a:ln>
        </p:spPr>
      </p:cxnSp>
      <p:cxnSp>
        <p:nvCxnSpPr>
          <p:cNvPr id="386" name="Google Shape;386;p39"/>
          <p:cNvCxnSpPr>
            <a:stCxn id="376" idx="1"/>
            <a:endCxn id="366" idx="2"/>
          </p:cNvCxnSpPr>
          <p:nvPr/>
        </p:nvCxnSpPr>
        <p:spPr>
          <a:xfrm rot="10800000">
            <a:off x="3353032" y="2978414"/>
            <a:ext cx="187800" cy="1245900"/>
          </a:xfrm>
          <a:prstGeom prst="bentConnector2">
            <a:avLst/>
          </a:prstGeom>
          <a:noFill/>
          <a:ln w="9525" cap="flat" cmpd="sng">
            <a:solidFill>
              <a:srgbClr val="7F7F7F"/>
            </a:solidFill>
            <a:prstDash val="solid"/>
            <a:miter lim="800000"/>
            <a:headEnd type="none" w="sm" len="sm"/>
            <a:tailEnd type="none" w="sm" len="sm"/>
          </a:ln>
        </p:spPr>
      </p:cxnSp>
      <p:cxnSp>
        <p:nvCxnSpPr>
          <p:cNvPr id="387" name="Google Shape;387;p39"/>
          <p:cNvCxnSpPr>
            <a:stCxn id="379" idx="1"/>
            <a:endCxn id="366" idx="2"/>
          </p:cNvCxnSpPr>
          <p:nvPr/>
        </p:nvCxnSpPr>
        <p:spPr>
          <a:xfrm rot="10800000">
            <a:off x="3352988" y="2978539"/>
            <a:ext cx="177900" cy="1937100"/>
          </a:xfrm>
          <a:prstGeom prst="bentConnector2">
            <a:avLst/>
          </a:prstGeom>
          <a:noFill/>
          <a:ln w="9525" cap="flat" cmpd="sng">
            <a:solidFill>
              <a:srgbClr val="7F7F7F"/>
            </a:solidFill>
            <a:prstDash val="solid"/>
            <a:miter lim="800000"/>
            <a:headEnd type="none" w="sm" len="sm"/>
            <a:tailEnd type="none" w="sm" len="sm"/>
          </a:ln>
        </p:spPr>
      </p:cxnSp>
      <p:cxnSp>
        <p:nvCxnSpPr>
          <p:cNvPr id="388" name="Google Shape;388;p39"/>
          <p:cNvCxnSpPr>
            <a:stCxn id="380" idx="1"/>
            <a:endCxn id="367" idx="2"/>
          </p:cNvCxnSpPr>
          <p:nvPr/>
        </p:nvCxnSpPr>
        <p:spPr>
          <a:xfrm rot="10800000">
            <a:off x="5801198" y="2973849"/>
            <a:ext cx="136800" cy="607500"/>
          </a:xfrm>
          <a:prstGeom prst="bentConnector2">
            <a:avLst/>
          </a:prstGeom>
          <a:noFill/>
          <a:ln w="9525" cap="flat" cmpd="sng">
            <a:solidFill>
              <a:srgbClr val="7F7F7F"/>
            </a:solidFill>
            <a:prstDash val="solid"/>
            <a:miter lim="800000"/>
            <a:headEnd type="none" w="sm" len="sm"/>
            <a:tailEnd type="none" w="sm" len="sm"/>
          </a:ln>
        </p:spPr>
      </p:cxnSp>
      <p:cxnSp>
        <p:nvCxnSpPr>
          <p:cNvPr id="389" name="Google Shape;389;p39"/>
          <p:cNvCxnSpPr>
            <a:stCxn id="381" idx="1"/>
            <a:endCxn id="367" idx="2"/>
          </p:cNvCxnSpPr>
          <p:nvPr/>
        </p:nvCxnSpPr>
        <p:spPr>
          <a:xfrm rot="10800000">
            <a:off x="5801198" y="2973713"/>
            <a:ext cx="136800" cy="1276800"/>
          </a:xfrm>
          <a:prstGeom prst="bentConnector2">
            <a:avLst/>
          </a:prstGeom>
          <a:noFill/>
          <a:ln w="9525" cap="flat" cmpd="sng">
            <a:solidFill>
              <a:srgbClr val="7F7F7F"/>
            </a:solidFill>
            <a:prstDash val="solid"/>
            <a:miter lim="800000"/>
            <a:headEnd type="none" w="sm" len="sm"/>
            <a:tailEnd type="none" w="sm" len="sm"/>
          </a:ln>
        </p:spPr>
      </p:cxnSp>
      <p:cxnSp>
        <p:nvCxnSpPr>
          <p:cNvPr id="390" name="Google Shape;390;p39"/>
          <p:cNvCxnSpPr>
            <a:stCxn id="382" idx="1"/>
            <a:endCxn id="367" idx="2"/>
          </p:cNvCxnSpPr>
          <p:nvPr/>
        </p:nvCxnSpPr>
        <p:spPr>
          <a:xfrm rot="10800000">
            <a:off x="5801089" y="2973877"/>
            <a:ext cx="109500" cy="1945800"/>
          </a:xfrm>
          <a:prstGeom prst="bentConnector2">
            <a:avLst/>
          </a:prstGeom>
          <a:noFill/>
          <a:ln w="9525" cap="flat" cmpd="sng">
            <a:solidFill>
              <a:srgbClr val="7F7F7F"/>
            </a:solidFill>
            <a:prstDash val="solid"/>
            <a:miter lim="800000"/>
            <a:headEnd type="none" w="sm" len="sm"/>
            <a:tailEnd type="none" w="sm" len="sm"/>
          </a:ln>
        </p:spPr>
      </p:cxnSp>
      <p:cxnSp>
        <p:nvCxnSpPr>
          <p:cNvPr id="391" name="Google Shape;391;p39"/>
          <p:cNvCxnSpPr>
            <a:stCxn id="377" idx="1"/>
            <a:endCxn id="368" idx="2"/>
          </p:cNvCxnSpPr>
          <p:nvPr/>
        </p:nvCxnSpPr>
        <p:spPr>
          <a:xfrm rot="10800000">
            <a:off x="7889442" y="2982475"/>
            <a:ext cx="180000" cy="599100"/>
          </a:xfrm>
          <a:prstGeom prst="bentConnector2">
            <a:avLst/>
          </a:prstGeom>
          <a:noFill/>
          <a:ln w="9525" cap="flat" cmpd="sng">
            <a:solidFill>
              <a:srgbClr val="7F7F7F"/>
            </a:solidFill>
            <a:prstDash val="solid"/>
            <a:miter lim="800000"/>
            <a:headEnd type="none" w="sm" len="sm"/>
            <a:tailEnd type="none" w="sm" len="sm"/>
          </a:ln>
        </p:spPr>
      </p:cxnSp>
      <p:sp>
        <p:nvSpPr>
          <p:cNvPr id="392" name="Google Shape;392;p39"/>
          <p:cNvSpPr/>
          <p:nvPr/>
        </p:nvSpPr>
        <p:spPr>
          <a:xfrm>
            <a:off x="7545288" y="4791738"/>
            <a:ext cx="2232300" cy="2021700"/>
          </a:xfrm>
          <a:prstGeom prst="roundRect">
            <a:avLst>
              <a:gd name="adj" fmla="val 16667"/>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393" name="Google Shape;393;p39"/>
          <p:cNvCxnSpPr>
            <a:stCxn id="378" idx="1"/>
            <a:endCxn id="368" idx="2"/>
          </p:cNvCxnSpPr>
          <p:nvPr/>
        </p:nvCxnSpPr>
        <p:spPr>
          <a:xfrm rot="10800000">
            <a:off x="7889412" y="2982414"/>
            <a:ext cx="90300" cy="1273200"/>
          </a:xfrm>
          <a:prstGeom prst="bentConnector2">
            <a:avLst/>
          </a:prstGeom>
          <a:noFill/>
          <a:ln w="9525" cap="flat" cmpd="sng">
            <a:solidFill>
              <a:srgbClr val="7F7F7F"/>
            </a:solidFill>
            <a:prstDash val="solid"/>
            <a:miter lim="800000"/>
            <a:headEnd type="none" w="sm" len="sm"/>
            <a:tailEnd type="none" w="sm" len="sm"/>
          </a:ln>
        </p:spPr>
      </p:cxnSp>
      <p:sp>
        <p:nvSpPr>
          <p:cNvPr id="394" name="Google Shape;394;p39"/>
          <p:cNvSpPr/>
          <p:nvPr/>
        </p:nvSpPr>
        <p:spPr>
          <a:xfrm>
            <a:off x="7761312" y="5555961"/>
            <a:ext cx="1800200" cy="487591"/>
          </a:xfrm>
          <a:prstGeom prst="rect">
            <a:avLst/>
          </a:prstGeom>
          <a:solidFill>
            <a:srgbClr val="FFF2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Con sucesor a mediano plazo</a:t>
            </a:r>
            <a:endParaRPr sz="1400" b="0" i="0" u="none" strike="noStrike" cap="none">
              <a:solidFill>
                <a:srgbClr val="000000"/>
              </a:solidFill>
              <a:latin typeface="Arial"/>
              <a:ea typeface="Arial"/>
              <a:cs typeface="Arial"/>
              <a:sym typeface="Arial"/>
            </a:endParaRPr>
          </a:p>
        </p:txBody>
      </p:sp>
      <p:sp>
        <p:nvSpPr>
          <p:cNvPr id="395" name="Google Shape;395;p39"/>
          <p:cNvSpPr/>
          <p:nvPr/>
        </p:nvSpPr>
        <p:spPr>
          <a:xfrm>
            <a:off x="7761312" y="4941168"/>
            <a:ext cx="1800200" cy="487591"/>
          </a:xfrm>
          <a:prstGeom prst="rect">
            <a:avLst/>
          </a:prstGeom>
          <a:solidFill>
            <a:srgbClr val="CCFF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Con sucesor inmediato</a:t>
            </a:r>
            <a:endParaRPr sz="1400" b="0" i="0" u="none" strike="noStrike" cap="none">
              <a:solidFill>
                <a:srgbClr val="000000"/>
              </a:solidFill>
              <a:latin typeface="Arial"/>
              <a:ea typeface="Arial"/>
              <a:cs typeface="Arial"/>
              <a:sym typeface="Arial"/>
            </a:endParaRPr>
          </a:p>
        </p:txBody>
      </p:sp>
      <p:sp>
        <p:nvSpPr>
          <p:cNvPr id="396" name="Google Shape;396;p39"/>
          <p:cNvSpPr/>
          <p:nvPr/>
        </p:nvSpPr>
        <p:spPr>
          <a:xfrm>
            <a:off x="7761312" y="6170754"/>
            <a:ext cx="1800200" cy="487591"/>
          </a:xfrm>
          <a:prstGeom prst="rect">
            <a:avLst/>
          </a:prstGeom>
          <a:solidFill>
            <a:srgbClr val="FFCCCC"/>
          </a:solidFill>
          <a:ln w="127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Sin sucesor</a:t>
            </a:r>
            <a:endParaRPr sz="1400" b="0" i="0" u="none" strike="noStrike" cap="none">
              <a:solidFill>
                <a:srgbClr val="000000"/>
              </a:solidFill>
              <a:latin typeface="Arial"/>
              <a:ea typeface="Arial"/>
              <a:cs typeface="Arial"/>
              <a:sym typeface="Arial"/>
            </a:endParaRPr>
          </a:p>
        </p:txBody>
      </p:sp>
      <p:sp>
        <p:nvSpPr>
          <p:cNvPr id="397" name="Google Shape;397;p39"/>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Planes de sucesión</a:t>
            </a:r>
            <a:endParaRPr sz="1400" b="0" i="0" u="none" strike="noStrike" cap="none">
              <a:solidFill>
                <a:srgbClr val="000000"/>
              </a:solidFill>
              <a:latin typeface="Arial"/>
              <a:ea typeface="Arial"/>
              <a:cs typeface="Arial"/>
              <a:sym typeface="Arial"/>
            </a:endParaRPr>
          </a:p>
        </p:txBody>
      </p:sp>
      <p:pic>
        <p:nvPicPr>
          <p:cNvPr id="398" name="Google Shape;398;p39" descr="Resultado de imagen para utn regional buenos aires ingenieria industrial"/>
          <p:cNvPicPr preferRelativeResize="0"/>
          <p:nvPr/>
        </p:nvPicPr>
        <p:blipFill rotWithShape="1">
          <a:blip r:embed="rId3">
            <a:alphaModFix/>
          </a:blip>
          <a:srcRect/>
          <a:stretch/>
        </p:blipFill>
        <p:spPr>
          <a:xfrm>
            <a:off x="7041232" y="41620"/>
            <a:ext cx="2637692" cy="1011116"/>
          </a:xfrm>
          <a:prstGeom prst="rect">
            <a:avLst/>
          </a:prstGeom>
          <a:noFill/>
          <a:ln>
            <a:noFill/>
          </a:ln>
        </p:spPr>
      </p:pic>
      <p:sp>
        <p:nvSpPr>
          <p:cNvPr id="2" name="TextBox 1">
            <a:extLst>
              <a:ext uri="{FF2B5EF4-FFF2-40B4-BE49-F238E27FC236}">
                <a16:creationId xmlns:a16="http://schemas.microsoft.com/office/drawing/2014/main" id="{36C99A80-8367-69C4-4DA7-38BE8301E1DB}"/>
              </a:ext>
            </a:extLst>
          </p:cNvPr>
          <p:cNvSpPr txBox="1"/>
          <p:nvPr/>
        </p:nvSpPr>
        <p:spPr>
          <a:xfrm>
            <a:off x="1185863" y="6072188"/>
            <a:ext cx="4192173" cy="307777"/>
          </a:xfrm>
          <a:prstGeom prst="rect">
            <a:avLst/>
          </a:prstGeom>
          <a:noFill/>
        </p:spPr>
        <p:txBody>
          <a:bodyPr wrap="none" rtlCol="0">
            <a:spAutoFit/>
          </a:bodyPr>
          <a:lstStyle/>
          <a:p>
            <a:r>
              <a:rPr lang="en-US" dirty="0"/>
              <a:t>https://</a:t>
            </a:r>
            <a:r>
              <a:rPr lang="en-US" dirty="0" err="1"/>
              <a:t>www.youtube.com</a:t>
            </a:r>
            <a:r>
              <a:rPr lang="en-US" dirty="0"/>
              <a:t>/</a:t>
            </a:r>
            <a:r>
              <a:rPr lang="en-US" dirty="0" err="1"/>
              <a:t>watch?v</a:t>
            </a:r>
            <a:r>
              <a:rPr lang="en-US" dirty="0"/>
              <a:t>=ej8qGWMYgys</a:t>
            </a:r>
            <a:endParaRPr lang="en-A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0"/>
          <p:cNvSpPr/>
          <p:nvPr/>
        </p:nvSpPr>
        <p:spPr>
          <a:xfrm>
            <a:off x="1494906" y="2127726"/>
            <a:ext cx="6194398" cy="428628"/>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Gestión del Talento</a:t>
            </a:r>
            <a:endParaRPr sz="1400" b="0" i="0" u="none" strike="noStrike" cap="none">
              <a:solidFill>
                <a:srgbClr val="000000"/>
              </a:solidFill>
              <a:latin typeface="Arial"/>
              <a:ea typeface="Arial"/>
              <a:cs typeface="Arial"/>
              <a:sym typeface="Arial"/>
            </a:endParaRPr>
          </a:p>
        </p:txBody>
      </p:sp>
      <p:sp>
        <p:nvSpPr>
          <p:cNvPr id="406" name="Google Shape;406;p40"/>
          <p:cNvSpPr/>
          <p:nvPr/>
        </p:nvSpPr>
        <p:spPr>
          <a:xfrm>
            <a:off x="1280592" y="2127726"/>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407" name="Google Shape;407;p40"/>
          <p:cNvSpPr/>
          <p:nvPr/>
        </p:nvSpPr>
        <p:spPr>
          <a:xfrm>
            <a:off x="2072680" y="2770668"/>
            <a:ext cx="5616624" cy="416150"/>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Identificación del Talento</a:t>
            </a:r>
            <a:endParaRPr sz="1400" b="0" i="0" u="none" strike="noStrike" cap="none">
              <a:solidFill>
                <a:srgbClr val="000000"/>
              </a:solidFill>
              <a:latin typeface="Arial"/>
              <a:ea typeface="Arial"/>
              <a:cs typeface="Arial"/>
              <a:sym typeface="Arial"/>
            </a:endParaRPr>
          </a:p>
        </p:txBody>
      </p:sp>
      <p:sp>
        <p:nvSpPr>
          <p:cNvPr id="408" name="Google Shape;408;p40">
            <a:hlinkClick r:id="rId3" action="ppaction://hlinksldjump"/>
          </p:cNvPr>
          <p:cNvSpPr/>
          <p:nvPr/>
        </p:nvSpPr>
        <p:spPr>
          <a:xfrm>
            <a:off x="1717200" y="2770668"/>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409" name="Google Shape;409;p40"/>
          <p:cNvSpPr/>
          <p:nvPr/>
        </p:nvSpPr>
        <p:spPr>
          <a:xfrm>
            <a:off x="2072680" y="3429000"/>
            <a:ext cx="5616624" cy="504056"/>
          </a:xfrm>
          <a:prstGeom prst="roundRect">
            <a:avLst>
              <a:gd name="adj" fmla="val 16667"/>
            </a:avLst>
          </a:prstGeom>
          <a:solidFill>
            <a:srgbClr val="DBDADA"/>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 Desarrollo del Talento</a:t>
            </a:r>
            <a:endParaRPr sz="1400" b="0" i="0" u="none" strike="noStrike" cap="none">
              <a:solidFill>
                <a:srgbClr val="000000"/>
              </a:solidFill>
              <a:latin typeface="Arial"/>
              <a:ea typeface="Arial"/>
              <a:cs typeface="Arial"/>
              <a:sym typeface="Arial"/>
            </a:endParaRPr>
          </a:p>
        </p:txBody>
      </p:sp>
      <p:sp>
        <p:nvSpPr>
          <p:cNvPr id="410" name="Google Shape;410;p40"/>
          <p:cNvSpPr/>
          <p:nvPr/>
        </p:nvSpPr>
        <p:spPr>
          <a:xfrm>
            <a:off x="1717200" y="3413610"/>
            <a:ext cx="571504" cy="428628"/>
          </a:xfrm>
          <a:prstGeom prst="ellipse">
            <a:avLst/>
          </a:prstGeom>
          <a:solidFill>
            <a:srgbClr val="8296B0"/>
          </a:solidFill>
          <a:ln>
            <a:noFill/>
          </a:ln>
          <a:effectLst>
            <a:outerShdw blurRad="44450" dist="27940" dir="5400000" algn="ctr">
              <a:srgbClr val="000000">
                <a:alpha val="3137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411" name="Google Shape;411;p40"/>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Gestión del Talento</a:t>
            </a:r>
            <a:endParaRPr sz="1400" b="0" i="0" u="none" strike="noStrike" cap="none">
              <a:solidFill>
                <a:srgbClr val="000000"/>
              </a:solidFill>
              <a:latin typeface="Arial"/>
              <a:ea typeface="Arial"/>
              <a:cs typeface="Arial"/>
              <a:sym typeface="Arial"/>
            </a:endParaRPr>
          </a:p>
        </p:txBody>
      </p:sp>
      <p:sp>
        <p:nvSpPr>
          <p:cNvPr id="412" name="Google Shape;412;p40"/>
          <p:cNvSpPr/>
          <p:nvPr/>
        </p:nvSpPr>
        <p:spPr>
          <a:xfrm>
            <a:off x="632520" y="3429000"/>
            <a:ext cx="864096" cy="428628"/>
          </a:xfrm>
          <a:prstGeom prst="stripedRightArrow">
            <a:avLst>
              <a:gd name="adj1" fmla="val 50000"/>
              <a:gd name="adj2" fmla="val 50000"/>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413" name="Google Shape;413;p40" descr="Resultado de imagen para utn regional buenos aires ingenieria industrial"/>
          <p:cNvPicPr preferRelativeResize="0"/>
          <p:nvPr/>
        </p:nvPicPr>
        <p:blipFill rotWithShape="1">
          <a:blip r:embed="rId4">
            <a:alphaModFix/>
          </a:blip>
          <a:srcRect/>
          <a:stretch/>
        </p:blipFill>
        <p:spPr>
          <a:xfrm>
            <a:off x="7041232" y="0"/>
            <a:ext cx="2637692" cy="1011116"/>
          </a:xfrm>
          <a:prstGeom prst="rect">
            <a:avLst/>
          </a:prstGeom>
          <a:noFill/>
          <a:ln>
            <a:noFill/>
          </a:ln>
        </p:spPr>
      </p:pic>
      <p:sp>
        <p:nvSpPr>
          <p:cNvPr id="414" name="Google Shape;414;p40"/>
          <p:cNvSpPr/>
          <p:nvPr/>
        </p:nvSpPr>
        <p:spPr>
          <a:xfrm>
            <a:off x="2072680" y="4149080"/>
            <a:ext cx="5616624" cy="504056"/>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 Retención del talento</a:t>
            </a:r>
            <a:endParaRPr sz="1400" b="0" i="0" u="none" strike="noStrike" cap="none">
              <a:solidFill>
                <a:srgbClr val="000000"/>
              </a:solidFill>
              <a:latin typeface="Arial"/>
              <a:ea typeface="Arial"/>
              <a:cs typeface="Arial"/>
              <a:sym typeface="Arial"/>
            </a:endParaRPr>
          </a:p>
        </p:txBody>
      </p:sp>
      <p:sp>
        <p:nvSpPr>
          <p:cNvPr id="415" name="Google Shape;415;p40"/>
          <p:cNvSpPr/>
          <p:nvPr/>
        </p:nvSpPr>
        <p:spPr>
          <a:xfrm>
            <a:off x="1717200" y="4133690"/>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41"/>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Desarrollo del talento</a:t>
            </a:r>
            <a:endParaRPr sz="1400" b="0" i="0" u="none" strike="noStrike" cap="none">
              <a:solidFill>
                <a:srgbClr val="000000"/>
              </a:solidFill>
              <a:latin typeface="Arial"/>
              <a:ea typeface="Arial"/>
              <a:cs typeface="Arial"/>
              <a:sym typeface="Arial"/>
            </a:endParaRPr>
          </a:p>
        </p:txBody>
      </p:sp>
      <p:pic>
        <p:nvPicPr>
          <p:cNvPr id="423" name="Google Shape;423;p41" descr="Resultado de imagen para utn regional buenos aires ingenieria industrial"/>
          <p:cNvPicPr preferRelativeResize="0"/>
          <p:nvPr/>
        </p:nvPicPr>
        <p:blipFill rotWithShape="1">
          <a:blip r:embed="rId3">
            <a:alphaModFix/>
          </a:blip>
          <a:srcRect/>
          <a:stretch/>
        </p:blipFill>
        <p:spPr>
          <a:xfrm>
            <a:off x="7041232" y="41620"/>
            <a:ext cx="2637692" cy="1011116"/>
          </a:xfrm>
          <a:prstGeom prst="rect">
            <a:avLst/>
          </a:prstGeom>
          <a:noFill/>
          <a:ln>
            <a:noFill/>
          </a:ln>
        </p:spPr>
      </p:pic>
      <p:pic>
        <p:nvPicPr>
          <p:cNvPr id="424" name="Google Shape;424;p41"/>
          <p:cNvPicPr preferRelativeResize="0"/>
          <p:nvPr/>
        </p:nvPicPr>
        <p:blipFill rotWithShape="1">
          <a:blip r:embed="rId4">
            <a:alphaModFix/>
          </a:blip>
          <a:srcRect t="12211" b="11035"/>
          <a:stretch/>
        </p:blipFill>
        <p:spPr>
          <a:xfrm>
            <a:off x="524404" y="1247476"/>
            <a:ext cx="1040641" cy="1028025"/>
          </a:xfrm>
          <a:prstGeom prst="rect">
            <a:avLst/>
          </a:prstGeom>
          <a:noFill/>
          <a:ln>
            <a:noFill/>
          </a:ln>
        </p:spPr>
      </p:pic>
      <p:pic>
        <p:nvPicPr>
          <p:cNvPr id="425" name="Google Shape;425;p41"/>
          <p:cNvPicPr preferRelativeResize="0"/>
          <p:nvPr/>
        </p:nvPicPr>
        <p:blipFill rotWithShape="1">
          <a:blip r:embed="rId5">
            <a:alphaModFix/>
          </a:blip>
          <a:srcRect/>
          <a:stretch/>
        </p:blipFill>
        <p:spPr>
          <a:xfrm rot="5568893">
            <a:off x="1765145" y="889388"/>
            <a:ext cx="629077" cy="1136614"/>
          </a:xfrm>
          <a:prstGeom prst="rect">
            <a:avLst/>
          </a:prstGeom>
          <a:noFill/>
          <a:ln>
            <a:noFill/>
          </a:ln>
        </p:spPr>
      </p:pic>
      <p:sp>
        <p:nvSpPr>
          <p:cNvPr id="426" name="Google Shape;426;p41"/>
          <p:cNvSpPr/>
          <p:nvPr/>
        </p:nvSpPr>
        <p:spPr>
          <a:xfrm>
            <a:off x="1220954" y="1264658"/>
            <a:ext cx="8340954"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Una vez identificado el talento de la organización, se diseñan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s-AR" sz="2400" b="1" i="0" u="none" strike="noStrike" cap="none">
                <a:solidFill>
                  <a:srgbClr val="7030A0"/>
                </a:solidFill>
                <a:latin typeface="Calibri"/>
                <a:ea typeface="Calibri"/>
                <a:cs typeface="Calibri"/>
                <a:sym typeface="Calibri"/>
              </a:rPr>
              <a:t>PLANES DE DESARROLLO</a:t>
            </a:r>
            <a:endParaRPr sz="1400" b="0" i="0" u="none" strike="noStrike" cap="none">
              <a:solidFill>
                <a:srgbClr val="000000"/>
              </a:solidFill>
              <a:latin typeface="Arial"/>
              <a:ea typeface="Arial"/>
              <a:cs typeface="Arial"/>
              <a:sym typeface="Arial"/>
            </a:endParaRPr>
          </a:p>
        </p:txBody>
      </p:sp>
      <p:sp>
        <p:nvSpPr>
          <p:cNvPr id="427" name="Google Shape;427;p41"/>
          <p:cNvSpPr/>
          <p:nvPr/>
        </p:nvSpPr>
        <p:spPr>
          <a:xfrm>
            <a:off x="834497" y="4011035"/>
            <a:ext cx="2239272" cy="664586"/>
          </a:xfrm>
          <a:prstGeom prst="roundRect">
            <a:avLst>
              <a:gd name="adj" fmla="val 16667"/>
            </a:avLst>
          </a:prstGeom>
          <a:solidFill>
            <a:schemeClr val="accent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chemeClr val="lt1"/>
                </a:solidFill>
                <a:latin typeface="Calibri"/>
                <a:ea typeface="Calibri"/>
                <a:cs typeface="Calibri"/>
                <a:sym typeface="Calibri"/>
              </a:rPr>
              <a:t>OBJETIVO DE DESARROLLO</a:t>
            </a:r>
            <a:endParaRPr sz="1400" b="0" i="0" u="none" strike="noStrike" cap="none">
              <a:solidFill>
                <a:srgbClr val="000000"/>
              </a:solidFill>
              <a:latin typeface="Arial"/>
              <a:ea typeface="Arial"/>
              <a:cs typeface="Arial"/>
              <a:sym typeface="Arial"/>
            </a:endParaRPr>
          </a:p>
        </p:txBody>
      </p:sp>
      <p:sp>
        <p:nvSpPr>
          <p:cNvPr id="428" name="Google Shape;428;p41"/>
          <p:cNvSpPr/>
          <p:nvPr/>
        </p:nvSpPr>
        <p:spPr>
          <a:xfrm>
            <a:off x="3721840" y="4029961"/>
            <a:ext cx="2239272" cy="664586"/>
          </a:xfrm>
          <a:prstGeom prst="roundRect">
            <a:avLst>
              <a:gd name="adj" fmla="val 16667"/>
            </a:avLst>
          </a:prstGeom>
          <a:solidFill>
            <a:srgbClr val="7030A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chemeClr val="lt1"/>
                </a:solidFill>
                <a:latin typeface="Calibri"/>
                <a:ea typeface="Calibri"/>
                <a:cs typeface="Calibri"/>
                <a:sym typeface="Calibri"/>
              </a:rPr>
              <a:t>COMPETENCIA A DESARROLLAR</a:t>
            </a:r>
            <a:endParaRPr sz="1400" b="0" i="0" u="none" strike="noStrike" cap="none">
              <a:solidFill>
                <a:srgbClr val="000000"/>
              </a:solidFill>
              <a:latin typeface="Arial"/>
              <a:ea typeface="Arial"/>
              <a:cs typeface="Arial"/>
              <a:sym typeface="Arial"/>
            </a:endParaRPr>
          </a:p>
        </p:txBody>
      </p:sp>
      <p:sp>
        <p:nvSpPr>
          <p:cNvPr id="429" name="Google Shape;429;p41"/>
          <p:cNvSpPr txBox="1"/>
          <p:nvPr/>
        </p:nvSpPr>
        <p:spPr>
          <a:xfrm>
            <a:off x="755019" y="4925486"/>
            <a:ext cx="2398228" cy="73866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2060"/>
              </a:buClr>
              <a:buSzPts val="1400"/>
              <a:buFont typeface="Noto Sans"/>
              <a:buChar char="▪"/>
            </a:pPr>
            <a:r>
              <a:rPr lang="es-AR" sz="1400" b="0" i="0" u="none" strike="noStrike" cap="none">
                <a:solidFill>
                  <a:srgbClr val="002060"/>
                </a:solidFill>
                <a:latin typeface="Calibri"/>
                <a:ea typeface="Calibri"/>
                <a:cs typeface="Calibri"/>
                <a:sym typeface="Calibri"/>
              </a:rPr>
              <a:t>Consolidarse en su rol de liderazgo, ampliando su visión de negocio.</a:t>
            </a:r>
            <a:endParaRPr sz="1400" b="0" i="0" u="none" strike="noStrike" cap="none">
              <a:solidFill>
                <a:srgbClr val="000000"/>
              </a:solidFill>
              <a:latin typeface="Arial"/>
              <a:ea typeface="Arial"/>
              <a:cs typeface="Arial"/>
              <a:sym typeface="Arial"/>
            </a:endParaRPr>
          </a:p>
        </p:txBody>
      </p:sp>
      <p:pic>
        <p:nvPicPr>
          <p:cNvPr id="430" name="Google Shape;430;p41" descr="Agregar"/>
          <p:cNvPicPr preferRelativeResize="0"/>
          <p:nvPr/>
        </p:nvPicPr>
        <p:blipFill rotWithShape="1">
          <a:blip r:embed="rId6">
            <a:alphaModFix/>
          </a:blip>
          <a:srcRect/>
          <a:stretch/>
        </p:blipFill>
        <p:spPr>
          <a:xfrm>
            <a:off x="3217785" y="4238239"/>
            <a:ext cx="395507" cy="395507"/>
          </a:xfrm>
          <a:prstGeom prst="rect">
            <a:avLst/>
          </a:prstGeom>
          <a:noFill/>
          <a:ln>
            <a:noFill/>
          </a:ln>
        </p:spPr>
      </p:pic>
      <p:sp>
        <p:nvSpPr>
          <p:cNvPr id="431" name="Google Shape;431;p41"/>
          <p:cNvSpPr/>
          <p:nvPr/>
        </p:nvSpPr>
        <p:spPr>
          <a:xfrm>
            <a:off x="6818184" y="4029961"/>
            <a:ext cx="2239272" cy="654565"/>
          </a:xfrm>
          <a:prstGeom prst="roundRect">
            <a:avLst>
              <a:gd name="adj" fmla="val 16667"/>
            </a:avLst>
          </a:prstGeom>
          <a:solidFill>
            <a:srgbClr val="33CCCC"/>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chemeClr val="lt1"/>
                </a:solidFill>
                <a:latin typeface="Calibri"/>
                <a:ea typeface="Calibri"/>
                <a:cs typeface="Calibri"/>
                <a:sym typeface="Calibri"/>
              </a:rPr>
              <a:t>ACCIÓN DE DESARROLLO</a:t>
            </a:r>
            <a:endParaRPr sz="1400" b="0" i="0" u="none" strike="noStrike" cap="none">
              <a:solidFill>
                <a:srgbClr val="000000"/>
              </a:solidFill>
              <a:latin typeface="Arial"/>
              <a:ea typeface="Arial"/>
              <a:cs typeface="Arial"/>
              <a:sym typeface="Arial"/>
            </a:endParaRPr>
          </a:p>
        </p:txBody>
      </p:sp>
      <p:pic>
        <p:nvPicPr>
          <p:cNvPr id="432" name="Google Shape;432;p41" descr="Agregar"/>
          <p:cNvPicPr preferRelativeResize="0"/>
          <p:nvPr/>
        </p:nvPicPr>
        <p:blipFill rotWithShape="1">
          <a:blip r:embed="rId6">
            <a:alphaModFix/>
          </a:blip>
          <a:srcRect/>
          <a:stretch/>
        </p:blipFill>
        <p:spPr>
          <a:xfrm>
            <a:off x="6179744" y="4266136"/>
            <a:ext cx="395507" cy="395507"/>
          </a:xfrm>
          <a:prstGeom prst="rect">
            <a:avLst/>
          </a:prstGeom>
          <a:noFill/>
          <a:ln>
            <a:noFill/>
          </a:ln>
        </p:spPr>
      </p:pic>
      <p:sp>
        <p:nvSpPr>
          <p:cNvPr id="433" name="Google Shape;433;p41"/>
          <p:cNvSpPr txBox="1"/>
          <p:nvPr/>
        </p:nvSpPr>
        <p:spPr>
          <a:xfrm>
            <a:off x="3562884" y="4925486"/>
            <a:ext cx="2686260" cy="52322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2060"/>
              </a:buClr>
              <a:buSzPts val="1400"/>
              <a:buFont typeface="Noto Sans"/>
              <a:buChar char="▪"/>
            </a:pPr>
            <a:r>
              <a:rPr lang="es-AR" sz="1400" b="0" i="0" u="none" strike="noStrike" cap="none">
                <a:solidFill>
                  <a:srgbClr val="002060"/>
                </a:solidFill>
                <a:latin typeface="Calibri"/>
                <a:ea typeface="Calibri"/>
                <a:cs typeface="Calibri"/>
                <a:sym typeface="Calibri"/>
              </a:rPr>
              <a:t>Liderazgo de colaboradores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400"/>
              <a:buFont typeface="Noto Sans"/>
              <a:buChar char="▪"/>
            </a:pPr>
            <a:r>
              <a:rPr lang="es-AR" sz="1400" b="0" i="0" u="none" strike="noStrike" cap="none">
                <a:solidFill>
                  <a:srgbClr val="002060"/>
                </a:solidFill>
                <a:latin typeface="Calibri"/>
                <a:ea typeface="Calibri"/>
                <a:cs typeface="Calibri"/>
                <a:sym typeface="Calibri"/>
              </a:rPr>
              <a:t>Visión estratégica</a:t>
            </a:r>
            <a:endParaRPr sz="1400" b="0" i="0" u="none" strike="noStrike" cap="none">
              <a:solidFill>
                <a:srgbClr val="000000"/>
              </a:solidFill>
              <a:latin typeface="Arial"/>
              <a:ea typeface="Arial"/>
              <a:cs typeface="Arial"/>
              <a:sym typeface="Arial"/>
            </a:endParaRPr>
          </a:p>
        </p:txBody>
      </p:sp>
      <p:sp>
        <p:nvSpPr>
          <p:cNvPr id="434" name="Google Shape;434;p41"/>
          <p:cNvSpPr txBox="1"/>
          <p:nvPr/>
        </p:nvSpPr>
        <p:spPr>
          <a:xfrm>
            <a:off x="6800646" y="4925486"/>
            <a:ext cx="2760865" cy="181588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2060"/>
              </a:buClr>
              <a:buSzPts val="1400"/>
              <a:buFont typeface="Noto Sans"/>
              <a:buChar char="▪"/>
            </a:pPr>
            <a:r>
              <a:rPr lang="es-AR" sz="1400" b="0" i="0" u="none" strike="noStrike" cap="none">
                <a:solidFill>
                  <a:srgbClr val="002060"/>
                </a:solidFill>
                <a:latin typeface="Calibri"/>
                <a:ea typeface="Calibri"/>
                <a:cs typeface="Calibri"/>
                <a:sym typeface="Calibri"/>
              </a:rPr>
              <a:t>Generar más reuniones de equipo donde se revisen los planes estratégicos del área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400"/>
              <a:buFont typeface="Noto Sans"/>
              <a:buChar char="▪"/>
            </a:pPr>
            <a:r>
              <a:rPr lang="es-AR" sz="1400" b="0" i="0" u="none" strike="noStrike" cap="none">
                <a:solidFill>
                  <a:srgbClr val="002060"/>
                </a:solidFill>
                <a:latin typeface="Calibri"/>
                <a:ea typeface="Calibri"/>
                <a:cs typeface="Calibri"/>
                <a:sym typeface="Calibri"/>
              </a:rPr>
              <a:t>Realizar curso de entrenamiento gerencial</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400"/>
              <a:buFont typeface="Noto Sans"/>
              <a:buChar char="▪"/>
            </a:pPr>
            <a:r>
              <a:rPr lang="es-AR" sz="1400" b="0" i="0" u="none" strike="noStrike" cap="none">
                <a:solidFill>
                  <a:srgbClr val="002060"/>
                </a:solidFill>
                <a:latin typeface="Calibri"/>
                <a:ea typeface="Calibri"/>
                <a:cs typeface="Calibri"/>
                <a:sym typeface="Calibri"/>
              </a:rPr>
              <a:t>Recibir mentoring de parte del jefe de su jefe</a:t>
            </a:r>
            <a:endParaRPr sz="1400" b="0" i="0" u="none" strike="noStrike" cap="none">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2060"/>
              </a:buClr>
              <a:buSzPts val="1400"/>
              <a:buFont typeface="Noto Sans"/>
              <a:buNone/>
            </a:pPr>
            <a:endParaRPr sz="1400" b="0" i="0" u="none" strike="noStrike" cap="none">
              <a:solidFill>
                <a:srgbClr val="002060"/>
              </a:solidFill>
              <a:latin typeface="Calibri"/>
              <a:ea typeface="Calibri"/>
              <a:cs typeface="Calibri"/>
              <a:sym typeface="Calibri"/>
            </a:endParaRPr>
          </a:p>
        </p:txBody>
      </p:sp>
      <p:sp>
        <p:nvSpPr>
          <p:cNvPr id="435" name="Google Shape;435;p41"/>
          <p:cNvSpPr txBox="1"/>
          <p:nvPr/>
        </p:nvSpPr>
        <p:spPr>
          <a:xfrm>
            <a:off x="128464" y="2401843"/>
            <a:ext cx="9649072"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2060"/>
              </a:buClr>
              <a:buSzPts val="1400"/>
              <a:buFont typeface="Noto Sans"/>
              <a:buNone/>
            </a:pPr>
            <a:r>
              <a:rPr lang="es-AR" sz="1400" b="1" i="0" u="none" strike="noStrike" cap="none">
                <a:solidFill>
                  <a:srgbClr val="002060"/>
                </a:solidFill>
                <a:latin typeface="Calibri"/>
                <a:ea typeface="Calibri"/>
                <a:cs typeface="Calibri"/>
                <a:sym typeface="Calibri"/>
              </a:rPr>
              <a:t>Ejemplo: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2060"/>
              </a:buClr>
              <a:buSzPts val="1400"/>
              <a:buFont typeface="Noto Sans"/>
              <a:buNone/>
            </a:pPr>
            <a:r>
              <a:rPr lang="es-AR" sz="1400" b="0" i="0" u="none" strike="noStrike" cap="none">
                <a:solidFill>
                  <a:srgbClr val="002060"/>
                </a:solidFill>
                <a:latin typeface="Calibri"/>
                <a:ea typeface="Calibri"/>
                <a:cs typeface="Calibri"/>
                <a:sym typeface="Calibri"/>
              </a:rPr>
              <a:t>Marina es líder de un equipo de 4 personas hace 2 años. Tiene excelente desempeño y se la identificó como alto potencial. Está identificada como sucesora de su Gerente en el mediano plazo (2 años)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2060"/>
              </a:buClr>
              <a:buSzPts val="1400"/>
              <a:buFont typeface="Noto Sans"/>
              <a:buNone/>
            </a:pPr>
            <a:r>
              <a:rPr lang="es-AR" sz="1400" b="1" i="0" u="none" strike="noStrike" cap="none">
                <a:solidFill>
                  <a:srgbClr val="002060"/>
                </a:solidFill>
                <a:latin typeface="Calibri"/>
                <a:ea typeface="Calibri"/>
                <a:cs typeface="Calibri"/>
                <a:sym typeface="Calibri"/>
              </a:rPr>
              <a:t>Oportunidades de mejora: </a:t>
            </a:r>
            <a:r>
              <a:rPr lang="es-AR" sz="1400" b="0" i="0" u="none" strike="noStrike" cap="none">
                <a:solidFill>
                  <a:srgbClr val="002060"/>
                </a:solidFill>
                <a:latin typeface="Calibri"/>
                <a:ea typeface="Calibri"/>
                <a:cs typeface="Calibri"/>
                <a:sym typeface="Calibri"/>
              </a:rPr>
              <a:t>Generar una visión más amplia que la de su área actual. Entender el negocio de forma más integral para poder ocupar en un futuro la posición de Gerencia, que involucra su área y otras 4 más.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2060"/>
              </a:buClr>
              <a:buSzPts val="1400"/>
              <a:buFont typeface="Noto Sans"/>
              <a:buNone/>
            </a:pPr>
            <a:r>
              <a:rPr lang="es-AR" sz="1400" b="0" i="0" u="none" strike="noStrike" cap="none">
                <a:solidFill>
                  <a:srgbClr val="002060"/>
                </a:solidFill>
                <a:latin typeface="Calibri"/>
                <a:ea typeface="Calibri"/>
                <a:cs typeface="Calibri"/>
                <a:sym typeface="Calibri"/>
              </a:rPr>
              <a:t>Liderar equipos más numerosos y con diferentes perfiles.</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3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pic>
        <p:nvPicPr>
          <p:cNvPr id="2" name="Picture 1">
            <a:extLst>
              <a:ext uri="{FF2B5EF4-FFF2-40B4-BE49-F238E27FC236}">
                <a16:creationId xmlns:a16="http://schemas.microsoft.com/office/drawing/2014/main" id="{E53597E8-BF8C-85EA-5403-0CC2CE88584B}"/>
              </a:ext>
            </a:extLst>
          </p:cNvPr>
          <p:cNvPicPr>
            <a:picLocks noChangeAspect="1"/>
          </p:cNvPicPr>
          <p:nvPr/>
        </p:nvPicPr>
        <p:blipFill>
          <a:blip r:embed="rId3"/>
          <a:stretch>
            <a:fillRect/>
          </a:stretch>
        </p:blipFill>
        <p:spPr>
          <a:xfrm>
            <a:off x="709613" y="529697"/>
            <a:ext cx="7772400" cy="579860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42"/>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Acciones de Desarrollo</a:t>
            </a:r>
            <a:endParaRPr sz="1400" b="0" i="0" u="none" strike="noStrike" cap="none">
              <a:solidFill>
                <a:srgbClr val="000000"/>
              </a:solidFill>
              <a:latin typeface="Arial"/>
              <a:ea typeface="Arial"/>
              <a:cs typeface="Arial"/>
              <a:sym typeface="Arial"/>
            </a:endParaRPr>
          </a:p>
        </p:txBody>
      </p:sp>
      <p:pic>
        <p:nvPicPr>
          <p:cNvPr id="450" name="Google Shape;450;p42" descr="Resultado de imagen para utn regional buenos aires ingenieria industrial"/>
          <p:cNvPicPr preferRelativeResize="0"/>
          <p:nvPr/>
        </p:nvPicPr>
        <p:blipFill rotWithShape="1">
          <a:blip r:embed="rId3">
            <a:alphaModFix/>
          </a:blip>
          <a:srcRect/>
          <a:stretch/>
        </p:blipFill>
        <p:spPr>
          <a:xfrm>
            <a:off x="7041232" y="41620"/>
            <a:ext cx="2637692" cy="1011116"/>
          </a:xfrm>
          <a:prstGeom prst="rect">
            <a:avLst/>
          </a:prstGeom>
          <a:noFill/>
          <a:ln>
            <a:noFill/>
          </a:ln>
        </p:spPr>
      </p:pic>
      <p:sp>
        <p:nvSpPr>
          <p:cNvPr id="451" name="Google Shape;451;p42"/>
          <p:cNvSpPr/>
          <p:nvPr/>
        </p:nvSpPr>
        <p:spPr>
          <a:xfrm>
            <a:off x="1064568" y="3771299"/>
            <a:ext cx="4176464" cy="2359964"/>
          </a:xfrm>
          <a:prstGeom prst="rect">
            <a:avLst/>
          </a:prstGeom>
          <a:solidFill>
            <a:srgbClr val="D8D8D8"/>
          </a:solidFill>
          <a:ln>
            <a:noFill/>
          </a:ln>
        </p:spPr>
        <p:txBody>
          <a:bodyPr spcFirstLastPara="1" wrap="square" lIns="91425" tIns="45700" rIns="91425" bIns="45700" anchor="ctr" anchorCtr="0">
            <a:noAutofit/>
          </a:bodyPr>
          <a:lstStyle/>
          <a:p>
            <a:pPr marL="285750" marR="0" lvl="0" indent="-285750" algn="l" rtl="0">
              <a:lnSpc>
                <a:spcPct val="150000"/>
              </a:lnSpc>
              <a:spcBef>
                <a:spcPts val="0"/>
              </a:spcBef>
              <a:spcAft>
                <a:spcPts val="0"/>
              </a:spcAft>
              <a:buClr>
                <a:srgbClr val="000000"/>
              </a:buClr>
              <a:buSzPts val="1400"/>
              <a:buFont typeface="Arial"/>
              <a:buChar char="•"/>
            </a:pPr>
            <a:r>
              <a:rPr lang="es-AR" sz="1400" b="0" i="0" u="none" strike="noStrike" cap="none">
                <a:solidFill>
                  <a:srgbClr val="000000"/>
                </a:solidFill>
                <a:latin typeface="Calibri"/>
                <a:ea typeface="Calibri"/>
                <a:cs typeface="Calibri"/>
                <a:sym typeface="Calibri"/>
              </a:rPr>
              <a:t>Asumir un nuevo rol o posición.</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400"/>
              <a:buFont typeface="Arial"/>
              <a:buChar char="•"/>
            </a:pPr>
            <a:r>
              <a:rPr lang="es-AR" sz="1400" b="0" i="0" u="none" strike="noStrike" cap="none">
                <a:solidFill>
                  <a:srgbClr val="000000"/>
                </a:solidFill>
                <a:latin typeface="Calibri"/>
                <a:ea typeface="Calibri"/>
                <a:cs typeface="Calibri"/>
                <a:sym typeface="Calibri"/>
              </a:rPr>
              <a:t>Asignación transitoria a un nuevo rol.</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400"/>
              <a:buFont typeface="Arial"/>
              <a:buChar char="•"/>
            </a:pPr>
            <a:r>
              <a:rPr lang="es-AR" sz="1400" b="0" i="0" u="none" strike="noStrike" cap="none">
                <a:solidFill>
                  <a:srgbClr val="000000"/>
                </a:solidFill>
                <a:latin typeface="Calibri"/>
                <a:ea typeface="Calibri"/>
                <a:cs typeface="Calibri"/>
                <a:sym typeface="Calibri"/>
              </a:rPr>
              <a:t>Asignación de una nueva responsabilidad en la posición actual. </a:t>
            </a:r>
            <a:endParaRPr sz="1400" b="0" i="0" u="none" strike="noStrike" cap="none">
              <a:solidFill>
                <a:srgbClr val="000000"/>
              </a:solidFill>
              <a:latin typeface="Calibri"/>
              <a:ea typeface="Calibri"/>
              <a:cs typeface="Calibri"/>
              <a:sym typeface="Calibri"/>
            </a:endParaRPr>
          </a:p>
          <a:p>
            <a:pPr marL="285750" marR="0" lvl="0" indent="-285750" algn="l" rtl="0">
              <a:lnSpc>
                <a:spcPct val="150000"/>
              </a:lnSpc>
              <a:spcBef>
                <a:spcPts val="0"/>
              </a:spcBef>
              <a:spcAft>
                <a:spcPts val="0"/>
              </a:spcAft>
              <a:buClr>
                <a:srgbClr val="000000"/>
              </a:buClr>
              <a:buSzPts val="1400"/>
              <a:buFont typeface="Arial"/>
              <a:buChar char="•"/>
            </a:pPr>
            <a:r>
              <a:rPr lang="es-AR" sz="1400" b="0" i="0" u="none" strike="noStrike" cap="none">
                <a:solidFill>
                  <a:srgbClr val="000000"/>
                </a:solidFill>
                <a:latin typeface="Calibri"/>
                <a:ea typeface="Calibri"/>
                <a:cs typeface="Calibri"/>
                <a:sym typeface="Calibri"/>
              </a:rPr>
              <a:t>Participación en equipos multidisciplinarios o en proyectos. </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400"/>
              <a:buFont typeface="Arial"/>
              <a:buChar char="•"/>
            </a:pPr>
            <a:r>
              <a:rPr lang="es-AR" sz="1400" b="0" i="0" u="none" strike="noStrike" cap="none">
                <a:solidFill>
                  <a:srgbClr val="000000"/>
                </a:solidFill>
                <a:latin typeface="Calibri"/>
                <a:ea typeface="Calibri"/>
                <a:cs typeface="Calibri"/>
                <a:sym typeface="Calibri"/>
              </a:rPr>
              <a:t>Realización de trabajos de investigación.</a:t>
            </a:r>
            <a:endParaRPr sz="1400" b="0" i="0" u="none" strike="noStrike" cap="none">
              <a:solidFill>
                <a:srgbClr val="000000"/>
              </a:solidFill>
              <a:latin typeface="Arial"/>
              <a:ea typeface="Arial"/>
              <a:cs typeface="Arial"/>
              <a:sym typeface="Arial"/>
            </a:endParaRPr>
          </a:p>
        </p:txBody>
      </p:sp>
      <p:sp>
        <p:nvSpPr>
          <p:cNvPr id="452" name="Google Shape;452;p42"/>
          <p:cNvSpPr/>
          <p:nvPr/>
        </p:nvSpPr>
        <p:spPr>
          <a:xfrm>
            <a:off x="5457056" y="3771299"/>
            <a:ext cx="1728192" cy="2376150"/>
          </a:xfrm>
          <a:prstGeom prst="rect">
            <a:avLst/>
          </a:prstGeom>
          <a:solidFill>
            <a:srgbClr val="D8D8D8"/>
          </a:solidFill>
          <a:ln>
            <a:noFill/>
          </a:ln>
        </p:spPr>
        <p:txBody>
          <a:bodyPr spcFirstLastPara="1" wrap="square" lIns="91425" tIns="45700" rIns="91425" bIns="45700" anchor="ctr" anchorCtr="0">
            <a:noAutofit/>
          </a:bodyPr>
          <a:lstStyle/>
          <a:p>
            <a:pPr marL="285750" marR="0" lvl="0" indent="-285750" algn="l" rtl="0">
              <a:lnSpc>
                <a:spcPct val="150000"/>
              </a:lnSpc>
              <a:spcBef>
                <a:spcPts val="0"/>
              </a:spcBef>
              <a:spcAft>
                <a:spcPts val="0"/>
              </a:spcAft>
              <a:buClr>
                <a:srgbClr val="000000"/>
              </a:buClr>
              <a:buSzPts val="1400"/>
              <a:buFont typeface="Arial"/>
              <a:buChar char="•"/>
            </a:pPr>
            <a:r>
              <a:rPr lang="es-AR" sz="1400" b="0" i="0" u="none" strike="noStrike" cap="none">
                <a:solidFill>
                  <a:srgbClr val="000000"/>
                </a:solidFill>
                <a:latin typeface="Calibri"/>
                <a:ea typeface="Calibri"/>
                <a:cs typeface="Calibri"/>
                <a:sym typeface="Calibri"/>
              </a:rPr>
              <a:t>Job shadowing.</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400"/>
              <a:buFont typeface="Arial"/>
              <a:buChar char="•"/>
            </a:pPr>
            <a:r>
              <a:rPr lang="es-AR" sz="1400" b="0" i="0" u="none" strike="noStrike" cap="none">
                <a:solidFill>
                  <a:srgbClr val="000000"/>
                </a:solidFill>
                <a:latin typeface="Calibri"/>
                <a:ea typeface="Calibri"/>
                <a:cs typeface="Calibri"/>
                <a:sym typeface="Calibri"/>
              </a:rPr>
              <a:t>Coaching.</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400"/>
              <a:buFont typeface="Arial"/>
              <a:buChar char="•"/>
            </a:pPr>
            <a:r>
              <a:rPr lang="es-AR" sz="1400" b="0" i="0" u="none" strike="noStrike" cap="none">
                <a:solidFill>
                  <a:srgbClr val="000000"/>
                </a:solidFill>
                <a:latin typeface="Calibri"/>
                <a:ea typeface="Calibri"/>
                <a:cs typeface="Calibri"/>
                <a:sym typeface="Calibri"/>
              </a:rPr>
              <a:t>Mentoring.</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400"/>
              <a:buFont typeface="Arial"/>
              <a:buChar char="•"/>
            </a:pPr>
            <a:r>
              <a:rPr lang="es-AR" sz="1400" b="0" i="0" u="none" strike="noStrike" cap="none">
                <a:solidFill>
                  <a:srgbClr val="000000"/>
                </a:solidFill>
                <a:latin typeface="Calibri"/>
                <a:ea typeface="Calibri"/>
                <a:cs typeface="Calibri"/>
                <a:sym typeface="Calibri"/>
              </a:rPr>
              <a:t>Facilitador interno.</a:t>
            </a:r>
            <a:endParaRPr sz="1400" b="0" i="0" u="none" strike="noStrike" cap="none">
              <a:solidFill>
                <a:srgbClr val="000000"/>
              </a:solidFill>
              <a:latin typeface="Arial"/>
              <a:ea typeface="Arial"/>
              <a:cs typeface="Arial"/>
              <a:sym typeface="Arial"/>
            </a:endParaRPr>
          </a:p>
        </p:txBody>
      </p:sp>
      <p:sp>
        <p:nvSpPr>
          <p:cNvPr id="453" name="Google Shape;453;p42"/>
          <p:cNvSpPr/>
          <p:nvPr/>
        </p:nvSpPr>
        <p:spPr>
          <a:xfrm>
            <a:off x="7473280" y="3771299"/>
            <a:ext cx="1728192" cy="2411956"/>
          </a:xfrm>
          <a:prstGeom prst="rect">
            <a:avLst/>
          </a:prstGeom>
          <a:solidFill>
            <a:srgbClr val="D8D8D8"/>
          </a:solidFill>
          <a:ln>
            <a:noFill/>
          </a:ln>
        </p:spPr>
        <p:txBody>
          <a:bodyPr spcFirstLastPara="1" wrap="square" lIns="91425" tIns="45700" rIns="91425" bIns="45700" anchor="ctr" anchorCtr="0">
            <a:noAutofit/>
          </a:bodyPr>
          <a:lstStyle/>
          <a:p>
            <a:pPr marL="285750" marR="0" lvl="0" indent="-285750" algn="l" rtl="0">
              <a:lnSpc>
                <a:spcPct val="150000"/>
              </a:lnSpc>
              <a:spcBef>
                <a:spcPts val="0"/>
              </a:spcBef>
              <a:spcAft>
                <a:spcPts val="0"/>
              </a:spcAft>
              <a:buClr>
                <a:srgbClr val="000000"/>
              </a:buClr>
              <a:buSzPts val="1400"/>
              <a:buFont typeface="Arial"/>
              <a:buChar char="•"/>
            </a:pPr>
            <a:r>
              <a:rPr lang="es-AR" sz="1400" b="0" i="0" u="none" strike="noStrike" cap="none">
                <a:solidFill>
                  <a:srgbClr val="000000"/>
                </a:solidFill>
                <a:latin typeface="Calibri"/>
                <a:ea typeface="Calibri"/>
                <a:cs typeface="Calibri"/>
                <a:sym typeface="Calibri"/>
              </a:rPr>
              <a:t>Capacitación en aula.</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400"/>
              <a:buFont typeface="Arial"/>
              <a:buChar char="•"/>
            </a:pPr>
            <a:r>
              <a:rPr lang="es-AR" sz="1400" b="0" i="0" u="none" strike="noStrike" cap="none">
                <a:solidFill>
                  <a:srgbClr val="000000"/>
                </a:solidFill>
                <a:latin typeface="Calibri"/>
                <a:ea typeface="Calibri"/>
                <a:cs typeface="Calibri"/>
                <a:sym typeface="Calibri"/>
              </a:rPr>
              <a:t>Cursos virtuales.</a:t>
            </a:r>
            <a:endParaRPr sz="1400" b="0" i="0" u="none" strike="noStrike" cap="none">
              <a:solidFill>
                <a:srgbClr val="000000"/>
              </a:solidFill>
              <a:latin typeface="Calibri"/>
              <a:ea typeface="Calibri"/>
              <a:cs typeface="Calibri"/>
              <a:sym typeface="Calibri"/>
            </a:endParaRPr>
          </a:p>
          <a:p>
            <a:pPr marL="285750" marR="0" lvl="0" indent="-285750" algn="l" rtl="0">
              <a:lnSpc>
                <a:spcPct val="150000"/>
              </a:lnSpc>
              <a:spcBef>
                <a:spcPts val="0"/>
              </a:spcBef>
              <a:spcAft>
                <a:spcPts val="0"/>
              </a:spcAft>
              <a:buClr>
                <a:srgbClr val="000000"/>
              </a:buClr>
              <a:buSzPts val="1400"/>
              <a:buFont typeface="Arial"/>
              <a:buChar char="•"/>
            </a:pPr>
            <a:r>
              <a:rPr lang="es-AR" sz="1400" b="0" i="0" u="none" strike="noStrike" cap="none">
                <a:solidFill>
                  <a:srgbClr val="000000"/>
                </a:solidFill>
                <a:latin typeface="Calibri"/>
                <a:ea typeface="Calibri"/>
                <a:cs typeface="Calibri"/>
                <a:sym typeface="Calibri"/>
              </a:rPr>
              <a:t>Talleres.</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400"/>
              <a:buFont typeface="Arial"/>
              <a:buChar char="•"/>
            </a:pPr>
            <a:r>
              <a:rPr lang="es-AR" sz="1400" b="0" i="0" u="none" strike="noStrike" cap="none">
                <a:solidFill>
                  <a:srgbClr val="000000"/>
                </a:solidFill>
                <a:latin typeface="Calibri"/>
                <a:ea typeface="Calibri"/>
                <a:cs typeface="Calibri"/>
                <a:sym typeface="Calibri"/>
              </a:rPr>
              <a:t>Libros</a:t>
            </a:r>
            <a:endParaRPr sz="1400" b="0" i="0" u="none" strike="noStrike" cap="none">
              <a:solidFill>
                <a:srgbClr val="000000"/>
              </a:solidFill>
              <a:latin typeface="Calibri"/>
              <a:ea typeface="Calibri"/>
              <a:cs typeface="Calibri"/>
              <a:sym typeface="Calibri"/>
            </a:endParaRPr>
          </a:p>
          <a:p>
            <a:pPr marL="285750" marR="0" lvl="0" indent="-285750" algn="l" rtl="0">
              <a:lnSpc>
                <a:spcPct val="150000"/>
              </a:lnSpc>
              <a:spcBef>
                <a:spcPts val="0"/>
              </a:spcBef>
              <a:spcAft>
                <a:spcPts val="0"/>
              </a:spcAft>
              <a:buClr>
                <a:srgbClr val="000000"/>
              </a:buClr>
              <a:buSzPts val="1400"/>
              <a:buFont typeface="Arial"/>
              <a:buChar char="•"/>
            </a:pPr>
            <a:r>
              <a:rPr lang="es-AR" sz="1400" b="0" i="0" u="none" strike="noStrike" cap="none">
                <a:solidFill>
                  <a:srgbClr val="000000"/>
                </a:solidFill>
                <a:latin typeface="Calibri"/>
                <a:ea typeface="Calibri"/>
                <a:cs typeface="Calibri"/>
                <a:sym typeface="Calibri"/>
              </a:rPr>
              <a:t>Podcasts, etc</a:t>
            </a:r>
            <a:endParaRPr sz="1400" b="0" i="0" u="none" strike="noStrike" cap="none">
              <a:solidFill>
                <a:srgbClr val="000000"/>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1400"/>
              <a:buFont typeface="Arial"/>
              <a:buNone/>
            </a:pPr>
            <a:endParaRPr sz="1400" b="1" i="0" u="none" strike="noStrike" cap="none">
              <a:solidFill>
                <a:srgbClr val="000000"/>
              </a:solidFill>
              <a:latin typeface="Calibri"/>
              <a:ea typeface="Calibri"/>
              <a:cs typeface="Calibri"/>
              <a:sym typeface="Calibri"/>
            </a:endParaRPr>
          </a:p>
        </p:txBody>
      </p:sp>
      <p:pic>
        <p:nvPicPr>
          <p:cNvPr id="454" name="Google Shape;454;p42" descr="Imagen que contiene señal, luz, tráfico, hidrante&#10;&#10;Descripción generada automáticamente"/>
          <p:cNvPicPr preferRelativeResize="0"/>
          <p:nvPr/>
        </p:nvPicPr>
        <p:blipFill rotWithShape="1">
          <a:blip r:embed="rId4">
            <a:alphaModFix/>
          </a:blip>
          <a:srcRect/>
          <a:stretch/>
        </p:blipFill>
        <p:spPr>
          <a:xfrm>
            <a:off x="1064568" y="1229620"/>
            <a:ext cx="7602757" cy="235996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43"/>
          <p:cNvSpPr/>
          <p:nvPr/>
        </p:nvSpPr>
        <p:spPr>
          <a:xfrm>
            <a:off x="1494906" y="2127726"/>
            <a:ext cx="6194398" cy="428628"/>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Gestión del Talento</a:t>
            </a:r>
            <a:endParaRPr sz="1400" b="0" i="0" u="none" strike="noStrike" cap="none">
              <a:solidFill>
                <a:srgbClr val="000000"/>
              </a:solidFill>
              <a:latin typeface="Arial"/>
              <a:ea typeface="Arial"/>
              <a:cs typeface="Arial"/>
              <a:sym typeface="Arial"/>
            </a:endParaRPr>
          </a:p>
        </p:txBody>
      </p:sp>
      <p:sp>
        <p:nvSpPr>
          <p:cNvPr id="462" name="Google Shape;462;p43"/>
          <p:cNvSpPr/>
          <p:nvPr/>
        </p:nvSpPr>
        <p:spPr>
          <a:xfrm>
            <a:off x="1280592" y="2127726"/>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463" name="Google Shape;463;p43"/>
          <p:cNvSpPr/>
          <p:nvPr/>
        </p:nvSpPr>
        <p:spPr>
          <a:xfrm>
            <a:off x="2072680" y="2770668"/>
            <a:ext cx="5616624" cy="416150"/>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Identificación del Talento</a:t>
            </a:r>
            <a:endParaRPr sz="1400" b="0" i="0" u="none" strike="noStrike" cap="none">
              <a:solidFill>
                <a:srgbClr val="000000"/>
              </a:solidFill>
              <a:latin typeface="Arial"/>
              <a:ea typeface="Arial"/>
              <a:cs typeface="Arial"/>
              <a:sym typeface="Arial"/>
            </a:endParaRPr>
          </a:p>
        </p:txBody>
      </p:sp>
      <p:sp>
        <p:nvSpPr>
          <p:cNvPr id="464" name="Google Shape;464;p43">
            <a:hlinkClick r:id="rId3" action="ppaction://hlinksldjump"/>
          </p:cNvPr>
          <p:cNvSpPr/>
          <p:nvPr/>
        </p:nvSpPr>
        <p:spPr>
          <a:xfrm>
            <a:off x="1717200" y="2770668"/>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465" name="Google Shape;465;p43"/>
          <p:cNvSpPr/>
          <p:nvPr/>
        </p:nvSpPr>
        <p:spPr>
          <a:xfrm>
            <a:off x="2072680" y="3429000"/>
            <a:ext cx="5616624" cy="504056"/>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 Desarrollo del Talento</a:t>
            </a:r>
            <a:endParaRPr sz="1400" b="0" i="0" u="none" strike="noStrike" cap="none">
              <a:solidFill>
                <a:srgbClr val="000000"/>
              </a:solidFill>
              <a:latin typeface="Arial"/>
              <a:ea typeface="Arial"/>
              <a:cs typeface="Arial"/>
              <a:sym typeface="Arial"/>
            </a:endParaRPr>
          </a:p>
        </p:txBody>
      </p:sp>
      <p:sp>
        <p:nvSpPr>
          <p:cNvPr id="466" name="Google Shape;466;p43"/>
          <p:cNvSpPr/>
          <p:nvPr/>
        </p:nvSpPr>
        <p:spPr>
          <a:xfrm>
            <a:off x="1717200" y="3413610"/>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467" name="Google Shape;467;p43"/>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Gestión del Talento</a:t>
            </a:r>
            <a:endParaRPr sz="1400" b="0" i="0" u="none" strike="noStrike" cap="none">
              <a:solidFill>
                <a:srgbClr val="000000"/>
              </a:solidFill>
              <a:latin typeface="Arial"/>
              <a:ea typeface="Arial"/>
              <a:cs typeface="Arial"/>
              <a:sym typeface="Arial"/>
            </a:endParaRPr>
          </a:p>
        </p:txBody>
      </p:sp>
      <p:sp>
        <p:nvSpPr>
          <p:cNvPr id="468" name="Google Shape;468;p43"/>
          <p:cNvSpPr/>
          <p:nvPr/>
        </p:nvSpPr>
        <p:spPr>
          <a:xfrm>
            <a:off x="632520" y="4077072"/>
            <a:ext cx="864096" cy="428628"/>
          </a:xfrm>
          <a:prstGeom prst="stripedRightArrow">
            <a:avLst>
              <a:gd name="adj1" fmla="val 50000"/>
              <a:gd name="adj2" fmla="val 50000"/>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469" name="Google Shape;469;p43" descr="Resultado de imagen para utn regional buenos aires ingenieria industrial"/>
          <p:cNvPicPr preferRelativeResize="0"/>
          <p:nvPr/>
        </p:nvPicPr>
        <p:blipFill rotWithShape="1">
          <a:blip r:embed="rId4">
            <a:alphaModFix/>
          </a:blip>
          <a:srcRect/>
          <a:stretch/>
        </p:blipFill>
        <p:spPr>
          <a:xfrm>
            <a:off x="7041232" y="0"/>
            <a:ext cx="2637692" cy="1011116"/>
          </a:xfrm>
          <a:prstGeom prst="rect">
            <a:avLst/>
          </a:prstGeom>
          <a:noFill/>
          <a:ln>
            <a:noFill/>
          </a:ln>
        </p:spPr>
      </p:pic>
      <p:sp>
        <p:nvSpPr>
          <p:cNvPr id="470" name="Google Shape;470;p43"/>
          <p:cNvSpPr/>
          <p:nvPr/>
        </p:nvSpPr>
        <p:spPr>
          <a:xfrm>
            <a:off x="2072680" y="4149080"/>
            <a:ext cx="5616624" cy="504056"/>
          </a:xfrm>
          <a:prstGeom prst="roundRect">
            <a:avLst>
              <a:gd name="adj" fmla="val 16667"/>
            </a:avLst>
          </a:prstGeom>
          <a:solidFill>
            <a:srgbClr val="DBDADA"/>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 Retención del talento</a:t>
            </a:r>
            <a:endParaRPr sz="1400" b="0" i="0" u="none" strike="noStrike" cap="none">
              <a:solidFill>
                <a:srgbClr val="000000"/>
              </a:solidFill>
              <a:latin typeface="Arial"/>
              <a:ea typeface="Arial"/>
              <a:cs typeface="Arial"/>
              <a:sym typeface="Arial"/>
            </a:endParaRPr>
          </a:p>
        </p:txBody>
      </p:sp>
      <p:sp>
        <p:nvSpPr>
          <p:cNvPr id="471" name="Google Shape;471;p43"/>
          <p:cNvSpPr/>
          <p:nvPr/>
        </p:nvSpPr>
        <p:spPr>
          <a:xfrm>
            <a:off x="1717200" y="4133690"/>
            <a:ext cx="571504" cy="428628"/>
          </a:xfrm>
          <a:prstGeom prst="ellipse">
            <a:avLst/>
          </a:prstGeom>
          <a:solidFill>
            <a:srgbClr val="8296B0"/>
          </a:solidFill>
          <a:ln>
            <a:noFill/>
          </a:ln>
          <a:effectLst>
            <a:outerShdw blurRad="44450" dist="27940" dir="5400000" algn="ctr">
              <a:srgbClr val="000000">
                <a:alpha val="3137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4"/>
          <p:cNvSpPr/>
          <p:nvPr/>
        </p:nvSpPr>
        <p:spPr>
          <a:xfrm>
            <a:off x="5380430" y="2784148"/>
            <a:ext cx="4071062" cy="3093123"/>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002060"/>
                </a:solidFill>
                <a:latin typeface="Calibri"/>
                <a:ea typeface="Calibri"/>
                <a:cs typeface="Calibri"/>
                <a:sym typeface="Calibri"/>
              </a:rPr>
              <a:t>¿Qué procesos de RRHH tienen un impacto en la retención/cuidado de los empleados?</a:t>
            </a:r>
            <a:endParaRPr sz="1400" b="0" i="0" u="none" strike="noStrike" cap="none">
              <a:solidFill>
                <a:srgbClr val="000000"/>
              </a:solidFill>
              <a:latin typeface="Arial"/>
              <a:ea typeface="Arial"/>
              <a:cs typeface="Arial"/>
              <a:sym typeface="Arial"/>
            </a:endParaRPr>
          </a:p>
        </p:txBody>
      </p:sp>
      <p:sp>
        <p:nvSpPr>
          <p:cNvPr id="477" name="Google Shape;477;p44"/>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Retención del Talento</a:t>
            </a:r>
            <a:endParaRPr sz="1400" b="0" i="0" u="none" strike="noStrike" cap="none">
              <a:solidFill>
                <a:srgbClr val="000000"/>
              </a:solidFill>
              <a:latin typeface="Arial"/>
              <a:ea typeface="Arial"/>
              <a:cs typeface="Arial"/>
              <a:sym typeface="Arial"/>
            </a:endParaRPr>
          </a:p>
        </p:txBody>
      </p:sp>
      <p:pic>
        <p:nvPicPr>
          <p:cNvPr id="478" name="Google Shape;478;p44" descr="Resultado de imagen para utn regional buenos aires ingenieria industrial"/>
          <p:cNvPicPr preferRelativeResize="0"/>
          <p:nvPr/>
        </p:nvPicPr>
        <p:blipFill rotWithShape="1">
          <a:blip r:embed="rId3">
            <a:alphaModFix/>
          </a:blip>
          <a:srcRect/>
          <a:stretch/>
        </p:blipFill>
        <p:spPr>
          <a:xfrm>
            <a:off x="7041232" y="41620"/>
            <a:ext cx="2637692" cy="1011116"/>
          </a:xfrm>
          <a:prstGeom prst="rect">
            <a:avLst/>
          </a:prstGeom>
          <a:noFill/>
          <a:ln>
            <a:noFill/>
          </a:ln>
        </p:spPr>
      </p:pic>
      <p:sp>
        <p:nvSpPr>
          <p:cNvPr id="479" name="Google Shape;479;p44"/>
          <p:cNvSpPr txBox="1"/>
          <p:nvPr/>
        </p:nvSpPr>
        <p:spPr>
          <a:xfrm>
            <a:off x="-54166" y="1628800"/>
            <a:ext cx="4071062"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s-AR" sz="2800" b="1" i="0" u="none" strike="noStrike" cap="none">
                <a:solidFill>
                  <a:srgbClr val="7030A0"/>
                </a:solidFill>
                <a:latin typeface="Calibri"/>
                <a:ea typeface="Calibri"/>
                <a:cs typeface="Calibri"/>
                <a:sym typeface="Calibri"/>
              </a:rPr>
              <a:t>RETENER EL TALENTO</a:t>
            </a:r>
            <a:endParaRPr sz="1400" b="0" i="0" u="none" strike="noStrike" cap="none">
              <a:solidFill>
                <a:srgbClr val="000000"/>
              </a:solidFill>
              <a:latin typeface="Arial"/>
              <a:ea typeface="Arial"/>
              <a:cs typeface="Arial"/>
              <a:sym typeface="Arial"/>
            </a:endParaRPr>
          </a:p>
        </p:txBody>
      </p:sp>
      <p:sp>
        <p:nvSpPr>
          <p:cNvPr id="480" name="Google Shape;480;p44"/>
          <p:cNvSpPr txBox="1"/>
          <p:nvPr/>
        </p:nvSpPr>
        <p:spPr>
          <a:xfrm>
            <a:off x="5607862" y="1628800"/>
            <a:ext cx="4071062"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s-AR" sz="2800" b="1" i="0" u="none" strike="noStrike" cap="none">
                <a:solidFill>
                  <a:srgbClr val="33CCCC"/>
                </a:solidFill>
                <a:latin typeface="Calibri"/>
                <a:ea typeface="Calibri"/>
                <a:cs typeface="Calibri"/>
                <a:sym typeface="Calibri"/>
              </a:rPr>
              <a:t>CUIDAR EL TALENTO</a:t>
            </a:r>
            <a:endParaRPr sz="1400" b="0" i="0" u="none" strike="noStrike" cap="none">
              <a:solidFill>
                <a:srgbClr val="000000"/>
              </a:solidFill>
              <a:latin typeface="Arial"/>
              <a:ea typeface="Arial"/>
              <a:cs typeface="Arial"/>
              <a:sym typeface="Arial"/>
            </a:endParaRPr>
          </a:p>
        </p:txBody>
      </p:sp>
      <p:pic>
        <p:nvPicPr>
          <p:cNvPr id="481" name="Google Shape;481;p44" descr="C:\Users\miolza\AppData\Local\Microsoft\Windows\Temporary Internet Files\Content.IE5\PM59WDFW\20120925-unequal[1].gif"/>
          <p:cNvPicPr preferRelativeResize="0"/>
          <p:nvPr/>
        </p:nvPicPr>
        <p:blipFill rotWithShape="1">
          <a:blip r:embed="rId4">
            <a:alphaModFix/>
          </a:blip>
          <a:srcRect/>
          <a:stretch/>
        </p:blipFill>
        <p:spPr>
          <a:xfrm>
            <a:off x="4397639" y="1412776"/>
            <a:ext cx="829479" cy="1073263"/>
          </a:xfrm>
          <a:prstGeom prst="rect">
            <a:avLst/>
          </a:prstGeom>
          <a:noFill/>
          <a:ln>
            <a:noFill/>
          </a:ln>
        </p:spPr>
      </p:pic>
      <p:pic>
        <p:nvPicPr>
          <p:cNvPr id="482" name="Google Shape;482;p44"/>
          <p:cNvPicPr preferRelativeResize="0"/>
          <p:nvPr/>
        </p:nvPicPr>
        <p:blipFill rotWithShape="1">
          <a:blip r:embed="rId5">
            <a:alphaModFix/>
          </a:blip>
          <a:srcRect l="35738"/>
          <a:stretch/>
        </p:blipFill>
        <p:spPr>
          <a:xfrm>
            <a:off x="128464" y="4797152"/>
            <a:ext cx="1822346" cy="1887091"/>
          </a:xfrm>
          <a:prstGeom prst="rect">
            <a:avLst/>
          </a:prstGeom>
          <a:noFill/>
          <a:ln>
            <a:noFill/>
          </a:ln>
        </p:spPr>
      </p:pic>
      <p:sp>
        <p:nvSpPr>
          <p:cNvPr id="483" name="Google Shape;483;p44"/>
          <p:cNvSpPr/>
          <p:nvPr/>
        </p:nvSpPr>
        <p:spPr>
          <a:xfrm>
            <a:off x="1328400" y="2486039"/>
            <a:ext cx="3069239" cy="2088232"/>
          </a:xfrm>
          <a:prstGeom prst="cloudCallout">
            <a:avLst>
              <a:gd name="adj1" fmla="val -61208"/>
              <a:gd name="adj2" fmla="val 6171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002060"/>
                </a:solidFill>
                <a:latin typeface="Calibri"/>
                <a:ea typeface="Calibri"/>
                <a:cs typeface="Calibri"/>
                <a:sym typeface="Calibri"/>
              </a:rPr>
              <a:t>¿Qué sabemos sobre QUÉ nos retiene?</a:t>
            </a:r>
            <a:endParaRPr sz="1400" b="0" i="0" u="none" strike="noStrike" cap="none">
              <a:solidFill>
                <a:srgbClr val="000000"/>
              </a:solidFill>
              <a:latin typeface="Arial"/>
              <a:ea typeface="Arial"/>
              <a:cs typeface="Arial"/>
              <a:sym typeface="Arial"/>
            </a:endParaRPr>
          </a:p>
        </p:txBody>
      </p:sp>
      <p:pic>
        <p:nvPicPr>
          <p:cNvPr id="484" name="Google Shape;484;p44"/>
          <p:cNvPicPr preferRelativeResize="0"/>
          <p:nvPr/>
        </p:nvPicPr>
        <p:blipFill rotWithShape="1">
          <a:blip r:embed="rId6">
            <a:alphaModFix/>
          </a:blip>
          <a:srcRect/>
          <a:stretch/>
        </p:blipFill>
        <p:spPr>
          <a:xfrm>
            <a:off x="6465168" y="4060507"/>
            <a:ext cx="1966918" cy="147329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pic>
        <p:nvPicPr>
          <p:cNvPr id="491" name="Google Shape;491;p45"/>
          <p:cNvPicPr preferRelativeResize="0"/>
          <p:nvPr/>
        </p:nvPicPr>
        <p:blipFill rotWithShape="1">
          <a:blip r:embed="rId3">
            <a:alphaModFix/>
          </a:blip>
          <a:srcRect l="5389" t="11937" r="7005" b="5325"/>
          <a:stretch/>
        </p:blipFill>
        <p:spPr>
          <a:xfrm>
            <a:off x="488504" y="1124744"/>
            <a:ext cx="8712968" cy="4626426"/>
          </a:xfrm>
          <a:prstGeom prst="rect">
            <a:avLst/>
          </a:prstGeom>
          <a:noFill/>
          <a:ln>
            <a:noFill/>
          </a:ln>
        </p:spPr>
      </p:pic>
      <p:sp>
        <p:nvSpPr>
          <p:cNvPr id="492" name="Google Shape;492;p45"/>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Ejemplo de Gestión del Talento</a:t>
            </a: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Programas de Jóvenes Profesionales</a:t>
            </a:r>
            <a:endParaRPr sz="1400" b="0" i="0" u="none" strike="noStrike" cap="none">
              <a:solidFill>
                <a:srgbClr val="000000"/>
              </a:solidFill>
              <a:latin typeface="Arial"/>
              <a:ea typeface="Arial"/>
              <a:cs typeface="Arial"/>
              <a:sym typeface="Arial"/>
            </a:endParaRPr>
          </a:p>
        </p:txBody>
      </p:sp>
      <p:pic>
        <p:nvPicPr>
          <p:cNvPr id="493" name="Google Shape;493;p45" descr="Resultado de imagen para utn regional buenos aires ingenieria industrial"/>
          <p:cNvPicPr preferRelativeResize="0"/>
          <p:nvPr/>
        </p:nvPicPr>
        <p:blipFill rotWithShape="1">
          <a:blip r:embed="rId4">
            <a:alphaModFix/>
          </a:blip>
          <a:srcRect/>
          <a:stretch/>
        </p:blipFill>
        <p:spPr>
          <a:xfrm>
            <a:off x="7041232" y="41620"/>
            <a:ext cx="2637692" cy="101111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46"/>
          <p:cNvSpPr/>
          <p:nvPr/>
        </p:nvSpPr>
        <p:spPr>
          <a:xfrm>
            <a:off x="1856656" y="1412776"/>
            <a:ext cx="7416824" cy="1152128"/>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Campañas de reclutamiento en redes sociales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Visitas de las compañías a universidades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Boca a boca de participantes anteriores</a:t>
            </a:r>
            <a:endParaRPr sz="1400" b="0" i="0" u="none" strike="noStrike" cap="none">
              <a:solidFill>
                <a:srgbClr val="000000"/>
              </a:solidFill>
              <a:latin typeface="Arial"/>
              <a:ea typeface="Arial"/>
              <a:cs typeface="Arial"/>
              <a:sym typeface="Arial"/>
            </a:endParaRPr>
          </a:p>
        </p:txBody>
      </p:sp>
      <p:sp>
        <p:nvSpPr>
          <p:cNvPr id="499" name="Google Shape;499;p46"/>
          <p:cNvSpPr/>
          <p:nvPr/>
        </p:nvSpPr>
        <p:spPr>
          <a:xfrm>
            <a:off x="1784648" y="2636912"/>
            <a:ext cx="7488832" cy="1152128"/>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Requisitos de edad, académicos, de carreras universitarias, etc.</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Exámenes técnicos (Ej: inglés)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Psicométricos, psicotécnicos, evaluaciones de potencial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Assessment centers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None/>
            </a:pPr>
            <a:endParaRPr sz="1400" b="0" i="0" u="none" strike="noStrike" cap="none">
              <a:solidFill>
                <a:schemeClr val="dk1"/>
              </a:solidFill>
              <a:latin typeface="Calibri"/>
              <a:ea typeface="Calibri"/>
              <a:cs typeface="Calibri"/>
              <a:sym typeface="Calibri"/>
            </a:endParaRPr>
          </a:p>
        </p:txBody>
      </p:sp>
      <p:sp>
        <p:nvSpPr>
          <p:cNvPr id="500" name="Google Shape;500;p46"/>
          <p:cNvSpPr/>
          <p:nvPr/>
        </p:nvSpPr>
        <p:spPr>
          <a:xfrm>
            <a:off x="1784648" y="3861048"/>
            <a:ext cx="7488832" cy="1152128"/>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Capacitación específica, técnica y actitudinal (10%)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Tutorías y Mentorías con altos directivos (20%)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Asignación a proyectos (70%)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Y otras acciones de desarrollo específicas para este grupo</a:t>
            </a:r>
            <a:endParaRPr sz="1400" b="0" i="0" u="none" strike="noStrike" cap="none">
              <a:solidFill>
                <a:schemeClr val="dk1"/>
              </a:solidFill>
              <a:latin typeface="Calibri"/>
              <a:ea typeface="Calibri"/>
              <a:cs typeface="Calibri"/>
              <a:sym typeface="Calibri"/>
            </a:endParaRPr>
          </a:p>
        </p:txBody>
      </p:sp>
      <p:sp>
        <p:nvSpPr>
          <p:cNvPr id="501" name="Google Shape;501;p46"/>
          <p:cNvSpPr/>
          <p:nvPr/>
        </p:nvSpPr>
        <p:spPr>
          <a:xfrm>
            <a:off x="1784648" y="5085184"/>
            <a:ext cx="7488832" cy="1152128"/>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accent1"/>
              </a:buClr>
              <a:buSzPts val="1400"/>
              <a:buFont typeface="Noto Sans"/>
              <a:buChar char="✔"/>
            </a:pPr>
            <a:r>
              <a:rPr lang="es-AR" sz="1400" b="0" i="0" u="none" strike="noStrike" cap="none">
                <a:solidFill>
                  <a:schemeClr val="dk1"/>
                </a:solidFill>
                <a:latin typeface="Calibri"/>
                <a:ea typeface="Calibri"/>
                <a:cs typeface="Calibri"/>
                <a:sym typeface="Calibri"/>
              </a:rPr>
              <a:t>Por ser parte de este grupo de talento, suelen tener un seguimiento más personalizado y una curva de desarrollo más acelerada.</a:t>
            </a:r>
            <a:endParaRPr sz="1400" b="0" i="0" u="none" strike="noStrike" cap="none">
              <a:solidFill>
                <a:srgbClr val="000000"/>
              </a:solidFill>
              <a:latin typeface="Arial"/>
              <a:ea typeface="Arial"/>
              <a:cs typeface="Arial"/>
              <a:sym typeface="Arial"/>
            </a:endParaRPr>
          </a:p>
        </p:txBody>
      </p:sp>
      <p:sp>
        <p:nvSpPr>
          <p:cNvPr id="502" name="Google Shape;502;p46"/>
          <p:cNvSpPr/>
          <p:nvPr/>
        </p:nvSpPr>
        <p:spPr>
          <a:xfrm>
            <a:off x="416496" y="1412776"/>
            <a:ext cx="1872208" cy="1152128"/>
          </a:xfrm>
          <a:prstGeom prst="chevron">
            <a:avLst>
              <a:gd name="adj" fmla="val 25801"/>
            </a:avLst>
          </a:prstGeom>
          <a:solidFill>
            <a:srgbClr val="FFF2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Atracción del talento</a:t>
            </a:r>
            <a:endParaRPr sz="1400" b="0" i="0" u="none" strike="noStrike" cap="none">
              <a:solidFill>
                <a:srgbClr val="002060"/>
              </a:solidFill>
              <a:latin typeface="Calibri"/>
              <a:ea typeface="Calibri"/>
              <a:cs typeface="Calibri"/>
              <a:sym typeface="Calibri"/>
            </a:endParaRPr>
          </a:p>
        </p:txBody>
      </p:sp>
      <p:sp>
        <p:nvSpPr>
          <p:cNvPr id="503" name="Google Shape;503;p46"/>
          <p:cNvSpPr/>
          <p:nvPr/>
        </p:nvSpPr>
        <p:spPr>
          <a:xfrm>
            <a:off x="416496" y="2636912"/>
            <a:ext cx="1872208" cy="1152128"/>
          </a:xfrm>
          <a:prstGeom prst="chevron">
            <a:avLst>
              <a:gd name="adj" fmla="val 25801"/>
            </a:avLst>
          </a:prstGeom>
          <a:solidFill>
            <a:srgbClr val="CCCC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Identificación y captación del talento</a:t>
            </a:r>
            <a:endParaRPr sz="1400" b="0" i="0" u="none" strike="noStrike" cap="none">
              <a:solidFill>
                <a:schemeClr val="dk1"/>
              </a:solidFill>
              <a:latin typeface="Calibri"/>
              <a:ea typeface="Calibri"/>
              <a:cs typeface="Calibri"/>
              <a:sym typeface="Calibri"/>
            </a:endParaRPr>
          </a:p>
        </p:txBody>
      </p:sp>
      <p:sp>
        <p:nvSpPr>
          <p:cNvPr id="504" name="Google Shape;504;p46"/>
          <p:cNvSpPr/>
          <p:nvPr/>
        </p:nvSpPr>
        <p:spPr>
          <a:xfrm>
            <a:off x="416496" y="3861048"/>
            <a:ext cx="1872208" cy="1152128"/>
          </a:xfrm>
          <a:prstGeom prst="chevron">
            <a:avLst>
              <a:gd name="adj" fmla="val 25801"/>
            </a:avLst>
          </a:prstGeom>
          <a:solidFill>
            <a:srgbClr val="FFCC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Desarrollo del talento</a:t>
            </a:r>
            <a:endParaRPr sz="1400" b="0" i="0" u="none" strike="noStrike" cap="none">
              <a:solidFill>
                <a:schemeClr val="dk1"/>
              </a:solidFill>
              <a:latin typeface="Calibri"/>
              <a:ea typeface="Calibri"/>
              <a:cs typeface="Calibri"/>
              <a:sym typeface="Calibri"/>
            </a:endParaRPr>
          </a:p>
        </p:txBody>
      </p:sp>
      <p:sp>
        <p:nvSpPr>
          <p:cNvPr id="505" name="Google Shape;505;p46"/>
          <p:cNvSpPr/>
          <p:nvPr/>
        </p:nvSpPr>
        <p:spPr>
          <a:xfrm>
            <a:off x="416496" y="5085184"/>
            <a:ext cx="1872208" cy="1152128"/>
          </a:xfrm>
          <a:prstGeom prst="chevron">
            <a:avLst>
              <a:gd name="adj" fmla="val 25801"/>
            </a:avLst>
          </a:prstGeom>
          <a:solidFill>
            <a:srgbClr val="CC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AR" sz="1200" b="0" i="0" u="none" strike="noStrike" cap="none">
                <a:solidFill>
                  <a:schemeClr val="dk1"/>
                </a:solidFill>
                <a:latin typeface="Calibri"/>
                <a:ea typeface="Calibri"/>
                <a:cs typeface="Calibri"/>
                <a:sym typeface="Calibri"/>
              </a:rPr>
              <a:t>Retención del talento</a:t>
            </a:r>
            <a:endParaRPr sz="1200" b="0" i="0" u="none" strike="noStrike" cap="none">
              <a:solidFill>
                <a:schemeClr val="dk1"/>
              </a:solidFill>
              <a:latin typeface="Calibri"/>
              <a:ea typeface="Calibri"/>
              <a:cs typeface="Calibri"/>
              <a:sym typeface="Calibri"/>
            </a:endParaRPr>
          </a:p>
        </p:txBody>
      </p:sp>
      <p:sp>
        <p:nvSpPr>
          <p:cNvPr id="506" name="Google Shape;506;p46"/>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UNIDAD 8: Ejemplo de Gestión del Talento</a:t>
            </a: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Programas de Jóvenes Profesionales</a:t>
            </a:r>
            <a:endParaRPr sz="1400" b="0" i="0" u="none" strike="noStrike" cap="none">
              <a:solidFill>
                <a:srgbClr val="000000"/>
              </a:solidFill>
              <a:latin typeface="Arial"/>
              <a:ea typeface="Arial"/>
              <a:cs typeface="Arial"/>
              <a:sym typeface="Arial"/>
            </a:endParaRPr>
          </a:p>
        </p:txBody>
      </p:sp>
      <p:pic>
        <p:nvPicPr>
          <p:cNvPr id="507" name="Google Shape;507;p46" descr="Resultado de imagen para utn regional buenos aires ingenieria industrial"/>
          <p:cNvPicPr preferRelativeResize="0"/>
          <p:nvPr/>
        </p:nvPicPr>
        <p:blipFill rotWithShape="1">
          <a:blip r:embed="rId3">
            <a:alphaModFix/>
          </a:blip>
          <a:srcRect/>
          <a:stretch/>
        </p:blipFill>
        <p:spPr>
          <a:xfrm>
            <a:off x="7041232" y="41620"/>
            <a:ext cx="2637692" cy="101111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47"/>
          <p:cNvSpPr/>
          <p:nvPr/>
        </p:nvSpPr>
        <p:spPr>
          <a:xfrm>
            <a:off x="1776972" y="1340768"/>
            <a:ext cx="1800000" cy="504056"/>
          </a:xfrm>
          <a:prstGeom prst="roundRect">
            <a:avLst>
              <a:gd name="adj" fmla="val 16667"/>
            </a:avLst>
          </a:prstGeom>
          <a:solidFill>
            <a:srgbClr val="7030A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chemeClr val="lt1"/>
                </a:solidFill>
                <a:latin typeface="Calibri"/>
                <a:ea typeface="Calibri"/>
                <a:cs typeface="Calibri"/>
                <a:sym typeface="Calibri"/>
              </a:rPr>
              <a:t>Capacitación</a:t>
            </a:r>
            <a:endParaRPr sz="1800" b="1" i="0" u="none" strike="noStrike" cap="none">
              <a:solidFill>
                <a:schemeClr val="lt1"/>
              </a:solidFill>
              <a:latin typeface="Calibri"/>
              <a:ea typeface="Calibri"/>
              <a:cs typeface="Calibri"/>
              <a:sym typeface="Calibri"/>
            </a:endParaRPr>
          </a:p>
        </p:txBody>
      </p:sp>
      <p:sp>
        <p:nvSpPr>
          <p:cNvPr id="515" name="Google Shape;515;p47"/>
          <p:cNvSpPr/>
          <p:nvPr/>
        </p:nvSpPr>
        <p:spPr>
          <a:xfrm>
            <a:off x="6410695" y="1340768"/>
            <a:ext cx="1800000" cy="504056"/>
          </a:xfrm>
          <a:prstGeom prst="roundRect">
            <a:avLst>
              <a:gd name="adj" fmla="val 16667"/>
            </a:avLst>
          </a:prstGeom>
          <a:solidFill>
            <a:srgbClr val="33CCCC"/>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chemeClr val="lt1"/>
                </a:solidFill>
                <a:latin typeface="Calibri"/>
                <a:ea typeface="Calibri"/>
                <a:cs typeface="Calibri"/>
                <a:sym typeface="Calibri"/>
              </a:rPr>
              <a:t>Desarrollo</a:t>
            </a:r>
            <a:endParaRPr sz="1800" b="1" i="0" u="none" strike="noStrike" cap="none">
              <a:solidFill>
                <a:schemeClr val="lt1"/>
              </a:solidFill>
              <a:latin typeface="Calibri"/>
              <a:ea typeface="Calibri"/>
              <a:cs typeface="Calibri"/>
              <a:sym typeface="Calibri"/>
            </a:endParaRPr>
          </a:p>
        </p:txBody>
      </p:sp>
      <p:sp>
        <p:nvSpPr>
          <p:cNvPr id="516" name="Google Shape;516;p47"/>
          <p:cNvSpPr/>
          <p:nvPr/>
        </p:nvSpPr>
        <p:spPr>
          <a:xfrm>
            <a:off x="1776972" y="3861048"/>
            <a:ext cx="1800000" cy="504056"/>
          </a:xfrm>
          <a:prstGeom prst="roundRect">
            <a:avLst>
              <a:gd name="adj" fmla="val 16667"/>
            </a:avLst>
          </a:prstGeom>
          <a:gradFill>
            <a:gsLst>
              <a:gs pos="0">
                <a:srgbClr val="B0CAE9"/>
              </a:gs>
              <a:gs pos="50000">
                <a:srgbClr val="A1C1E4"/>
              </a:gs>
              <a:gs pos="100000">
                <a:srgbClr val="90B8E4"/>
              </a:gs>
            </a:gsLst>
            <a:lin ang="5400000" scaled="0"/>
          </a:gradFill>
          <a:ln w="9525"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002060"/>
                </a:solidFill>
                <a:latin typeface="Calibri"/>
                <a:ea typeface="Calibri"/>
                <a:cs typeface="Calibri"/>
                <a:sym typeface="Calibri"/>
              </a:rPr>
              <a:t>Desempeño</a:t>
            </a:r>
            <a:endParaRPr sz="1800" b="1" i="0" u="none" strike="noStrike" cap="none">
              <a:solidFill>
                <a:srgbClr val="002060"/>
              </a:solidFill>
              <a:latin typeface="Calibri"/>
              <a:ea typeface="Calibri"/>
              <a:cs typeface="Calibri"/>
              <a:sym typeface="Calibri"/>
            </a:endParaRPr>
          </a:p>
        </p:txBody>
      </p:sp>
      <p:sp>
        <p:nvSpPr>
          <p:cNvPr id="517" name="Google Shape;517;p47"/>
          <p:cNvSpPr/>
          <p:nvPr/>
        </p:nvSpPr>
        <p:spPr>
          <a:xfrm>
            <a:off x="6410695" y="3861048"/>
            <a:ext cx="1800000" cy="504056"/>
          </a:xfrm>
          <a:prstGeom prst="roundRect">
            <a:avLst>
              <a:gd name="adj" fmla="val 16667"/>
            </a:avLst>
          </a:prstGeom>
          <a:solidFill>
            <a:srgbClr val="FFCCCC">
              <a:alpha val="4823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002060"/>
                </a:solidFill>
                <a:latin typeface="Calibri"/>
                <a:ea typeface="Calibri"/>
                <a:cs typeface="Calibri"/>
                <a:sym typeface="Calibri"/>
              </a:rPr>
              <a:t>Potencial</a:t>
            </a:r>
            <a:endParaRPr sz="1800" b="1" i="0" u="none" strike="noStrike" cap="none">
              <a:solidFill>
                <a:srgbClr val="002060"/>
              </a:solidFill>
              <a:latin typeface="Calibri"/>
              <a:ea typeface="Calibri"/>
              <a:cs typeface="Calibri"/>
              <a:sym typeface="Calibri"/>
            </a:endParaRPr>
          </a:p>
        </p:txBody>
      </p:sp>
      <p:sp>
        <p:nvSpPr>
          <p:cNvPr id="518" name="Google Shape;518;p47"/>
          <p:cNvSpPr/>
          <p:nvPr/>
        </p:nvSpPr>
        <p:spPr>
          <a:xfrm>
            <a:off x="380492" y="1989420"/>
            <a:ext cx="4592960" cy="1600438"/>
          </a:xfrm>
          <a:prstGeom prst="rect">
            <a:avLst/>
          </a:prstGeom>
          <a:solidFill>
            <a:srgbClr val="F2F2F2"/>
          </a:solid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chemeClr val="dk1"/>
              </a:buClr>
              <a:buSzPts val="1400"/>
              <a:buFont typeface="Arial"/>
              <a:buChar char="•"/>
            </a:pPr>
            <a:r>
              <a:rPr lang="es-AR" sz="1400" b="0" i="0" u="none" strike="noStrike" cap="none">
                <a:solidFill>
                  <a:schemeClr val="dk1"/>
                </a:solidFill>
                <a:latin typeface="Calibri"/>
                <a:ea typeface="Calibri"/>
                <a:cs typeface="Calibri"/>
                <a:sym typeface="Calibri"/>
              </a:rPr>
              <a:t>Proceso educativo de </a:t>
            </a:r>
            <a:r>
              <a:rPr lang="es-AR" sz="1400" b="1" i="0" u="none" strike="noStrike" cap="none">
                <a:solidFill>
                  <a:schemeClr val="dk1"/>
                </a:solidFill>
                <a:latin typeface="Calibri"/>
                <a:ea typeface="Calibri"/>
                <a:cs typeface="Calibri"/>
                <a:sym typeface="Calibri"/>
              </a:rPr>
              <a:t>corto plazo</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400"/>
              <a:buFont typeface="Arial"/>
              <a:buChar char="•"/>
            </a:pPr>
            <a:r>
              <a:rPr lang="es-AR" sz="1400" b="0" i="0" u="none" strike="noStrike" cap="none">
                <a:solidFill>
                  <a:schemeClr val="dk1"/>
                </a:solidFill>
                <a:latin typeface="Calibri"/>
                <a:ea typeface="Calibri"/>
                <a:cs typeface="Calibri"/>
                <a:sym typeface="Calibri"/>
              </a:rPr>
              <a:t>Orientado al puesto de trabajo, con el fin de adquirir los conocimientos, prácticas y conductas requeridas por la organización. (Chiavenato)</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400"/>
              <a:buFont typeface="Arial"/>
              <a:buChar char="•"/>
            </a:pPr>
            <a:r>
              <a:rPr lang="es-AR" sz="1400" b="0" i="0" u="none" strike="noStrike" cap="none">
                <a:solidFill>
                  <a:schemeClr val="dk1"/>
                </a:solidFill>
                <a:latin typeface="Calibri"/>
                <a:ea typeface="Calibri"/>
                <a:cs typeface="Calibri"/>
                <a:sym typeface="Calibri"/>
              </a:rPr>
              <a:t>Actividades de</a:t>
            </a:r>
            <a:r>
              <a:rPr lang="es-AR" sz="1400" b="1" i="0" u="none" strike="noStrike" cap="none">
                <a:solidFill>
                  <a:schemeClr val="dk1"/>
                </a:solidFill>
                <a:latin typeface="Calibri"/>
                <a:ea typeface="Calibri"/>
                <a:cs typeface="Calibri"/>
                <a:sym typeface="Calibri"/>
              </a:rPr>
              <a:t> transmisión </a:t>
            </a:r>
            <a:r>
              <a:rPr lang="es-AR" sz="1400" b="0" i="0" u="none" strike="noStrike" cap="none">
                <a:solidFill>
                  <a:schemeClr val="dk1"/>
                </a:solidFill>
                <a:latin typeface="Calibri"/>
                <a:ea typeface="Calibri"/>
                <a:cs typeface="Calibri"/>
                <a:sym typeface="Calibri"/>
              </a:rPr>
              <a:t>de conocimientos y habilidades, organizada, planificada y evaluable (M. Alles)</a:t>
            </a:r>
            <a:endParaRPr sz="1400" b="0" i="0" u="none" strike="noStrike" cap="none">
              <a:solidFill>
                <a:srgbClr val="000000"/>
              </a:solidFill>
              <a:latin typeface="Arial"/>
              <a:ea typeface="Arial"/>
              <a:cs typeface="Arial"/>
              <a:sym typeface="Arial"/>
            </a:endParaRPr>
          </a:p>
        </p:txBody>
      </p:sp>
      <p:sp>
        <p:nvSpPr>
          <p:cNvPr id="519" name="Google Shape;519;p47"/>
          <p:cNvSpPr/>
          <p:nvPr/>
        </p:nvSpPr>
        <p:spPr>
          <a:xfrm>
            <a:off x="4780556" y="2123455"/>
            <a:ext cx="4953000" cy="307777"/>
          </a:xfrm>
          <a:prstGeom prst="rect">
            <a:avLst/>
          </a:prstGeom>
          <a:noFill/>
          <a:ln>
            <a:noFill/>
          </a:ln>
        </p:spPr>
        <p:txBody>
          <a:bodyPr spcFirstLastPara="1" wrap="square" lIns="91425" tIns="45700" rIns="91425" bIns="45700" anchor="t" anchorCtr="0">
            <a:spAutoFit/>
          </a:bodyPr>
          <a:lstStyle/>
          <a:p>
            <a:pPr marL="285750" marR="0" lvl="0" indent="-196850" algn="just"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20" name="Google Shape;520;p47"/>
          <p:cNvSpPr/>
          <p:nvPr/>
        </p:nvSpPr>
        <p:spPr>
          <a:xfrm>
            <a:off x="5385048" y="2007570"/>
            <a:ext cx="4548980" cy="1384995"/>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chemeClr val="dk1"/>
              </a:buClr>
              <a:buSzPts val="1400"/>
              <a:buFont typeface="Arial"/>
              <a:buChar char="•"/>
            </a:pPr>
            <a:r>
              <a:rPr lang="es-AR" sz="1400" b="0" i="0" u="none" strike="noStrike" cap="none">
                <a:solidFill>
                  <a:schemeClr val="dk1"/>
                </a:solidFill>
                <a:latin typeface="Calibri"/>
                <a:ea typeface="Calibri"/>
                <a:cs typeface="Calibri"/>
                <a:sym typeface="Calibri"/>
              </a:rPr>
              <a:t>Proceso educativo a </a:t>
            </a:r>
            <a:r>
              <a:rPr lang="es-AR" sz="1400" b="1" i="0" u="none" strike="noStrike" cap="none">
                <a:solidFill>
                  <a:schemeClr val="dk1"/>
                </a:solidFill>
                <a:latin typeface="Calibri"/>
                <a:ea typeface="Calibri"/>
                <a:cs typeface="Calibri"/>
                <a:sym typeface="Calibri"/>
              </a:rPr>
              <a:t>mediano y largo plazo</a:t>
            </a:r>
            <a:r>
              <a:rPr lang="es-AR" sz="1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400"/>
              <a:buFont typeface="Arial"/>
              <a:buChar char="•"/>
            </a:pPr>
            <a:r>
              <a:rPr lang="es-AR" sz="1400" b="0" i="0" u="none" strike="noStrike" cap="none">
                <a:solidFill>
                  <a:schemeClr val="dk1"/>
                </a:solidFill>
                <a:latin typeface="Calibri"/>
                <a:ea typeface="Calibri"/>
                <a:cs typeface="Calibri"/>
                <a:sym typeface="Calibri"/>
              </a:rPr>
              <a:t>Orientado a preparar a las personas para roles futuros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400"/>
              <a:buFont typeface="Arial"/>
              <a:buChar char="•"/>
            </a:pPr>
            <a:r>
              <a:rPr lang="es-AR" sz="1400" b="1" i="0" u="none" strike="noStrike" cap="none">
                <a:solidFill>
                  <a:schemeClr val="dk1"/>
                </a:solidFill>
                <a:latin typeface="Calibri"/>
                <a:ea typeface="Calibri"/>
                <a:cs typeface="Calibri"/>
                <a:sym typeface="Calibri"/>
              </a:rPr>
              <a:t>Incrementar las capacidades </a:t>
            </a:r>
            <a:r>
              <a:rPr lang="es-AR" sz="1400" b="0" i="0" u="none" strike="noStrike" cap="none">
                <a:solidFill>
                  <a:schemeClr val="dk1"/>
                </a:solidFill>
                <a:latin typeface="Calibri"/>
                <a:ea typeface="Calibri"/>
                <a:cs typeface="Calibri"/>
                <a:sym typeface="Calibri"/>
              </a:rPr>
              <a:t>de los empleados para propiciar el crecimiento y avance de carrera mas allá  del puesto actual</a:t>
            </a:r>
            <a:endParaRPr sz="1400" b="0" i="0" u="none" strike="noStrike" cap="none">
              <a:solidFill>
                <a:srgbClr val="000000"/>
              </a:solidFill>
              <a:latin typeface="Arial"/>
              <a:ea typeface="Arial"/>
              <a:cs typeface="Arial"/>
              <a:sym typeface="Arial"/>
            </a:endParaRPr>
          </a:p>
          <a:p>
            <a:pPr marL="285750" marR="0" lvl="0" indent="-196850" algn="just"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21" name="Google Shape;521;p47"/>
          <p:cNvSpPr/>
          <p:nvPr/>
        </p:nvSpPr>
        <p:spPr>
          <a:xfrm>
            <a:off x="200472" y="4433044"/>
            <a:ext cx="4953000" cy="1600438"/>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chemeClr val="dk1"/>
              </a:buClr>
              <a:buSzPts val="1400"/>
              <a:buFont typeface="Arial"/>
              <a:buChar char="•"/>
            </a:pPr>
            <a:r>
              <a:rPr lang="es-AR" sz="1400" b="0" i="0" u="none" strike="noStrike" cap="none">
                <a:solidFill>
                  <a:schemeClr val="dk1"/>
                </a:solidFill>
                <a:latin typeface="Calibri"/>
                <a:ea typeface="Calibri"/>
                <a:cs typeface="Calibri"/>
                <a:sym typeface="Calibri"/>
              </a:rPr>
              <a:t>Es el rendimiento y la forma de trabajo de una persona en su puesto. Qué resultados alcanza y cómo lo hace.</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400"/>
              <a:buFont typeface="Arial"/>
              <a:buChar char="•"/>
            </a:pPr>
            <a:r>
              <a:rPr lang="es-AR" sz="1400" b="0" i="0" u="none" strike="noStrike" cap="none">
                <a:solidFill>
                  <a:schemeClr val="dk1"/>
                </a:solidFill>
                <a:latin typeface="Calibri"/>
                <a:ea typeface="Calibri"/>
                <a:cs typeface="Calibri"/>
                <a:sym typeface="Calibri"/>
              </a:rPr>
              <a:t>El desempeño es </a:t>
            </a:r>
            <a:r>
              <a:rPr lang="es-AR" sz="1400" b="1" i="0" u="none" strike="noStrike" cap="none">
                <a:solidFill>
                  <a:schemeClr val="dk1"/>
                </a:solidFill>
                <a:latin typeface="Calibri"/>
                <a:ea typeface="Calibri"/>
                <a:cs typeface="Calibri"/>
                <a:sym typeface="Calibri"/>
              </a:rPr>
              <a:t>situacional</a:t>
            </a:r>
            <a:r>
              <a:rPr lang="es-AR" sz="1400" b="0" i="0" u="none" strike="noStrike" cap="none">
                <a:solidFill>
                  <a:schemeClr val="dk1"/>
                </a:solidFill>
                <a:latin typeface="Calibri"/>
                <a:ea typeface="Calibri"/>
                <a:cs typeface="Calibri"/>
                <a:sym typeface="Calibri"/>
              </a:rPr>
              <a:t>, varía de una persona a otra y depende de múltiples factores que lo condicionan.  (Chiavenato)</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400"/>
              <a:buFont typeface="Arial"/>
              <a:buChar char="•"/>
            </a:pPr>
            <a:r>
              <a:rPr lang="es-AR" sz="1400" b="0" i="0" u="none" strike="noStrike" cap="none">
                <a:solidFill>
                  <a:schemeClr val="dk1"/>
                </a:solidFill>
                <a:latin typeface="Calibri"/>
                <a:ea typeface="Calibri"/>
                <a:cs typeface="Calibri"/>
                <a:sym typeface="Calibri"/>
              </a:rPr>
              <a:t>El desempeño de las personas en el trabajo </a:t>
            </a:r>
            <a:r>
              <a:rPr lang="es-AR" sz="1400" b="1" i="0" u="none" strike="noStrike" cap="none">
                <a:solidFill>
                  <a:schemeClr val="dk1"/>
                </a:solidFill>
                <a:latin typeface="Calibri"/>
                <a:ea typeface="Calibri"/>
                <a:cs typeface="Calibri"/>
                <a:sym typeface="Calibri"/>
              </a:rPr>
              <a:t>se GESTIONA</a:t>
            </a:r>
            <a:r>
              <a:rPr lang="es-AR" sz="1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285750" marR="0" lvl="0" indent="-196850" algn="just"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22" name="Google Shape;522;p47"/>
          <p:cNvSpPr/>
          <p:nvPr/>
        </p:nvSpPr>
        <p:spPr>
          <a:xfrm>
            <a:off x="5184576" y="4433044"/>
            <a:ext cx="4592960" cy="1600438"/>
          </a:xfrm>
          <a:prstGeom prst="rect">
            <a:avLst/>
          </a:prstGeom>
          <a:solidFill>
            <a:srgbClr val="F2F2F2"/>
          </a:solid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chemeClr val="dk1"/>
              </a:buClr>
              <a:buSzPts val="1400"/>
              <a:buFont typeface="Arial"/>
              <a:buChar char="•"/>
            </a:pPr>
            <a:r>
              <a:rPr lang="es-AR" sz="1400" b="0" i="0" u="none" strike="noStrike" cap="none">
                <a:solidFill>
                  <a:schemeClr val="dk1"/>
                </a:solidFill>
                <a:latin typeface="Calibri"/>
                <a:ea typeface="Calibri"/>
                <a:cs typeface="Calibri"/>
                <a:sym typeface="Calibri"/>
              </a:rPr>
              <a:t>El Potencial es la </a:t>
            </a:r>
            <a:r>
              <a:rPr lang="es-AR" sz="1400" b="1" i="0" u="none" strike="noStrike" cap="none">
                <a:solidFill>
                  <a:schemeClr val="dk1"/>
                </a:solidFill>
                <a:latin typeface="Calibri"/>
                <a:ea typeface="Calibri"/>
                <a:cs typeface="Calibri"/>
                <a:sym typeface="Calibri"/>
              </a:rPr>
              <a:t>combinación</a:t>
            </a:r>
            <a:r>
              <a:rPr lang="es-AR" sz="1400" b="0" i="0" u="none" strike="noStrike" cap="none">
                <a:solidFill>
                  <a:schemeClr val="dk1"/>
                </a:solidFill>
                <a:latin typeface="Calibri"/>
                <a:ea typeface="Calibri"/>
                <a:cs typeface="Calibri"/>
                <a:sym typeface="Calibri"/>
              </a:rPr>
              <a:t> entre las capacidades actuales de la persona y los posibles roles futuros, teniendo en cuenta la capacidad a largo plazo de la persona para el crecimiento personal y sus posibles desvíos potenciales.(HAY Group)</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400"/>
              <a:buFont typeface="Arial"/>
              <a:buChar char="•"/>
            </a:pPr>
            <a:r>
              <a:rPr lang="es-AR" sz="1400" b="0" i="0" u="none" strike="noStrike" cap="none">
                <a:solidFill>
                  <a:schemeClr val="dk1"/>
                </a:solidFill>
                <a:latin typeface="Calibri"/>
                <a:ea typeface="Calibri"/>
                <a:cs typeface="Calibri"/>
                <a:sym typeface="Calibri"/>
              </a:rPr>
              <a:t>Es la hipótesis sobre un desempeño futuro en roles de mayor complejidad.</a:t>
            </a:r>
            <a:endParaRPr sz="1400" b="0" i="0" u="none" strike="noStrike" cap="none">
              <a:solidFill>
                <a:srgbClr val="000000"/>
              </a:solidFill>
              <a:latin typeface="Arial"/>
              <a:ea typeface="Arial"/>
              <a:cs typeface="Arial"/>
              <a:sym typeface="Arial"/>
            </a:endParaRPr>
          </a:p>
        </p:txBody>
      </p:sp>
      <p:sp>
        <p:nvSpPr>
          <p:cNvPr id="523" name="Google Shape;523;p47"/>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Repaso de conceptos</a:t>
            </a:r>
            <a:endParaRPr sz="1400" b="0" i="0" u="none" strike="noStrike" cap="none">
              <a:solidFill>
                <a:srgbClr val="000000"/>
              </a:solidFill>
              <a:latin typeface="Arial"/>
              <a:ea typeface="Arial"/>
              <a:cs typeface="Arial"/>
              <a:sym typeface="Arial"/>
            </a:endParaRPr>
          </a:p>
        </p:txBody>
      </p:sp>
      <p:pic>
        <p:nvPicPr>
          <p:cNvPr id="524" name="Google Shape;524;p47"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grpSp>
        <p:nvGrpSpPr>
          <p:cNvPr id="529" name="Google Shape;529;p66"/>
          <p:cNvGrpSpPr/>
          <p:nvPr/>
        </p:nvGrpSpPr>
        <p:grpSpPr>
          <a:xfrm>
            <a:off x="540908" y="1827082"/>
            <a:ext cx="8386282" cy="1324149"/>
            <a:chOff x="7383" y="1039767"/>
            <a:chExt cx="8386282" cy="1324149"/>
          </a:xfrm>
        </p:grpSpPr>
        <p:sp>
          <p:nvSpPr>
            <p:cNvPr id="530" name="Google Shape;530;p66"/>
            <p:cNvSpPr/>
            <p:nvPr/>
          </p:nvSpPr>
          <p:spPr>
            <a:xfrm>
              <a:off x="7383" y="1039767"/>
              <a:ext cx="2206916" cy="1324149"/>
            </a:xfrm>
            <a:prstGeom prst="roundRect">
              <a:avLst>
                <a:gd name="adj" fmla="val 10000"/>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66"/>
            <p:cNvSpPr txBox="1"/>
            <p:nvPr/>
          </p:nvSpPr>
          <p:spPr>
            <a:xfrm>
              <a:off x="46166" y="1078550"/>
              <a:ext cx="2129350" cy="1246583"/>
            </a:xfrm>
            <a:prstGeom prst="rect">
              <a:avLst/>
            </a:prstGeom>
            <a:noFill/>
            <a:ln>
              <a:noFill/>
            </a:ln>
          </p:spPr>
          <p:txBody>
            <a:bodyPr spcFirstLastPara="1" wrap="square" lIns="148575" tIns="148575" rIns="148575" bIns="148575" anchor="ctr" anchorCtr="0">
              <a:noAutofit/>
            </a:bodyPr>
            <a:lstStyle/>
            <a:p>
              <a:pPr marL="0" marR="0" lvl="0" indent="0" algn="ctr" rtl="0">
                <a:lnSpc>
                  <a:spcPct val="90000"/>
                </a:lnSpc>
                <a:spcBef>
                  <a:spcPts val="0"/>
                </a:spcBef>
                <a:spcAft>
                  <a:spcPts val="0"/>
                </a:spcAft>
                <a:buClr>
                  <a:srgbClr val="000000"/>
                </a:buClr>
                <a:buSzPts val="3900"/>
                <a:buFont typeface="Arial"/>
                <a:buNone/>
              </a:pPr>
              <a:r>
                <a:rPr lang="es-AR" sz="3900" b="0" i="0" u="none" strike="noStrike" cap="none">
                  <a:solidFill>
                    <a:srgbClr val="FFFFFF"/>
                  </a:solidFill>
                  <a:latin typeface="Calibri"/>
                  <a:ea typeface="Calibri"/>
                  <a:cs typeface="Calibri"/>
                  <a:sym typeface="Calibri"/>
                </a:rPr>
                <a:t>Personas</a:t>
              </a:r>
              <a:endParaRPr/>
            </a:p>
          </p:txBody>
        </p:sp>
        <p:sp>
          <p:nvSpPr>
            <p:cNvPr id="532" name="Google Shape;532;p66"/>
            <p:cNvSpPr/>
            <p:nvPr/>
          </p:nvSpPr>
          <p:spPr>
            <a:xfrm>
              <a:off x="2434991" y="1428184"/>
              <a:ext cx="467866" cy="547315"/>
            </a:xfrm>
            <a:prstGeom prst="rightArrow">
              <a:avLst>
                <a:gd name="adj1" fmla="val 60000"/>
                <a:gd name="adj2" fmla="val 50000"/>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66"/>
            <p:cNvSpPr txBox="1"/>
            <p:nvPr/>
          </p:nvSpPr>
          <p:spPr>
            <a:xfrm>
              <a:off x="2434991" y="1537647"/>
              <a:ext cx="327506" cy="32838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300"/>
                <a:buFont typeface="Arial"/>
                <a:buNone/>
              </a:pPr>
              <a:endParaRPr sz="2300" b="0" i="0" u="none" strike="noStrike" cap="none">
                <a:solidFill>
                  <a:srgbClr val="FFFFFF"/>
                </a:solidFill>
                <a:latin typeface="Calibri"/>
                <a:ea typeface="Calibri"/>
                <a:cs typeface="Calibri"/>
                <a:sym typeface="Calibri"/>
              </a:endParaRPr>
            </a:p>
          </p:txBody>
        </p:sp>
        <p:sp>
          <p:nvSpPr>
            <p:cNvPr id="534" name="Google Shape;534;p66"/>
            <p:cNvSpPr/>
            <p:nvPr/>
          </p:nvSpPr>
          <p:spPr>
            <a:xfrm>
              <a:off x="3097066" y="1039767"/>
              <a:ext cx="2206916" cy="1324149"/>
            </a:xfrm>
            <a:prstGeom prst="roundRect">
              <a:avLst>
                <a:gd name="adj" fmla="val 10000"/>
              </a:avLst>
            </a:prstGeom>
            <a:solidFill>
              <a:srgbClr val="2EE844"/>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66"/>
            <p:cNvSpPr txBox="1"/>
            <p:nvPr/>
          </p:nvSpPr>
          <p:spPr>
            <a:xfrm>
              <a:off x="3135849" y="1078550"/>
              <a:ext cx="2129350" cy="1246583"/>
            </a:xfrm>
            <a:prstGeom prst="rect">
              <a:avLst/>
            </a:prstGeom>
            <a:noFill/>
            <a:ln>
              <a:noFill/>
            </a:ln>
          </p:spPr>
          <p:txBody>
            <a:bodyPr spcFirstLastPara="1" wrap="square" lIns="148575" tIns="148575" rIns="148575" bIns="148575" anchor="ctr" anchorCtr="0">
              <a:noAutofit/>
            </a:bodyPr>
            <a:lstStyle/>
            <a:p>
              <a:pPr marL="0" marR="0" lvl="0" indent="0" algn="ctr" rtl="0">
                <a:lnSpc>
                  <a:spcPct val="90000"/>
                </a:lnSpc>
                <a:spcBef>
                  <a:spcPts val="0"/>
                </a:spcBef>
                <a:spcAft>
                  <a:spcPts val="0"/>
                </a:spcAft>
                <a:buClr>
                  <a:srgbClr val="000000"/>
                </a:buClr>
                <a:buSzPts val="3900"/>
                <a:buFont typeface="Arial"/>
                <a:buNone/>
              </a:pPr>
              <a:r>
                <a:rPr lang="es-AR" sz="3900" b="0" i="0" u="none" strike="noStrike" cap="none">
                  <a:solidFill>
                    <a:srgbClr val="FFFFFF"/>
                  </a:solidFill>
                  <a:latin typeface="Calibri"/>
                  <a:ea typeface="Calibri"/>
                  <a:cs typeface="Calibri"/>
                  <a:sym typeface="Calibri"/>
                </a:rPr>
                <a:t>Proceso</a:t>
              </a:r>
              <a:endParaRPr sz="3900" b="0" i="0" u="none" strike="noStrike" cap="none">
                <a:solidFill>
                  <a:srgbClr val="FFFFFF"/>
                </a:solidFill>
                <a:latin typeface="Calibri"/>
                <a:ea typeface="Calibri"/>
                <a:cs typeface="Calibri"/>
                <a:sym typeface="Calibri"/>
              </a:endParaRPr>
            </a:p>
          </p:txBody>
        </p:sp>
        <p:sp>
          <p:nvSpPr>
            <p:cNvPr id="536" name="Google Shape;536;p66"/>
            <p:cNvSpPr/>
            <p:nvPr/>
          </p:nvSpPr>
          <p:spPr>
            <a:xfrm>
              <a:off x="5524674" y="1428184"/>
              <a:ext cx="467866" cy="547315"/>
            </a:xfrm>
            <a:prstGeom prst="rightArrow">
              <a:avLst>
                <a:gd name="adj1" fmla="val 60000"/>
                <a:gd name="adj2" fmla="val 50000"/>
              </a:avLst>
            </a:prstGeom>
            <a:solidFill>
              <a:srgbClr val="5999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66"/>
            <p:cNvSpPr txBox="1"/>
            <p:nvPr/>
          </p:nvSpPr>
          <p:spPr>
            <a:xfrm>
              <a:off x="5524674" y="1537647"/>
              <a:ext cx="327506" cy="32838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300"/>
                <a:buFont typeface="Arial"/>
                <a:buNone/>
              </a:pPr>
              <a:endParaRPr sz="2300" b="0" i="0" u="none" strike="noStrike" cap="none">
                <a:solidFill>
                  <a:srgbClr val="FFFFFF"/>
                </a:solidFill>
                <a:latin typeface="Calibri"/>
                <a:ea typeface="Calibri"/>
                <a:cs typeface="Calibri"/>
                <a:sym typeface="Calibri"/>
              </a:endParaRPr>
            </a:p>
          </p:txBody>
        </p:sp>
        <p:sp>
          <p:nvSpPr>
            <p:cNvPr id="538" name="Google Shape;538;p66"/>
            <p:cNvSpPr/>
            <p:nvPr/>
          </p:nvSpPr>
          <p:spPr>
            <a:xfrm>
              <a:off x="6186749" y="1039767"/>
              <a:ext cx="2206916" cy="1324149"/>
            </a:xfrm>
            <a:prstGeom prst="roundRect">
              <a:avLst>
                <a:gd name="adj" fmla="val 10000"/>
              </a:avLst>
            </a:prstGeom>
            <a:solidFill>
              <a:srgbClr val="5999D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66"/>
            <p:cNvSpPr txBox="1"/>
            <p:nvPr/>
          </p:nvSpPr>
          <p:spPr>
            <a:xfrm>
              <a:off x="6225532" y="1078550"/>
              <a:ext cx="2129350" cy="1246583"/>
            </a:xfrm>
            <a:prstGeom prst="rect">
              <a:avLst/>
            </a:prstGeom>
            <a:noFill/>
            <a:ln>
              <a:noFill/>
            </a:ln>
          </p:spPr>
          <p:txBody>
            <a:bodyPr spcFirstLastPara="1" wrap="square" lIns="148575" tIns="148575" rIns="148575" bIns="148575" anchor="ctr" anchorCtr="0">
              <a:noAutofit/>
            </a:bodyPr>
            <a:lstStyle/>
            <a:p>
              <a:pPr marL="0" marR="0" lvl="0" indent="0" algn="ctr" rtl="0">
                <a:lnSpc>
                  <a:spcPct val="90000"/>
                </a:lnSpc>
                <a:spcBef>
                  <a:spcPts val="0"/>
                </a:spcBef>
                <a:spcAft>
                  <a:spcPts val="0"/>
                </a:spcAft>
                <a:buClr>
                  <a:srgbClr val="000000"/>
                </a:buClr>
                <a:buSzPts val="3900"/>
                <a:buFont typeface="Arial"/>
                <a:buNone/>
              </a:pPr>
              <a:r>
                <a:rPr lang="es-AR" sz="3900" b="0" i="0" u="none" strike="noStrike" cap="none">
                  <a:solidFill>
                    <a:srgbClr val="FFFFFF"/>
                  </a:solidFill>
                  <a:latin typeface="Calibri"/>
                  <a:ea typeface="Calibri"/>
                  <a:cs typeface="Calibri"/>
                  <a:sym typeface="Calibri"/>
                </a:rPr>
                <a:t> Negocio</a:t>
              </a:r>
              <a:endParaRPr sz="3900" b="0" i="0" u="none" strike="noStrike" cap="none">
                <a:solidFill>
                  <a:srgbClr val="FFFFFF"/>
                </a:solidFill>
                <a:latin typeface="Calibri"/>
                <a:ea typeface="Calibri"/>
                <a:cs typeface="Calibri"/>
                <a:sym typeface="Calibri"/>
              </a:endParaRPr>
            </a:p>
          </p:txBody>
        </p:sp>
      </p:grpSp>
      <p:pic>
        <p:nvPicPr>
          <p:cNvPr id="540" name="Google Shape;540;p66" descr="Confused person"/>
          <p:cNvPicPr preferRelativeResize="0"/>
          <p:nvPr/>
        </p:nvPicPr>
        <p:blipFill rotWithShape="1">
          <a:blip r:embed="rId3">
            <a:alphaModFix/>
          </a:blip>
          <a:srcRect/>
          <a:stretch/>
        </p:blipFill>
        <p:spPr>
          <a:xfrm>
            <a:off x="1988601" y="2698753"/>
            <a:ext cx="914400" cy="914400"/>
          </a:xfrm>
          <a:prstGeom prst="rect">
            <a:avLst/>
          </a:prstGeom>
          <a:noFill/>
          <a:ln>
            <a:noFill/>
          </a:ln>
        </p:spPr>
      </p:pic>
      <p:pic>
        <p:nvPicPr>
          <p:cNvPr id="541" name="Google Shape;541;p66" descr="Cycle with people"/>
          <p:cNvPicPr preferRelativeResize="0"/>
          <p:nvPr/>
        </p:nvPicPr>
        <p:blipFill rotWithShape="1">
          <a:blip r:embed="rId4">
            <a:alphaModFix/>
          </a:blip>
          <a:srcRect/>
          <a:stretch/>
        </p:blipFill>
        <p:spPr>
          <a:xfrm>
            <a:off x="5132634" y="2657480"/>
            <a:ext cx="914400" cy="914400"/>
          </a:xfrm>
          <a:prstGeom prst="rect">
            <a:avLst/>
          </a:prstGeom>
          <a:noFill/>
          <a:ln>
            <a:noFill/>
          </a:ln>
        </p:spPr>
      </p:pic>
      <p:pic>
        <p:nvPicPr>
          <p:cNvPr id="542" name="Google Shape;542;p66" descr="Briefcase"/>
          <p:cNvPicPr preferRelativeResize="0"/>
          <p:nvPr/>
        </p:nvPicPr>
        <p:blipFill rotWithShape="1">
          <a:blip r:embed="rId5">
            <a:alphaModFix/>
          </a:blip>
          <a:srcRect/>
          <a:stretch/>
        </p:blipFill>
        <p:spPr>
          <a:xfrm>
            <a:off x="8261881" y="2676530"/>
            <a:ext cx="914400" cy="914400"/>
          </a:xfrm>
          <a:prstGeom prst="rect">
            <a:avLst/>
          </a:prstGeom>
          <a:noFill/>
          <a:ln>
            <a:noFill/>
          </a:ln>
        </p:spPr>
      </p:pic>
      <p:sp>
        <p:nvSpPr>
          <p:cNvPr id="543" name="Google Shape;543;p66"/>
          <p:cNvSpPr txBox="1"/>
          <p:nvPr/>
        </p:nvSpPr>
        <p:spPr>
          <a:xfrm>
            <a:off x="533526" y="3778172"/>
            <a:ext cx="2658471" cy="20621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0000"/>
                </a:solidFill>
                <a:latin typeface="Arial"/>
                <a:ea typeface="Arial"/>
                <a:cs typeface="Arial"/>
                <a:sym typeface="Arial"/>
              </a:rPr>
              <a:t>La clase de hoy impacta en los siguientes temas del bloque de personas</a:t>
            </a:r>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Comunicacion</a:t>
            </a:r>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Liderazgo</a:t>
            </a:r>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Cultura</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Motivación</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Clima Organizacional</a:t>
            </a:r>
            <a:endParaRPr sz="1600" b="0" i="0" u="none" strike="noStrike" cap="none">
              <a:solidFill>
                <a:srgbClr val="000000"/>
              </a:solidFill>
              <a:latin typeface="Arial"/>
              <a:ea typeface="Arial"/>
              <a:cs typeface="Arial"/>
              <a:sym typeface="Arial"/>
            </a:endParaRPr>
          </a:p>
        </p:txBody>
      </p:sp>
      <p:sp>
        <p:nvSpPr>
          <p:cNvPr id="544" name="Google Shape;544;p66"/>
          <p:cNvSpPr txBox="1"/>
          <p:nvPr/>
        </p:nvSpPr>
        <p:spPr>
          <a:xfrm>
            <a:off x="3566358" y="3778172"/>
            <a:ext cx="2717553" cy="230832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El tema de hoy veremos impacto en los siguientes procesos:</a:t>
            </a:r>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Diseño organizacional</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Reclutamiento y Selección</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Compensaciones</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Capacitación</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Indicadores</a:t>
            </a:r>
            <a:endParaRPr/>
          </a:p>
        </p:txBody>
      </p:sp>
      <p:sp>
        <p:nvSpPr>
          <p:cNvPr id="545" name="Google Shape;545;p66"/>
          <p:cNvSpPr txBox="1"/>
          <p:nvPr/>
        </p:nvSpPr>
        <p:spPr>
          <a:xfrm>
            <a:off x="6283912" y="3487927"/>
            <a:ext cx="3025024" cy="243143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s-AR" sz="1800" b="1" i="0" u="none" strike="noStrike" cap="none">
                <a:solidFill>
                  <a:srgbClr val="000000"/>
                </a:solidFill>
                <a:latin typeface="Arial"/>
                <a:ea typeface="Arial"/>
                <a:cs typeface="Arial"/>
                <a:sym typeface="Arial"/>
              </a:rPr>
              <a:t>Pymes  vs Corporativo</a:t>
            </a:r>
            <a:endParaRPr/>
          </a:p>
          <a:p>
            <a:pPr marL="285750" marR="0" lvl="0" indent="-285750" algn="l" rtl="0">
              <a:lnSpc>
                <a:spcPct val="100000"/>
              </a:lnSpc>
              <a:spcBef>
                <a:spcPts val="0"/>
              </a:spcBef>
              <a:spcAft>
                <a:spcPts val="0"/>
              </a:spcAft>
              <a:buClr>
                <a:srgbClr val="000000"/>
              </a:buClr>
              <a:buSzPts val="1200"/>
              <a:buFont typeface="Arial"/>
              <a:buChar char="-"/>
            </a:pPr>
            <a:r>
              <a:rPr lang="es-AR" sz="1200" b="0" i="0" u="none" strike="noStrike" cap="none">
                <a:solidFill>
                  <a:srgbClr val="000000"/>
                </a:solidFill>
                <a:latin typeface="Arial"/>
                <a:ea typeface="Arial"/>
                <a:cs typeface="Arial"/>
                <a:sym typeface="Arial"/>
              </a:rPr>
              <a:t>¿En las PYMES también se Gestiona el Talento?</a:t>
            </a:r>
            <a:endParaRPr/>
          </a:p>
          <a:p>
            <a:pPr marL="0" marR="0" lvl="0" indent="0" algn="l" rtl="0">
              <a:lnSpc>
                <a:spcPct val="100000"/>
              </a:lnSpc>
              <a:spcBef>
                <a:spcPts val="0"/>
              </a:spcBef>
              <a:spcAft>
                <a:spcPts val="0"/>
              </a:spcAft>
              <a:buNone/>
            </a:pPr>
            <a:r>
              <a:rPr lang="es-AR" sz="1200" b="0" i="0" u="none" strike="noStrike" cap="none">
                <a:solidFill>
                  <a:srgbClr val="000000"/>
                </a:solidFill>
                <a:latin typeface="Arial"/>
                <a:ea typeface="Arial"/>
                <a:cs typeface="Arial"/>
                <a:sym typeface="Arial"/>
              </a:rPr>
              <a:t>Imaginemos:</a:t>
            </a:r>
            <a:endParaRPr/>
          </a:p>
          <a:p>
            <a:pPr marL="171450" marR="0" lvl="0" indent="-171450" algn="l" rtl="0">
              <a:lnSpc>
                <a:spcPct val="100000"/>
              </a:lnSpc>
              <a:spcBef>
                <a:spcPts val="0"/>
              </a:spcBef>
              <a:spcAft>
                <a:spcPts val="0"/>
              </a:spcAft>
              <a:buClr>
                <a:srgbClr val="000000"/>
              </a:buClr>
              <a:buSzPts val="1200"/>
              <a:buFont typeface="Arial"/>
              <a:buChar char="-"/>
            </a:pPr>
            <a:r>
              <a:rPr lang="es-AR" sz="1200" b="0" i="0" u="none" strike="noStrike" cap="none">
                <a:solidFill>
                  <a:srgbClr val="000000"/>
                </a:solidFill>
                <a:latin typeface="Arial"/>
                <a:ea typeface="Arial"/>
                <a:cs typeface="Arial"/>
                <a:sym typeface="Arial"/>
              </a:rPr>
              <a:t>¿Cómo se identifica el potencial en una PYME?</a:t>
            </a:r>
            <a:endParaRPr/>
          </a:p>
          <a:p>
            <a:pPr marL="285750" marR="0" lvl="0" indent="-285750" algn="l" rtl="0">
              <a:lnSpc>
                <a:spcPct val="100000"/>
              </a:lnSpc>
              <a:spcBef>
                <a:spcPts val="0"/>
              </a:spcBef>
              <a:spcAft>
                <a:spcPts val="0"/>
              </a:spcAft>
              <a:buClr>
                <a:srgbClr val="000000"/>
              </a:buClr>
              <a:buSzPts val="1200"/>
              <a:buFont typeface="Arial"/>
              <a:buChar char="-"/>
            </a:pPr>
            <a:r>
              <a:rPr lang="es-AR" sz="1200" b="0" i="0" u="none" strike="noStrike" cap="none">
                <a:solidFill>
                  <a:srgbClr val="000000"/>
                </a:solidFill>
                <a:latin typeface="Arial"/>
                <a:ea typeface="Arial"/>
                <a:cs typeface="Arial"/>
                <a:sym typeface="Arial"/>
              </a:rPr>
              <a:t>Se generan acciones de desarrollo para esas personas identificadas con alto desempeño y alto potencial? Cómo se implementaría ese desarrollo?</a:t>
            </a:r>
            <a:endParaRPr/>
          </a:p>
          <a:p>
            <a:pPr marL="285750" marR="0" lvl="0" indent="-285750" algn="l" rtl="0">
              <a:lnSpc>
                <a:spcPct val="100000"/>
              </a:lnSpc>
              <a:spcBef>
                <a:spcPts val="0"/>
              </a:spcBef>
              <a:spcAft>
                <a:spcPts val="0"/>
              </a:spcAft>
              <a:buClr>
                <a:srgbClr val="000000"/>
              </a:buClr>
              <a:buSzPts val="1200"/>
              <a:buFont typeface="Arial"/>
              <a:buChar char="-"/>
            </a:pPr>
            <a:r>
              <a:rPr lang="es-AR" sz="1200" b="0" i="0" u="none" strike="noStrike" cap="none">
                <a:solidFill>
                  <a:srgbClr val="000000"/>
                </a:solidFill>
                <a:latin typeface="Arial"/>
                <a:ea typeface="Arial"/>
                <a:cs typeface="Arial"/>
                <a:sym typeface="Arial"/>
              </a:rPr>
              <a:t>Y con respect a la retención? </a:t>
            </a:r>
            <a:r>
              <a:rPr lang="es-AR" sz="1400" b="0" i="0" u="none" strike="noStrike" cap="none">
                <a:solidFill>
                  <a:srgbClr val="000000"/>
                </a:solidFill>
                <a:latin typeface="Arial"/>
                <a:ea typeface="Arial"/>
                <a:cs typeface="Arial"/>
                <a:sym typeface="Arial"/>
              </a:rPr>
              <a:t>	</a:t>
            </a:r>
            <a:endParaRPr/>
          </a:p>
        </p:txBody>
      </p:sp>
      <p:sp>
        <p:nvSpPr>
          <p:cNvPr id="546" name="Google Shape;546;p66"/>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GESTIÓN DEL TALENTO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pic>
        <p:nvPicPr>
          <p:cNvPr id="553" name="Google Shape;553;p48" descr="http://lavidaencraft.files.wordpress.com/2013/11/gracias.jpg"/>
          <p:cNvPicPr preferRelativeResize="0"/>
          <p:nvPr/>
        </p:nvPicPr>
        <p:blipFill rotWithShape="1">
          <a:blip r:embed="rId3">
            <a:alphaModFix/>
          </a:blip>
          <a:srcRect t="12371" b="13400"/>
          <a:stretch/>
        </p:blipFill>
        <p:spPr>
          <a:xfrm>
            <a:off x="238092" y="1500174"/>
            <a:ext cx="9239280" cy="4286280"/>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3410</TotalTime>
  <Words>2763</Words>
  <Application>Microsoft Macintosh PowerPoint</Application>
  <PresentationFormat>A4 Paper (210x297 mm)</PresentationFormat>
  <Paragraphs>387</Paragraphs>
  <Slides>35</Slides>
  <Notes>35</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Noto Sans</vt:lpstr>
      <vt:lpstr>Calibri</vt:lpstr>
      <vt:lpstr>Arimo</vt:lpstr>
      <vt:lpstr>Söhne</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Maria Jimena Perez Liendo</cp:lastModifiedBy>
  <cp:revision>1</cp:revision>
  <dcterms:created xsi:type="dcterms:W3CDTF">2010-12-02T12:17:16Z</dcterms:created>
  <dcterms:modified xsi:type="dcterms:W3CDTF">2023-10-25T20:09:26Z</dcterms:modified>
</cp:coreProperties>
</file>