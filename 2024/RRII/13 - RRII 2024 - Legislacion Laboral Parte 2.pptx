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6858000" cx="9906000"/>
  <p:notesSz cx="6797675" cy="9926625"/>
  <p:embeddedFontLst>
    <p:embeddedFont>
      <p:font typeface="Arial Narrow"/>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275">
          <p15:clr>
            <a:srgbClr val="A4A3A4"/>
          </p15:clr>
        </p15:guide>
        <p15:guide id="2" pos="6114">
          <p15:clr>
            <a:srgbClr val="A4A3A4"/>
          </p15:clr>
        </p15:guide>
      </p15:sldGuideLst>
    </p:ext>
    <p:ext uri="{2D200454-40CA-4A62-9FC3-DE9A4176ACB9}">
      <p15:notesGuideLst>
        <p15:guide id="1" orient="horz" pos="3127">
          <p15:clr>
            <a:srgbClr val="A4A3A4"/>
          </p15:clr>
        </p15:guide>
        <p15:guide id="2" pos="2141">
          <p15:clr>
            <a:srgbClr val="A4A3A4"/>
          </p15:clr>
        </p15:guide>
      </p15:notesGuideLst>
    </p:ext>
    <p:ext uri="GoogleSlidesCustomDataVersion2">
      <go:slidesCustomData xmlns:go="http://customooxmlschemas.google.com/" r:id="rId47" roundtripDataSignature="AMtx7mjWOlig8gK/T26vija+nW2AghCd9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275" orient="horz"/>
        <p:guide pos="6114"/>
      </p:guideLst>
    </p:cSldViewPr>
  </p:slideViewPr>
  <p:notesViewPr>
    <p:cSldViewPr snapToGrid="0">
      <p:cViewPr varScale="1">
        <p:scale>
          <a:sx n="100" d="100"/>
          <a:sy n="100" d="100"/>
        </p:scale>
        <p:origin x="0" y="0"/>
      </p:cViewPr>
      <p:guideLst>
        <p:guide pos="3127" orient="horz"/>
        <p:guide pos="2141"/>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font" Target="fonts/ArialNarrow-bold.fntdata"/><Relationship Id="rId21" Type="http://schemas.openxmlformats.org/officeDocument/2006/relationships/slide" Target="slides/slide16.xml"/><Relationship Id="rId43" Type="http://schemas.openxmlformats.org/officeDocument/2006/relationships/font" Target="fonts/ArialNarrow-regular.fntdata"/><Relationship Id="rId24" Type="http://schemas.openxmlformats.org/officeDocument/2006/relationships/slide" Target="slides/slide19.xml"/><Relationship Id="rId46" Type="http://schemas.openxmlformats.org/officeDocument/2006/relationships/font" Target="fonts/ArialNarrow-boldItalic.fntdata"/><Relationship Id="rId23" Type="http://schemas.openxmlformats.org/officeDocument/2006/relationships/slide" Target="slides/slide18.xml"/><Relationship Id="rId45" Type="http://schemas.openxmlformats.org/officeDocument/2006/relationships/font" Target="fonts/ArialNarrow-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47" Type="http://customschemas.google.com/relationships/presentationmetadata" Target="meta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6797675" cy="496332"/>
          </a:xfrm>
          <a:prstGeom prst="rect">
            <a:avLst/>
          </a:prstGeom>
          <a:noFill/>
          <a:ln>
            <a:noFill/>
          </a:ln>
        </p:spPr>
        <p:txBody>
          <a:bodyPr anchorCtr="0" anchor="t" bIns="35800" lIns="71600" spcFirstLastPara="1" rIns="286450" wrap="square" tIns="179025">
            <a:noAutofit/>
          </a:bodyPr>
          <a:lstStyle>
            <a:lvl1pPr lvl="0" marR="0" rtl="0" algn="r">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p:nvPr>
            <p:ph idx="3" type="sldImg"/>
          </p:nvPr>
        </p:nvSpPr>
        <p:spPr>
          <a:xfrm>
            <a:off x="531813" y="620713"/>
            <a:ext cx="5734050" cy="39703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 name="Google Shape;5;n"/>
          <p:cNvSpPr txBox="1"/>
          <p:nvPr>
            <p:ph idx="1" type="body"/>
          </p:nvPr>
        </p:nvSpPr>
        <p:spPr>
          <a:xfrm>
            <a:off x="212405" y="4715153"/>
            <a:ext cx="6372865" cy="4591101"/>
          </a:xfrm>
          <a:prstGeom prst="rect">
            <a:avLst/>
          </a:prstGeom>
          <a:noFill/>
          <a:ln>
            <a:noFill/>
          </a:ln>
        </p:spPr>
        <p:txBody>
          <a:bodyPr anchorCtr="0" anchor="t" bIns="45450" lIns="90925" spcFirstLastPara="1" rIns="90925" wrap="square" tIns="45450">
            <a:norm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6" name="Google Shape;6;n"/>
          <p:cNvSpPr txBox="1"/>
          <p:nvPr>
            <p:ph idx="11" type="ftr"/>
          </p:nvPr>
        </p:nvSpPr>
        <p:spPr>
          <a:xfrm>
            <a:off x="0" y="9428584"/>
            <a:ext cx="2945659" cy="496332"/>
          </a:xfrm>
          <a:prstGeom prst="rect">
            <a:avLst/>
          </a:prstGeom>
          <a:noFill/>
          <a:ln>
            <a:noFill/>
          </a:ln>
        </p:spPr>
        <p:txBody>
          <a:bodyPr anchorCtr="0" anchor="b" bIns="179025" lIns="179025" spcFirstLastPara="1" rIns="71600" wrap="square" tIns="35800">
            <a:noAutofit/>
          </a:bodyPr>
          <a:lstStyle>
            <a:lvl1pPr lvl="0" marR="0" rtl="0" algn="l">
              <a:lnSpc>
                <a:spcPct val="100000"/>
              </a:lnSpc>
              <a:spcBef>
                <a:spcPts val="0"/>
              </a:spcBef>
              <a:spcAft>
                <a:spcPts val="0"/>
              </a:spcAft>
              <a:buClr>
                <a:srgbClr val="000000"/>
              </a:buClr>
              <a:buSzPts val="1400"/>
              <a:buFont typeface="Arial"/>
              <a:buNone/>
              <a:defRPr b="0" i="0" sz="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7" name="Google Shape;7;n"/>
          <p:cNvSpPr txBox="1"/>
          <p:nvPr>
            <p:ph idx="12" type="sldNum"/>
          </p:nvPr>
        </p:nvSpPr>
        <p:spPr>
          <a:xfrm>
            <a:off x="3850443" y="9428584"/>
            <a:ext cx="2945659" cy="496332"/>
          </a:xfrm>
          <a:prstGeom prst="rect">
            <a:avLst/>
          </a:prstGeom>
          <a:noFill/>
          <a:ln>
            <a:noFill/>
          </a:ln>
        </p:spPr>
        <p:txBody>
          <a:bodyPr anchorCtr="0" anchor="b" bIns="179025" lIns="71600" spcFirstLastPara="1" rIns="179025" wrap="square" tIns="35800">
            <a:noAutofit/>
          </a:bodyPr>
          <a:lstStyle/>
          <a:p>
            <a:pPr indent="0" lvl="0" marL="0" marR="0" rtl="0" algn="r">
              <a:lnSpc>
                <a:spcPct val="100000"/>
              </a:lnSpc>
              <a:spcBef>
                <a:spcPts val="0"/>
              </a:spcBef>
              <a:spcAft>
                <a:spcPts val="0"/>
              </a:spcAft>
              <a:buNone/>
            </a:pPr>
            <a:fld id="{00000000-1234-1234-1234-123412341234}" type="slidenum">
              <a:rPr b="1" i="0" lang="en-US" sz="800" u="none" cap="none" strike="noStrike">
                <a:solidFill>
                  <a:schemeClr val="dk1"/>
                </a:solidFill>
                <a:latin typeface="Arial"/>
                <a:ea typeface="Arial"/>
                <a:cs typeface="Arial"/>
                <a:sym typeface="Arial"/>
              </a:rPr>
              <a:t>‹#›</a:t>
            </a:fld>
            <a:endParaRPr b="1" i="0" sz="8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www.ley20744argentina.com.ar/articulo-245.html"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1:notes"/>
          <p:cNvSpPr/>
          <p:nvPr>
            <p:ph idx="2" type="sldImg"/>
          </p:nvPr>
        </p:nvSpPr>
        <p:spPr>
          <a:xfrm>
            <a:off x="531813" y="620713"/>
            <a:ext cx="5734050" cy="39703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p1:notes"/>
          <p:cNvSpPr txBox="1"/>
          <p:nvPr>
            <p:ph idx="1" type="body"/>
          </p:nvPr>
        </p:nvSpPr>
        <p:spPr>
          <a:xfrm>
            <a:off x="212405" y="4715153"/>
            <a:ext cx="6372865" cy="4591101"/>
          </a:xfrm>
          <a:prstGeom prst="rect">
            <a:avLst/>
          </a:prstGeom>
          <a:noFill/>
          <a:ln>
            <a:noFill/>
          </a:ln>
        </p:spPr>
        <p:txBody>
          <a:bodyPr anchorCtr="0" anchor="t" bIns="45450" lIns="90925" spcFirstLastPara="1" rIns="90925" wrap="square" tIns="45450">
            <a:normAutofit/>
          </a:bodyPr>
          <a:lstStyle/>
          <a:p>
            <a:pPr indent="0" lvl="0" marL="0" rtl="0" algn="l">
              <a:lnSpc>
                <a:spcPct val="100000"/>
              </a:lnSpc>
              <a:spcBef>
                <a:spcPts val="0"/>
              </a:spcBef>
              <a:spcAft>
                <a:spcPts val="0"/>
              </a:spcAft>
              <a:buSzPts val="1400"/>
              <a:buNone/>
            </a:pPr>
            <a:r>
              <a:t/>
            </a:r>
            <a:endParaRPr/>
          </a:p>
        </p:txBody>
      </p:sp>
      <p:sp>
        <p:nvSpPr>
          <p:cNvPr id="22" name="Google Shape;22;p1:notes"/>
          <p:cNvSpPr txBox="1"/>
          <p:nvPr>
            <p:ph idx="11" type="ftr"/>
          </p:nvPr>
        </p:nvSpPr>
        <p:spPr>
          <a:xfrm>
            <a:off x="0" y="9428584"/>
            <a:ext cx="2945659" cy="496332"/>
          </a:xfrm>
          <a:prstGeom prst="rect">
            <a:avLst/>
          </a:prstGeom>
          <a:noFill/>
          <a:ln>
            <a:noFill/>
          </a:ln>
        </p:spPr>
        <p:txBody>
          <a:bodyPr anchorCtr="0" anchor="b" bIns="179025" lIns="179025" spcFirstLastPara="1" rIns="71600" wrap="square" tIns="35800">
            <a:noAutofit/>
          </a:bodyPr>
          <a:lstStyle/>
          <a:p>
            <a:pPr indent="0" lvl="0" marL="0" marR="0" rtl="0" algn="l">
              <a:lnSpc>
                <a:spcPct val="100000"/>
              </a:lnSpc>
              <a:spcBef>
                <a:spcPts val="0"/>
              </a:spcBef>
              <a:spcAft>
                <a:spcPts val="0"/>
              </a:spcAft>
              <a:buSzPts val="1400"/>
              <a:buNone/>
            </a:pPr>
            <a:r>
              <a:rPr lang="en-US"/>
              <a:t>© 2010 Capgemini. All rights reserved.</a:t>
            </a:r>
            <a:endParaRPr/>
          </a:p>
        </p:txBody>
      </p:sp>
      <p:sp>
        <p:nvSpPr>
          <p:cNvPr id="23" name="Google Shape;23;p1:notes"/>
          <p:cNvSpPr txBox="1"/>
          <p:nvPr>
            <p:ph idx="12" type="sldNum"/>
          </p:nvPr>
        </p:nvSpPr>
        <p:spPr>
          <a:xfrm>
            <a:off x="3850443" y="9428584"/>
            <a:ext cx="2945659" cy="496332"/>
          </a:xfrm>
          <a:prstGeom prst="rect">
            <a:avLst/>
          </a:prstGeom>
          <a:noFill/>
          <a:ln>
            <a:noFill/>
          </a:ln>
        </p:spPr>
        <p:txBody>
          <a:bodyPr anchorCtr="0" anchor="b" bIns="179025" lIns="71600" spcFirstLastPara="1" rIns="179025" wrap="square" tIns="358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8:notes"/>
          <p:cNvSpPr txBox="1"/>
          <p:nvPr>
            <p:ph idx="1" type="body"/>
          </p:nvPr>
        </p:nvSpPr>
        <p:spPr>
          <a:xfrm>
            <a:off x="213545" y="4740037"/>
            <a:ext cx="6407095" cy="4615329"/>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400"/>
              <a:buNone/>
            </a:pPr>
            <a:r>
              <a:t/>
            </a:r>
            <a:endParaRPr/>
          </a:p>
        </p:txBody>
      </p:sp>
      <p:sp>
        <p:nvSpPr>
          <p:cNvPr id="30" name="Google Shape;30;p28:notes"/>
          <p:cNvSpPr/>
          <p:nvPr>
            <p:ph idx="2" type="sldImg"/>
          </p:nvPr>
        </p:nvSpPr>
        <p:spPr>
          <a:xfrm>
            <a:off x="534988" y="623888"/>
            <a:ext cx="5764212" cy="3990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29: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29: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285750" lvl="0" marL="285750" rtl="0" algn="l">
              <a:lnSpc>
                <a:spcPct val="100000"/>
              </a:lnSpc>
              <a:spcBef>
                <a:spcPts val="0"/>
              </a:spcBef>
              <a:spcAft>
                <a:spcPts val="0"/>
              </a:spcAft>
              <a:buClr>
                <a:schemeClr val="dk1"/>
              </a:buClr>
              <a:buSzPts val="1200"/>
              <a:buFont typeface="Arial"/>
              <a:buChar char="•"/>
            </a:pPr>
            <a:r>
              <a:rPr lang="en-US"/>
              <a:t>Accidente de Trabajo: Es un hecho súbito y violento ocurrido en el lugar donde el trabajador realiza su tarea y por causa de la misma. </a:t>
            </a:r>
            <a:endParaRPr/>
          </a:p>
          <a:p>
            <a:pPr indent="-285750" lvl="0" marL="285750" rtl="0" algn="l">
              <a:lnSpc>
                <a:spcPct val="100000"/>
              </a:lnSpc>
              <a:spcBef>
                <a:spcPts val="0"/>
              </a:spcBef>
              <a:spcAft>
                <a:spcPts val="0"/>
              </a:spcAft>
              <a:buClr>
                <a:schemeClr val="dk1"/>
              </a:buClr>
              <a:buSzPts val="1200"/>
              <a:buFont typeface="Arial"/>
              <a:buChar char="•"/>
            </a:pPr>
            <a:r>
              <a:rPr lang="en-US"/>
              <a:t>Accidente In Itinere: Accidente en el trayecto entre el domicilio del trabajador y el lugar de trabajo o viceversa, siempre que el damnificado no hubiere alterado dicho trayecto por causas ajenas al trabajo.</a:t>
            </a:r>
            <a:endParaRPr/>
          </a:p>
          <a:p>
            <a:pPr indent="-285750" lvl="0" marL="285750" rtl="0" algn="l">
              <a:lnSpc>
                <a:spcPct val="100000"/>
              </a:lnSpc>
              <a:spcBef>
                <a:spcPts val="0"/>
              </a:spcBef>
              <a:spcAft>
                <a:spcPts val="0"/>
              </a:spcAft>
              <a:buClr>
                <a:schemeClr val="dk1"/>
              </a:buClr>
              <a:buSzPts val="1200"/>
              <a:buFont typeface="Arial"/>
              <a:buChar char="•"/>
            </a:pPr>
            <a:r>
              <a:rPr lang="en-US"/>
              <a:t>Enfermedad Profesional: A diferencia del accidente su desarrollo es progresivo, Es la producida por causa del lugar o del tipo de trabajo. Existe un Listado de Enfermedades Profesionales en el cual se identifican cuadros clínicos, exposición y actividades en las que suelen producirse estas enfermedades y también agentes de riesgo. </a:t>
            </a:r>
            <a:endParaRPr/>
          </a:p>
          <a:p>
            <a:pPr indent="-209550" lvl="0" marL="285750" rtl="0" algn="l">
              <a:lnSpc>
                <a:spcPct val="100000"/>
              </a:lnSpc>
              <a:spcBef>
                <a:spcPts val="0"/>
              </a:spcBef>
              <a:spcAft>
                <a:spcPts val="0"/>
              </a:spcAft>
              <a:buClr>
                <a:schemeClr val="dk1"/>
              </a:buClr>
              <a:buSzPts val="1200"/>
              <a:buFont typeface="Arial"/>
              <a:buNone/>
            </a:pPr>
            <a:r>
              <a:t/>
            </a:r>
            <a:endParaRPr/>
          </a:p>
          <a:p>
            <a:pPr indent="-209550" lvl="0" marL="285750" rtl="0" algn="l">
              <a:lnSpc>
                <a:spcPct val="100000"/>
              </a:lnSpc>
              <a:spcBef>
                <a:spcPts val="0"/>
              </a:spcBef>
              <a:spcAft>
                <a:spcPts val="0"/>
              </a:spcAft>
              <a:buClr>
                <a:schemeClr val="dk1"/>
              </a:buClr>
              <a:buSzPts val="1200"/>
              <a:buFont typeface="Arial"/>
              <a:buNone/>
            </a:pPr>
            <a:r>
              <a:t/>
            </a:r>
            <a:endParaRPr/>
          </a:p>
          <a:p>
            <a:pPr indent="-209550" lvl="0" marL="285750" rtl="0" algn="l">
              <a:lnSpc>
                <a:spcPct val="100000"/>
              </a:lnSpc>
              <a:spcBef>
                <a:spcPts val="0"/>
              </a:spcBef>
              <a:spcAft>
                <a:spcPts val="0"/>
              </a:spcAft>
              <a:buClr>
                <a:schemeClr val="dk1"/>
              </a:buClr>
              <a:buSzPts val="1200"/>
              <a:buFont typeface="Arial"/>
              <a:buNone/>
            </a:pPr>
            <a:r>
              <a:t/>
            </a:r>
            <a:endParaRPr/>
          </a:p>
          <a:p>
            <a:pPr indent="-285750" lvl="0" marL="285750" rtl="0" algn="l">
              <a:lnSpc>
                <a:spcPct val="100000"/>
              </a:lnSpc>
              <a:spcBef>
                <a:spcPts val="0"/>
              </a:spcBef>
              <a:spcAft>
                <a:spcPts val="0"/>
              </a:spcAft>
              <a:buClr>
                <a:schemeClr val="dk1"/>
              </a:buClr>
              <a:buSzPts val="1200"/>
              <a:buFont typeface="Arial"/>
              <a:buChar char="•"/>
            </a:pPr>
            <a:r>
              <a:rPr lang="en-US"/>
              <a:t>Existe un Listado de Enfermedades Profesionales en el cual se identifican cuadros clínicos, exposición y actividades en las que suelen producirse estas enfermedades y también agentes de riesgo (factores presentes en los lugares de trabajo y que pueden afectar al ser humano, como por ejemplo las condiciones de temperatura, humedad, iluminación, ventilación, la presencia de ruidos, sustancias químicas, la carga de trabajo, entre otros).</a:t>
            </a:r>
            <a:endParaRPr/>
          </a:p>
          <a:p>
            <a:pPr indent="-209550" lvl="0" marL="285750" rtl="0" algn="l">
              <a:lnSpc>
                <a:spcPct val="100000"/>
              </a:lnSpc>
              <a:spcBef>
                <a:spcPts val="0"/>
              </a:spcBef>
              <a:spcAft>
                <a:spcPts val="0"/>
              </a:spcAft>
              <a:buClr>
                <a:schemeClr val="dk1"/>
              </a:buClr>
              <a:buSzPts val="1200"/>
              <a:buFont typeface="Arial"/>
              <a:buNone/>
            </a:pPr>
            <a:r>
              <a:t/>
            </a:r>
            <a:endParaRPr/>
          </a:p>
          <a:p>
            <a:pPr indent="-285750" lvl="0" marL="285750" rtl="0" algn="l">
              <a:lnSpc>
                <a:spcPct val="100000"/>
              </a:lnSpc>
              <a:spcBef>
                <a:spcPts val="0"/>
              </a:spcBef>
              <a:spcAft>
                <a:spcPts val="0"/>
              </a:spcAft>
              <a:buClr>
                <a:schemeClr val="dk1"/>
              </a:buClr>
              <a:buSzPts val="1200"/>
              <a:buFont typeface="Arial"/>
              <a:buChar char="•"/>
            </a:pPr>
            <a:r>
              <a:rPr lang="en-US"/>
              <a:t>Si la enfermedad no se encuentra en el Listado y se sospecha que es producida por el trabajo, hay que realizar la denuncia ante la Aseguradora de Riesgos del Trabajo (ART). Si la ART rechaza la denuncia o deriva al trabajador a la obra social, por considerar que la enfermedad no fue causada por el trabajo, será una Comisión Médica (CM) y la Comisión Médica Central (CMC) las que definirán si se reconoce la enfermedad profesional en ese caso.</a:t>
            </a:r>
            <a:endParaRPr/>
          </a:p>
          <a:p>
            <a:pPr indent="-209550" lvl="0" marL="285750" rtl="0" algn="l">
              <a:lnSpc>
                <a:spcPct val="100000"/>
              </a:lnSpc>
              <a:spcBef>
                <a:spcPts val="0"/>
              </a:spcBef>
              <a:spcAft>
                <a:spcPts val="0"/>
              </a:spcAft>
              <a:buClr>
                <a:schemeClr val="dk1"/>
              </a:buClr>
              <a:buSzPts val="1200"/>
              <a:buFont typeface="Arial"/>
              <a:buNone/>
            </a:pPr>
            <a:r>
              <a:t/>
            </a:r>
            <a:endParaRPr/>
          </a:p>
        </p:txBody>
      </p:sp>
      <p:sp>
        <p:nvSpPr>
          <p:cNvPr id="54" name="Google Shape;54;p2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8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30: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 name="Google Shape;66;p30: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Las ART tienen como obligación:</a:t>
            </a:r>
            <a:endParaRPr/>
          </a:p>
          <a:p>
            <a:pPr indent="-228600" lvl="0" marL="457200" marR="0" rtl="0" algn="l">
              <a:lnSpc>
                <a:spcPct val="100000"/>
              </a:lnSpc>
              <a:spcBef>
                <a:spcPts val="0"/>
              </a:spcBef>
              <a:spcAft>
                <a:spcPts val="0"/>
              </a:spcAft>
              <a:buSzPts val="1400"/>
              <a:buNone/>
            </a:pPr>
            <a:r>
              <a:rPr lang="en-US"/>
              <a:t>Brindar todas las prestaciones que fija la ley, tanto preventivas como dinerarias y de salud.</a:t>
            </a:r>
            <a:endParaRPr/>
          </a:p>
          <a:p>
            <a:pPr indent="-228600" lvl="0" marL="457200" marR="0" rtl="0" algn="l">
              <a:lnSpc>
                <a:spcPct val="100000"/>
              </a:lnSpc>
              <a:spcBef>
                <a:spcPts val="0"/>
              </a:spcBef>
              <a:spcAft>
                <a:spcPts val="0"/>
              </a:spcAft>
              <a:buSzPts val="1400"/>
              <a:buNone/>
            </a:pPr>
            <a:r>
              <a:rPr lang="en-US"/>
              <a:t>Evaluar la verosimilitud de los riesgos que declare el empleador.</a:t>
            </a:r>
            <a:endParaRPr/>
          </a:p>
          <a:p>
            <a:pPr indent="-228600" lvl="0" marL="457200" marR="0" rtl="0" algn="l">
              <a:lnSpc>
                <a:spcPct val="100000"/>
              </a:lnSpc>
              <a:spcBef>
                <a:spcPts val="0"/>
              </a:spcBef>
              <a:spcAft>
                <a:spcPts val="0"/>
              </a:spcAft>
              <a:buSzPts val="1400"/>
              <a:buNone/>
            </a:pPr>
            <a:r>
              <a:rPr lang="en-US"/>
              <a:t>Efectuar los exámenes médicos periódicos para vigilar la salud de los trabajadores expuestos a riesgos.</a:t>
            </a:r>
            <a:endParaRPr/>
          </a:p>
          <a:p>
            <a:pPr indent="-228600" lvl="0" marL="457200" marR="0" rtl="0" algn="l">
              <a:lnSpc>
                <a:spcPct val="100000"/>
              </a:lnSpc>
              <a:spcBef>
                <a:spcPts val="0"/>
              </a:spcBef>
              <a:spcAft>
                <a:spcPts val="0"/>
              </a:spcAft>
              <a:buSzPts val="1400"/>
              <a:buNone/>
            </a:pPr>
            <a:r>
              <a:rPr lang="en-US"/>
              <a:t>Visitar periódicamente a los empleadores para controlar el cumplimiento de las normas de prevención de riesgos del trabajo.</a:t>
            </a:r>
            <a:endParaRPr/>
          </a:p>
          <a:p>
            <a:pPr indent="-228600" lvl="0" marL="457200" marR="0" rtl="0" algn="l">
              <a:lnSpc>
                <a:spcPct val="100000"/>
              </a:lnSpc>
              <a:spcBef>
                <a:spcPts val="0"/>
              </a:spcBef>
              <a:spcAft>
                <a:spcPts val="0"/>
              </a:spcAft>
              <a:buSzPts val="1400"/>
              <a:buNone/>
            </a:pPr>
            <a:r>
              <a:rPr lang="en-US"/>
              <a:t>Promover la prevención, informando a la Superintendencia de Riesgos del Trabajo (SRT) acerca de los planes y programas exigidos a las empresas.</a:t>
            </a:r>
            <a:endParaRPr/>
          </a:p>
          <a:p>
            <a:pPr indent="-228600" lvl="0" marL="457200" marR="0" rtl="0" algn="l">
              <a:lnSpc>
                <a:spcPct val="100000"/>
              </a:lnSpc>
              <a:spcBef>
                <a:spcPts val="0"/>
              </a:spcBef>
              <a:spcAft>
                <a:spcPts val="0"/>
              </a:spcAft>
              <a:buSzPts val="1400"/>
              <a:buNone/>
            </a:pPr>
            <a:r>
              <a:rPr lang="en-US"/>
              <a:t>Mantener un registro de accidentabilidad por establecimiento.</a:t>
            </a:r>
            <a:endParaRPr/>
          </a:p>
          <a:p>
            <a:pPr indent="-228600" lvl="0" marL="457200" marR="0" rtl="0" algn="l">
              <a:lnSpc>
                <a:spcPct val="100000"/>
              </a:lnSpc>
              <a:spcBef>
                <a:spcPts val="0"/>
              </a:spcBef>
              <a:spcAft>
                <a:spcPts val="0"/>
              </a:spcAft>
              <a:buSzPts val="1400"/>
              <a:buNone/>
            </a:pPr>
            <a:r>
              <a:rPr lang="en-US"/>
              <a:t>Informar a los interesados acerca de la composición de la entidad, de sus balances y de su régimen de alícuotas.</a:t>
            </a:r>
            <a:endParaRPr/>
          </a:p>
          <a:p>
            <a:pPr indent="-228600" lvl="0" marL="457200" marR="0" rtl="0" algn="l">
              <a:lnSpc>
                <a:spcPct val="100000"/>
              </a:lnSpc>
              <a:spcBef>
                <a:spcPts val="0"/>
              </a:spcBef>
              <a:spcAft>
                <a:spcPts val="0"/>
              </a:spcAft>
              <a:buSzPts val="1400"/>
              <a:buNone/>
            </a:pPr>
            <a:r>
              <a:rPr lang="en-US"/>
              <a:t>Controlar la ejecución del Plan de Acción de los empleadores y denunciar ante la SRT los incumplimientos.</a:t>
            </a:r>
            <a:endParaRPr/>
          </a:p>
          <a:p>
            <a:pPr indent="-228600" lvl="0" marL="457200" marR="0" rtl="0" algn="l">
              <a:lnSpc>
                <a:spcPct val="100000"/>
              </a:lnSpc>
              <a:spcBef>
                <a:spcPts val="0"/>
              </a:spcBef>
              <a:spcAft>
                <a:spcPts val="0"/>
              </a:spcAft>
              <a:buSzPts val="1400"/>
              <a:buNone/>
            </a:pPr>
            <a:r>
              <a:rPr lang="en-US"/>
              <a:t>Brindar asesoramiento y asistencia técnica a los empleadores en materia de prevención de riesgos del trabajo.</a:t>
            </a:r>
            <a:endParaRPr/>
          </a:p>
          <a:p>
            <a:pPr indent="-228600" lvl="0" marL="457200" marR="0" rtl="0" algn="l">
              <a:lnSpc>
                <a:spcPct val="100000"/>
              </a:lnSpc>
              <a:spcBef>
                <a:spcPts val="0"/>
              </a:spcBef>
              <a:spcAft>
                <a:spcPts val="0"/>
              </a:spcAft>
              <a:buSzPts val="1400"/>
              <a:buNone/>
            </a:pPr>
            <a:r>
              <a:rPr lang="en-US"/>
              <a:t>Denunciar los incumplimientos de los empleadores a la SRT.</a:t>
            </a:r>
            <a:endParaRPr/>
          </a:p>
          <a:p>
            <a:pPr indent="-228600" lvl="0" marL="457200" marR="0" rtl="0" algn="l">
              <a:lnSpc>
                <a:spcPct val="100000"/>
              </a:lnSpc>
              <a:spcBef>
                <a:spcPts val="0"/>
              </a:spcBef>
              <a:spcAft>
                <a:spcPts val="0"/>
              </a:spcAft>
              <a:buSzPts val="1400"/>
              <a:buNone/>
            </a:pPr>
            <a:r>
              <a:rPr lang="en-US"/>
              <a:t>Mantener la solvencia económica</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t/>
            </a:r>
            <a:endParaRPr/>
          </a:p>
        </p:txBody>
      </p:sp>
      <p:sp>
        <p:nvSpPr>
          <p:cNvPr id="67" name="Google Shape;67;p3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Calibri"/>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1: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p31: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 name="Google Shape;77;p3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8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32:notes"/>
          <p:cNvSpPr txBox="1"/>
          <p:nvPr>
            <p:ph idx="1" type="body"/>
          </p:nvPr>
        </p:nvSpPr>
        <p:spPr>
          <a:xfrm>
            <a:off x="213545" y="4740037"/>
            <a:ext cx="6407095" cy="4615329"/>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400"/>
              <a:buNone/>
            </a:pPr>
            <a:r>
              <a:t/>
            </a:r>
            <a:endParaRPr/>
          </a:p>
        </p:txBody>
      </p:sp>
      <p:sp>
        <p:nvSpPr>
          <p:cNvPr id="88" name="Google Shape;88;p32:notes"/>
          <p:cNvSpPr/>
          <p:nvPr>
            <p:ph idx="2" type="sldImg"/>
          </p:nvPr>
        </p:nvSpPr>
        <p:spPr>
          <a:xfrm>
            <a:off x="755650" y="623888"/>
            <a:ext cx="5322888" cy="3990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3: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p33: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LIMITACIONES EN LOS CONVENIOS ENTRE OBRA SOCIALES Y PREPAGAS</a:t>
            </a:r>
            <a:endParaRPr/>
          </a:p>
          <a:p>
            <a:pPr indent="0" lvl="0" marL="0" rtl="0" algn="l">
              <a:lnSpc>
                <a:spcPct val="100000"/>
              </a:lnSpc>
              <a:spcBef>
                <a:spcPts val="0"/>
              </a:spcBef>
              <a:spcAft>
                <a:spcPts val="0"/>
              </a:spcAft>
              <a:buSzPts val="1400"/>
              <a:buNone/>
            </a:pPr>
            <a:r>
              <a:rPr lang="en-US"/>
              <a:t>La opción de cambio de obra social puede ser ejercida por su titular sólo una vez al año durante todo el año calendario y se hará efectiva a partir del primer día del tercer mes posterior a la presentación de la solicitud. </a:t>
            </a:r>
            <a:endParaRPr/>
          </a:p>
          <a:p>
            <a:pPr indent="0" lvl="0" marL="0" rtl="0" algn="l">
              <a:lnSpc>
                <a:spcPct val="100000"/>
              </a:lnSpc>
              <a:spcBef>
                <a:spcPts val="0"/>
              </a:spcBef>
              <a:spcAft>
                <a:spcPts val="0"/>
              </a:spcAft>
              <a:buSzPts val="1400"/>
              <a:buNone/>
            </a:pPr>
            <a:r>
              <a:t/>
            </a:r>
            <a:endParaRPr/>
          </a:p>
        </p:txBody>
      </p:sp>
      <p:sp>
        <p:nvSpPr>
          <p:cNvPr id="111" name="Google Shape;111;p3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8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36: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 name="Google Shape;128;p36:notes"/>
          <p:cNvSpPr/>
          <p:nvPr>
            <p:ph idx="2" type="sldImg"/>
          </p:nvPr>
        </p:nvSpPr>
        <p:spPr>
          <a:xfrm>
            <a:off x="981075" y="1241425"/>
            <a:ext cx="48355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34: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34: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Ley 19032: Es la Ley por la cual se crea el Instituto Nacional de Servicios Sociales para Jubilados y Pensionados (creación del PAMI). El 3% de descuento de los haberes de los trabajadores activos es para brindarle asistencia social y salud a los jubilados y pensionados.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SIPA (Sistema Integrado Provisional Argentino) A partir del 1° de enero de 2009 entró en vigencia el Sistema Integrado Previsional Argentino (SIPA), el cual es financiado a través de un sistema solidario de reparto, garantizando a los afiliados y beneficiarios del Régimen de Capitalización, idéntica cobertura y tratamiento que la brindada por el Régimen de Reparto, en cumplimiento del mandato previsto por el artículo 14 bis de la Constitución Nacional que expresa “El Estado otorgará los beneficios de la seguridad social que tendrá carácter de integral e irrenunciable”. En consecuencia, se eliminó el Régimen de Capitalización (AFJP).</a:t>
            </a:r>
            <a:endParaRPr/>
          </a:p>
          <a:p>
            <a:pPr indent="0" lvl="0" marL="0" rtl="0" algn="l">
              <a:lnSpc>
                <a:spcPct val="100000"/>
              </a:lnSpc>
              <a:spcBef>
                <a:spcPts val="0"/>
              </a:spcBef>
              <a:spcAft>
                <a:spcPts val="0"/>
              </a:spcAft>
              <a:buSzPts val="1400"/>
              <a:buNone/>
            </a:pPr>
            <a:r>
              <a:t/>
            </a:r>
            <a:endParaRPr/>
          </a:p>
        </p:txBody>
      </p:sp>
      <p:sp>
        <p:nvSpPr>
          <p:cNvPr id="159" name="Google Shape;159;p3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8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35:notes"/>
          <p:cNvSpPr/>
          <p:nvPr>
            <p:ph idx="2" type="sldImg"/>
          </p:nvPr>
        </p:nvSpPr>
        <p:spPr>
          <a:xfrm>
            <a:off x="1166813" y="1241425"/>
            <a:ext cx="446405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p35: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Los porcentajes del articulo 2 inciso b irán aumentando al mismo tiempo que los porcentajes del articulo 2 inciso a irán reduciéndose hasta igualarse los incisos en el 2022 en 19,50% del Régimen Nacional de Seguridad Social.</a:t>
            </a:r>
            <a:endParaRPr/>
          </a:p>
          <a:p>
            <a:pPr indent="0" lvl="0" marL="0" rtl="0" algn="l">
              <a:lnSpc>
                <a:spcPct val="100000"/>
              </a:lnSpc>
              <a:spcBef>
                <a:spcPts val="0"/>
              </a:spcBef>
              <a:spcAft>
                <a:spcPts val="0"/>
              </a:spcAft>
              <a:buSzPts val="1400"/>
              <a:buNone/>
            </a:pPr>
            <a:r>
              <a:rPr lang="en-US"/>
              <a:t>las empresas del Inc a) son las dedicadas a comercio y servicio mas grandes y las del inc b) son las dedicadas a comercio y servicio categoria pymes o mas pequeñas incluyendo tambien a las empresas industriales.</a:t>
            </a:r>
            <a:endParaRPr/>
          </a:p>
          <a:p>
            <a:pPr indent="0" lvl="0" marL="0" rtl="0" algn="l">
              <a:lnSpc>
                <a:spcPct val="100000"/>
              </a:lnSpc>
              <a:spcBef>
                <a:spcPts val="0"/>
              </a:spcBef>
              <a:spcAft>
                <a:spcPts val="0"/>
              </a:spcAft>
              <a:buSzPts val="1400"/>
              <a:buNone/>
            </a:pPr>
            <a:r>
              <a:rPr lang="en-US"/>
              <a:t>Otros Costos: ART, aportes al sindicato, seguros especiales.</a:t>
            </a:r>
            <a:endParaRPr/>
          </a:p>
          <a:p>
            <a:pPr indent="0" lvl="0" marL="0" rtl="0" algn="l">
              <a:lnSpc>
                <a:spcPct val="100000"/>
              </a:lnSpc>
              <a:spcBef>
                <a:spcPts val="0"/>
              </a:spcBef>
              <a:spcAft>
                <a:spcPts val="0"/>
              </a:spcAft>
              <a:buSzPts val="1400"/>
              <a:buNone/>
            </a:pPr>
            <a:r>
              <a:t/>
            </a:r>
            <a:endParaRPr/>
          </a:p>
        </p:txBody>
      </p:sp>
      <p:sp>
        <p:nvSpPr>
          <p:cNvPr id="172" name="Google Shape;172;p3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8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37:notes"/>
          <p:cNvSpPr txBox="1"/>
          <p:nvPr>
            <p:ph idx="1" type="body"/>
          </p:nvPr>
        </p:nvSpPr>
        <p:spPr>
          <a:xfrm>
            <a:off x="213545" y="4740037"/>
            <a:ext cx="6407095" cy="4615329"/>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400"/>
              <a:buNone/>
            </a:pPr>
            <a:r>
              <a:t/>
            </a:r>
            <a:endParaRPr/>
          </a:p>
        </p:txBody>
      </p:sp>
      <p:sp>
        <p:nvSpPr>
          <p:cNvPr id="184" name="Google Shape;184;p37:notes"/>
          <p:cNvSpPr/>
          <p:nvPr>
            <p:ph idx="2" type="sldImg"/>
          </p:nvPr>
        </p:nvSpPr>
        <p:spPr>
          <a:xfrm>
            <a:off x="755650" y="623888"/>
            <a:ext cx="5322888" cy="3990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38:notes"/>
          <p:cNvSpPr txBox="1"/>
          <p:nvPr>
            <p:ph idx="1" type="body"/>
          </p:nvPr>
        </p:nvSpPr>
        <p:spPr>
          <a:xfrm>
            <a:off x="212405" y="4715153"/>
            <a:ext cx="6372865" cy="4591101"/>
          </a:xfrm>
          <a:prstGeom prst="rect">
            <a:avLst/>
          </a:prstGeom>
        </p:spPr>
        <p:txBody>
          <a:bodyPr anchorCtr="0" anchor="t" bIns="45450" lIns="90925" spcFirstLastPara="1" rIns="90925" wrap="square" tIns="45450">
            <a:noAutofit/>
          </a:bodyPr>
          <a:lstStyle/>
          <a:p>
            <a:pPr indent="0" lvl="0" marL="0" rtl="0" algn="l">
              <a:spcBef>
                <a:spcPts val="0"/>
              </a:spcBef>
              <a:spcAft>
                <a:spcPts val="0"/>
              </a:spcAft>
              <a:buNone/>
            </a:pPr>
            <a:r>
              <a:t/>
            </a:r>
            <a:endParaRPr/>
          </a:p>
        </p:txBody>
      </p:sp>
      <p:sp>
        <p:nvSpPr>
          <p:cNvPr id="206" name="Google Shape;206;p38:notes"/>
          <p:cNvSpPr/>
          <p:nvPr>
            <p:ph idx="2" type="sldImg"/>
          </p:nvPr>
        </p:nvSpPr>
        <p:spPr>
          <a:xfrm>
            <a:off x="531813" y="620713"/>
            <a:ext cx="5734050" cy="3970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39:notes"/>
          <p:cNvSpPr txBox="1"/>
          <p:nvPr>
            <p:ph idx="1" type="body"/>
          </p:nvPr>
        </p:nvSpPr>
        <p:spPr>
          <a:xfrm>
            <a:off x="212405" y="4715153"/>
            <a:ext cx="6372865" cy="4591101"/>
          </a:xfrm>
          <a:prstGeom prst="rect">
            <a:avLst/>
          </a:prstGeom>
        </p:spPr>
        <p:txBody>
          <a:bodyPr anchorCtr="0" anchor="t" bIns="45450" lIns="90925" spcFirstLastPara="1" rIns="90925" wrap="square" tIns="45450">
            <a:noAutofit/>
          </a:bodyPr>
          <a:lstStyle/>
          <a:p>
            <a:pPr indent="0" lvl="0" marL="0" rtl="0" algn="l">
              <a:spcBef>
                <a:spcPts val="0"/>
              </a:spcBef>
              <a:spcAft>
                <a:spcPts val="0"/>
              </a:spcAft>
              <a:buNone/>
            </a:pPr>
            <a:r>
              <a:t/>
            </a:r>
            <a:endParaRPr/>
          </a:p>
        </p:txBody>
      </p:sp>
      <p:sp>
        <p:nvSpPr>
          <p:cNvPr id="221" name="Google Shape;221;p39:notes"/>
          <p:cNvSpPr/>
          <p:nvPr>
            <p:ph idx="2" type="sldImg"/>
          </p:nvPr>
        </p:nvSpPr>
        <p:spPr>
          <a:xfrm>
            <a:off x="531813" y="620713"/>
            <a:ext cx="5734050" cy="3970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3:notes"/>
          <p:cNvSpPr txBox="1"/>
          <p:nvPr>
            <p:ph idx="1" type="body"/>
          </p:nvPr>
        </p:nvSpPr>
        <p:spPr>
          <a:xfrm>
            <a:off x="212405" y="4715153"/>
            <a:ext cx="6372865" cy="4591101"/>
          </a:xfrm>
          <a:prstGeom prst="rect">
            <a:avLst/>
          </a:prstGeom>
          <a:noFill/>
          <a:ln>
            <a:noFill/>
          </a:ln>
        </p:spPr>
        <p:txBody>
          <a:bodyPr anchorCtr="0" anchor="t" bIns="45450" lIns="90925" spcFirstLastPara="1" rIns="90925" wrap="square" tIns="45450">
            <a:noAutofit/>
          </a:bodyPr>
          <a:lstStyle/>
          <a:p>
            <a:pPr indent="0" lvl="0" marL="0" rtl="0" algn="l">
              <a:lnSpc>
                <a:spcPct val="100000"/>
              </a:lnSpc>
              <a:spcBef>
                <a:spcPts val="0"/>
              </a:spcBef>
              <a:spcAft>
                <a:spcPts val="0"/>
              </a:spcAft>
              <a:buSzPts val="1400"/>
              <a:buNone/>
            </a:pPr>
            <a:r>
              <a:t/>
            </a:r>
            <a:endParaRPr/>
          </a:p>
        </p:txBody>
      </p:sp>
      <p:sp>
        <p:nvSpPr>
          <p:cNvPr id="229" name="Google Shape;229;p3:notes"/>
          <p:cNvSpPr/>
          <p:nvPr>
            <p:ph idx="2" type="sldImg"/>
          </p:nvPr>
        </p:nvSpPr>
        <p:spPr>
          <a:xfrm>
            <a:off x="531813" y="620713"/>
            <a:ext cx="5734050" cy="39703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4:notes"/>
          <p:cNvSpPr/>
          <p:nvPr>
            <p:ph idx="2" type="sldImg"/>
          </p:nvPr>
        </p:nvSpPr>
        <p:spPr>
          <a:xfrm>
            <a:off x="531813" y="620713"/>
            <a:ext cx="5734050" cy="39703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p4:notes"/>
          <p:cNvSpPr txBox="1"/>
          <p:nvPr>
            <p:ph idx="1" type="body"/>
          </p:nvPr>
        </p:nvSpPr>
        <p:spPr>
          <a:xfrm>
            <a:off x="212405" y="4715153"/>
            <a:ext cx="6372865" cy="4591101"/>
          </a:xfrm>
          <a:prstGeom prst="rect">
            <a:avLst/>
          </a:prstGeom>
          <a:noFill/>
          <a:ln>
            <a:noFill/>
          </a:ln>
        </p:spPr>
        <p:txBody>
          <a:bodyPr anchorCtr="0" anchor="t" bIns="45450" lIns="90925" spcFirstLastPara="1" rIns="90925" wrap="square" tIns="45450">
            <a:normAutofit/>
          </a:bodyPr>
          <a:lstStyle/>
          <a:p>
            <a:pPr indent="0" lvl="0" marL="0" rtl="0" algn="l">
              <a:lnSpc>
                <a:spcPct val="100000"/>
              </a:lnSpc>
              <a:spcBef>
                <a:spcPts val="0"/>
              </a:spcBef>
              <a:spcAft>
                <a:spcPts val="0"/>
              </a:spcAft>
              <a:buSzPts val="1400"/>
              <a:buNone/>
            </a:pPr>
            <a:r>
              <a:t/>
            </a:r>
            <a:endParaRPr/>
          </a:p>
        </p:txBody>
      </p:sp>
      <p:sp>
        <p:nvSpPr>
          <p:cNvPr id="237" name="Google Shape;237;p4:notes"/>
          <p:cNvSpPr txBox="1"/>
          <p:nvPr>
            <p:ph idx="11" type="ftr"/>
          </p:nvPr>
        </p:nvSpPr>
        <p:spPr>
          <a:xfrm>
            <a:off x="0" y="9428584"/>
            <a:ext cx="2945659" cy="496332"/>
          </a:xfrm>
          <a:prstGeom prst="rect">
            <a:avLst/>
          </a:prstGeom>
          <a:noFill/>
          <a:ln>
            <a:noFill/>
          </a:ln>
        </p:spPr>
        <p:txBody>
          <a:bodyPr anchorCtr="0" anchor="b" bIns="179025" lIns="179025" spcFirstLastPara="1" rIns="71600" wrap="square" tIns="35800">
            <a:noAutofit/>
          </a:bodyPr>
          <a:lstStyle/>
          <a:p>
            <a:pPr indent="0" lvl="0" marL="0" marR="0" rtl="0" algn="l">
              <a:lnSpc>
                <a:spcPct val="100000"/>
              </a:lnSpc>
              <a:spcBef>
                <a:spcPts val="0"/>
              </a:spcBef>
              <a:spcAft>
                <a:spcPts val="0"/>
              </a:spcAft>
              <a:buSzPts val="1400"/>
              <a:buNone/>
            </a:pPr>
            <a:r>
              <a:rPr lang="en-US"/>
              <a:t>© 2010 Capgemini. All rights reserved.</a:t>
            </a:r>
            <a:endParaRPr/>
          </a:p>
        </p:txBody>
      </p:sp>
      <p:sp>
        <p:nvSpPr>
          <p:cNvPr id="238" name="Google Shape;238;p4:notes"/>
          <p:cNvSpPr txBox="1"/>
          <p:nvPr>
            <p:ph idx="12" type="sldNum"/>
          </p:nvPr>
        </p:nvSpPr>
        <p:spPr>
          <a:xfrm>
            <a:off x="3850443" y="9428584"/>
            <a:ext cx="2945659" cy="496332"/>
          </a:xfrm>
          <a:prstGeom prst="rect">
            <a:avLst/>
          </a:prstGeom>
          <a:noFill/>
          <a:ln>
            <a:noFill/>
          </a:ln>
        </p:spPr>
        <p:txBody>
          <a:bodyPr anchorCtr="0" anchor="b" bIns="179025" lIns="71600" spcFirstLastPara="1" rIns="179025" wrap="square" tIns="358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5:notes"/>
          <p:cNvSpPr txBox="1"/>
          <p:nvPr>
            <p:ph idx="1" type="body"/>
          </p:nvPr>
        </p:nvSpPr>
        <p:spPr>
          <a:xfrm>
            <a:off x="212405" y="4715153"/>
            <a:ext cx="6372865" cy="4591101"/>
          </a:xfrm>
          <a:prstGeom prst="rect">
            <a:avLst/>
          </a:prstGeom>
          <a:noFill/>
          <a:ln>
            <a:noFill/>
          </a:ln>
        </p:spPr>
        <p:txBody>
          <a:bodyPr anchorCtr="0" anchor="t" bIns="45450" lIns="90925" spcFirstLastPara="1" rIns="90925" wrap="square" tIns="45450">
            <a:noAutofit/>
          </a:bodyPr>
          <a:lstStyle/>
          <a:p>
            <a:pPr indent="0" lvl="0" marL="0" rtl="0" algn="l">
              <a:lnSpc>
                <a:spcPct val="100000"/>
              </a:lnSpc>
              <a:spcBef>
                <a:spcPts val="0"/>
              </a:spcBef>
              <a:spcAft>
                <a:spcPts val="0"/>
              </a:spcAft>
              <a:buSzPts val="1400"/>
              <a:buNone/>
            </a:pPr>
            <a:r>
              <a:t/>
            </a:r>
            <a:endParaRPr/>
          </a:p>
        </p:txBody>
      </p:sp>
      <p:sp>
        <p:nvSpPr>
          <p:cNvPr id="245" name="Google Shape;245;p5:notes"/>
          <p:cNvSpPr/>
          <p:nvPr>
            <p:ph idx="2" type="sldImg"/>
          </p:nvPr>
        </p:nvSpPr>
        <p:spPr>
          <a:xfrm>
            <a:off x="531813" y="620713"/>
            <a:ext cx="5734050" cy="39703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6:notes"/>
          <p:cNvSpPr txBox="1"/>
          <p:nvPr>
            <p:ph idx="1" type="body"/>
          </p:nvPr>
        </p:nvSpPr>
        <p:spPr>
          <a:xfrm>
            <a:off x="212405" y="4715153"/>
            <a:ext cx="6372865" cy="4591101"/>
          </a:xfrm>
          <a:prstGeom prst="rect">
            <a:avLst/>
          </a:prstGeom>
          <a:noFill/>
          <a:ln>
            <a:noFill/>
          </a:ln>
        </p:spPr>
        <p:txBody>
          <a:bodyPr anchorCtr="0" anchor="t" bIns="45450" lIns="90925" spcFirstLastPara="1" rIns="90925" wrap="square" tIns="45450">
            <a:noAutofit/>
          </a:bodyPr>
          <a:lstStyle/>
          <a:p>
            <a:pPr indent="0" lvl="0" marL="0" rtl="0" algn="l">
              <a:lnSpc>
                <a:spcPct val="100000"/>
              </a:lnSpc>
              <a:spcBef>
                <a:spcPts val="0"/>
              </a:spcBef>
              <a:spcAft>
                <a:spcPts val="0"/>
              </a:spcAft>
              <a:buSzPts val="1400"/>
              <a:buNone/>
            </a:pPr>
            <a:r>
              <a:t/>
            </a:r>
            <a:endParaRPr/>
          </a:p>
        </p:txBody>
      </p:sp>
      <p:sp>
        <p:nvSpPr>
          <p:cNvPr id="254" name="Google Shape;254;p6:notes"/>
          <p:cNvSpPr/>
          <p:nvPr>
            <p:ph idx="2" type="sldImg"/>
          </p:nvPr>
        </p:nvSpPr>
        <p:spPr>
          <a:xfrm>
            <a:off x="531813" y="620713"/>
            <a:ext cx="5734050" cy="39703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7:notes"/>
          <p:cNvSpPr txBox="1"/>
          <p:nvPr>
            <p:ph idx="1" type="body"/>
          </p:nvPr>
        </p:nvSpPr>
        <p:spPr>
          <a:xfrm>
            <a:off x="212405" y="4715153"/>
            <a:ext cx="6372865" cy="4591101"/>
          </a:xfrm>
          <a:prstGeom prst="rect">
            <a:avLst/>
          </a:prstGeom>
          <a:noFill/>
          <a:ln>
            <a:noFill/>
          </a:ln>
        </p:spPr>
        <p:txBody>
          <a:bodyPr anchorCtr="0" anchor="t" bIns="45450" lIns="90925" spcFirstLastPara="1" rIns="90925" wrap="square" tIns="45450">
            <a:noAutofit/>
          </a:bodyPr>
          <a:lstStyle/>
          <a:p>
            <a:pPr indent="0" lvl="0" marL="0" rtl="0" algn="l">
              <a:lnSpc>
                <a:spcPct val="100000"/>
              </a:lnSpc>
              <a:spcBef>
                <a:spcPts val="0"/>
              </a:spcBef>
              <a:spcAft>
                <a:spcPts val="0"/>
              </a:spcAft>
              <a:buSzPts val="1400"/>
              <a:buNone/>
            </a:pPr>
            <a:r>
              <a:t/>
            </a:r>
            <a:endParaRPr/>
          </a:p>
        </p:txBody>
      </p:sp>
      <p:sp>
        <p:nvSpPr>
          <p:cNvPr id="265" name="Google Shape;265;p7:notes"/>
          <p:cNvSpPr/>
          <p:nvPr>
            <p:ph idx="2" type="sldImg"/>
          </p:nvPr>
        </p:nvSpPr>
        <p:spPr>
          <a:xfrm>
            <a:off x="531813" y="620713"/>
            <a:ext cx="5734050" cy="39703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8:notes"/>
          <p:cNvSpPr txBox="1"/>
          <p:nvPr>
            <p:ph idx="1" type="body"/>
          </p:nvPr>
        </p:nvSpPr>
        <p:spPr>
          <a:xfrm>
            <a:off x="212405" y="4715153"/>
            <a:ext cx="6372865" cy="4591101"/>
          </a:xfrm>
          <a:prstGeom prst="rect">
            <a:avLst/>
          </a:prstGeom>
          <a:noFill/>
          <a:ln>
            <a:noFill/>
          </a:ln>
        </p:spPr>
        <p:txBody>
          <a:bodyPr anchorCtr="0" anchor="t" bIns="45450" lIns="90925" spcFirstLastPara="1" rIns="90925" wrap="square" tIns="45450">
            <a:noAutofit/>
          </a:bodyPr>
          <a:lstStyle/>
          <a:p>
            <a:pPr indent="0" lvl="0" marL="0" rtl="0" algn="l">
              <a:lnSpc>
                <a:spcPct val="100000"/>
              </a:lnSpc>
              <a:spcBef>
                <a:spcPts val="0"/>
              </a:spcBef>
              <a:spcAft>
                <a:spcPts val="0"/>
              </a:spcAft>
              <a:buSzPts val="1400"/>
              <a:buNone/>
            </a:pPr>
            <a:r>
              <a:t/>
            </a:r>
            <a:endParaRPr/>
          </a:p>
        </p:txBody>
      </p:sp>
      <p:sp>
        <p:nvSpPr>
          <p:cNvPr id="276" name="Google Shape;276;p8:notes"/>
          <p:cNvSpPr/>
          <p:nvPr>
            <p:ph idx="2" type="sldImg"/>
          </p:nvPr>
        </p:nvSpPr>
        <p:spPr>
          <a:xfrm>
            <a:off x="531813" y="620713"/>
            <a:ext cx="5734050" cy="39703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9:notes"/>
          <p:cNvSpPr txBox="1"/>
          <p:nvPr>
            <p:ph idx="1" type="body"/>
          </p:nvPr>
        </p:nvSpPr>
        <p:spPr>
          <a:xfrm>
            <a:off x="212405" y="4715153"/>
            <a:ext cx="6372865" cy="4591101"/>
          </a:xfrm>
          <a:prstGeom prst="rect">
            <a:avLst/>
          </a:prstGeom>
          <a:noFill/>
          <a:ln>
            <a:noFill/>
          </a:ln>
        </p:spPr>
        <p:txBody>
          <a:bodyPr anchorCtr="0" anchor="t" bIns="45450" lIns="90925" spcFirstLastPara="1" rIns="90925" wrap="square" tIns="45450">
            <a:noAutofit/>
          </a:bodyPr>
          <a:lstStyle/>
          <a:p>
            <a:pPr indent="0" lvl="0" marL="0" rtl="0" algn="l">
              <a:lnSpc>
                <a:spcPct val="100000"/>
              </a:lnSpc>
              <a:spcBef>
                <a:spcPts val="0"/>
              </a:spcBef>
              <a:spcAft>
                <a:spcPts val="0"/>
              </a:spcAft>
              <a:buSzPts val="1400"/>
              <a:buNone/>
            </a:pPr>
            <a:r>
              <a:t/>
            </a:r>
            <a:endParaRPr/>
          </a:p>
        </p:txBody>
      </p:sp>
      <p:sp>
        <p:nvSpPr>
          <p:cNvPr id="287" name="Google Shape;287;p9:notes"/>
          <p:cNvSpPr/>
          <p:nvPr>
            <p:ph idx="2" type="sldImg"/>
          </p:nvPr>
        </p:nvSpPr>
        <p:spPr>
          <a:xfrm>
            <a:off x="531813" y="620713"/>
            <a:ext cx="5734050" cy="39703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0:notes"/>
          <p:cNvSpPr/>
          <p:nvPr>
            <p:ph idx="2" type="sldImg"/>
          </p:nvPr>
        </p:nvSpPr>
        <p:spPr>
          <a:xfrm>
            <a:off x="531813" y="620713"/>
            <a:ext cx="5734050" cy="39703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p10:notes"/>
          <p:cNvSpPr txBox="1"/>
          <p:nvPr>
            <p:ph idx="1" type="body"/>
          </p:nvPr>
        </p:nvSpPr>
        <p:spPr>
          <a:xfrm>
            <a:off x="212405" y="4715153"/>
            <a:ext cx="6372865" cy="4591101"/>
          </a:xfrm>
          <a:prstGeom prst="rect">
            <a:avLst/>
          </a:prstGeom>
          <a:noFill/>
          <a:ln>
            <a:noFill/>
          </a:ln>
        </p:spPr>
        <p:txBody>
          <a:bodyPr anchorCtr="0" anchor="t" bIns="45450" lIns="90925" spcFirstLastPara="1" rIns="90925" wrap="square" tIns="45450">
            <a:normAutofit/>
          </a:bodyPr>
          <a:lstStyle/>
          <a:p>
            <a:pPr indent="0" lvl="0" marL="0" rtl="0" algn="l">
              <a:lnSpc>
                <a:spcPct val="100000"/>
              </a:lnSpc>
              <a:spcBef>
                <a:spcPts val="0"/>
              </a:spcBef>
              <a:spcAft>
                <a:spcPts val="0"/>
              </a:spcAft>
              <a:buSzPts val="1400"/>
              <a:buNone/>
            </a:pPr>
            <a:r>
              <a:rPr lang="en-US" u="sng">
                <a:solidFill>
                  <a:schemeClr val="hlink"/>
                </a:solidFill>
                <a:latin typeface="Calibri"/>
                <a:ea typeface="Calibri"/>
                <a:cs typeface="Calibri"/>
                <a:sym typeface="Calibri"/>
                <a:hlinkClick r:id="rId2"/>
              </a:rPr>
              <a:t>ARTICULO 245</a:t>
            </a:r>
            <a:r>
              <a:rPr lang="en-US">
                <a:latin typeface="Calibri"/>
                <a:ea typeface="Calibri"/>
                <a:cs typeface="Calibri"/>
                <a:sym typeface="Calibri"/>
              </a:rPr>
              <a:t> - Indemnización por antigüedad o despido.</a:t>
            </a:r>
            <a:endParaRPr/>
          </a:p>
          <a:p>
            <a:pPr indent="0" lvl="0" marL="0" rtl="0" algn="l">
              <a:lnSpc>
                <a:spcPct val="100000"/>
              </a:lnSpc>
              <a:spcBef>
                <a:spcPts val="0"/>
              </a:spcBef>
              <a:spcAft>
                <a:spcPts val="0"/>
              </a:spcAft>
              <a:buSzPts val="1400"/>
              <a:buNone/>
            </a:pPr>
            <a:r>
              <a:rPr lang="en-US">
                <a:latin typeface="Calibri"/>
                <a:ea typeface="Calibri"/>
                <a:cs typeface="Calibri"/>
                <a:sym typeface="Calibri"/>
              </a:rPr>
              <a:t>En los casos de despido dispuesto por el empleador </a:t>
            </a:r>
            <a:r>
              <a:rPr b="1" lang="en-US" u="sng">
                <a:latin typeface="Calibri"/>
                <a:ea typeface="Calibri"/>
                <a:cs typeface="Calibri"/>
                <a:sym typeface="Calibri"/>
              </a:rPr>
              <a:t>sin justa causa</a:t>
            </a:r>
            <a:r>
              <a:rPr lang="en-US">
                <a:latin typeface="Calibri"/>
                <a:ea typeface="Calibri"/>
                <a:cs typeface="Calibri"/>
                <a:sym typeface="Calibri"/>
              </a:rPr>
              <a:t>, habiendo o no mediado preaviso, éste deberá abonar al trabajador una indemnización equivalente a UN (1) mes de sueldo por cada año de servicio o fracción mayor de TRES (3) meses, tomando como base la mejor remuneración mensual, normal y habitual devengada durante el último año o durante el tiempo de prestación de servicios si éste fuera menor.</a:t>
            </a:r>
            <a:endParaRPr/>
          </a:p>
          <a:p>
            <a:pPr indent="0" lvl="0" marL="0" rtl="0" algn="l">
              <a:lnSpc>
                <a:spcPct val="100000"/>
              </a:lnSpc>
              <a:spcBef>
                <a:spcPts val="0"/>
              </a:spcBef>
              <a:spcAft>
                <a:spcPts val="0"/>
              </a:spcAft>
              <a:buSzPts val="1400"/>
              <a:buNone/>
            </a:pPr>
            <a:r>
              <a:t/>
            </a:r>
            <a:endParaRPr/>
          </a:p>
        </p:txBody>
      </p:sp>
      <p:sp>
        <p:nvSpPr>
          <p:cNvPr id="297" name="Google Shape;297;p10:notes"/>
          <p:cNvSpPr txBox="1"/>
          <p:nvPr>
            <p:ph idx="11" type="ftr"/>
          </p:nvPr>
        </p:nvSpPr>
        <p:spPr>
          <a:xfrm>
            <a:off x="0" y="9428584"/>
            <a:ext cx="2945659" cy="496332"/>
          </a:xfrm>
          <a:prstGeom prst="rect">
            <a:avLst/>
          </a:prstGeom>
          <a:noFill/>
          <a:ln>
            <a:noFill/>
          </a:ln>
        </p:spPr>
        <p:txBody>
          <a:bodyPr anchorCtr="0" anchor="b" bIns="179025" lIns="179025" spcFirstLastPara="1" rIns="71600" wrap="square" tIns="35800">
            <a:noAutofit/>
          </a:bodyPr>
          <a:lstStyle/>
          <a:p>
            <a:pPr indent="0" lvl="0" marL="0" marR="0" rtl="0" algn="l">
              <a:lnSpc>
                <a:spcPct val="100000"/>
              </a:lnSpc>
              <a:spcBef>
                <a:spcPts val="0"/>
              </a:spcBef>
              <a:spcAft>
                <a:spcPts val="0"/>
              </a:spcAft>
              <a:buSzPts val="1400"/>
              <a:buNone/>
            </a:pPr>
            <a:r>
              <a:rPr lang="en-US"/>
              <a:t>© 2010 Capgemini. All rights reserved.</a:t>
            </a:r>
            <a:endParaRPr/>
          </a:p>
        </p:txBody>
      </p:sp>
      <p:sp>
        <p:nvSpPr>
          <p:cNvPr id="298" name="Google Shape;298;p10:notes"/>
          <p:cNvSpPr txBox="1"/>
          <p:nvPr>
            <p:ph idx="12" type="sldNum"/>
          </p:nvPr>
        </p:nvSpPr>
        <p:spPr>
          <a:xfrm>
            <a:off x="3850443" y="9428584"/>
            <a:ext cx="2945659" cy="496332"/>
          </a:xfrm>
          <a:prstGeom prst="rect">
            <a:avLst/>
          </a:prstGeom>
          <a:noFill/>
          <a:ln>
            <a:noFill/>
          </a:ln>
        </p:spPr>
        <p:txBody>
          <a:bodyPr anchorCtr="0" anchor="b" bIns="179025" lIns="71600" spcFirstLastPara="1" rIns="179025" wrap="square" tIns="358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40:notes"/>
          <p:cNvSpPr/>
          <p:nvPr>
            <p:ph idx="2" type="sldImg"/>
          </p:nvPr>
        </p:nvSpPr>
        <p:spPr>
          <a:xfrm>
            <a:off x="531813" y="620713"/>
            <a:ext cx="5734050" cy="39703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p40:notes"/>
          <p:cNvSpPr txBox="1"/>
          <p:nvPr>
            <p:ph idx="1" type="body"/>
          </p:nvPr>
        </p:nvSpPr>
        <p:spPr>
          <a:xfrm>
            <a:off x="212405" y="4715153"/>
            <a:ext cx="6372865" cy="4591101"/>
          </a:xfrm>
          <a:prstGeom prst="rect">
            <a:avLst/>
          </a:prstGeom>
          <a:noFill/>
          <a:ln>
            <a:noFill/>
          </a:ln>
        </p:spPr>
        <p:txBody>
          <a:bodyPr anchorCtr="0" anchor="t" bIns="45450" lIns="90925" spcFirstLastPara="1" rIns="90925" wrap="square" tIns="45450">
            <a:normAutofit/>
          </a:bodyPr>
          <a:lstStyle/>
          <a:p>
            <a:pPr indent="-228600" lvl="0" marL="457200" marR="0" rtl="0" algn="l">
              <a:lnSpc>
                <a:spcPct val="100000"/>
              </a:lnSpc>
              <a:spcBef>
                <a:spcPts val="0"/>
              </a:spcBef>
              <a:spcAft>
                <a:spcPts val="0"/>
              </a:spcAft>
              <a:buSzPts val="1400"/>
              <a:buNone/>
            </a:pPr>
            <a:r>
              <a:rPr lang="en-US"/>
              <a:t>ARTICULO 233 - Comienzo del plazo. Integración de la indemnización con los salarios del mes del despido.</a:t>
            </a:r>
            <a:endParaRPr/>
          </a:p>
          <a:p>
            <a:pPr indent="-228600" lvl="0" marL="457200" marR="0" rtl="0" algn="l">
              <a:lnSpc>
                <a:spcPct val="100000"/>
              </a:lnSpc>
              <a:spcBef>
                <a:spcPts val="0"/>
              </a:spcBef>
              <a:spcAft>
                <a:spcPts val="0"/>
              </a:spcAft>
              <a:buSzPts val="1400"/>
              <a:buNone/>
            </a:pPr>
            <a:r>
              <a:rPr lang="en-US"/>
              <a:t>Los plazos del artículo 231 correrán a partir del día siguiente al de la notificación del previos.</a:t>
            </a:r>
            <a:endParaRPr/>
          </a:p>
          <a:p>
            <a:pPr indent="-228600" lvl="0" marL="457200" marR="0" rtl="0" algn="l">
              <a:lnSpc>
                <a:spcPct val="100000"/>
              </a:lnSpc>
              <a:spcBef>
                <a:spcPts val="0"/>
              </a:spcBef>
              <a:spcAft>
                <a:spcPts val="0"/>
              </a:spcAft>
              <a:buSzPts val="1400"/>
              <a:buNone/>
            </a:pPr>
            <a:r>
              <a:rPr lang="en-US"/>
              <a:t>Cuando la extinción del contrato de trabajo dispuesta por el empleador se produzca sin preaviso y en fecha que no coincida con el último día del mes, la indemnización sustitutiva debida al trabajador se integrará con una suma igual a los salarios por los días faltantes hasta el último día del mes en el que se produjera el despido.</a:t>
            </a:r>
            <a:endParaRPr/>
          </a:p>
          <a:p>
            <a:pPr indent="-228600" lvl="0" marL="457200" marR="0" rtl="0" algn="l">
              <a:lnSpc>
                <a:spcPct val="100000"/>
              </a:lnSpc>
              <a:spcBef>
                <a:spcPts val="0"/>
              </a:spcBef>
              <a:spcAft>
                <a:spcPts val="0"/>
              </a:spcAft>
              <a:buSzPts val="1400"/>
              <a:buNone/>
            </a:pPr>
            <a:r>
              <a:rPr lang="en-US"/>
              <a:t>La integración del mes de despido no procederá cuando la extinción se produzca durante el período de prueba establecido en el artículo 92 bis.</a:t>
            </a:r>
            <a:endParaRPr/>
          </a:p>
          <a:p>
            <a:pPr indent="-228600" lvl="0" marL="457200" marR="0" rtl="0" algn="l">
              <a:lnSpc>
                <a:spcPct val="100000"/>
              </a:lnSpc>
              <a:spcBef>
                <a:spcPts val="0"/>
              </a:spcBef>
              <a:spcAft>
                <a:spcPts val="0"/>
              </a:spcAft>
              <a:buSzPts val="1400"/>
              <a:buNone/>
            </a:pPr>
            <a:r>
              <a:t/>
            </a:r>
            <a:endParaRPr/>
          </a:p>
        </p:txBody>
      </p:sp>
      <p:sp>
        <p:nvSpPr>
          <p:cNvPr id="309" name="Google Shape;309;p40:notes"/>
          <p:cNvSpPr txBox="1"/>
          <p:nvPr>
            <p:ph idx="12" type="sldNum"/>
          </p:nvPr>
        </p:nvSpPr>
        <p:spPr>
          <a:xfrm>
            <a:off x="3850443" y="9428584"/>
            <a:ext cx="2945659" cy="496332"/>
          </a:xfrm>
          <a:prstGeom prst="rect">
            <a:avLst/>
          </a:prstGeom>
          <a:noFill/>
          <a:ln>
            <a:noFill/>
          </a:ln>
        </p:spPr>
        <p:txBody>
          <a:bodyPr anchorCtr="0" anchor="b" bIns="179025" lIns="71600" spcFirstLastPara="1" rIns="179025" wrap="square" tIns="35800">
            <a:noAutofit/>
          </a:bodyPr>
          <a:lstStyle/>
          <a:p>
            <a:pPr indent="0" lvl="0" marL="0" rtl="0" algn="r">
              <a:lnSpc>
                <a:spcPct val="100000"/>
              </a:lnSpc>
              <a:spcBef>
                <a:spcPts val="0"/>
              </a:spcBef>
              <a:spcAft>
                <a:spcPts val="0"/>
              </a:spcAft>
              <a:buNone/>
            </a:pPr>
            <a:fld id="{00000000-1234-1234-1234-123412341234}" type="slidenum">
              <a:rPr b="1" lang="en-US" sz="800">
                <a:solidFill>
                  <a:schemeClr val="dk1"/>
                </a:solidFill>
              </a:rPr>
              <a:t>‹#›</a:t>
            </a:fld>
            <a:endParaRPr b="1" sz="800">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5:notes"/>
          <p:cNvSpPr txBox="1"/>
          <p:nvPr>
            <p:ph idx="1" type="body"/>
          </p:nvPr>
        </p:nvSpPr>
        <p:spPr>
          <a:xfrm>
            <a:off x="212405" y="4715153"/>
            <a:ext cx="6372865" cy="4591101"/>
          </a:xfrm>
          <a:prstGeom prst="rect">
            <a:avLst/>
          </a:prstGeom>
          <a:noFill/>
          <a:ln>
            <a:noFill/>
          </a:ln>
        </p:spPr>
        <p:txBody>
          <a:bodyPr anchorCtr="0" anchor="t" bIns="45450" lIns="90925" spcFirstLastPara="1" rIns="90925" wrap="square" tIns="45450">
            <a:noAutofit/>
          </a:bodyPr>
          <a:lstStyle/>
          <a:p>
            <a:pPr indent="0" lvl="0" marL="0" rtl="0" algn="l">
              <a:lnSpc>
                <a:spcPct val="100000"/>
              </a:lnSpc>
              <a:spcBef>
                <a:spcPts val="0"/>
              </a:spcBef>
              <a:spcAft>
                <a:spcPts val="0"/>
              </a:spcAft>
              <a:buSzPts val="1400"/>
              <a:buNone/>
            </a:pPr>
            <a:r>
              <a:t/>
            </a:r>
            <a:endParaRPr/>
          </a:p>
        </p:txBody>
      </p:sp>
      <p:sp>
        <p:nvSpPr>
          <p:cNvPr id="316" name="Google Shape;316;p15:notes"/>
          <p:cNvSpPr/>
          <p:nvPr>
            <p:ph idx="2" type="sldImg"/>
          </p:nvPr>
        </p:nvSpPr>
        <p:spPr>
          <a:xfrm>
            <a:off x="531813" y="620713"/>
            <a:ext cx="5734050" cy="39703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1:notes"/>
          <p:cNvSpPr/>
          <p:nvPr>
            <p:ph idx="2" type="sldImg"/>
          </p:nvPr>
        </p:nvSpPr>
        <p:spPr>
          <a:xfrm>
            <a:off x="531813" y="620713"/>
            <a:ext cx="5734050" cy="39703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6" name="Google Shape;326;p11:notes"/>
          <p:cNvSpPr txBox="1"/>
          <p:nvPr>
            <p:ph idx="1" type="body"/>
          </p:nvPr>
        </p:nvSpPr>
        <p:spPr>
          <a:xfrm>
            <a:off x="212405" y="4715153"/>
            <a:ext cx="6372865" cy="4591101"/>
          </a:xfrm>
          <a:prstGeom prst="rect">
            <a:avLst/>
          </a:prstGeom>
          <a:noFill/>
          <a:ln>
            <a:noFill/>
          </a:ln>
        </p:spPr>
        <p:txBody>
          <a:bodyPr anchorCtr="0" anchor="t" bIns="45450" lIns="90925" spcFirstLastPara="1" rIns="90925" wrap="square" tIns="45450">
            <a:normAutofit/>
          </a:bodyPr>
          <a:lstStyle/>
          <a:p>
            <a:pPr indent="0" lvl="0" marL="0" rtl="0" algn="l">
              <a:lnSpc>
                <a:spcPct val="100000"/>
              </a:lnSpc>
              <a:spcBef>
                <a:spcPts val="0"/>
              </a:spcBef>
              <a:spcAft>
                <a:spcPts val="0"/>
              </a:spcAft>
              <a:buSzPts val="1400"/>
              <a:buNone/>
            </a:pPr>
            <a:r>
              <a:t/>
            </a:r>
            <a:endParaRPr/>
          </a:p>
        </p:txBody>
      </p:sp>
      <p:sp>
        <p:nvSpPr>
          <p:cNvPr id="327" name="Google Shape;327;p11:notes"/>
          <p:cNvSpPr txBox="1"/>
          <p:nvPr>
            <p:ph idx="11" type="ftr"/>
          </p:nvPr>
        </p:nvSpPr>
        <p:spPr>
          <a:xfrm>
            <a:off x="0" y="9428584"/>
            <a:ext cx="2945659" cy="496332"/>
          </a:xfrm>
          <a:prstGeom prst="rect">
            <a:avLst/>
          </a:prstGeom>
          <a:noFill/>
          <a:ln>
            <a:noFill/>
          </a:ln>
        </p:spPr>
        <p:txBody>
          <a:bodyPr anchorCtr="0" anchor="b" bIns="179025" lIns="179025" spcFirstLastPara="1" rIns="71600" wrap="square" tIns="35800">
            <a:noAutofit/>
          </a:bodyPr>
          <a:lstStyle/>
          <a:p>
            <a:pPr indent="0" lvl="0" marL="0" marR="0" rtl="0" algn="l">
              <a:lnSpc>
                <a:spcPct val="100000"/>
              </a:lnSpc>
              <a:spcBef>
                <a:spcPts val="0"/>
              </a:spcBef>
              <a:spcAft>
                <a:spcPts val="0"/>
              </a:spcAft>
              <a:buSzPts val="1400"/>
              <a:buNone/>
            </a:pPr>
            <a:r>
              <a:rPr lang="en-US"/>
              <a:t>© 2010 Capgemini. All rights reserved.</a:t>
            </a:r>
            <a:endParaRPr/>
          </a:p>
        </p:txBody>
      </p:sp>
      <p:sp>
        <p:nvSpPr>
          <p:cNvPr id="328" name="Google Shape;328;p11:notes"/>
          <p:cNvSpPr txBox="1"/>
          <p:nvPr>
            <p:ph idx="12" type="sldNum"/>
          </p:nvPr>
        </p:nvSpPr>
        <p:spPr>
          <a:xfrm>
            <a:off x="3850443" y="9428584"/>
            <a:ext cx="2945659" cy="496332"/>
          </a:xfrm>
          <a:prstGeom prst="rect">
            <a:avLst/>
          </a:prstGeom>
          <a:noFill/>
          <a:ln>
            <a:noFill/>
          </a:ln>
        </p:spPr>
        <p:txBody>
          <a:bodyPr anchorCtr="0" anchor="b" bIns="179025" lIns="71600" spcFirstLastPara="1" rIns="179025" wrap="square" tIns="358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41: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7" name="Google Shape;337;p41:notes"/>
          <p:cNvSpPr/>
          <p:nvPr>
            <p:ph idx="2" type="sldImg"/>
          </p:nvPr>
        </p:nvSpPr>
        <p:spPr>
          <a:xfrm>
            <a:off x="981075" y="1241425"/>
            <a:ext cx="48355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42:notes"/>
          <p:cNvSpPr txBox="1"/>
          <p:nvPr>
            <p:ph idx="1" type="body"/>
          </p:nvPr>
        </p:nvSpPr>
        <p:spPr>
          <a:xfrm>
            <a:off x="679768" y="4777194"/>
            <a:ext cx="5438140" cy="390861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7" name="Google Shape;347;p42:notes"/>
          <p:cNvSpPr/>
          <p:nvPr>
            <p:ph idx="2" type="sldImg"/>
          </p:nvPr>
        </p:nvSpPr>
        <p:spPr>
          <a:xfrm>
            <a:off x="981075" y="1241425"/>
            <a:ext cx="4835525"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43:notes"/>
          <p:cNvSpPr/>
          <p:nvPr>
            <p:ph idx="2" type="sldImg"/>
          </p:nvPr>
        </p:nvSpPr>
        <p:spPr>
          <a:xfrm>
            <a:off x="1200150" y="1143000"/>
            <a:ext cx="445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85750" lvl="0" marL="285750" rtl="0" algn="l">
              <a:lnSpc>
                <a:spcPct val="100000"/>
              </a:lnSpc>
              <a:spcBef>
                <a:spcPts val="0"/>
              </a:spcBef>
              <a:spcAft>
                <a:spcPts val="0"/>
              </a:spcAft>
              <a:buClr>
                <a:srgbClr val="000000"/>
              </a:buClr>
              <a:buSzPts val="1400"/>
              <a:buFont typeface="Calibri"/>
              <a:buChar char="-"/>
            </a:pPr>
            <a:r>
              <a:rPr b="0" i="0" lang="en-US" sz="1600" u="none" cap="none" strike="noStrike">
                <a:solidFill>
                  <a:srgbClr val="000000"/>
                </a:solidFill>
                <a:latin typeface="Calibri"/>
                <a:ea typeface="Calibri"/>
                <a:cs typeface="Calibri"/>
                <a:sym typeface="Calibri"/>
              </a:rPr>
              <a:t>Pymes – Ambito Corporativo</a:t>
            </a:r>
            <a:endParaRPr/>
          </a:p>
          <a:p>
            <a:pPr indent="-285750" lvl="0" marL="285750" rtl="0" algn="l">
              <a:lnSpc>
                <a:spcPct val="100000"/>
              </a:lnSpc>
              <a:spcBef>
                <a:spcPts val="0"/>
              </a:spcBef>
              <a:spcAft>
                <a:spcPts val="0"/>
              </a:spcAft>
              <a:buClr>
                <a:schemeClr val="dk1"/>
              </a:buClr>
              <a:buSzPts val="1400"/>
              <a:buFont typeface="Calibri"/>
              <a:buChar char="-"/>
            </a:pPr>
            <a:r>
              <a:rPr lang="en-US"/>
              <a:t>¿</a:t>
            </a:r>
            <a:r>
              <a:rPr b="1" lang="en-US"/>
              <a:t>Es más fácil ejercer el liderazgo cuando hay menos personas para gestionar? </a:t>
            </a:r>
            <a:r>
              <a:rPr lang="en-US"/>
              <a:t>Ciertamente sí. Confiar en el ajuste mutuo de tareas y procesos como el mecanismo de coordinación por excelencia es la manera habitual de trabajo en las más pequeñas. Para que esto ocurra, la comunicación informal es el medio por el que se logra el ajuste mutuo. </a:t>
            </a:r>
            <a:endParaRPr sz="1600"/>
          </a:p>
          <a:p>
            <a:pPr indent="-285750" lvl="0" marL="285750" rtl="0" algn="l">
              <a:lnSpc>
                <a:spcPct val="100000"/>
              </a:lnSpc>
              <a:spcBef>
                <a:spcPts val="0"/>
              </a:spcBef>
              <a:spcAft>
                <a:spcPts val="0"/>
              </a:spcAft>
              <a:buClr>
                <a:schemeClr val="dk1"/>
              </a:buClr>
              <a:buSzPts val="1400"/>
              <a:buFont typeface="Calibri"/>
              <a:buChar char="-"/>
            </a:pPr>
            <a:r>
              <a:rPr b="1" lang="en-US"/>
              <a:t>¿Autonomía o control? </a:t>
            </a:r>
            <a:r>
              <a:rPr lang="en-US"/>
              <a:t>Para este tipo de empresas es dable pensar que el mecanismo de supervisión por antonomasia es el control directo, lo que indica que, como ya se sabe, hay uno que planifica y otros que ejecutan. Sin embargo, el feedback que arrojan los colaboradores es el de un altísimo grado de involucramiento en las tareas por parte de los colaboradores a la vez que un alto grado de autonomía para realizar el trabaj0</a:t>
            </a:r>
            <a:endParaRPr sz="1600"/>
          </a:p>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358" name="Google Shape;358;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16:notes"/>
          <p:cNvSpPr txBox="1"/>
          <p:nvPr>
            <p:ph idx="1" type="body"/>
          </p:nvPr>
        </p:nvSpPr>
        <p:spPr>
          <a:xfrm>
            <a:off x="212405" y="4715153"/>
            <a:ext cx="6372865" cy="4591101"/>
          </a:xfrm>
          <a:prstGeom prst="rect">
            <a:avLst/>
          </a:prstGeom>
          <a:noFill/>
          <a:ln>
            <a:noFill/>
          </a:ln>
        </p:spPr>
        <p:txBody>
          <a:bodyPr anchorCtr="0" anchor="t" bIns="45450" lIns="90925" spcFirstLastPara="1" rIns="90925" wrap="square" tIns="45450">
            <a:noAutofit/>
          </a:bodyPr>
          <a:lstStyle/>
          <a:p>
            <a:pPr indent="0" lvl="0" marL="0" rtl="0" algn="l">
              <a:lnSpc>
                <a:spcPct val="100000"/>
              </a:lnSpc>
              <a:spcBef>
                <a:spcPts val="0"/>
              </a:spcBef>
              <a:spcAft>
                <a:spcPts val="0"/>
              </a:spcAft>
              <a:buSzPts val="1400"/>
              <a:buNone/>
            </a:pPr>
            <a:r>
              <a:t/>
            </a:r>
            <a:endParaRPr/>
          </a:p>
        </p:txBody>
      </p:sp>
      <p:sp>
        <p:nvSpPr>
          <p:cNvPr id="381" name="Google Shape;381;p16:notes"/>
          <p:cNvSpPr/>
          <p:nvPr>
            <p:ph idx="2" type="sldImg"/>
          </p:nvPr>
        </p:nvSpPr>
        <p:spPr>
          <a:xfrm>
            <a:off x="531813" y="620713"/>
            <a:ext cx="5734050" cy="39703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44:notes"/>
          <p:cNvSpPr txBox="1"/>
          <p:nvPr>
            <p:ph idx="1" type="body"/>
          </p:nvPr>
        </p:nvSpPr>
        <p:spPr>
          <a:xfrm>
            <a:off x="212405" y="4715153"/>
            <a:ext cx="6372865" cy="4591101"/>
          </a:xfrm>
          <a:prstGeom prst="rect">
            <a:avLst/>
          </a:prstGeom>
        </p:spPr>
        <p:txBody>
          <a:bodyPr anchorCtr="0" anchor="t" bIns="45450" lIns="90925" spcFirstLastPara="1" rIns="90925" wrap="square" tIns="45450">
            <a:noAutofit/>
          </a:bodyPr>
          <a:lstStyle/>
          <a:p>
            <a:pPr indent="0" lvl="0" marL="0" rtl="0" algn="l">
              <a:spcBef>
                <a:spcPts val="0"/>
              </a:spcBef>
              <a:spcAft>
                <a:spcPts val="0"/>
              </a:spcAft>
              <a:buNone/>
            </a:pPr>
            <a:r>
              <a:t/>
            </a:r>
            <a:endParaRPr/>
          </a:p>
        </p:txBody>
      </p:sp>
      <p:sp>
        <p:nvSpPr>
          <p:cNvPr id="387" name="Google Shape;387;p44:notes"/>
          <p:cNvSpPr/>
          <p:nvPr>
            <p:ph idx="2" type="sldImg"/>
          </p:nvPr>
        </p:nvSpPr>
        <p:spPr>
          <a:xfrm>
            <a:off x="531813" y="620713"/>
            <a:ext cx="5734050" cy="39703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13:notes"/>
          <p:cNvSpPr txBox="1"/>
          <p:nvPr>
            <p:ph idx="1" type="body"/>
          </p:nvPr>
        </p:nvSpPr>
        <p:spPr>
          <a:xfrm>
            <a:off x="212405" y="4715153"/>
            <a:ext cx="6372865" cy="4591101"/>
          </a:xfrm>
          <a:prstGeom prst="rect">
            <a:avLst/>
          </a:prstGeom>
          <a:noFill/>
          <a:ln>
            <a:noFill/>
          </a:ln>
        </p:spPr>
        <p:txBody>
          <a:bodyPr anchorCtr="0" anchor="t" bIns="45450" lIns="90925" spcFirstLastPara="1" rIns="90925" wrap="square" tIns="45450">
            <a:noAutofit/>
          </a:bodyPr>
          <a:lstStyle/>
          <a:p>
            <a:pPr indent="0" lvl="0" marL="0" rtl="0" algn="l">
              <a:lnSpc>
                <a:spcPct val="100000"/>
              </a:lnSpc>
              <a:spcBef>
                <a:spcPts val="0"/>
              </a:spcBef>
              <a:spcAft>
                <a:spcPts val="0"/>
              </a:spcAft>
              <a:buSzPts val="1400"/>
              <a:buNone/>
            </a:pPr>
            <a:r>
              <a:t/>
            </a:r>
            <a:endParaRPr/>
          </a:p>
        </p:txBody>
      </p:sp>
      <p:sp>
        <p:nvSpPr>
          <p:cNvPr id="401" name="Google Shape;401;p13:notes"/>
          <p:cNvSpPr/>
          <p:nvPr>
            <p:ph idx="2" type="sldImg"/>
          </p:nvPr>
        </p:nvSpPr>
        <p:spPr>
          <a:xfrm>
            <a:off x="531813" y="620713"/>
            <a:ext cx="5734050" cy="39703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12:notes"/>
          <p:cNvSpPr/>
          <p:nvPr>
            <p:ph idx="2" type="sldImg"/>
          </p:nvPr>
        </p:nvSpPr>
        <p:spPr>
          <a:xfrm>
            <a:off x="531813" y="620713"/>
            <a:ext cx="5734050" cy="39703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4" name="Google Shape;414;p12:notes"/>
          <p:cNvSpPr txBox="1"/>
          <p:nvPr>
            <p:ph idx="1" type="body"/>
          </p:nvPr>
        </p:nvSpPr>
        <p:spPr>
          <a:xfrm>
            <a:off x="212405" y="4715153"/>
            <a:ext cx="6372865" cy="4591101"/>
          </a:xfrm>
          <a:prstGeom prst="rect">
            <a:avLst/>
          </a:prstGeom>
          <a:noFill/>
          <a:ln>
            <a:noFill/>
          </a:ln>
        </p:spPr>
        <p:txBody>
          <a:bodyPr anchorCtr="0" anchor="t" bIns="45450" lIns="90925" spcFirstLastPara="1" rIns="90925" wrap="square" tIns="45450">
            <a:normAutofit/>
          </a:bodyPr>
          <a:lstStyle/>
          <a:p>
            <a:pPr indent="0" lvl="0" marL="0" rtl="0" algn="l">
              <a:lnSpc>
                <a:spcPct val="100000"/>
              </a:lnSpc>
              <a:spcBef>
                <a:spcPts val="0"/>
              </a:spcBef>
              <a:spcAft>
                <a:spcPts val="0"/>
              </a:spcAft>
              <a:buSzPts val="1400"/>
              <a:buNone/>
            </a:pPr>
            <a:r>
              <a:t/>
            </a:r>
            <a:endParaRPr/>
          </a:p>
        </p:txBody>
      </p:sp>
      <p:sp>
        <p:nvSpPr>
          <p:cNvPr id="415" name="Google Shape;415;p12:notes"/>
          <p:cNvSpPr txBox="1"/>
          <p:nvPr>
            <p:ph idx="11" type="ftr"/>
          </p:nvPr>
        </p:nvSpPr>
        <p:spPr>
          <a:xfrm>
            <a:off x="0" y="9428584"/>
            <a:ext cx="2945659" cy="496332"/>
          </a:xfrm>
          <a:prstGeom prst="rect">
            <a:avLst/>
          </a:prstGeom>
          <a:noFill/>
          <a:ln>
            <a:noFill/>
          </a:ln>
        </p:spPr>
        <p:txBody>
          <a:bodyPr anchorCtr="0" anchor="b" bIns="179025" lIns="179025" spcFirstLastPara="1" rIns="71600" wrap="square" tIns="35800">
            <a:noAutofit/>
          </a:bodyPr>
          <a:lstStyle/>
          <a:p>
            <a:pPr indent="0" lvl="0" marL="0" marR="0" rtl="0" algn="l">
              <a:lnSpc>
                <a:spcPct val="100000"/>
              </a:lnSpc>
              <a:spcBef>
                <a:spcPts val="0"/>
              </a:spcBef>
              <a:spcAft>
                <a:spcPts val="0"/>
              </a:spcAft>
              <a:buSzPts val="1400"/>
              <a:buNone/>
            </a:pPr>
            <a:r>
              <a:rPr lang="en-US"/>
              <a:t>© 2010 Capgemini. All rights reserved.</a:t>
            </a:r>
            <a:endParaRPr/>
          </a:p>
        </p:txBody>
      </p:sp>
      <p:sp>
        <p:nvSpPr>
          <p:cNvPr id="416" name="Google Shape;416;p12:notes"/>
          <p:cNvSpPr txBox="1"/>
          <p:nvPr>
            <p:ph idx="12" type="sldNum"/>
          </p:nvPr>
        </p:nvSpPr>
        <p:spPr>
          <a:xfrm>
            <a:off x="3850443" y="9428584"/>
            <a:ext cx="2945659" cy="496332"/>
          </a:xfrm>
          <a:prstGeom prst="rect">
            <a:avLst/>
          </a:prstGeom>
          <a:noFill/>
          <a:ln>
            <a:noFill/>
          </a:ln>
        </p:spPr>
        <p:txBody>
          <a:bodyPr anchorCtr="0" anchor="b" bIns="179025" lIns="71600" spcFirstLastPara="1" rIns="179025" wrap="square" tIns="358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45:notes"/>
          <p:cNvSpPr txBox="1"/>
          <p:nvPr>
            <p:ph idx="1" type="body"/>
          </p:nvPr>
        </p:nvSpPr>
        <p:spPr>
          <a:xfrm>
            <a:off x="676136" y="4752115"/>
            <a:ext cx="5409086" cy="3888095"/>
          </a:xfrm>
          <a:prstGeom prst="rect">
            <a:avLst/>
          </a:prstGeom>
          <a:noFill/>
          <a:ln>
            <a:noFill/>
          </a:ln>
        </p:spPr>
        <p:txBody>
          <a:bodyPr anchorCtr="0" anchor="t" bIns="45450" lIns="90925" spcFirstLastPara="1" rIns="90925" wrap="square" tIns="45450">
            <a:noAutofit/>
          </a:bodyPr>
          <a:lstStyle/>
          <a:p>
            <a:pPr indent="0" lvl="0" marL="0" rtl="0" algn="l">
              <a:lnSpc>
                <a:spcPct val="100000"/>
              </a:lnSpc>
              <a:spcBef>
                <a:spcPts val="0"/>
              </a:spcBef>
              <a:spcAft>
                <a:spcPts val="0"/>
              </a:spcAft>
              <a:buSzPts val="1400"/>
              <a:buNone/>
            </a:pPr>
            <a:r>
              <a:t/>
            </a:r>
            <a:endParaRPr/>
          </a:p>
        </p:txBody>
      </p:sp>
      <p:sp>
        <p:nvSpPr>
          <p:cNvPr id="424" name="Google Shape;424;p45:notes"/>
          <p:cNvSpPr/>
          <p:nvPr>
            <p:ph idx="2" type="sldImg"/>
          </p:nvPr>
        </p:nvSpPr>
        <p:spPr>
          <a:xfrm>
            <a:off x="974725" y="1235075"/>
            <a:ext cx="4811713" cy="33321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14:notes"/>
          <p:cNvSpPr txBox="1"/>
          <p:nvPr>
            <p:ph idx="1" type="body"/>
          </p:nvPr>
        </p:nvSpPr>
        <p:spPr>
          <a:xfrm>
            <a:off x="212405" y="4715153"/>
            <a:ext cx="6372865" cy="4591101"/>
          </a:xfrm>
          <a:prstGeom prst="rect">
            <a:avLst/>
          </a:prstGeom>
          <a:noFill/>
          <a:ln>
            <a:noFill/>
          </a:ln>
        </p:spPr>
        <p:txBody>
          <a:bodyPr anchorCtr="0" anchor="t" bIns="45450" lIns="90925" spcFirstLastPara="1" rIns="90925" wrap="square" tIns="45450">
            <a:noAutofit/>
          </a:bodyPr>
          <a:lstStyle/>
          <a:p>
            <a:pPr indent="0" lvl="0" marL="0" rtl="0" algn="l">
              <a:lnSpc>
                <a:spcPct val="100000"/>
              </a:lnSpc>
              <a:spcBef>
                <a:spcPts val="0"/>
              </a:spcBef>
              <a:spcAft>
                <a:spcPts val="0"/>
              </a:spcAft>
              <a:buSzPts val="1400"/>
              <a:buNone/>
            </a:pPr>
            <a:r>
              <a:t/>
            </a:r>
            <a:endParaRPr/>
          </a:p>
        </p:txBody>
      </p:sp>
      <p:sp>
        <p:nvSpPr>
          <p:cNvPr id="437" name="Google Shape;437;p14:notes"/>
          <p:cNvSpPr/>
          <p:nvPr>
            <p:ph idx="2" type="sldImg"/>
          </p:nvPr>
        </p:nvSpPr>
        <p:spPr>
          <a:xfrm>
            <a:off x="531813" y="620713"/>
            <a:ext cx="5734050" cy="39703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17:notes"/>
          <p:cNvSpPr txBox="1"/>
          <p:nvPr>
            <p:ph idx="1" type="body"/>
          </p:nvPr>
        </p:nvSpPr>
        <p:spPr>
          <a:xfrm>
            <a:off x="212405" y="4715154"/>
            <a:ext cx="6372864" cy="4591100"/>
          </a:xfrm>
          <a:prstGeom prst="rect">
            <a:avLst/>
          </a:prstGeom>
          <a:noFill/>
          <a:ln>
            <a:noFill/>
          </a:ln>
        </p:spPr>
        <p:txBody>
          <a:bodyPr anchorCtr="0" anchor="t" bIns="90925" lIns="90925" spcFirstLastPara="1" rIns="90925" wrap="square" tIns="90925">
            <a:noAutofit/>
          </a:bodyPr>
          <a:lstStyle/>
          <a:p>
            <a:pPr indent="0" lvl="0" marL="0" rtl="0" algn="l">
              <a:lnSpc>
                <a:spcPct val="100000"/>
              </a:lnSpc>
              <a:spcBef>
                <a:spcPts val="0"/>
              </a:spcBef>
              <a:spcAft>
                <a:spcPts val="0"/>
              </a:spcAft>
              <a:buClr>
                <a:schemeClr val="dk1"/>
              </a:buClr>
              <a:buSzPts val="1200"/>
              <a:buNone/>
            </a:pPr>
            <a:r>
              <a:t/>
            </a:r>
            <a:endParaRPr/>
          </a:p>
        </p:txBody>
      </p:sp>
      <p:sp>
        <p:nvSpPr>
          <p:cNvPr id="450" name="Google Shape;450;p17:notes"/>
          <p:cNvSpPr/>
          <p:nvPr>
            <p:ph idx="2" type="sldImg"/>
          </p:nvPr>
        </p:nvSpPr>
        <p:spPr>
          <a:xfrm>
            <a:off x="531813" y="620713"/>
            <a:ext cx="5734050" cy="39703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19:notes"/>
          <p:cNvSpPr txBox="1"/>
          <p:nvPr>
            <p:ph idx="1" type="body"/>
          </p:nvPr>
        </p:nvSpPr>
        <p:spPr>
          <a:xfrm>
            <a:off x="212405" y="4715154"/>
            <a:ext cx="6372864" cy="4591100"/>
          </a:xfrm>
          <a:prstGeom prst="rect">
            <a:avLst/>
          </a:prstGeom>
          <a:noFill/>
          <a:ln>
            <a:noFill/>
          </a:ln>
        </p:spPr>
        <p:txBody>
          <a:bodyPr anchorCtr="0" anchor="t" bIns="90925" lIns="90925" spcFirstLastPara="1" rIns="90925" wrap="square" tIns="90925">
            <a:noAutofit/>
          </a:bodyPr>
          <a:lstStyle/>
          <a:p>
            <a:pPr indent="0" lvl="0" marL="0" rtl="0" algn="l">
              <a:lnSpc>
                <a:spcPct val="100000"/>
              </a:lnSpc>
              <a:spcBef>
                <a:spcPts val="0"/>
              </a:spcBef>
              <a:spcAft>
                <a:spcPts val="0"/>
              </a:spcAft>
              <a:buClr>
                <a:schemeClr val="dk1"/>
              </a:buClr>
              <a:buSzPts val="1200"/>
              <a:buNone/>
            </a:pPr>
            <a:r>
              <a:t/>
            </a:r>
            <a:endParaRPr/>
          </a:p>
        </p:txBody>
      </p:sp>
      <p:sp>
        <p:nvSpPr>
          <p:cNvPr id="457" name="Google Shape;457;p19:notes"/>
          <p:cNvSpPr/>
          <p:nvPr>
            <p:ph idx="2" type="sldImg"/>
          </p:nvPr>
        </p:nvSpPr>
        <p:spPr>
          <a:xfrm>
            <a:off x="531813" y="620713"/>
            <a:ext cx="5734050" cy="39703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20:notes"/>
          <p:cNvSpPr txBox="1"/>
          <p:nvPr>
            <p:ph idx="1" type="body"/>
          </p:nvPr>
        </p:nvSpPr>
        <p:spPr>
          <a:xfrm>
            <a:off x="212405" y="4715154"/>
            <a:ext cx="6372864" cy="4591100"/>
          </a:xfrm>
          <a:prstGeom prst="rect">
            <a:avLst/>
          </a:prstGeom>
          <a:noFill/>
          <a:ln>
            <a:noFill/>
          </a:ln>
        </p:spPr>
        <p:txBody>
          <a:bodyPr anchorCtr="0" anchor="t" bIns="90925" lIns="90925" spcFirstLastPara="1" rIns="90925" wrap="square" tIns="90925">
            <a:noAutofit/>
          </a:bodyPr>
          <a:lstStyle/>
          <a:p>
            <a:pPr indent="0" lvl="0" marL="0" rtl="0" algn="l">
              <a:lnSpc>
                <a:spcPct val="100000"/>
              </a:lnSpc>
              <a:spcBef>
                <a:spcPts val="0"/>
              </a:spcBef>
              <a:spcAft>
                <a:spcPts val="0"/>
              </a:spcAft>
              <a:buClr>
                <a:schemeClr val="dk1"/>
              </a:buClr>
              <a:buSzPts val="1200"/>
              <a:buNone/>
            </a:pPr>
            <a:r>
              <a:t/>
            </a:r>
            <a:endParaRPr/>
          </a:p>
        </p:txBody>
      </p:sp>
      <p:sp>
        <p:nvSpPr>
          <p:cNvPr id="464" name="Google Shape;464;p20:notes"/>
          <p:cNvSpPr/>
          <p:nvPr>
            <p:ph idx="2" type="sldImg"/>
          </p:nvPr>
        </p:nvSpPr>
        <p:spPr>
          <a:xfrm>
            <a:off x="531813" y="620713"/>
            <a:ext cx="5734050" cy="39703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22:notes"/>
          <p:cNvSpPr txBox="1"/>
          <p:nvPr>
            <p:ph idx="1" type="body"/>
          </p:nvPr>
        </p:nvSpPr>
        <p:spPr>
          <a:xfrm>
            <a:off x="212405" y="4715153"/>
            <a:ext cx="6372865" cy="4591101"/>
          </a:xfrm>
          <a:prstGeom prst="rect">
            <a:avLst/>
          </a:prstGeom>
          <a:noFill/>
          <a:ln>
            <a:noFill/>
          </a:ln>
        </p:spPr>
        <p:txBody>
          <a:bodyPr anchorCtr="0" anchor="t" bIns="45450" lIns="90925" spcFirstLastPara="1" rIns="90925" wrap="square" tIns="45450">
            <a:noAutofit/>
          </a:bodyPr>
          <a:lstStyle/>
          <a:p>
            <a:pPr indent="0" lvl="0" marL="0" rtl="0" algn="l">
              <a:lnSpc>
                <a:spcPct val="100000"/>
              </a:lnSpc>
              <a:spcBef>
                <a:spcPts val="0"/>
              </a:spcBef>
              <a:spcAft>
                <a:spcPts val="0"/>
              </a:spcAft>
              <a:buSzPts val="1400"/>
              <a:buNone/>
            </a:pPr>
            <a:r>
              <a:t/>
            </a:r>
            <a:endParaRPr/>
          </a:p>
        </p:txBody>
      </p:sp>
      <p:sp>
        <p:nvSpPr>
          <p:cNvPr id="471" name="Google Shape;471;p22:notes"/>
          <p:cNvSpPr/>
          <p:nvPr>
            <p:ph idx="2" type="sldImg"/>
          </p:nvPr>
        </p:nvSpPr>
        <p:spPr>
          <a:xfrm>
            <a:off x="531813" y="620713"/>
            <a:ext cx="5734050" cy="39703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People" showMasterSp="0">
  <p:cSld name="Cover-People">
    <p:spTree>
      <p:nvGrpSpPr>
        <p:cNvPr id="13" name="Shape 13"/>
        <p:cNvGrpSpPr/>
        <p:nvPr/>
      </p:nvGrpSpPr>
      <p:grpSpPr>
        <a:xfrm>
          <a:off x="0" y="0"/>
          <a:ext cx="0" cy="0"/>
          <a:chOff x="0" y="0"/>
          <a:chExt cx="0" cy="0"/>
        </a:xfrm>
      </p:grpSpPr>
      <p:sp>
        <p:nvSpPr>
          <p:cNvPr id="14" name="Google Shape;14;p24"/>
          <p:cNvSpPr/>
          <p:nvPr/>
        </p:nvSpPr>
        <p:spPr>
          <a:xfrm>
            <a:off x="-7943" y="6286500"/>
            <a:ext cx="9907200" cy="17463"/>
          </a:xfrm>
          <a:prstGeom prst="rect">
            <a:avLst/>
          </a:prstGeom>
          <a:gradFill>
            <a:gsLst>
              <a:gs pos="0">
                <a:srgbClr val="E3EDF5"/>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 name="Google Shape;15;p24"/>
          <p:cNvSpPr/>
          <p:nvPr/>
        </p:nvSpPr>
        <p:spPr>
          <a:xfrm>
            <a:off x="-24978" y="1196959"/>
            <a:ext cx="9907200" cy="17463"/>
          </a:xfrm>
          <a:prstGeom prst="rect">
            <a:avLst/>
          </a:prstGeom>
          <a:gradFill>
            <a:gsLst>
              <a:gs pos="0">
                <a:srgbClr val="E3EDF5"/>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Diapositiva de título">
  <p:cSld name="2_Diapositiva de título">
    <p:spTree>
      <p:nvGrpSpPr>
        <p:cNvPr id="16" name="Shape 16"/>
        <p:cNvGrpSpPr/>
        <p:nvPr/>
      </p:nvGrpSpPr>
      <p:grpSpPr>
        <a:xfrm>
          <a:off x="0" y="0"/>
          <a:ext cx="0" cy="0"/>
          <a:chOff x="0" y="0"/>
          <a:chExt cx="0" cy="0"/>
        </a:xfrm>
      </p:grpSpPr>
      <p:sp>
        <p:nvSpPr>
          <p:cNvPr id="17" name="Google Shape;17;p26"/>
          <p:cNvSpPr/>
          <p:nvPr/>
        </p:nvSpPr>
        <p:spPr>
          <a:xfrm>
            <a:off x="-24978" y="1196959"/>
            <a:ext cx="9907200" cy="17463"/>
          </a:xfrm>
          <a:prstGeom prst="rect">
            <a:avLst/>
          </a:prstGeom>
          <a:gradFill>
            <a:gsLst>
              <a:gs pos="0">
                <a:srgbClr val="E3EDF5"/>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showMasterSp="0">
  <p:cSld name="Slide">
    <p:spTree>
      <p:nvGrpSpPr>
        <p:cNvPr id="18" name="Shape 1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4.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 name="Shape 8"/>
        <p:cNvGrpSpPr/>
        <p:nvPr/>
      </p:nvGrpSpPr>
      <p:grpSpPr>
        <a:xfrm>
          <a:off x="0" y="0"/>
          <a:ext cx="0" cy="0"/>
          <a:chOff x="0" y="0"/>
          <a:chExt cx="0" cy="0"/>
        </a:xfrm>
      </p:grpSpPr>
      <p:sp>
        <p:nvSpPr>
          <p:cNvPr id="9" name="Google Shape;9;p23"/>
          <p:cNvSpPr txBox="1"/>
          <p:nvPr>
            <p:ph type="title"/>
          </p:nvPr>
        </p:nvSpPr>
        <p:spPr>
          <a:xfrm>
            <a:off x="0" y="0"/>
            <a:ext cx="9906000" cy="1188000"/>
          </a:xfrm>
          <a:prstGeom prst="rect">
            <a:avLst/>
          </a:prstGeom>
          <a:noFill/>
          <a:ln>
            <a:noFill/>
          </a:ln>
        </p:spPr>
        <p:txBody>
          <a:bodyPr anchorCtr="0" anchor="ctr" bIns="36000" lIns="72000" spcFirstLastPara="1" rIns="72000" wrap="square" tIns="252000">
            <a:noAutofit/>
          </a:bodyPr>
          <a:lstStyle>
            <a:lvl1pPr lvl="0" marR="0" rtl="0" algn="ctr">
              <a:lnSpc>
                <a:spcPct val="90000"/>
              </a:lnSpc>
              <a:spcBef>
                <a:spcPts val="0"/>
              </a:spcBef>
              <a:spcAft>
                <a:spcPts val="0"/>
              </a:spcAft>
              <a:buClr>
                <a:schemeClr val="dk2"/>
              </a:buClr>
              <a:buSzPts val="3000"/>
              <a:buFont typeface="Arial Narrow"/>
              <a:buNone/>
              <a:defRPr b="1" i="0" sz="3000" u="none" cap="none" strike="noStrike">
                <a:solidFill>
                  <a:schemeClr val="dk2"/>
                </a:solidFill>
                <a:latin typeface="Arial Narrow"/>
                <a:ea typeface="Arial Narrow"/>
                <a:cs typeface="Arial Narrow"/>
                <a:sym typeface="Arial Narrow"/>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 name="Google Shape;10;p23"/>
          <p:cNvSpPr/>
          <p:nvPr/>
        </p:nvSpPr>
        <p:spPr>
          <a:xfrm>
            <a:off x="-7943" y="6286500"/>
            <a:ext cx="9907200" cy="17463"/>
          </a:xfrm>
          <a:prstGeom prst="rect">
            <a:avLst/>
          </a:prstGeom>
          <a:gradFill>
            <a:gsLst>
              <a:gs pos="0">
                <a:srgbClr val="E3EDF5"/>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 name="Google Shape;11;p23"/>
          <p:cNvSpPr txBox="1"/>
          <p:nvPr>
            <p:ph idx="1" type="body"/>
          </p:nvPr>
        </p:nvSpPr>
        <p:spPr>
          <a:xfrm>
            <a:off x="0" y="1440000"/>
            <a:ext cx="9906000" cy="4680000"/>
          </a:xfrm>
          <a:prstGeom prst="rect">
            <a:avLst/>
          </a:prstGeom>
          <a:noFill/>
          <a:ln>
            <a:noFill/>
          </a:ln>
        </p:spPr>
        <p:txBody>
          <a:bodyPr anchorCtr="0" anchor="t" bIns="36000" lIns="288000" spcFirstLastPara="1" rIns="72000" wrap="square" tIns="36000">
            <a:noAutofit/>
          </a:bodyPr>
          <a:lstStyle>
            <a:lvl1pPr indent="-381000" lvl="0" marL="457200" marR="0" rtl="0" algn="l">
              <a:lnSpc>
                <a:spcPct val="100000"/>
              </a:lnSpc>
              <a:spcBef>
                <a:spcPts val="480"/>
              </a:spcBef>
              <a:spcAft>
                <a:spcPts val="0"/>
              </a:spcAft>
              <a:buClr>
                <a:schemeClr val="dk2"/>
              </a:buClr>
              <a:buSzPts val="2400"/>
              <a:buFont typeface="Noto Sans Symbols"/>
              <a:buChar char="▪"/>
              <a:defRPr b="0" i="0" sz="2400" u="none" cap="none" strike="noStrike">
                <a:solidFill>
                  <a:schemeClr val="dk1"/>
                </a:solidFill>
                <a:latin typeface="Arial"/>
                <a:ea typeface="Arial"/>
                <a:cs typeface="Arial"/>
                <a:sym typeface="Arial"/>
              </a:defRPr>
            </a:lvl1pPr>
            <a:lvl2pPr indent="-355600" lvl="1" marL="914400" marR="0" rtl="0" algn="l">
              <a:lnSpc>
                <a:spcPct val="100000"/>
              </a:lnSpc>
              <a:spcBef>
                <a:spcPts val="400"/>
              </a:spcBef>
              <a:spcAft>
                <a:spcPts val="0"/>
              </a:spcAft>
              <a:buClr>
                <a:schemeClr val="accent2"/>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lnSpc>
                <a:spcPct val="100000"/>
              </a:lnSpc>
              <a:spcBef>
                <a:spcPts val="360"/>
              </a:spcBef>
              <a:spcAft>
                <a:spcPts val="0"/>
              </a:spcAft>
              <a:buClr>
                <a:schemeClr val="accent1"/>
              </a:buClr>
              <a:buSzPts val="1800"/>
              <a:buFont typeface="Courier New"/>
              <a:buChar char="o"/>
              <a:defRPr b="0" i="0" sz="1800" u="none" cap="none" strike="noStrike">
                <a:solidFill>
                  <a:schemeClr val="dk1"/>
                </a:solidFill>
                <a:latin typeface="Arial"/>
                <a:ea typeface="Arial"/>
                <a:cs typeface="Arial"/>
                <a:sym typeface="Arial"/>
              </a:defRPr>
            </a:lvl3pPr>
            <a:lvl4pPr indent="-330200" lvl="3" marL="1828800" marR="0" rtl="0" algn="l">
              <a:lnSpc>
                <a:spcPct val="100000"/>
              </a:lnSpc>
              <a:spcBef>
                <a:spcPts val="320"/>
              </a:spcBef>
              <a:spcAft>
                <a:spcPts val="0"/>
              </a:spcAft>
              <a:buClr>
                <a:schemeClr val="accent3"/>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100000"/>
              </a:lnSpc>
              <a:spcBef>
                <a:spcPts val="28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pic>
        <p:nvPicPr>
          <p:cNvPr descr="images.jpg" id="12" name="Google Shape;12;p23"/>
          <p:cNvPicPr preferRelativeResize="0"/>
          <p:nvPr/>
        </p:nvPicPr>
        <p:blipFill rotWithShape="1">
          <a:blip r:embed="rId1">
            <a:alphaModFix/>
          </a:blip>
          <a:srcRect b="0" l="0" r="0" t="0"/>
          <a:stretch/>
        </p:blipFill>
        <p:spPr>
          <a:xfrm>
            <a:off x="6667512" y="1"/>
            <a:ext cx="3238488" cy="116585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slide" Target="/ppt/slides/slide16.xml"/><Relationship Id="rId4" Type="http://schemas.openxmlformats.org/officeDocument/2006/relationships/slide" Target="/ppt/slides/slide13.xml"/><Relationship Id="rId9" Type="http://schemas.openxmlformats.org/officeDocument/2006/relationships/slide" Target="/ppt/slides/slide25.xml"/><Relationship Id="rId5" Type="http://schemas.openxmlformats.org/officeDocument/2006/relationships/slide" Target="/ppt/slides/slide25.xml"/><Relationship Id="rId6" Type="http://schemas.openxmlformats.org/officeDocument/2006/relationships/slide" Target="/ppt/slides/slide16.xml"/><Relationship Id="rId7" Type="http://schemas.openxmlformats.org/officeDocument/2006/relationships/image" Target="../media/image1.png"/><Relationship Id="rId8" Type="http://schemas.openxmlformats.org/officeDocument/2006/relationships/slide" Target="/ppt/slides/slide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infoleg.mecon.gob.ar/infolegInternet/anexos/25000-29999/27971/texact.htm" TargetMode="External"/><Relationship Id="rId4" Type="http://schemas.openxmlformats.org/officeDocument/2006/relationships/image" Target="../media/image2.jpg"/><Relationship Id="rId5"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jp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slide" Target="/ppt/slides/slide16.xml"/><Relationship Id="rId4" Type="http://schemas.openxmlformats.org/officeDocument/2006/relationships/slide" Target="/ppt/slides/slide13.xml"/><Relationship Id="rId5" Type="http://schemas.openxmlformats.org/officeDocument/2006/relationships/slide" Target="/ppt/slides/slide25.xml"/><Relationship Id="rId6" Type="http://schemas.openxmlformats.org/officeDocument/2006/relationships/slide" Target="/ppt/slides/slide16.xml"/><Relationship Id="rId7" Type="http://schemas.openxmlformats.org/officeDocument/2006/relationships/slide" Target="/ppt/slides/slide16.xml"/><Relationship Id="rId8" Type="http://schemas.openxmlformats.org/officeDocument/2006/relationships/slide" Target="/ppt/slides/slide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jp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7.png"/><Relationship Id="rId4"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slide" Target="/ppt/slides/slide16.xml"/><Relationship Id="rId4" Type="http://schemas.openxmlformats.org/officeDocument/2006/relationships/slide" Target="/ppt/slides/slide13.xml"/><Relationship Id="rId5" Type="http://schemas.openxmlformats.org/officeDocument/2006/relationships/slide" Target="/ppt/slides/slide25.xml"/><Relationship Id="rId6" Type="http://schemas.openxmlformats.org/officeDocument/2006/relationships/slide" Target="/ppt/slides/slide16.xml"/><Relationship Id="rId7" Type="http://schemas.openxmlformats.org/officeDocument/2006/relationships/slide" Target="/ppt/slides/slide16.xml"/><Relationship Id="rId8" Type="http://schemas.openxmlformats.org/officeDocument/2006/relationships/slide" Target="/ppt/slides/slide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jpg"/><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2.png"/><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2.png"/><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7.png"/><Relationship Id="rId4" Type="http://schemas.openxmlformats.org/officeDocument/2006/relationships/image" Target="../media/image26.png"/><Relationship Id="rId5" Type="http://schemas.openxmlformats.org/officeDocument/2006/relationships/image" Target="../media/image16.png"/><Relationship Id="rId6" Type="http://schemas.openxmlformats.org/officeDocument/2006/relationships/image" Target="../media/image2.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jpg"/><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jpg"/><Relationship Id="rId4" Type="http://schemas.openxmlformats.org/officeDocument/2006/relationships/image" Target="../media/image2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 name="Shape 24"/>
        <p:cNvGrpSpPr/>
        <p:nvPr/>
      </p:nvGrpSpPr>
      <p:grpSpPr>
        <a:xfrm>
          <a:off x="0" y="0"/>
          <a:ext cx="0" cy="0"/>
          <a:chOff x="0" y="0"/>
          <a:chExt cx="0" cy="0"/>
        </a:xfrm>
      </p:grpSpPr>
      <p:sp>
        <p:nvSpPr>
          <p:cNvPr descr="https://encrypted-tbn2.gstatic.com/images?q=tbn:ANd9GcRcyGsKQFbNE159vcUw6iMcDisELRoVKzvai6d3iJrA-_BtH5dgBw" id="25" name="Google Shape;25;p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images.jpg" id="26" name="Google Shape;26;p1"/>
          <p:cNvPicPr preferRelativeResize="0"/>
          <p:nvPr/>
        </p:nvPicPr>
        <p:blipFill rotWithShape="1">
          <a:blip r:embed="rId3">
            <a:alphaModFix/>
          </a:blip>
          <a:srcRect b="11856" l="11057" r="10335" t="16025"/>
          <a:stretch/>
        </p:blipFill>
        <p:spPr>
          <a:xfrm>
            <a:off x="2381232" y="1968455"/>
            <a:ext cx="4633512" cy="1530335"/>
          </a:xfrm>
          <a:prstGeom prst="rect">
            <a:avLst/>
          </a:prstGeom>
          <a:noFill/>
          <a:ln>
            <a:noFill/>
          </a:ln>
        </p:spPr>
      </p:pic>
      <p:sp>
        <p:nvSpPr>
          <p:cNvPr id="27" name="Google Shape;27;p1"/>
          <p:cNvSpPr txBox="1"/>
          <p:nvPr/>
        </p:nvSpPr>
        <p:spPr>
          <a:xfrm>
            <a:off x="2381232" y="3998856"/>
            <a:ext cx="53103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INGENIERIA INDUSTRIAL</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CÁTEDRA RELACIONES INDUSTRIALES</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1" lang="en-US" sz="1800">
                <a:solidFill>
                  <a:schemeClr val="dk1"/>
                </a:solidFill>
              </a:rPr>
              <a:t>Clase</a:t>
            </a:r>
            <a:r>
              <a:rPr b="1" i="0" lang="en-US" sz="1800" u="none" cap="none" strike="noStrike">
                <a:solidFill>
                  <a:schemeClr val="dk1"/>
                </a:solidFill>
                <a:latin typeface="Arial"/>
                <a:ea typeface="Arial"/>
                <a:cs typeface="Arial"/>
                <a:sym typeface="Arial"/>
              </a:rPr>
              <a:t> </a:t>
            </a:r>
            <a:r>
              <a:rPr b="1" lang="en-US" sz="1800">
                <a:solidFill>
                  <a:schemeClr val="dk1"/>
                </a:solidFill>
              </a:rPr>
              <a:t>13</a:t>
            </a:r>
            <a:r>
              <a:rPr b="1" i="0" lang="en-US" sz="1800" u="none" cap="none" strike="noStrike">
                <a:solidFill>
                  <a:schemeClr val="dk1"/>
                </a:solidFill>
                <a:latin typeface="Arial"/>
                <a:ea typeface="Arial"/>
                <a:cs typeface="Arial"/>
                <a:sym typeface="Arial"/>
              </a:rPr>
              <a:t> - Extinción del Contrato de Trabajo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 name="Shape 31"/>
        <p:cNvGrpSpPr/>
        <p:nvPr/>
      </p:nvGrpSpPr>
      <p:grpSpPr>
        <a:xfrm>
          <a:off x="0" y="0"/>
          <a:ext cx="0" cy="0"/>
          <a:chOff x="0" y="0"/>
          <a:chExt cx="0" cy="0"/>
        </a:xfrm>
      </p:grpSpPr>
      <p:sp>
        <p:nvSpPr>
          <p:cNvPr id="32" name="Google Shape;32;p28"/>
          <p:cNvSpPr/>
          <p:nvPr/>
        </p:nvSpPr>
        <p:spPr>
          <a:xfrm>
            <a:off x="1721804" y="2347535"/>
            <a:ext cx="5808713" cy="395723"/>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None/>
            </a:pPr>
            <a:r>
              <a:rPr b="0" i="0" lang="en-US" sz="1800" u="none" cap="none" strike="noStrike">
                <a:solidFill>
                  <a:srgbClr val="932328"/>
                </a:solidFill>
                <a:latin typeface="Arial"/>
                <a:ea typeface="Arial"/>
                <a:cs typeface="Arial"/>
                <a:sym typeface="Arial"/>
              </a:rPr>
              <a:t>Marco legal actual</a:t>
            </a:r>
            <a:endParaRPr b="0" i="0" sz="1400" u="none" cap="none" strike="noStrike">
              <a:solidFill>
                <a:srgbClr val="000000"/>
              </a:solidFill>
              <a:latin typeface="Arial"/>
              <a:ea typeface="Arial"/>
              <a:cs typeface="Arial"/>
              <a:sym typeface="Arial"/>
            </a:endParaRPr>
          </a:p>
        </p:txBody>
      </p:sp>
      <p:sp>
        <p:nvSpPr>
          <p:cNvPr id="33" name="Google Shape;33;p28">
            <a:hlinkClick action="ppaction://hlinksldjump" r:id="rId3"/>
          </p:cNvPr>
          <p:cNvSpPr/>
          <p:nvPr/>
        </p:nvSpPr>
        <p:spPr>
          <a:xfrm>
            <a:off x="1523976" y="2347535"/>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None/>
            </a:pPr>
            <a:r>
              <a:t/>
            </a:r>
            <a:endParaRPr b="0" i="0" sz="1662" u="none" cap="none" strike="noStrike">
              <a:solidFill>
                <a:srgbClr val="932328"/>
              </a:solidFill>
              <a:latin typeface="Arial"/>
              <a:ea typeface="Arial"/>
              <a:cs typeface="Arial"/>
              <a:sym typeface="Arial"/>
            </a:endParaRPr>
          </a:p>
        </p:txBody>
      </p:sp>
      <p:sp>
        <p:nvSpPr>
          <p:cNvPr id="34" name="Google Shape;34;p28"/>
          <p:cNvSpPr/>
          <p:nvPr/>
        </p:nvSpPr>
        <p:spPr>
          <a:xfrm>
            <a:off x="1721804" y="3534505"/>
            <a:ext cx="5808713" cy="395723"/>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None/>
            </a:pPr>
            <a:r>
              <a:rPr b="0" i="0" lang="en-US" sz="1800" u="none" cap="none" strike="noStrike">
                <a:solidFill>
                  <a:srgbClr val="932328"/>
                </a:solidFill>
                <a:latin typeface="Arial"/>
                <a:ea typeface="Arial"/>
                <a:cs typeface="Arial"/>
                <a:sym typeface="Arial"/>
              </a:rPr>
              <a:t>Riesgos del trabajo</a:t>
            </a:r>
            <a:endParaRPr b="0" i="0" sz="1400" u="none" cap="none" strike="noStrike">
              <a:solidFill>
                <a:srgbClr val="000000"/>
              </a:solidFill>
              <a:latin typeface="Arial"/>
              <a:ea typeface="Arial"/>
              <a:cs typeface="Arial"/>
              <a:sym typeface="Arial"/>
            </a:endParaRPr>
          </a:p>
        </p:txBody>
      </p:sp>
      <p:sp>
        <p:nvSpPr>
          <p:cNvPr id="35" name="Google Shape;35;p28">
            <a:hlinkClick action="ppaction://hlinksldjump" r:id="rId4"/>
          </p:cNvPr>
          <p:cNvSpPr/>
          <p:nvPr/>
        </p:nvSpPr>
        <p:spPr>
          <a:xfrm>
            <a:off x="1523976" y="3534505"/>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None/>
            </a:pPr>
            <a:r>
              <a:t/>
            </a:r>
            <a:endParaRPr b="0" i="0" sz="1662" u="none" cap="none" strike="noStrike">
              <a:solidFill>
                <a:srgbClr val="932328"/>
              </a:solidFill>
              <a:latin typeface="Arial"/>
              <a:ea typeface="Arial"/>
              <a:cs typeface="Arial"/>
              <a:sym typeface="Arial"/>
            </a:endParaRPr>
          </a:p>
        </p:txBody>
      </p:sp>
      <p:sp>
        <p:nvSpPr>
          <p:cNvPr id="36" name="Google Shape;36;p28"/>
          <p:cNvSpPr/>
          <p:nvPr/>
        </p:nvSpPr>
        <p:spPr>
          <a:xfrm>
            <a:off x="1721804" y="4127989"/>
            <a:ext cx="5808713" cy="395723"/>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None/>
            </a:pPr>
            <a:r>
              <a:rPr b="0" i="0" lang="en-US" sz="1800" u="none" cap="none" strike="noStrike">
                <a:solidFill>
                  <a:srgbClr val="932328"/>
                </a:solidFill>
                <a:latin typeface="Arial"/>
                <a:ea typeface="Arial"/>
                <a:cs typeface="Arial"/>
                <a:sym typeface="Arial"/>
              </a:rPr>
              <a:t>Seguridad Social</a:t>
            </a:r>
            <a:endParaRPr b="0" i="0" sz="1400" u="none" cap="none" strike="noStrike">
              <a:solidFill>
                <a:srgbClr val="000000"/>
              </a:solidFill>
              <a:latin typeface="Arial"/>
              <a:ea typeface="Arial"/>
              <a:cs typeface="Arial"/>
              <a:sym typeface="Arial"/>
            </a:endParaRPr>
          </a:p>
        </p:txBody>
      </p:sp>
      <p:sp>
        <p:nvSpPr>
          <p:cNvPr id="37" name="Google Shape;37;p28">
            <a:hlinkClick action="ppaction://hlinksldjump" r:id="rId5"/>
          </p:cNvPr>
          <p:cNvSpPr/>
          <p:nvPr/>
        </p:nvSpPr>
        <p:spPr>
          <a:xfrm>
            <a:off x="1523976" y="4127989"/>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None/>
            </a:pPr>
            <a:r>
              <a:t/>
            </a:r>
            <a:endParaRPr b="0" i="0" sz="1662" u="none" cap="none" strike="noStrike">
              <a:solidFill>
                <a:srgbClr val="932328"/>
              </a:solidFill>
              <a:latin typeface="Arial"/>
              <a:ea typeface="Arial"/>
              <a:cs typeface="Arial"/>
              <a:sym typeface="Arial"/>
            </a:endParaRPr>
          </a:p>
        </p:txBody>
      </p:sp>
      <p:sp>
        <p:nvSpPr>
          <p:cNvPr id="38" name="Google Shape;38;p28"/>
          <p:cNvSpPr txBox="1"/>
          <p:nvPr/>
        </p:nvSpPr>
        <p:spPr>
          <a:xfrm>
            <a:off x="609600" y="104111"/>
            <a:ext cx="9144000" cy="1096614"/>
          </a:xfrm>
          <a:prstGeom prst="rect">
            <a:avLst/>
          </a:prstGeom>
          <a:noFill/>
          <a:ln>
            <a:noFill/>
          </a:ln>
        </p:spPr>
        <p:txBody>
          <a:bodyPr anchorCtr="0" anchor="ctr" bIns="33225" lIns="66450" spcFirstLastPara="1" rIns="66450" wrap="square" tIns="232600">
            <a:noAutofit/>
          </a:bodyPr>
          <a:lstStyle/>
          <a:p>
            <a:pPr indent="-659440" lvl="0" marL="659440" marR="0" rtl="0" algn="l">
              <a:lnSpc>
                <a:spcPct val="90000"/>
              </a:lnSpc>
              <a:spcBef>
                <a:spcPts val="0"/>
              </a:spcBef>
              <a:spcAft>
                <a:spcPts val="0"/>
              </a:spcAft>
              <a:buNone/>
            </a:pPr>
            <a:r>
              <a:rPr b="1" i="0" lang="en-US" sz="1845" u="none" cap="none" strike="noStrike">
                <a:solidFill>
                  <a:srgbClr val="932328"/>
                </a:solidFill>
                <a:latin typeface="Arial"/>
                <a:ea typeface="Arial"/>
                <a:cs typeface="Arial"/>
                <a:sym typeface="Arial"/>
              </a:rPr>
              <a:t>Relaciones Industriales</a:t>
            </a:r>
            <a:endParaRPr b="0" i="0" sz="1400" u="none" cap="none" strike="noStrike">
              <a:solidFill>
                <a:srgbClr val="000000"/>
              </a:solidFill>
              <a:latin typeface="Arial"/>
              <a:ea typeface="Arial"/>
              <a:cs typeface="Arial"/>
              <a:sym typeface="Arial"/>
            </a:endParaRPr>
          </a:p>
          <a:p>
            <a:pPr indent="-659440" lvl="0" marL="659440" marR="0" rtl="0" algn="l">
              <a:lnSpc>
                <a:spcPct val="90000"/>
              </a:lnSpc>
              <a:spcBef>
                <a:spcPts val="0"/>
              </a:spcBef>
              <a:spcAft>
                <a:spcPts val="0"/>
              </a:spcAft>
              <a:buNone/>
            </a:pPr>
            <a:r>
              <a:rPr b="1" i="0" lang="en-US" sz="2954" u="none" cap="none" strike="noStrike">
                <a:solidFill>
                  <a:srgbClr val="932328"/>
                </a:solidFill>
                <a:latin typeface="Arial"/>
                <a:ea typeface="Arial"/>
                <a:cs typeface="Arial"/>
                <a:sym typeface="Arial"/>
              </a:rPr>
              <a:t>Agenda</a:t>
            </a:r>
            <a:endParaRPr b="1" i="0" sz="2585" u="none" cap="none" strike="noStrike">
              <a:solidFill>
                <a:srgbClr val="932328"/>
              </a:solidFill>
              <a:latin typeface="Arial"/>
              <a:ea typeface="Arial"/>
              <a:cs typeface="Arial"/>
              <a:sym typeface="Arial"/>
            </a:endParaRPr>
          </a:p>
        </p:txBody>
      </p:sp>
      <p:sp>
        <p:nvSpPr>
          <p:cNvPr id="39" name="Google Shape;39;p28"/>
          <p:cNvSpPr/>
          <p:nvPr/>
        </p:nvSpPr>
        <p:spPr>
          <a:xfrm>
            <a:off x="1721804" y="1817781"/>
            <a:ext cx="5808713" cy="362769"/>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None/>
            </a:pPr>
            <a:r>
              <a:rPr b="0" i="0" lang="en-US" sz="1800" u="none" cap="none" strike="noStrike">
                <a:solidFill>
                  <a:srgbClr val="932328"/>
                </a:solidFill>
                <a:latin typeface="Arial"/>
                <a:ea typeface="Arial"/>
                <a:cs typeface="Arial"/>
                <a:sym typeface="Arial"/>
              </a:rPr>
              <a:t>Derecho Laboral, historia y principios</a:t>
            </a:r>
            <a:endParaRPr b="0" i="0" sz="1400" u="none" cap="none" strike="noStrike">
              <a:solidFill>
                <a:srgbClr val="000000"/>
              </a:solidFill>
              <a:latin typeface="Arial"/>
              <a:ea typeface="Arial"/>
              <a:cs typeface="Arial"/>
              <a:sym typeface="Arial"/>
            </a:endParaRPr>
          </a:p>
        </p:txBody>
      </p:sp>
      <p:sp>
        <p:nvSpPr>
          <p:cNvPr id="40" name="Google Shape;40;p28">
            <a:hlinkClick action="ppaction://hlinksldjump" r:id="rId6"/>
          </p:cNvPr>
          <p:cNvSpPr/>
          <p:nvPr/>
        </p:nvSpPr>
        <p:spPr>
          <a:xfrm>
            <a:off x="1523976" y="1784828"/>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None/>
            </a:pPr>
            <a:r>
              <a:t/>
            </a:r>
            <a:endParaRPr b="0" i="0" sz="1662" u="none" cap="none" strike="noStrike">
              <a:solidFill>
                <a:srgbClr val="932328"/>
              </a:solidFill>
              <a:latin typeface="Arial"/>
              <a:ea typeface="Arial"/>
              <a:cs typeface="Arial"/>
              <a:sym typeface="Arial"/>
            </a:endParaRPr>
          </a:p>
        </p:txBody>
      </p:sp>
      <p:pic>
        <p:nvPicPr>
          <p:cNvPr descr="Resultado de imagen para utn regional buenos aires ingenieria industrial" id="41" name="Google Shape;41;p28"/>
          <p:cNvPicPr preferRelativeResize="0"/>
          <p:nvPr/>
        </p:nvPicPr>
        <p:blipFill rotWithShape="1">
          <a:blip r:embed="rId7">
            <a:alphaModFix/>
          </a:blip>
          <a:srcRect b="0" l="0" r="0" t="0"/>
          <a:stretch/>
        </p:blipFill>
        <p:spPr>
          <a:xfrm>
            <a:off x="6898680" y="271096"/>
            <a:ext cx="2637692" cy="1011116"/>
          </a:xfrm>
          <a:prstGeom prst="rect">
            <a:avLst/>
          </a:prstGeom>
          <a:noFill/>
          <a:ln>
            <a:noFill/>
          </a:ln>
        </p:spPr>
      </p:pic>
      <p:sp>
        <p:nvSpPr>
          <p:cNvPr id="42" name="Google Shape;42;p28"/>
          <p:cNvSpPr/>
          <p:nvPr/>
        </p:nvSpPr>
        <p:spPr>
          <a:xfrm>
            <a:off x="724069" y="3600413"/>
            <a:ext cx="593446" cy="329815"/>
          </a:xfrm>
          <a:prstGeom prst="rightArrow">
            <a:avLst>
              <a:gd fmla="val 50000" name="adj1"/>
              <a:gd fmla="val 50000" name="adj2"/>
            </a:avLst>
          </a:prstGeom>
          <a:solidFill>
            <a:srgbClr val="E4AB1C"/>
          </a:solidFill>
          <a:ln cap="flat" cmpd="sng" w="25400">
            <a:solidFill>
              <a:srgbClr val="BA8915"/>
            </a:solidFill>
            <a:prstDash val="solid"/>
            <a:round/>
            <a:headEnd len="sm" w="sm" type="none"/>
            <a:tailEnd len="sm" w="sm" type="none"/>
          </a:ln>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None/>
            </a:pPr>
            <a:r>
              <a:t/>
            </a:r>
            <a:endParaRPr b="0" i="0" sz="1662" u="none" cap="none" strike="noStrike">
              <a:solidFill>
                <a:schemeClr val="lt1"/>
              </a:solidFill>
              <a:latin typeface="Arial"/>
              <a:ea typeface="Arial"/>
              <a:cs typeface="Arial"/>
              <a:sym typeface="Arial"/>
            </a:endParaRPr>
          </a:p>
        </p:txBody>
      </p:sp>
      <p:sp>
        <p:nvSpPr>
          <p:cNvPr id="43" name="Google Shape;43;p28"/>
          <p:cNvSpPr/>
          <p:nvPr/>
        </p:nvSpPr>
        <p:spPr>
          <a:xfrm>
            <a:off x="7530516" y="1795900"/>
            <a:ext cx="390222" cy="1633101"/>
          </a:xfrm>
          <a:prstGeom prst="rightBracket">
            <a:avLst>
              <a:gd fmla="val 8333" name="adj"/>
            </a:avLst>
          </a:prstGeom>
          <a:noFill/>
          <a:ln cap="flat" cmpd="sng" w="38100">
            <a:solidFill>
              <a:srgbClr val="E4AB1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662" u="none" cap="none" strike="noStrike">
              <a:solidFill>
                <a:schemeClr val="dk1"/>
              </a:solidFill>
              <a:latin typeface="Twentieth Century"/>
              <a:ea typeface="Twentieth Century"/>
              <a:cs typeface="Twentieth Century"/>
              <a:sym typeface="Twentieth Century"/>
            </a:endParaRPr>
          </a:p>
        </p:txBody>
      </p:sp>
      <p:sp>
        <p:nvSpPr>
          <p:cNvPr id="44" name="Google Shape;44;p28"/>
          <p:cNvSpPr txBox="1"/>
          <p:nvPr/>
        </p:nvSpPr>
        <p:spPr>
          <a:xfrm>
            <a:off x="8127933" y="2385087"/>
            <a:ext cx="1128393" cy="6038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62" u="none" cap="none" strike="noStrike">
                <a:solidFill>
                  <a:srgbClr val="C00000"/>
                </a:solidFill>
                <a:latin typeface="Arial"/>
                <a:ea typeface="Arial"/>
                <a:cs typeface="Arial"/>
                <a:sym typeface="Arial"/>
              </a:rPr>
              <a:t>CLASE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662" u="none" cap="none" strike="noStrike">
              <a:solidFill>
                <a:srgbClr val="C00000"/>
              </a:solidFill>
              <a:latin typeface="Twentieth Century"/>
              <a:ea typeface="Twentieth Century"/>
              <a:cs typeface="Twentieth Century"/>
              <a:sym typeface="Twentieth Century"/>
            </a:endParaRPr>
          </a:p>
        </p:txBody>
      </p:sp>
      <p:sp>
        <p:nvSpPr>
          <p:cNvPr id="45" name="Google Shape;45;p28"/>
          <p:cNvSpPr/>
          <p:nvPr/>
        </p:nvSpPr>
        <p:spPr>
          <a:xfrm>
            <a:off x="7530516" y="3575184"/>
            <a:ext cx="404290" cy="1633308"/>
          </a:xfrm>
          <a:prstGeom prst="rightBracket">
            <a:avLst>
              <a:gd fmla="val 0" name="adj"/>
            </a:avLst>
          </a:prstGeom>
          <a:noFill/>
          <a:ln cap="flat" cmpd="sng" w="38100">
            <a:solidFill>
              <a:srgbClr val="E4AB1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662" u="none" cap="none" strike="noStrike">
              <a:solidFill>
                <a:schemeClr val="dk1"/>
              </a:solidFill>
              <a:latin typeface="Twentieth Century"/>
              <a:ea typeface="Twentieth Century"/>
              <a:cs typeface="Twentieth Century"/>
              <a:sym typeface="Twentieth Century"/>
            </a:endParaRPr>
          </a:p>
        </p:txBody>
      </p:sp>
      <p:sp>
        <p:nvSpPr>
          <p:cNvPr id="46" name="Google Shape;46;p28"/>
          <p:cNvSpPr txBox="1"/>
          <p:nvPr/>
        </p:nvSpPr>
        <p:spPr>
          <a:xfrm>
            <a:off x="8125779" y="3930228"/>
            <a:ext cx="1128393" cy="6038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62" u="none" cap="none" strike="noStrike">
                <a:solidFill>
                  <a:srgbClr val="C00000"/>
                </a:solidFill>
                <a:latin typeface="Arial"/>
                <a:ea typeface="Arial"/>
                <a:cs typeface="Arial"/>
                <a:sym typeface="Arial"/>
              </a:rPr>
              <a:t>CLASE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662" u="none" cap="none" strike="noStrike">
              <a:solidFill>
                <a:srgbClr val="C00000"/>
              </a:solidFill>
              <a:latin typeface="Twentieth Century"/>
              <a:ea typeface="Twentieth Century"/>
              <a:cs typeface="Twentieth Century"/>
              <a:sym typeface="Twentieth Century"/>
            </a:endParaRPr>
          </a:p>
        </p:txBody>
      </p:sp>
      <p:sp>
        <p:nvSpPr>
          <p:cNvPr id="47" name="Google Shape;47;p28"/>
          <p:cNvSpPr/>
          <p:nvPr/>
        </p:nvSpPr>
        <p:spPr>
          <a:xfrm>
            <a:off x="1721804" y="2981699"/>
            <a:ext cx="5808713" cy="355042"/>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None/>
            </a:pPr>
            <a:r>
              <a:rPr b="0" i="0" lang="en-US" sz="1800" u="none" cap="none" strike="noStrike">
                <a:solidFill>
                  <a:srgbClr val="932328"/>
                </a:solidFill>
                <a:latin typeface="Arial"/>
                <a:ea typeface="Arial"/>
                <a:cs typeface="Arial"/>
                <a:sym typeface="Arial"/>
              </a:rPr>
              <a:t>Aplicación práctica</a:t>
            </a:r>
            <a:endParaRPr b="0" i="0" sz="1400" u="none" cap="none" strike="noStrike">
              <a:solidFill>
                <a:srgbClr val="000000"/>
              </a:solidFill>
              <a:latin typeface="Arial"/>
              <a:ea typeface="Arial"/>
              <a:cs typeface="Arial"/>
              <a:sym typeface="Arial"/>
            </a:endParaRPr>
          </a:p>
        </p:txBody>
      </p:sp>
      <p:sp>
        <p:nvSpPr>
          <p:cNvPr id="48" name="Google Shape;48;p28">
            <a:hlinkClick action="ppaction://hlinksldjump" r:id="rId8"/>
          </p:cNvPr>
          <p:cNvSpPr/>
          <p:nvPr/>
        </p:nvSpPr>
        <p:spPr>
          <a:xfrm>
            <a:off x="1523976" y="2941019"/>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None/>
            </a:pPr>
            <a:r>
              <a:t/>
            </a:r>
            <a:endParaRPr b="0" i="0" sz="1662" u="none" cap="none" strike="noStrike">
              <a:solidFill>
                <a:srgbClr val="932328"/>
              </a:solidFill>
              <a:latin typeface="Arial"/>
              <a:ea typeface="Arial"/>
              <a:cs typeface="Arial"/>
              <a:sym typeface="Arial"/>
            </a:endParaRPr>
          </a:p>
        </p:txBody>
      </p:sp>
      <p:sp>
        <p:nvSpPr>
          <p:cNvPr id="49" name="Google Shape;49;p28"/>
          <p:cNvSpPr/>
          <p:nvPr/>
        </p:nvSpPr>
        <p:spPr>
          <a:xfrm>
            <a:off x="1707736" y="4721473"/>
            <a:ext cx="5808713" cy="395723"/>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None/>
            </a:pPr>
            <a:r>
              <a:rPr b="0" i="0" lang="en-US" sz="1800" u="none" cap="none" strike="noStrike">
                <a:solidFill>
                  <a:srgbClr val="932328"/>
                </a:solidFill>
                <a:latin typeface="Arial"/>
                <a:ea typeface="Arial"/>
                <a:cs typeface="Arial"/>
                <a:sym typeface="Arial"/>
              </a:rPr>
              <a:t>Cierre de contrato</a:t>
            </a:r>
            <a:endParaRPr b="0" i="0" sz="1400" u="none" cap="none" strike="noStrike">
              <a:solidFill>
                <a:srgbClr val="000000"/>
              </a:solidFill>
              <a:latin typeface="Arial"/>
              <a:ea typeface="Arial"/>
              <a:cs typeface="Arial"/>
              <a:sym typeface="Arial"/>
            </a:endParaRPr>
          </a:p>
        </p:txBody>
      </p:sp>
      <p:sp>
        <p:nvSpPr>
          <p:cNvPr id="50" name="Google Shape;50;p28">
            <a:hlinkClick action="ppaction://hlinksldjump" r:id="rId9"/>
          </p:cNvPr>
          <p:cNvSpPr/>
          <p:nvPr/>
        </p:nvSpPr>
        <p:spPr>
          <a:xfrm>
            <a:off x="1509908" y="4721473"/>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None/>
            </a:pPr>
            <a:r>
              <a:t/>
            </a:r>
            <a:endParaRPr b="0" i="0" sz="1662" u="none" cap="none" strike="noStrike">
              <a:solidFill>
                <a:srgbClr val="932328"/>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29"/>
          <p:cNvSpPr txBox="1"/>
          <p:nvPr/>
        </p:nvSpPr>
        <p:spPr>
          <a:xfrm>
            <a:off x="485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None/>
            </a:pPr>
            <a:r>
              <a:rPr b="1" i="0" lang="en-US" sz="1800" u="none" cap="none" strike="noStrike">
                <a:solidFill>
                  <a:srgbClr val="932328"/>
                </a:solidFill>
                <a:latin typeface="Arial"/>
                <a:ea typeface="Arial"/>
                <a:cs typeface="Arial"/>
                <a:sym typeface="Arial"/>
              </a:rPr>
              <a:t>Relaciones Industriales</a:t>
            </a:r>
            <a:endParaRPr b="0" i="0" sz="1800" u="none" cap="none" strike="noStrike">
              <a:solidFill>
                <a:schemeClr val="dk1"/>
              </a:solidFill>
              <a:latin typeface="Arial"/>
              <a:ea typeface="Arial"/>
              <a:cs typeface="Arial"/>
              <a:sym typeface="Arial"/>
            </a:endParaRPr>
          </a:p>
          <a:p>
            <a:pPr indent="-714375" lvl="0" marL="714375" marR="0" rtl="0" algn="l">
              <a:lnSpc>
                <a:spcPct val="90000"/>
              </a:lnSpc>
              <a:spcBef>
                <a:spcPts val="0"/>
              </a:spcBef>
              <a:spcAft>
                <a:spcPts val="0"/>
              </a:spcAft>
              <a:buNone/>
            </a:pPr>
            <a:r>
              <a:rPr b="1" i="0" lang="en-US" sz="1800" u="none" cap="none" strike="noStrike">
                <a:solidFill>
                  <a:srgbClr val="932328"/>
                </a:solidFill>
                <a:latin typeface="Arial"/>
                <a:ea typeface="Arial"/>
                <a:cs typeface="Arial"/>
                <a:sym typeface="Arial"/>
              </a:rPr>
              <a:t>Riesgos del Trabajo </a:t>
            </a:r>
            <a:endParaRPr b="0" i="0" sz="1800" u="none" cap="none" strike="noStrike">
              <a:solidFill>
                <a:schemeClr val="dk1"/>
              </a:solidFill>
              <a:latin typeface="Arial"/>
              <a:ea typeface="Arial"/>
              <a:cs typeface="Arial"/>
              <a:sym typeface="Arial"/>
            </a:endParaRPr>
          </a:p>
        </p:txBody>
      </p:sp>
      <p:sp>
        <p:nvSpPr>
          <p:cNvPr id="57" name="Google Shape;57;p29"/>
          <p:cNvSpPr txBox="1"/>
          <p:nvPr/>
        </p:nvSpPr>
        <p:spPr>
          <a:xfrm>
            <a:off x="702438" y="1679970"/>
            <a:ext cx="8519063" cy="1261844"/>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n-US" sz="2000" u="none" cap="none" strike="noStrike">
                <a:solidFill>
                  <a:schemeClr val="dk1"/>
                </a:solidFill>
                <a:latin typeface="Calibri"/>
                <a:ea typeface="Calibri"/>
                <a:cs typeface="Calibri"/>
                <a:sym typeface="Calibri"/>
              </a:rPr>
              <a:t>La </a:t>
            </a:r>
            <a:r>
              <a:rPr b="1" i="0" lang="en-US" sz="2000" u="sng" cap="none" strike="noStrike">
                <a:solidFill>
                  <a:srgbClr val="0070C0"/>
                </a:solidFill>
                <a:latin typeface="Calibri"/>
                <a:ea typeface="Calibri"/>
                <a:cs typeface="Calibri"/>
                <a:sym typeface="Calibri"/>
                <a:hlinkClick r:id="rId3">
                  <a:extLst>
                    <a:ext uri="{A12FA001-AC4F-418D-AE19-62706E023703}">
                      <ahyp:hlinkClr val="tx"/>
                    </a:ext>
                  </a:extLst>
                </a:hlinkClick>
              </a:rPr>
              <a:t>Ley de Riesgos del Trabajo N° 24.557</a:t>
            </a:r>
            <a:r>
              <a:rPr b="1" i="0" lang="en-US" sz="2000" u="none" cap="none" strike="noStrike">
                <a:solidFill>
                  <a:srgbClr val="0070C0"/>
                </a:solidFill>
                <a:latin typeface="Calibri"/>
                <a:ea typeface="Calibri"/>
                <a:cs typeface="Calibri"/>
                <a:sym typeface="Calibri"/>
              </a:rPr>
              <a:t> </a:t>
            </a:r>
            <a:r>
              <a:rPr b="1" i="0" lang="en-US" sz="2000" u="none" cap="none" strike="noStrike">
                <a:solidFill>
                  <a:schemeClr val="dk1"/>
                </a:solidFill>
                <a:latin typeface="Calibri"/>
                <a:ea typeface="Calibri"/>
                <a:cs typeface="Calibri"/>
                <a:sym typeface="Calibri"/>
              </a:rPr>
              <a:t>tiene como objetivos prevenir los riesgos en la actividad laboral y reparar los daños ocasionados por accidentes de trabajo y enfermedades profesionales</a:t>
            </a:r>
            <a:r>
              <a:rPr b="1" i="0" lang="en-US" sz="1600" u="none" cap="none" strike="noStrike">
                <a:solidFill>
                  <a:schemeClr val="dk1"/>
                </a:solidFill>
                <a:latin typeface="Calibri"/>
                <a:ea typeface="Calibri"/>
                <a:cs typeface="Calibri"/>
                <a:sym typeface="Calibri"/>
              </a:rPr>
              <a:t>.</a:t>
            </a:r>
            <a:endParaRPr b="0" i="0" sz="1800" u="none" cap="none" strike="noStrike">
              <a:solidFill>
                <a:schemeClr val="dk1"/>
              </a:solidFill>
              <a:latin typeface="Twentieth Century"/>
              <a:ea typeface="Twentieth Century"/>
              <a:cs typeface="Twentieth Century"/>
              <a:sym typeface="Twentieth Century"/>
            </a:endParaRPr>
          </a:p>
          <a:p>
            <a:pPr indent="0" lvl="0" marL="0" marR="0" rtl="0" algn="just">
              <a:lnSpc>
                <a:spcPct val="100000"/>
              </a:lnSpc>
              <a:spcBef>
                <a:spcPts val="0"/>
              </a:spcBef>
              <a:spcAft>
                <a:spcPts val="0"/>
              </a:spcAft>
              <a:buNone/>
            </a:pPr>
            <a:r>
              <a:t/>
            </a:r>
            <a:endParaRPr b="0" i="0" sz="1600" u="none" cap="none" strike="noStrike">
              <a:solidFill>
                <a:schemeClr val="dk1"/>
              </a:solidFill>
              <a:latin typeface="Calibri"/>
              <a:ea typeface="Calibri"/>
              <a:cs typeface="Calibri"/>
              <a:sym typeface="Calibri"/>
            </a:endParaRPr>
          </a:p>
        </p:txBody>
      </p:sp>
      <p:sp>
        <p:nvSpPr>
          <p:cNvPr id="58" name="Google Shape;58;p29"/>
          <p:cNvSpPr txBox="1"/>
          <p:nvPr/>
        </p:nvSpPr>
        <p:spPr>
          <a:xfrm>
            <a:off x="5688385" y="4779121"/>
            <a:ext cx="4142054" cy="1723508"/>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ACCIDENTES DE TRABAJO</a:t>
            </a:r>
            <a:endParaRPr b="0" i="0" sz="1400" u="none" cap="none" strike="noStrike">
              <a:solidFill>
                <a:srgbClr val="000000"/>
              </a:solidFill>
              <a:latin typeface="Arial"/>
              <a:ea typeface="Arial"/>
              <a:cs typeface="Arial"/>
              <a:sym typeface="Arial"/>
            </a:endParaRPr>
          </a:p>
          <a:p>
            <a:pPr indent="-171450" lvl="0" marL="285750" marR="0" rtl="0" algn="just">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285750" lvl="0" marL="285750" marR="0" rtl="0" algn="just">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ACCIDENTES IN ITINERE</a:t>
            </a:r>
            <a:endParaRPr b="0" i="0" sz="1400" u="none" cap="none" strike="noStrike">
              <a:solidFill>
                <a:srgbClr val="000000"/>
              </a:solidFill>
              <a:latin typeface="Arial"/>
              <a:ea typeface="Arial"/>
              <a:cs typeface="Arial"/>
              <a:sym typeface="Arial"/>
            </a:endParaRPr>
          </a:p>
          <a:p>
            <a:pPr indent="-171450" lvl="0" marL="285750" marR="0" rtl="0" algn="just">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285750" lvl="0" marL="285750" marR="0" rtl="0" algn="just">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ENFERMEDADES PROFESIONALES</a:t>
            </a:r>
            <a:endParaRPr b="0" i="0" sz="16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None/>
            </a:pPr>
            <a:r>
              <a:t/>
            </a:r>
            <a:endParaRPr b="0" i="0" sz="1600" u="none" cap="none" strike="noStrike">
              <a:solidFill>
                <a:schemeClr val="dk1"/>
              </a:solidFill>
              <a:latin typeface="Calibri"/>
              <a:ea typeface="Calibri"/>
              <a:cs typeface="Calibri"/>
              <a:sym typeface="Calibri"/>
            </a:endParaRPr>
          </a:p>
        </p:txBody>
      </p:sp>
      <p:sp>
        <p:nvSpPr>
          <p:cNvPr id="59" name="Google Shape;59;p29"/>
          <p:cNvSpPr/>
          <p:nvPr/>
        </p:nvSpPr>
        <p:spPr>
          <a:xfrm>
            <a:off x="381554" y="1091668"/>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t/>
            </a:r>
            <a:endParaRPr b="0" i="0" sz="1662" u="none" cap="none" strike="noStrike">
              <a:solidFill>
                <a:schemeClr val="dk1"/>
              </a:solidFill>
              <a:latin typeface="Calibri"/>
              <a:ea typeface="Calibri"/>
              <a:cs typeface="Calibri"/>
              <a:sym typeface="Calibri"/>
            </a:endParaRPr>
          </a:p>
        </p:txBody>
      </p:sp>
      <p:pic>
        <p:nvPicPr>
          <p:cNvPr descr="Image result for utn frba" id="60" name="Google Shape;60;p29"/>
          <p:cNvPicPr preferRelativeResize="0"/>
          <p:nvPr/>
        </p:nvPicPr>
        <p:blipFill rotWithShape="1">
          <a:blip r:embed="rId4">
            <a:alphaModFix/>
          </a:blip>
          <a:srcRect b="0" l="0" r="0" t="0"/>
          <a:stretch/>
        </p:blipFill>
        <p:spPr>
          <a:xfrm>
            <a:off x="6846195" y="64396"/>
            <a:ext cx="2611323" cy="952745"/>
          </a:xfrm>
          <a:prstGeom prst="rect">
            <a:avLst/>
          </a:prstGeom>
          <a:noFill/>
          <a:ln>
            <a:noFill/>
          </a:ln>
        </p:spPr>
      </p:pic>
      <p:sp>
        <p:nvSpPr>
          <p:cNvPr id="61" name="Google Shape;61;p29"/>
          <p:cNvSpPr txBox="1"/>
          <p:nvPr/>
        </p:nvSpPr>
        <p:spPr>
          <a:xfrm>
            <a:off x="2395779" y="3259745"/>
            <a:ext cx="5594888" cy="523220"/>
          </a:xfrm>
          <a:prstGeom prst="rect">
            <a:avLst/>
          </a:prstGeom>
          <a:solidFill>
            <a:srgbClr val="FFFF00"/>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2800" u="none" cap="none" strike="noStrike">
                <a:solidFill>
                  <a:schemeClr val="dk1"/>
                </a:solidFill>
                <a:latin typeface="Twentieth Century"/>
                <a:ea typeface="Twentieth Century"/>
                <a:cs typeface="Twentieth Century"/>
                <a:sym typeface="Twentieth Century"/>
              </a:rPr>
              <a:t>¿QUE CUBRE LA ART?</a:t>
            </a:r>
            <a:endParaRPr b="1" i="0" sz="2800" u="none" cap="none" strike="noStrike">
              <a:solidFill>
                <a:schemeClr val="dk1"/>
              </a:solidFill>
              <a:latin typeface="Twentieth Century"/>
              <a:ea typeface="Twentieth Century"/>
              <a:cs typeface="Twentieth Century"/>
              <a:sym typeface="Twentieth Century"/>
            </a:endParaRPr>
          </a:p>
        </p:txBody>
      </p:sp>
      <p:sp>
        <p:nvSpPr>
          <p:cNvPr id="62" name="Google Shape;62;p29"/>
          <p:cNvSpPr/>
          <p:nvPr/>
        </p:nvSpPr>
        <p:spPr>
          <a:xfrm>
            <a:off x="3805907" y="4100898"/>
            <a:ext cx="1596325" cy="916853"/>
          </a:xfrm>
          <a:prstGeom prst="curvedRightArrow">
            <a:avLst>
              <a:gd fmla="val 25000" name="adj1"/>
              <a:gd fmla="val 50000" name="adj2"/>
              <a:gd fmla="val 25000" name="adj3"/>
            </a:avLst>
          </a:prstGeom>
          <a:gradFill>
            <a:gsLst>
              <a:gs pos="0">
                <a:srgbClr val="76A1CF"/>
              </a:gs>
              <a:gs pos="100000">
                <a:srgbClr val="9ABDEA"/>
              </a:gs>
            </a:gsLst>
            <a:path path="circle">
              <a:fillToRect b="50%" l="50%" r="50%" t="50%"/>
            </a:path>
            <a:tileRect/>
          </a:gradFill>
          <a:ln cap="flat" cmpd="sng" w="952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dk1"/>
              </a:solidFill>
              <a:latin typeface="Twentieth Century"/>
              <a:ea typeface="Twentieth Century"/>
              <a:cs typeface="Twentieth Century"/>
              <a:sym typeface="Twentieth Century"/>
            </a:endParaRPr>
          </a:p>
        </p:txBody>
      </p:sp>
      <p:pic>
        <p:nvPicPr>
          <p:cNvPr id="63" name="Google Shape;63;p29"/>
          <p:cNvPicPr preferRelativeResize="0"/>
          <p:nvPr/>
        </p:nvPicPr>
        <p:blipFill rotWithShape="1">
          <a:blip r:embed="rId5">
            <a:alphaModFix/>
          </a:blip>
          <a:srcRect b="0" l="0" r="0" t="0"/>
          <a:stretch/>
        </p:blipFill>
        <p:spPr>
          <a:xfrm>
            <a:off x="702438" y="3318037"/>
            <a:ext cx="1910319" cy="334624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30"/>
          <p:cNvSpPr txBox="1"/>
          <p:nvPr/>
        </p:nvSpPr>
        <p:spPr>
          <a:xfrm>
            <a:off x="1036469" y="2627013"/>
            <a:ext cx="8098972" cy="3139321"/>
          </a:xfrm>
          <a:prstGeom prst="rect">
            <a:avLst/>
          </a:prstGeom>
          <a:solidFill>
            <a:srgbClr val="7F7F7F"/>
          </a:solidFill>
          <a:ln>
            <a:noFill/>
          </a:ln>
          <a:effectLst>
            <a:outerShdw blurRad="76200" rotWithShape="0" algn="ctr" dir="5400000" dist="25400">
              <a:srgbClr val="000000">
                <a:alpha val="60000"/>
              </a:srgbClr>
            </a:outerShdw>
          </a:effectLst>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6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None/>
            </a:pPr>
            <a:r>
              <a:rPr b="1" i="0" lang="en-US" sz="2400" u="none" cap="none" strike="noStrike">
                <a:solidFill>
                  <a:schemeClr val="lt1"/>
                </a:solidFill>
                <a:latin typeface="Calibri"/>
                <a:ea typeface="Calibri"/>
                <a:cs typeface="Calibri"/>
                <a:sym typeface="Calibri"/>
              </a:rPr>
              <a:t>Aseguradora de Riesgos del Trabajo (ART): </a:t>
            </a:r>
            <a:r>
              <a:rPr b="0" i="0" lang="en-US" sz="2400" u="none" cap="none" strike="noStrike">
                <a:solidFill>
                  <a:schemeClr val="lt1"/>
                </a:solidFill>
                <a:latin typeface="Calibri"/>
                <a:ea typeface="Calibri"/>
                <a:cs typeface="Calibri"/>
                <a:sym typeface="Calibri"/>
              </a:rPr>
              <a:t>Son empresas privadas con fines de lucro contratadas por los empleadores para asesorarlos en las medidas de prevención de riesgos del trabajo y para reparar los daños en casos de accidentes de trabajo o enfermedades de origen laboral. Están controladas por la Superintendencia de Riesgos del Trabajo y por la Superintendencia de Seguros de la Nación.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descr="Image result for utn frba" id="70" name="Google Shape;70;p30"/>
          <p:cNvPicPr preferRelativeResize="0"/>
          <p:nvPr/>
        </p:nvPicPr>
        <p:blipFill rotWithShape="1">
          <a:blip r:embed="rId3">
            <a:alphaModFix/>
          </a:blip>
          <a:srcRect b="0" l="0" r="0" t="0"/>
          <a:stretch/>
        </p:blipFill>
        <p:spPr>
          <a:xfrm>
            <a:off x="6846195" y="64396"/>
            <a:ext cx="2611323" cy="952745"/>
          </a:xfrm>
          <a:prstGeom prst="rect">
            <a:avLst/>
          </a:prstGeom>
          <a:noFill/>
          <a:ln>
            <a:noFill/>
          </a:ln>
        </p:spPr>
      </p:pic>
      <p:sp>
        <p:nvSpPr>
          <p:cNvPr id="71" name="Google Shape;71;p30"/>
          <p:cNvSpPr/>
          <p:nvPr/>
        </p:nvSpPr>
        <p:spPr>
          <a:xfrm>
            <a:off x="381554" y="1091668"/>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t/>
            </a:r>
            <a:endParaRPr b="0" i="0" sz="1662" u="none" cap="none" strike="noStrike">
              <a:solidFill>
                <a:schemeClr val="dk1"/>
              </a:solidFill>
              <a:latin typeface="Calibri"/>
              <a:ea typeface="Calibri"/>
              <a:cs typeface="Calibri"/>
              <a:sym typeface="Calibri"/>
            </a:endParaRPr>
          </a:p>
        </p:txBody>
      </p:sp>
      <p:sp>
        <p:nvSpPr>
          <p:cNvPr id="72" name="Google Shape;72;p30"/>
          <p:cNvSpPr/>
          <p:nvPr/>
        </p:nvSpPr>
        <p:spPr>
          <a:xfrm>
            <a:off x="912483" y="1447476"/>
            <a:ext cx="8222958" cy="533724"/>
          </a:xfrm>
          <a:prstGeom prst="round2SameRect">
            <a:avLst>
              <a:gd fmla="val 16667" name="adj1"/>
              <a:gd fmla="val 0" name="adj2"/>
            </a:avLst>
          </a:prstGeom>
          <a:solidFill>
            <a:srgbClr val="C00000"/>
          </a:solidFill>
          <a:ln>
            <a:noFill/>
          </a:ln>
          <a:effectLst>
            <a:outerShdw blurRad="149986" algn="ctr" dir="8460000" dist="250189">
              <a:srgbClr val="000000">
                <a:alpha val="26666"/>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1600" u="none" cap="none" strike="noStrike">
                <a:solidFill>
                  <a:schemeClr val="lt1"/>
                </a:solidFill>
                <a:latin typeface="Arial"/>
                <a:ea typeface="Arial"/>
                <a:cs typeface="Arial"/>
                <a:sym typeface="Arial"/>
              </a:rPr>
              <a:t>Riesgos del trabajo- ART</a:t>
            </a:r>
            <a:endParaRPr b="1" i="0" sz="1600" u="none" cap="none" strike="noStrike">
              <a:solidFill>
                <a:schemeClr val="lt1"/>
              </a:solidFill>
              <a:latin typeface="Arial"/>
              <a:ea typeface="Arial"/>
              <a:cs typeface="Arial"/>
              <a:sym typeface="Arial"/>
            </a:endParaRPr>
          </a:p>
        </p:txBody>
      </p:sp>
      <p:sp>
        <p:nvSpPr>
          <p:cNvPr id="73" name="Google Shape;73;p30"/>
          <p:cNvSpPr txBox="1"/>
          <p:nvPr/>
        </p:nvSpPr>
        <p:spPr>
          <a:xfrm>
            <a:off x="485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None/>
            </a:pPr>
            <a:r>
              <a:rPr b="1" i="0" lang="en-US" sz="1800" u="none" cap="none" strike="noStrike">
                <a:solidFill>
                  <a:srgbClr val="932328"/>
                </a:solidFill>
                <a:latin typeface="Arial"/>
                <a:ea typeface="Arial"/>
                <a:cs typeface="Arial"/>
                <a:sym typeface="Arial"/>
              </a:rPr>
              <a:t>Relaciones Industriales</a:t>
            </a:r>
            <a:endParaRPr b="0" i="0" sz="1800" u="none" cap="none" strike="noStrike">
              <a:solidFill>
                <a:schemeClr val="dk1"/>
              </a:solidFill>
              <a:latin typeface="Arial"/>
              <a:ea typeface="Arial"/>
              <a:cs typeface="Arial"/>
              <a:sym typeface="Arial"/>
            </a:endParaRPr>
          </a:p>
          <a:p>
            <a:pPr indent="-714375" lvl="0" marL="714375" marR="0" rtl="0" algn="l">
              <a:lnSpc>
                <a:spcPct val="90000"/>
              </a:lnSpc>
              <a:spcBef>
                <a:spcPts val="0"/>
              </a:spcBef>
              <a:spcAft>
                <a:spcPts val="0"/>
              </a:spcAft>
              <a:buNone/>
            </a:pPr>
            <a:r>
              <a:rPr b="1" i="0" lang="en-US" sz="1800" u="none" cap="none" strike="noStrike">
                <a:solidFill>
                  <a:srgbClr val="932328"/>
                </a:solidFill>
                <a:latin typeface="Arial"/>
                <a:ea typeface="Arial"/>
                <a:cs typeface="Arial"/>
                <a:sym typeface="Arial"/>
              </a:rPr>
              <a:t>Riesgos del Trabajo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31"/>
          <p:cNvSpPr/>
          <p:nvPr/>
        </p:nvSpPr>
        <p:spPr>
          <a:xfrm>
            <a:off x="237650" y="1698875"/>
            <a:ext cx="4772400" cy="3774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1" i="0" lang="en-US" sz="1800" u="none" cap="none" strike="noStrike">
                <a:solidFill>
                  <a:schemeClr val="dk1"/>
                </a:solidFill>
                <a:latin typeface="Calibri"/>
                <a:ea typeface="Calibri"/>
                <a:cs typeface="Calibri"/>
                <a:sym typeface="Calibri"/>
              </a:rPr>
              <a:t>El trabajador debe: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Recibir la información y participar de las acciones preventivas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Cumplir con la norma de Seguridad e Higiene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Informar los riesgos de trabajo que detecte en su puesto de trabajo o sector o establecimiento</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Someterse al examen periódico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Realizar tratamiento médico y rehabilitación cuando lo requiera (por enfermedad profesional o accidente)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Asistir a los cursos de capacitación que se dicten en horario de trabajo</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Utilizar los EPP (elementos de protección personal)</a:t>
            </a:r>
            <a:endParaRPr b="0" i="0" sz="1400" u="none" cap="none" strike="noStrike">
              <a:solidFill>
                <a:srgbClr val="000000"/>
              </a:solidFill>
              <a:latin typeface="Arial"/>
              <a:ea typeface="Arial"/>
              <a:cs typeface="Arial"/>
              <a:sym typeface="Arial"/>
            </a:endParaRPr>
          </a:p>
        </p:txBody>
      </p:sp>
      <p:sp>
        <p:nvSpPr>
          <p:cNvPr id="80" name="Google Shape;80;p31"/>
          <p:cNvSpPr/>
          <p:nvPr/>
        </p:nvSpPr>
        <p:spPr>
          <a:xfrm>
            <a:off x="381554" y="1091668"/>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t/>
            </a:r>
            <a:endParaRPr b="0" i="0" sz="1662" u="none" cap="none" strike="noStrike">
              <a:solidFill>
                <a:schemeClr val="dk1"/>
              </a:solidFill>
              <a:latin typeface="Calibri"/>
              <a:ea typeface="Calibri"/>
              <a:cs typeface="Calibri"/>
              <a:sym typeface="Calibri"/>
            </a:endParaRPr>
          </a:p>
        </p:txBody>
      </p:sp>
      <p:pic>
        <p:nvPicPr>
          <p:cNvPr descr="Image result for utn frba" id="81" name="Google Shape;81;p31"/>
          <p:cNvPicPr preferRelativeResize="0"/>
          <p:nvPr/>
        </p:nvPicPr>
        <p:blipFill rotWithShape="1">
          <a:blip r:embed="rId3">
            <a:alphaModFix/>
          </a:blip>
          <a:srcRect b="0" l="0" r="0" t="0"/>
          <a:stretch/>
        </p:blipFill>
        <p:spPr>
          <a:xfrm>
            <a:off x="6846195" y="64396"/>
            <a:ext cx="2611323" cy="952745"/>
          </a:xfrm>
          <a:prstGeom prst="rect">
            <a:avLst/>
          </a:prstGeom>
          <a:noFill/>
          <a:ln>
            <a:noFill/>
          </a:ln>
        </p:spPr>
      </p:pic>
      <p:sp>
        <p:nvSpPr>
          <p:cNvPr id="82" name="Google Shape;82;p31"/>
          <p:cNvSpPr txBox="1"/>
          <p:nvPr/>
        </p:nvSpPr>
        <p:spPr>
          <a:xfrm>
            <a:off x="485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None/>
            </a:pPr>
            <a:r>
              <a:rPr b="1" i="0" lang="en-US" sz="1800" u="none" cap="none" strike="noStrike">
                <a:solidFill>
                  <a:srgbClr val="932328"/>
                </a:solidFill>
                <a:latin typeface="Arial"/>
                <a:ea typeface="Arial"/>
                <a:cs typeface="Arial"/>
                <a:sym typeface="Arial"/>
              </a:rPr>
              <a:t>Relaciones Industriales</a:t>
            </a:r>
            <a:endParaRPr b="0" i="0" sz="1800" u="none" cap="none" strike="noStrike">
              <a:solidFill>
                <a:schemeClr val="dk1"/>
              </a:solidFill>
              <a:latin typeface="Arial"/>
              <a:ea typeface="Arial"/>
              <a:cs typeface="Arial"/>
              <a:sym typeface="Arial"/>
            </a:endParaRPr>
          </a:p>
          <a:p>
            <a:pPr indent="-714375" lvl="0" marL="714375" marR="0" rtl="0" algn="l">
              <a:lnSpc>
                <a:spcPct val="90000"/>
              </a:lnSpc>
              <a:spcBef>
                <a:spcPts val="0"/>
              </a:spcBef>
              <a:spcAft>
                <a:spcPts val="0"/>
              </a:spcAft>
              <a:buNone/>
            </a:pPr>
            <a:r>
              <a:rPr b="1" i="0" lang="en-US" sz="1800" u="none" cap="none" strike="noStrike">
                <a:solidFill>
                  <a:srgbClr val="932328"/>
                </a:solidFill>
                <a:latin typeface="Arial"/>
                <a:ea typeface="Arial"/>
                <a:cs typeface="Arial"/>
                <a:sym typeface="Arial"/>
              </a:rPr>
              <a:t>Riesgos del Trabajo </a:t>
            </a:r>
            <a:endParaRPr b="0" i="0" sz="1800" u="none" cap="none" strike="noStrike">
              <a:solidFill>
                <a:schemeClr val="dk1"/>
              </a:solidFill>
              <a:latin typeface="Arial"/>
              <a:ea typeface="Arial"/>
              <a:cs typeface="Arial"/>
              <a:sym typeface="Arial"/>
            </a:endParaRPr>
          </a:p>
        </p:txBody>
      </p:sp>
      <p:pic>
        <p:nvPicPr>
          <p:cNvPr id="83" name="Google Shape;83;p31"/>
          <p:cNvPicPr preferRelativeResize="0"/>
          <p:nvPr/>
        </p:nvPicPr>
        <p:blipFill rotWithShape="1">
          <a:blip r:embed="rId4">
            <a:alphaModFix/>
          </a:blip>
          <a:srcRect b="0" l="0" r="0" t="0"/>
          <a:stretch/>
        </p:blipFill>
        <p:spPr>
          <a:xfrm>
            <a:off x="7881960" y="1211914"/>
            <a:ext cx="1127858" cy="1140051"/>
          </a:xfrm>
          <a:prstGeom prst="rect">
            <a:avLst/>
          </a:prstGeom>
          <a:noFill/>
          <a:ln>
            <a:noFill/>
          </a:ln>
        </p:spPr>
      </p:pic>
      <p:sp>
        <p:nvSpPr>
          <p:cNvPr id="84" name="Google Shape;84;p31"/>
          <p:cNvSpPr txBox="1"/>
          <p:nvPr/>
        </p:nvSpPr>
        <p:spPr>
          <a:xfrm>
            <a:off x="5731825" y="1967575"/>
            <a:ext cx="3219600" cy="39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t/>
            </a:r>
            <a:endParaRPr b="1" sz="1800" u="sng">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rPr b="1" lang="en-US" sz="1800">
                <a:solidFill>
                  <a:schemeClr val="dk1"/>
                </a:solidFill>
                <a:latin typeface="Calibri"/>
                <a:ea typeface="Calibri"/>
                <a:cs typeface="Calibri"/>
                <a:sym typeface="Calibri"/>
              </a:rPr>
              <a:t>El empleador debe:</a:t>
            </a:r>
            <a:endParaRPr>
              <a:solidFill>
                <a:schemeClr val="dk1"/>
              </a:solidFill>
            </a:endParaRPr>
          </a:p>
          <a:p>
            <a:pPr indent="-285750" lvl="0" marL="28575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Afiliarse a una ART</a:t>
            </a:r>
            <a:endParaRPr>
              <a:solidFill>
                <a:schemeClr val="dk1"/>
              </a:solidFill>
            </a:endParaRPr>
          </a:p>
          <a:p>
            <a:pPr indent="-285750" lvl="0" marL="28575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Abonar las cuotas a su cargo, actualizar la nómina.</a:t>
            </a:r>
            <a:endParaRPr>
              <a:solidFill>
                <a:schemeClr val="dk1"/>
              </a:solidFill>
            </a:endParaRPr>
          </a:p>
          <a:p>
            <a:pPr indent="-285750" lvl="0" marL="28575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Mantener un registro de siniestralidad por establecimiento</a:t>
            </a:r>
            <a:endParaRPr>
              <a:solidFill>
                <a:schemeClr val="dk1"/>
              </a:solidFill>
            </a:endParaRPr>
          </a:p>
          <a:p>
            <a:pPr indent="-285750" lvl="0" marL="28575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Recibir al asesor de la ART y tener en cuenta las recomendaciones</a:t>
            </a:r>
            <a:endParaRPr>
              <a:solidFill>
                <a:schemeClr val="dk1"/>
              </a:solidFill>
            </a:endParaRPr>
          </a:p>
          <a:p>
            <a:pPr indent="-285750" lvl="0" marL="28575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Brindar capacitaciones respecto a los riesgos inherentes al puesto de trabajo.</a:t>
            </a:r>
            <a:endParaRPr/>
          </a:p>
        </p:txBody>
      </p:sp>
      <p:sp>
        <p:nvSpPr>
          <p:cNvPr id="85" name="Google Shape;85;p31"/>
          <p:cNvSpPr txBox="1"/>
          <p:nvPr/>
        </p:nvSpPr>
        <p:spPr>
          <a:xfrm>
            <a:off x="303175" y="1551100"/>
            <a:ext cx="8316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u="sng">
                <a:solidFill>
                  <a:schemeClr val="dk1"/>
                </a:solidFill>
                <a:latin typeface="Calibri"/>
                <a:ea typeface="Calibri"/>
                <a:cs typeface="Calibri"/>
                <a:sym typeface="Calibri"/>
              </a:rPr>
              <a:t>Obligaciones de las partes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32"/>
          <p:cNvSpPr/>
          <p:nvPr/>
        </p:nvSpPr>
        <p:spPr>
          <a:xfrm>
            <a:off x="1721804" y="2347535"/>
            <a:ext cx="5808713" cy="395723"/>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None/>
            </a:pPr>
            <a:r>
              <a:rPr b="0" i="0" lang="en-US" sz="1800" u="none" cap="none" strike="noStrike">
                <a:solidFill>
                  <a:srgbClr val="932328"/>
                </a:solidFill>
                <a:latin typeface="Arial"/>
                <a:ea typeface="Arial"/>
                <a:cs typeface="Arial"/>
                <a:sym typeface="Arial"/>
              </a:rPr>
              <a:t>Marco legal actual</a:t>
            </a:r>
            <a:endParaRPr b="0" i="0" sz="1400" u="none" cap="none" strike="noStrike">
              <a:solidFill>
                <a:srgbClr val="000000"/>
              </a:solidFill>
              <a:latin typeface="Arial"/>
              <a:ea typeface="Arial"/>
              <a:cs typeface="Arial"/>
              <a:sym typeface="Arial"/>
            </a:endParaRPr>
          </a:p>
        </p:txBody>
      </p:sp>
      <p:sp>
        <p:nvSpPr>
          <p:cNvPr id="91" name="Google Shape;91;p32">
            <a:hlinkClick action="ppaction://hlinksldjump" r:id="rId3"/>
          </p:cNvPr>
          <p:cNvSpPr/>
          <p:nvPr/>
        </p:nvSpPr>
        <p:spPr>
          <a:xfrm>
            <a:off x="1523976" y="2347535"/>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None/>
            </a:pPr>
            <a:r>
              <a:t/>
            </a:r>
            <a:endParaRPr b="0" i="0" sz="1662" u="none" cap="none" strike="noStrike">
              <a:solidFill>
                <a:srgbClr val="932328"/>
              </a:solidFill>
              <a:latin typeface="Arial"/>
              <a:ea typeface="Arial"/>
              <a:cs typeface="Arial"/>
              <a:sym typeface="Arial"/>
            </a:endParaRPr>
          </a:p>
        </p:txBody>
      </p:sp>
      <p:sp>
        <p:nvSpPr>
          <p:cNvPr id="92" name="Google Shape;92;p32"/>
          <p:cNvSpPr/>
          <p:nvPr/>
        </p:nvSpPr>
        <p:spPr>
          <a:xfrm>
            <a:off x="1721804" y="3534505"/>
            <a:ext cx="5808713" cy="395723"/>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None/>
            </a:pPr>
            <a:r>
              <a:rPr b="0" i="0" lang="en-US" sz="1800" u="none" cap="none" strike="noStrike">
                <a:solidFill>
                  <a:srgbClr val="932328"/>
                </a:solidFill>
                <a:latin typeface="Arial"/>
                <a:ea typeface="Arial"/>
                <a:cs typeface="Arial"/>
                <a:sym typeface="Arial"/>
              </a:rPr>
              <a:t>Riesgos del trabajo</a:t>
            </a:r>
            <a:endParaRPr b="0" i="0" sz="1400" u="none" cap="none" strike="noStrike">
              <a:solidFill>
                <a:srgbClr val="000000"/>
              </a:solidFill>
              <a:latin typeface="Arial"/>
              <a:ea typeface="Arial"/>
              <a:cs typeface="Arial"/>
              <a:sym typeface="Arial"/>
            </a:endParaRPr>
          </a:p>
        </p:txBody>
      </p:sp>
      <p:sp>
        <p:nvSpPr>
          <p:cNvPr id="93" name="Google Shape;93;p32">
            <a:hlinkClick action="ppaction://hlinksldjump" r:id="rId4"/>
          </p:cNvPr>
          <p:cNvSpPr/>
          <p:nvPr/>
        </p:nvSpPr>
        <p:spPr>
          <a:xfrm>
            <a:off x="1523976" y="3534505"/>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None/>
            </a:pPr>
            <a:r>
              <a:t/>
            </a:r>
            <a:endParaRPr b="0" i="0" sz="1662" u="none" cap="none" strike="noStrike">
              <a:solidFill>
                <a:srgbClr val="932328"/>
              </a:solidFill>
              <a:latin typeface="Arial"/>
              <a:ea typeface="Arial"/>
              <a:cs typeface="Arial"/>
              <a:sym typeface="Arial"/>
            </a:endParaRPr>
          </a:p>
        </p:txBody>
      </p:sp>
      <p:sp>
        <p:nvSpPr>
          <p:cNvPr id="94" name="Google Shape;94;p32"/>
          <p:cNvSpPr/>
          <p:nvPr/>
        </p:nvSpPr>
        <p:spPr>
          <a:xfrm>
            <a:off x="1721804" y="4127989"/>
            <a:ext cx="5808713" cy="395723"/>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None/>
            </a:pPr>
            <a:r>
              <a:rPr b="0" i="0" lang="en-US" sz="1800" u="none" cap="none" strike="noStrike">
                <a:solidFill>
                  <a:srgbClr val="932328"/>
                </a:solidFill>
                <a:latin typeface="Arial"/>
                <a:ea typeface="Arial"/>
                <a:cs typeface="Arial"/>
                <a:sym typeface="Arial"/>
              </a:rPr>
              <a:t>Seguridad Social</a:t>
            </a:r>
            <a:endParaRPr b="0" i="0" sz="1400" u="none" cap="none" strike="noStrike">
              <a:solidFill>
                <a:srgbClr val="000000"/>
              </a:solidFill>
              <a:latin typeface="Arial"/>
              <a:ea typeface="Arial"/>
              <a:cs typeface="Arial"/>
              <a:sym typeface="Arial"/>
            </a:endParaRPr>
          </a:p>
        </p:txBody>
      </p:sp>
      <p:sp>
        <p:nvSpPr>
          <p:cNvPr id="95" name="Google Shape;95;p32">
            <a:hlinkClick action="ppaction://hlinksldjump" r:id="rId5"/>
          </p:cNvPr>
          <p:cNvSpPr/>
          <p:nvPr/>
        </p:nvSpPr>
        <p:spPr>
          <a:xfrm>
            <a:off x="1523976" y="4127989"/>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None/>
            </a:pPr>
            <a:r>
              <a:t/>
            </a:r>
            <a:endParaRPr b="0" i="0" sz="1662" u="none" cap="none" strike="noStrike">
              <a:solidFill>
                <a:srgbClr val="932328"/>
              </a:solidFill>
              <a:latin typeface="Arial"/>
              <a:ea typeface="Arial"/>
              <a:cs typeface="Arial"/>
              <a:sym typeface="Arial"/>
            </a:endParaRPr>
          </a:p>
        </p:txBody>
      </p:sp>
      <p:sp>
        <p:nvSpPr>
          <p:cNvPr id="96" name="Google Shape;96;p32"/>
          <p:cNvSpPr txBox="1"/>
          <p:nvPr/>
        </p:nvSpPr>
        <p:spPr>
          <a:xfrm>
            <a:off x="609600" y="104111"/>
            <a:ext cx="9144000" cy="1096614"/>
          </a:xfrm>
          <a:prstGeom prst="rect">
            <a:avLst/>
          </a:prstGeom>
          <a:noFill/>
          <a:ln>
            <a:noFill/>
          </a:ln>
        </p:spPr>
        <p:txBody>
          <a:bodyPr anchorCtr="0" anchor="ctr" bIns="33225" lIns="66450" spcFirstLastPara="1" rIns="66450" wrap="square" tIns="232600">
            <a:noAutofit/>
          </a:bodyPr>
          <a:lstStyle/>
          <a:p>
            <a:pPr indent="-659440" lvl="0" marL="659440" marR="0" rtl="0" algn="l">
              <a:lnSpc>
                <a:spcPct val="90000"/>
              </a:lnSpc>
              <a:spcBef>
                <a:spcPts val="0"/>
              </a:spcBef>
              <a:spcAft>
                <a:spcPts val="0"/>
              </a:spcAft>
              <a:buNone/>
            </a:pPr>
            <a:r>
              <a:rPr b="1" i="0" lang="en-US" sz="1845" u="none" cap="none" strike="noStrike">
                <a:solidFill>
                  <a:srgbClr val="932328"/>
                </a:solidFill>
                <a:latin typeface="Arial"/>
                <a:ea typeface="Arial"/>
                <a:cs typeface="Arial"/>
                <a:sym typeface="Arial"/>
              </a:rPr>
              <a:t>Relaciones Industriales</a:t>
            </a:r>
            <a:endParaRPr b="0" i="0" sz="1400" u="none" cap="none" strike="noStrike">
              <a:solidFill>
                <a:srgbClr val="000000"/>
              </a:solidFill>
              <a:latin typeface="Arial"/>
              <a:ea typeface="Arial"/>
              <a:cs typeface="Arial"/>
              <a:sym typeface="Arial"/>
            </a:endParaRPr>
          </a:p>
          <a:p>
            <a:pPr indent="-659440" lvl="0" marL="659440" marR="0" rtl="0" algn="l">
              <a:lnSpc>
                <a:spcPct val="90000"/>
              </a:lnSpc>
              <a:spcBef>
                <a:spcPts val="0"/>
              </a:spcBef>
              <a:spcAft>
                <a:spcPts val="0"/>
              </a:spcAft>
              <a:buNone/>
            </a:pPr>
            <a:r>
              <a:rPr b="1" i="0" lang="en-US" sz="2954" u="none" cap="none" strike="noStrike">
                <a:solidFill>
                  <a:srgbClr val="932328"/>
                </a:solidFill>
                <a:latin typeface="Arial"/>
                <a:ea typeface="Arial"/>
                <a:cs typeface="Arial"/>
                <a:sym typeface="Arial"/>
              </a:rPr>
              <a:t>Agenda</a:t>
            </a:r>
            <a:endParaRPr b="1" i="0" sz="2585" u="none" cap="none" strike="noStrike">
              <a:solidFill>
                <a:srgbClr val="932328"/>
              </a:solidFill>
              <a:latin typeface="Arial"/>
              <a:ea typeface="Arial"/>
              <a:cs typeface="Arial"/>
              <a:sym typeface="Arial"/>
            </a:endParaRPr>
          </a:p>
        </p:txBody>
      </p:sp>
      <p:sp>
        <p:nvSpPr>
          <p:cNvPr id="97" name="Google Shape;97;p32"/>
          <p:cNvSpPr/>
          <p:nvPr/>
        </p:nvSpPr>
        <p:spPr>
          <a:xfrm>
            <a:off x="1721804" y="1817781"/>
            <a:ext cx="5808713" cy="362769"/>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None/>
            </a:pPr>
            <a:r>
              <a:rPr b="0" i="0" lang="en-US" sz="1800" u="none" cap="none" strike="noStrike">
                <a:solidFill>
                  <a:srgbClr val="932328"/>
                </a:solidFill>
                <a:latin typeface="Arial"/>
                <a:ea typeface="Arial"/>
                <a:cs typeface="Arial"/>
                <a:sym typeface="Arial"/>
              </a:rPr>
              <a:t>Derecho Laboral, historia y principios</a:t>
            </a:r>
            <a:endParaRPr b="0" i="0" sz="1400" u="none" cap="none" strike="noStrike">
              <a:solidFill>
                <a:srgbClr val="000000"/>
              </a:solidFill>
              <a:latin typeface="Arial"/>
              <a:ea typeface="Arial"/>
              <a:cs typeface="Arial"/>
              <a:sym typeface="Arial"/>
            </a:endParaRPr>
          </a:p>
        </p:txBody>
      </p:sp>
      <p:sp>
        <p:nvSpPr>
          <p:cNvPr id="98" name="Google Shape;98;p32">
            <a:hlinkClick action="ppaction://hlinksldjump" r:id="rId6"/>
          </p:cNvPr>
          <p:cNvSpPr/>
          <p:nvPr/>
        </p:nvSpPr>
        <p:spPr>
          <a:xfrm>
            <a:off x="1523976" y="1784828"/>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None/>
            </a:pPr>
            <a:r>
              <a:t/>
            </a:r>
            <a:endParaRPr b="0" i="0" sz="1662" u="none" cap="none" strike="noStrike">
              <a:solidFill>
                <a:srgbClr val="932328"/>
              </a:solidFill>
              <a:latin typeface="Arial"/>
              <a:ea typeface="Arial"/>
              <a:cs typeface="Arial"/>
              <a:sym typeface="Arial"/>
            </a:endParaRPr>
          </a:p>
        </p:txBody>
      </p:sp>
      <p:sp>
        <p:nvSpPr>
          <p:cNvPr id="99" name="Google Shape;99;p32"/>
          <p:cNvSpPr/>
          <p:nvPr/>
        </p:nvSpPr>
        <p:spPr>
          <a:xfrm>
            <a:off x="724067" y="4206590"/>
            <a:ext cx="593446" cy="329815"/>
          </a:xfrm>
          <a:prstGeom prst="rightArrow">
            <a:avLst>
              <a:gd fmla="val 50000" name="adj1"/>
              <a:gd fmla="val 50000" name="adj2"/>
            </a:avLst>
          </a:prstGeom>
          <a:solidFill>
            <a:srgbClr val="E4AB1C"/>
          </a:solidFill>
          <a:ln cap="flat" cmpd="sng" w="25400">
            <a:solidFill>
              <a:srgbClr val="BA8915"/>
            </a:solidFill>
            <a:prstDash val="solid"/>
            <a:round/>
            <a:headEnd len="sm" w="sm" type="none"/>
            <a:tailEnd len="sm" w="sm" type="none"/>
          </a:ln>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None/>
            </a:pPr>
            <a:r>
              <a:t/>
            </a:r>
            <a:endParaRPr b="0" i="0" sz="1662" u="none" cap="none" strike="noStrike">
              <a:solidFill>
                <a:schemeClr val="lt1"/>
              </a:solidFill>
              <a:latin typeface="Arial"/>
              <a:ea typeface="Arial"/>
              <a:cs typeface="Arial"/>
              <a:sym typeface="Arial"/>
            </a:endParaRPr>
          </a:p>
        </p:txBody>
      </p:sp>
      <p:sp>
        <p:nvSpPr>
          <p:cNvPr id="100" name="Google Shape;100;p32"/>
          <p:cNvSpPr/>
          <p:nvPr/>
        </p:nvSpPr>
        <p:spPr>
          <a:xfrm>
            <a:off x="7530516" y="1795900"/>
            <a:ext cx="390222" cy="1633101"/>
          </a:xfrm>
          <a:prstGeom prst="rightBracket">
            <a:avLst>
              <a:gd fmla="val 8333" name="adj"/>
            </a:avLst>
          </a:prstGeom>
          <a:noFill/>
          <a:ln cap="flat" cmpd="sng" w="38100">
            <a:solidFill>
              <a:srgbClr val="E4AB1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662" u="none" cap="none" strike="noStrike">
              <a:solidFill>
                <a:schemeClr val="dk1"/>
              </a:solidFill>
              <a:latin typeface="Twentieth Century"/>
              <a:ea typeface="Twentieth Century"/>
              <a:cs typeface="Twentieth Century"/>
              <a:sym typeface="Twentieth Century"/>
            </a:endParaRPr>
          </a:p>
        </p:txBody>
      </p:sp>
      <p:sp>
        <p:nvSpPr>
          <p:cNvPr id="101" name="Google Shape;101;p32"/>
          <p:cNvSpPr txBox="1"/>
          <p:nvPr/>
        </p:nvSpPr>
        <p:spPr>
          <a:xfrm>
            <a:off x="8127933" y="2385087"/>
            <a:ext cx="1128393" cy="6038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62" u="none" cap="none" strike="noStrike">
                <a:solidFill>
                  <a:srgbClr val="C00000"/>
                </a:solidFill>
                <a:latin typeface="Arial"/>
                <a:ea typeface="Arial"/>
                <a:cs typeface="Arial"/>
                <a:sym typeface="Arial"/>
              </a:rPr>
              <a:t>CLASE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662" u="none" cap="none" strike="noStrike">
              <a:solidFill>
                <a:srgbClr val="C00000"/>
              </a:solidFill>
              <a:latin typeface="Twentieth Century"/>
              <a:ea typeface="Twentieth Century"/>
              <a:cs typeface="Twentieth Century"/>
              <a:sym typeface="Twentieth Century"/>
            </a:endParaRPr>
          </a:p>
        </p:txBody>
      </p:sp>
      <p:sp>
        <p:nvSpPr>
          <p:cNvPr id="102" name="Google Shape;102;p32"/>
          <p:cNvSpPr/>
          <p:nvPr/>
        </p:nvSpPr>
        <p:spPr>
          <a:xfrm>
            <a:off x="7530516" y="3575184"/>
            <a:ext cx="404290" cy="1633308"/>
          </a:xfrm>
          <a:prstGeom prst="rightBracket">
            <a:avLst>
              <a:gd fmla="val 0" name="adj"/>
            </a:avLst>
          </a:prstGeom>
          <a:noFill/>
          <a:ln cap="flat" cmpd="sng" w="38100">
            <a:solidFill>
              <a:srgbClr val="E4AB1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662" u="none" cap="none" strike="noStrike">
              <a:solidFill>
                <a:schemeClr val="dk1"/>
              </a:solidFill>
              <a:latin typeface="Twentieth Century"/>
              <a:ea typeface="Twentieth Century"/>
              <a:cs typeface="Twentieth Century"/>
              <a:sym typeface="Twentieth Century"/>
            </a:endParaRPr>
          </a:p>
        </p:txBody>
      </p:sp>
      <p:sp>
        <p:nvSpPr>
          <p:cNvPr id="103" name="Google Shape;103;p32"/>
          <p:cNvSpPr txBox="1"/>
          <p:nvPr/>
        </p:nvSpPr>
        <p:spPr>
          <a:xfrm>
            <a:off x="8125779" y="3930228"/>
            <a:ext cx="1128393" cy="6038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62" u="none" cap="none" strike="noStrike">
                <a:solidFill>
                  <a:srgbClr val="C00000"/>
                </a:solidFill>
                <a:latin typeface="Arial"/>
                <a:ea typeface="Arial"/>
                <a:cs typeface="Arial"/>
                <a:sym typeface="Arial"/>
              </a:rPr>
              <a:t>CLASE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662" u="none" cap="none" strike="noStrike">
              <a:solidFill>
                <a:srgbClr val="C00000"/>
              </a:solidFill>
              <a:latin typeface="Twentieth Century"/>
              <a:ea typeface="Twentieth Century"/>
              <a:cs typeface="Twentieth Century"/>
              <a:sym typeface="Twentieth Century"/>
            </a:endParaRPr>
          </a:p>
        </p:txBody>
      </p:sp>
      <p:sp>
        <p:nvSpPr>
          <p:cNvPr id="104" name="Google Shape;104;p32"/>
          <p:cNvSpPr/>
          <p:nvPr/>
        </p:nvSpPr>
        <p:spPr>
          <a:xfrm>
            <a:off x="1721804" y="2981699"/>
            <a:ext cx="5808713" cy="355042"/>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None/>
            </a:pPr>
            <a:r>
              <a:rPr b="0" i="0" lang="en-US" sz="1800" u="none" cap="none" strike="noStrike">
                <a:solidFill>
                  <a:srgbClr val="932328"/>
                </a:solidFill>
                <a:latin typeface="Arial"/>
                <a:ea typeface="Arial"/>
                <a:cs typeface="Arial"/>
                <a:sym typeface="Arial"/>
              </a:rPr>
              <a:t>Aplicación práctica</a:t>
            </a:r>
            <a:endParaRPr b="0" i="0" sz="1400" u="none" cap="none" strike="noStrike">
              <a:solidFill>
                <a:srgbClr val="000000"/>
              </a:solidFill>
              <a:latin typeface="Arial"/>
              <a:ea typeface="Arial"/>
              <a:cs typeface="Arial"/>
              <a:sym typeface="Arial"/>
            </a:endParaRPr>
          </a:p>
        </p:txBody>
      </p:sp>
      <p:sp>
        <p:nvSpPr>
          <p:cNvPr id="105" name="Google Shape;105;p32">
            <a:hlinkClick action="ppaction://hlinksldjump" r:id="rId7"/>
          </p:cNvPr>
          <p:cNvSpPr/>
          <p:nvPr/>
        </p:nvSpPr>
        <p:spPr>
          <a:xfrm>
            <a:off x="1523976" y="2941019"/>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None/>
            </a:pPr>
            <a:r>
              <a:t/>
            </a:r>
            <a:endParaRPr b="0" i="0" sz="1662" u="none" cap="none" strike="noStrike">
              <a:solidFill>
                <a:srgbClr val="932328"/>
              </a:solidFill>
              <a:latin typeface="Arial"/>
              <a:ea typeface="Arial"/>
              <a:cs typeface="Arial"/>
              <a:sym typeface="Arial"/>
            </a:endParaRPr>
          </a:p>
        </p:txBody>
      </p:sp>
      <p:sp>
        <p:nvSpPr>
          <p:cNvPr id="106" name="Google Shape;106;p32"/>
          <p:cNvSpPr/>
          <p:nvPr/>
        </p:nvSpPr>
        <p:spPr>
          <a:xfrm>
            <a:off x="1707736" y="4721473"/>
            <a:ext cx="5808713" cy="395723"/>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None/>
            </a:pPr>
            <a:r>
              <a:rPr b="0" i="0" lang="en-US" sz="1800" u="none" cap="none" strike="noStrike">
                <a:solidFill>
                  <a:srgbClr val="932328"/>
                </a:solidFill>
                <a:latin typeface="Arial"/>
                <a:ea typeface="Arial"/>
                <a:cs typeface="Arial"/>
                <a:sym typeface="Arial"/>
              </a:rPr>
              <a:t>Cierre de contrato</a:t>
            </a:r>
            <a:endParaRPr b="0" i="0" sz="1400" u="none" cap="none" strike="noStrike">
              <a:solidFill>
                <a:srgbClr val="000000"/>
              </a:solidFill>
              <a:latin typeface="Arial"/>
              <a:ea typeface="Arial"/>
              <a:cs typeface="Arial"/>
              <a:sym typeface="Arial"/>
            </a:endParaRPr>
          </a:p>
        </p:txBody>
      </p:sp>
      <p:sp>
        <p:nvSpPr>
          <p:cNvPr id="107" name="Google Shape;107;p32">
            <a:hlinkClick action="ppaction://hlinksldjump" r:id="rId8"/>
          </p:cNvPr>
          <p:cNvSpPr/>
          <p:nvPr/>
        </p:nvSpPr>
        <p:spPr>
          <a:xfrm>
            <a:off x="1509908" y="4721473"/>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None/>
            </a:pPr>
            <a:r>
              <a:t/>
            </a:r>
            <a:endParaRPr b="0" i="0" sz="1662" u="none" cap="none" strike="noStrike">
              <a:solidFill>
                <a:srgbClr val="932328"/>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33"/>
          <p:cNvSpPr/>
          <p:nvPr/>
        </p:nvSpPr>
        <p:spPr>
          <a:xfrm>
            <a:off x="807458" y="1289543"/>
            <a:ext cx="8458462" cy="368550"/>
          </a:xfrm>
          <a:prstGeom prst="roundRect">
            <a:avLst>
              <a:gd fmla="val 16667" name="adj"/>
            </a:avLst>
          </a:prstGeom>
          <a:solidFill>
            <a:srgbClr val="C00000"/>
          </a:solidFill>
          <a:ln>
            <a:noFill/>
          </a:ln>
          <a:effectLst>
            <a:outerShdw blurRad="149986" algn="ctr" dir="8460000" dist="250189">
              <a:srgbClr val="000000">
                <a:alpha val="26666"/>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1600" u="none" cap="none" strike="noStrike">
                <a:solidFill>
                  <a:schemeClr val="lt1"/>
                </a:solidFill>
                <a:latin typeface="Arial"/>
                <a:ea typeface="Arial"/>
                <a:cs typeface="Arial"/>
                <a:sym typeface="Arial"/>
              </a:rPr>
              <a:t>       Régimen de Seguridad Social</a:t>
            </a:r>
            <a:endParaRPr b="1" i="0" sz="1600" u="none" cap="none" strike="noStrike">
              <a:solidFill>
                <a:schemeClr val="lt1"/>
              </a:solidFill>
              <a:latin typeface="Arial"/>
              <a:ea typeface="Arial"/>
              <a:cs typeface="Arial"/>
              <a:sym typeface="Arial"/>
            </a:endParaRPr>
          </a:p>
        </p:txBody>
      </p:sp>
      <p:pic>
        <p:nvPicPr>
          <p:cNvPr descr="Image result for utn frba" id="114" name="Google Shape;114;p33"/>
          <p:cNvPicPr preferRelativeResize="0"/>
          <p:nvPr/>
        </p:nvPicPr>
        <p:blipFill rotWithShape="1">
          <a:blip r:embed="rId3">
            <a:alphaModFix/>
          </a:blip>
          <a:srcRect b="0" l="0" r="0" t="0"/>
          <a:stretch/>
        </p:blipFill>
        <p:spPr>
          <a:xfrm>
            <a:off x="6846195" y="64396"/>
            <a:ext cx="2611323" cy="952745"/>
          </a:xfrm>
          <a:prstGeom prst="rect">
            <a:avLst/>
          </a:prstGeom>
          <a:noFill/>
          <a:ln>
            <a:noFill/>
          </a:ln>
        </p:spPr>
      </p:pic>
      <p:sp>
        <p:nvSpPr>
          <p:cNvPr id="115" name="Google Shape;115;p33"/>
          <p:cNvSpPr/>
          <p:nvPr/>
        </p:nvSpPr>
        <p:spPr>
          <a:xfrm>
            <a:off x="381554" y="1091668"/>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t/>
            </a:r>
            <a:endParaRPr b="0" i="0" sz="1662" u="none" cap="none" strike="noStrike">
              <a:solidFill>
                <a:schemeClr val="dk1"/>
              </a:solidFill>
              <a:latin typeface="Calibri"/>
              <a:ea typeface="Calibri"/>
              <a:cs typeface="Calibri"/>
              <a:sym typeface="Calibri"/>
            </a:endParaRPr>
          </a:p>
        </p:txBody>
      </p:sp>
      <p:grpSp>
        <p:nvGrpSpPr>
          <p:cNvPr id="116" name="Google Shape;116;p33"/>
          <p:cNvGrpSpPr/>
          <p:nvPr/>
        </p:nvGrpSpPr>
        <p:grpSpPr>
          <a:xfrm>
            <a:off x="1079500" y="2242248"/>
            <a:ext cx="7735820" cy="3704186"/>
            <a:chOff x="0" y="53285"/>
            <a:chExt cx="7735820" cy="3704186"/>
          </a:xfrm>
        </p:grpSpPr>
        <p:sp>
          <p:nvSpPr>
            <p:cNvPr id="117" name="Google Shape;117;p33"/>
            <p:cNvSpPr/>
            <p:nvPr/>
          </p:nvSpPr>
          <p:spPr>
            <a:xfrm>
              <a:off x="0" y="53287"/>
              <a:ext cx="7492200" cy="585600"/>
            </a:xfrm>
            <a:prstGeom prst="roundRect">
              <a:avLst>
                <a:gd fmla="val 16667" name="adj"/>
              </a:avLst>
            </a:prstGeom>
            <a:solidFill>
              <a:srgbClr val="2383C6"/>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8" name="Google Shape;118;p33"/>
            <p:cNvSpPr txBox="1"/>
            <p:nvPr/>
          </p:nvSpPr>
          <p:spPr>
            <a:xfrm>
              <a:off x="37475" y="53285"/>
              <a:ext cx="7389600" cy="520200"/>
            </a:xfrm>
            <a:prstGeom prst="rect">
              <a:avLst/>
            </a:prstGeom>
            <a:noFill/>
            <a:ln>
              <a:noFill/>
            </a:ln>
          </p:spPr>
          <p:txBody>
            <a:bodyPr anchorCtr="0" anchor="ctr" bIns="121900" lIns="121900" spcFirstLastPara="1" rIns="121900" wrap="square" tIns="121900">
              <a:noAutofit/>
            </a:bodyPr>
            <a:lstStyle/>
            <a:p>
              <a:pPr indent="0" lvl="0" marL="0" marR="0" rtl="0" algn="l">
                <a:lnSpc>
                  <a:spcPct val="90000"/>
                </a:lnSpc>
                <a:spcBef>
                  <a:spcPts val="0"/>
                </a:spcBef>
                <a:spcAft>
                  <a:spcPts val="0"/>
                </a:spcAft>
                <a:buNone/>
              </a:pPr>
              <a:r>
                <a:rPr b="0" i="0" lang="en-US" sz="3200" u="none" cap="none" strike="noStrike">
                  <a:solidFill>
                    <a:schemeClr val="lt1"/>
                  </a:solidFill>
                  <a:latin typeface="Twentieth Century"/>
                  <a:ea typeface="Twentieth Century"/>
                  <a:cs typeface="Twentieth Century"/>
                  <a:sym typeface="Twentieth Century"/>
                </a:rPr>
                <a:t>OBRAS SOCIALES</a:t>
              </a:r>
              <a:endParaRPr b="0" i="0" sz="3200" u="none" cap="none" strike="noStrike">
                <a:solidFill>
                  <a:schemeClr val="lt1"/>
                </a:solidFill>
                <a:latin typeface="Twentieth Century"/>
                <a:ea typeface="Twentieth Century"/>
                <a:cs typeface="Twentieth Century"/>
                <a:sym typeface="Twentieth Century"/>
              </a:endParaRPr>
            </a:p>
          </p:txBody>
        </p:sp>
        <p:sp>
          <p:nvSpPr>
            <p:cNvPr id="119" name="Google Shape;119;p33"/>
            <p:cNvSpPr/>
            <p:nvPr/>
          </p:nvSpPr>
          <p:spPr>
            <a:xfrm>
              <a:off x="0" y="783332"/>
              <a:ext cx="7735820" cy="1103309"/>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0" name="Google Shape;120;p33"/>
            <p:cNvSpPr txBox="1"/>
            <p:nvPr/>
          </p:nvSpPr>
          <p:spPr>
            <a:xfrm>
              <a:off x="0" y="783332"/>
              <a:ext cx="7735820" cy="1103309"/>
            </a:xfrm>
            <a:prstGeom prst="rect">
              <a:avLst/>
            </a:prstGeom>
            <a:noFill/>
            <a:ln>
              <a:noFill/>
            </a:ln>
          </p:spPr>
          <p:txBody>
            <a:bodyPr anchorCtr="0" anchor="t" bIns="25400" lIns="245600" spcFirstLastPara="1" rIns="142225" wrap="square" tIns="25400">
              <a:noAutofit/>
            </a:bodyPr>
            <a:lstStyle/>
            <a:p>
              <a:pPr indent="-228600" lvl="1" marL="228600" marR="0" rtl="0" algn="l">
                <a:lnSpc>
                  <a:spcPct val="90000"/>
                </a:lnSpc>
                <a:spcBef>
                  <a:spcPts val="0"/>
                </a:spcBef>
                <a:spcAft>
                  <a:spcPts val="0"/>
                </a:spcAft>
                <a:buClr>
                  <a:schemeClr val="dk1"/>
                </a:buClr>
                <a:buSzPts val="2000"/>
                <a:buFont typeface="Twentieth Century"/>
                <a:buChar char="•"/>
              </a:pPr>
              <a:r>
                <a:rPr b="0" i="0" lang="en-US" sz="2000" u="none" cap="none" strike="noStrike">
                  <a:solidFill>
                    <a:schemeClr val="dk1"/>
                  </a:solidFill>
                  <a:latin typeface="Twentieth Century"/>
                  <a:ea typeface="Twentieth Century"/>
                  <a:cs typeface="Twentieth Century"/>
                  <a:sym typeface="Twentieth Century"/>
                </a:rPr>
                <a:t>Son Instituciones de salud. El aporte es obligatorio. Reguladas por el sindicato de la actividad. Corresponde automáticamente cuando ingresas a trabajar.</a:t>
              </a:r>
              <a:endParaRPr b="0" i="0" sz="2000" u="none" cap="none" strike="noStrike">
                <a:solidFill>
                  <a:schemeClr val="dk1"/>
                </a:solidFill>
                <a:latin typeface="Twentieth Century"/>
                <a:ea typeface="Twentieth Century"/>
                <a:cs typeface="Twentieth Century"/>
                <a:sym typeface="Twentieth Century"/>
              </a:endParaRPr>
            </a:p>
            <a:p>
              <a:pPr indent="-228600" lvl="1" marL="228600" marR="0" rtl="0" algn="l">
                <a:lnSpc>
                  <a:spcPct val="90000"/>
                </a:lnSpc>
                <a:spcBef>
                  <a:spcPts val="400"/>
                </a:spcBef>
                <a:spcAft>
                  <a:spcPts val="0"/>
                </a:spcAft>
                <a:buClr>
                  <a:schemeClr val="dk1"/>
                </a:buClr>
                <a:buSzPts val="2000"/>
                <a:buFont typeface="Twentieth Century"/>
                <a:buChar char="•"/>
              </a:pPr>
              <a:r>
                <a:rPr b="0" i="0" lang="en-US" sz="2000" u="none" cap="none" strike="noStrike">
                  <a:solidFill>
                    <a:schemeClr val="dk1"/>
                  </a:solidFill>
                  <a:latin typeface="Twentieth Century"/>
                  <a:ea typeface="Twentieth Century"/>
                  <a:cs typeface="Twentieth Century"/>
                  <a:sym typeface="Twentieth Century"/>
                </a:rPr>
                <a:t>Dependen de una persona jurídica pública o sindicato.</a:t>
              </a:r>
              <a:endParaRPr b="0" i="0" sz="1400" u="none" cap="none" strike="noStrike">
                <a:solidFill>
                  <a:srgbClr val="000000"/>
                </a:solidFill>
                <a:latin typeface="Arial"/>
                <a:ea typeface="Arial"/>
                <a:cs typeface="Arial"/>
                <a:sym typeface="Arial"/>
              </a:endParaRPr>
            </a:p>
          </p:txBody>
        </p:sp>
        <p:sp>
          <p:nvSpPr>
            <p:cNvPr id="121" name="Google Shape;121;p33"/>
            <p:cNvSpPr/>
            <p:nvPr/>
          </p:nvSpPr>
          <p:spPr>
            <a:xfrm>
              <a:off x="0" y="2133862"/>
              <a:ext cx="7492200" cy="520200"/>
            </a:xfrm>
            <a:prstGeom prst="roundRect">
              <a:avLst>
                <a:gd fmla="val 16667" name="adj"/>
              </a:avLst>
            </a:prstGeom>
            <a:solidFill>
              <a:srgbClr val="24CED7"/>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2" name="Google Shape;122;p33"/>
            <p:cNvSpPr txBox="1"/>
            <p:nvPr/>
          </p:nvSpPr>
          <p:spPr>
            <a:xfrm>
              <a:off x="406575" y="2248141"/>
              <a:ext cx="7291800" cy="368400"/>
            </a:xfrm>
            <a:prstGeom prst="rect">
              <a:avLst/>
            </a:prstGeom>
            <a:noFill/>
            <a:ln>
              <a:noFill/>
            </a:ln>
          </p:spPr>
          <p:txBody>
            <a:bodyPr anchorCtr="0" anchor="ctr" bIns="121900" lIns="121900" spcFirstLastPara="1" rIns="121900" wrap="square" tIns="121900">
              <a:noAutofit/>
            </a:bodyPr>
            <a:lstStyle/>
            <a:p>
              <a:pPr indent="0" lvl="0" marL="0" marR="0" rtl="0" algn="l">
                <a:lnSpc>
                  <a:spcPct val="90000"/>
                </a:lnSpc>
                <a:spcBef>
                  <a:spcPts val="0"/>
                </a:spcBef>
                <a:spcAft>
                  <a:spcPts val="0"/>
                </a:spcAft>
                <a:buNone/>
              </a:pPr>
              <a:r>
                <a:rPr b="0" i="0" lang="en-US" sz="3200" u="none" cap="none" strike="noStrike">
                  <a:solidFill>
                    <a:schemeClr val="lt1"/>
                  </a:solidFill>
                  <a:latin typeface="Twentieth Century"/>
                  <a:ea typeface="Twentieth Century"/>
                  <a:cs typeface="Twentieth Century"/>
                  <a:sym typeface="Twentieth Century"/>
                </a:rPr>
                <a:t>MEDICINA PREPAGA</a:t>
              </a:r>
              <a:endParaRPr b="0" i="0" sz="3200" u="none" cap="none" strike="noStrike">
                <a:solidFill>
                  <a:schemeClr val="lt1"/>
                </a:solidFill>
                <a:latin typeface="Twentieth Century"/>
                <a:ea typeface="Twentieth Century"/>
                <a:cs typeface="Twentieth Century"/>
                <a:sym typeface="Twentieth Century"/>
              </a:endParaRPr>
            </a:p>
          </p:txBody>
        </p:sp>
        <p:sp>
          <p:nvSpPr>
            <p:cNvPr id="123" name="Google Shape;123;p33"/>
            <p:cNvSpPr/>
            <p:nvPr/>
          </p:nvSpPr>
          <p:spPr>
            <a:xfrm>
              <a:off x="0" y="2654162"/>
              <a:ext cx="7735820" cy="1103309"/>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4" name="Google Shape;124;p33"/>
            <p:cNvSpPr txBox="1"/>
            <p:nvPr/>
          </p:nvSpPr>
          <p:spPr>
            <a:xfrm>
              <a:off x="0" y="2654162"/>
              <a:ext cx="7735820" cy="1103309"/>
            </a:xfrm>
            <a:prstGeom prst="rect">
              <a:avLst/>
            </a:prstGeom>
            <a:noFill/>
            <a:ln>
              <a:noFill/>
            </a:ln>
          </p:spPr>
          <p:txBody>
            <a:bodyPr anchorCtr="0" anchor="t" bIns="25400" lIns="245600" spcFirstLastPara="1" rIns="142225" wrap="square" tIns="25400">
              <a:noAutofit/>
            </a:bodyPr>
            <a:lstStyle/>
            <a:p>
              <a:pPr indent="-228600" lvl="1" marL="228600" marR="0" rtl="0" algn="l">
                <a:lnSpc>
                  <a:spcPct val="90000"/>
                </a:lnSpc>
                <a:spcBef>
                  <a:spcPts val="0"/>
                </a:spcBef>
                <a:spcAft>
                  <a:spcPts val="0"/>
                </a:spcAft>
                <a:buClr>
                  <a:schemeClr val="dk1"/>
                </a:buClr>
                <a:buSzPts val="2000"/>
                <a:buFont typeface="Twentieth Century"/>
                <a:buChar char="•"/>
              </a:pPr>
              <a:r>
                <a:rPr b="0" i="0" lang="en-US" sz="2000" u="none" cap="none" strike="noStrike">
                  <a:solidFill>
                    <a:schemeClr val="dk1"/>
                  </a:solidFill>
                  <a:latin typeface="Twentieth Century"/>
                  <a:ea typeface="Twentieth Century"/>
                  <a:cs typeface="Twentieth Century"/>
                  <a:sym typeface="Twentieth Century"/>
                </a:rPr>
                <a:t>Es un servicio de salud privado, al cual pueden acceder trabajadores por derivación de aportes o particulares. Suelen ser menos burocráticas que las OS. Se asocian a una OS para canalizar aportes</a:t>
              </a:r>
              <a:endParaRPr b="0" i="0" sz="2000" u="none" cap="none" strike="noStrike">
                <a:solidFill>
                  <a:schemeClr val="dk1"/>
                </a:solidFill>
                <a:latin typeface="Twentieth Century"/>
                <a:ea typeface="Twentieth Century"/>
                <a:cs typeface="Twentieth Century"/>
                <a:sym typeface="Twentieth Century"/>
              </a:endParaRPr>
            </a:p>
            <a:p>
              <a:pPr indent="-228600" lvl="1" marL="228600" marR="0" rtl="0" algn="l">
                <a:lnSpc>
                  <a:spcPct val="90000"/>
                </a:lnSpc>
                <a:spcBef>
                  <a:spcPts val="400"/>
                </a:spcBef>
                <a:spcAft>
                  <a:spcPts val="0"/>
                </a:spcAft>
                <a:buClr>
                  <a:schemeClr val="dk1"/>
                </a:buClr>
                <a:buSzPts val="2000"/>
                <a:buFont typeface="Twentieth Century"/>
                <a:buChar char="•"/>
              </a:pPr>
              <a:r>
                <a:rPr b="0" i="0" lang="en-US" sz="2000" u="none" cap="none" strike="noStrike">
                  <a:solidFill>
                    <a:schemeClr val="dk1"/>
                  </a:solidFill>
                  <a:latin typeface="Twentieth Century"/>
                  <a:ea typeface="Twentieth Century"/>
                  <a:cs typeface="Twentieth Century"/>
                  <a:sym typeface="Twentieth Century"/>
                </a:rPr>
                <a:t>Sociedades comerciales y anónimas.</a:t>
              </a:r>
              <a:endParaRPr b="0" i="0" sz="1400" u="none" cap="none" strike="noStrike">
                <a:solidFill>
                  <a:srgbClr val="000000"/>
                </a:solidFill>
                <a:latin typeface="Arial"/>
                <a:ea typeface="Arial"/>
                <a:cs typeface="Arial"/>
                <a:sym typeface="Arial"/>
              </a:endParaRPr>
            </a:p>
          </p:txBody>
        </p:sp>
      </p:grpSp>
      <p:sp>
        <p:nvSpPr>
          <p:cNvPr id="125" name="Google Shape;125;p33"/>
          <p:cNvSpPr txBox="1"/>
          <p:nvPr/>
        </p:nvSpPr>
        <p:spPr>
          <a:xfrm>
            <a:off x="485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None/>
            </a:pPr>
            <a:r>
              <a:rPr b="1" i="0" lang="en-US" sz="1800" u="none" cap="none" strike="noStrike">
                <a:solidFill>
                  <a:srgbClr val="932328"/>
                </a:solidFill>
                <a:latin typeface="Arial"/>
                <a:ea typeface="Arial"/>
                <a:cs typeface="Arial"/>
                <a:sym typeface="Arial"/>
              </a:rPr>
              <a:t>Relaciones Industriales</a:t>
            </a:r>
            <a:endParaRPr b="0" i="0" sz="1800" u="none" cap="none" strike="noStrike">
              <a:solidFill>
                <a:schemeClr val="dk1"/>
              </a:solidFill>
              <a:latin typeface="Twentieth Century"/>
              <a:ea typeface="Twentieth Century"/>
              <a:cs typeface="Twentieth Century"/>
              <a:sym typeface="Twentieth Century"/>
            </a:endParaRPr>
          </a:p>
          <a:p>
            <a:pPr indent="-714375" lvl="0" marL="714375" marR="0" rtl="0" algn="l">
              <a:lnSpc>
                <a:spcPct val="90000"/>
              </a:lnSpc>
              <a:spcBef>
                <a:spcPts val="0"/>
              </a:spcBef>
              <a:spcAft>
                <a:spcPts val="0"/>
              </a:spcAft>
              <a:buNone/>
            </a:pPr>
            <a:r>
              <a:rPr b="1" i="0" lang="en-US" sz="1800" u="none" cap="none" strike="noStrike">
                <a:solidFill>
                  <a:srgbClr val="932328"/>
                </a:solidFill>
                <a:latin typeface="Arial"/>
                <a:ea typeface="Arial"/>
                <a:cs typeface="Arial"/>
                <a:sym typeface="Arial"/>
              </a:rPr>
              <a:t>Regímenes de la Seguridad Social</a:t>
            </a:r>
            <a:endParaRPr b="0" i="0" sz="18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9" name="Shape 129"/>
        <p:cNvGrpSpPr/>
        <p:nvPr/>
      </p:nvGrpSpPr>
      <p:grpSpPr>
        <a:xfrm>
          <a:off x="0" y="0"/>
          <a:ext cx="0" cy="0"/>
          <a:chOff x="0" y="0"/>
          <a:chExt cx="0" cy="0"/>
        </a:xfrm>
      </p:grpSpPr>
      <p:sp>
        <p:nvSpPr>
          <p:cNvPr id="130" name="Google Shape;130;p36"/>
          <p:cNvSpPr/>
          <p:nvPr/>
        </p:nvSpPr>
        <p:spPr>
          <a:xfrm>
            <a:off x="1699985" y="1493884"/>
            <a:ext cx="1640114" cy="827314"/>
          </a:xfrm>
          <a:prstGeom prst="roundRect">
            <a:avLst>
              <a:gd fmla="val 16667" name="adj"/>
            </a:avLst>
          </a:prstGeom>
          <a:solidFill>
            <a:srgbClr val="62171A"/>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800" u="none" cap="none" strike="noStrike">
                <a:solidFill>
                  <a:schemeClr val="lt1"/>
                </a:solidFill>
                <a:latin typeface="Twentieth Century"/>
                <a:ea typeface="Twentieth Century"/>
                <a:cs typeface="Twentieth Century"/>
                <a:sym typeface="Twentieth Century"/>
              </a:rPr>
              <a:t>EMPRESA</a:t>
            </a:r>
            <a:endParaRPr b="0" i="0" sz="1800" u="none" cap="none" strike="noStrike">
              <a:solidFill>
                <a:schemeClr val="lt1"/>
              </a:solidFill>
              <a:latin typeface="Twentieth Century"/>
              <a:ea typeface="Twentieth Century"/>
              <a:cs typeface="Twentieth Century"/>
              <a:sym typeface="Twentieth Century"/>
            </a:endParaRPr>
          </a:p>
        </p:txBody>
      </p:sp>
      <p:sp>
        <p:nvSpPr>
          <p:cNvPr id="131" name="Google Shape;131;p36"/>
          <p:cNvSpPr/>
          <p:nvPr/>
        </p:nvSpPr>
        <p:spPr>
          <a:xfrm>
            <a:off x="4573816" y="1493884"/>
            <a:ext cx="1640114" cy="827314"/>
          </a:xfrm>
          <a:prstGeom prst="roundRect">
            <a:avLst>
              <a:gd fmla="val 16667" name="adj"/>
            </a:avLst>
          </a:prstGeom>
          <a:solidFill>
            <a:srgbClr val="007499"/>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800" u="none" cap="none" strike="noStrike">
                <a:solidFill>
                  <a:schemeClr val="lt1"/>
                </a:solidFill>
                <a:latin typeface="Twentieth Century"/>
                <a:ea typeface="Twentieth Century"/>
                <a:cs typeface="Twentieth Century"/>
                <a:sym typeface="Twentieth Century"/>
              </a:rPr>
              <a:t>AFIP</a:t>
            </a:r>
            <a:endParaRPr b="0" i="0" sz="1800" u="none" cap="none" strike="noStrike">
              <a:solidFill>
                <a:schemeClr val="lt1"/>
              </a:solidFill>
              <a:latin typeface="Twentieth Century"/>
              <a:ea typeface="Twentieth Century"/>
              <a:cs typeface="Twentieth Century"/>
              <a:sym typeface="Twentieth Century"/>
            </a:endParaRPr>
          </a:p>
        </p:txBody>
      </p:sp>
      <p:sp>
        <p:nvSpPr>
          <p:cNvPr id="132" name="Google Shape;132;p36"/>
          <p:cNvSpPr/>
          <p:nvPr/>
        </p:nvSpPr>
        <p:spPr>
          <a:xfrm>
            <a:off x="7324274" y="1435827"/>
            <a:ext cx="1640114" cy="827314"/>
          </a:xfrm>
          <a:prstGeom prst="roundRect">
            <a:avLst>
              <a:gd fmla="val 16667" name="adj"/>
            </a:avLst>
          </a:prstGeom>
          <a:solidFill>
            <a:srgbClr val="007499"/>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800" u="none" cap="none" strike="noStrike">
                <a:solidFill>
                  <a:schemeClr val="lt1"/>
                </a:solidFill>
                <a:latin typeface="Twentieth Century"/>
                <a:ea typeface="Twentieth Century"/>
                <a:cs typeface="Twentieth Century"/>
                <a:sym typeface="Twentieth Century"/>
              </a:rPr>
              <a:t>ANSES</a:t>
            </a:r>
            <a:endParaRPr b="0" i="0" sz="1800" u="none" cap="none" strike="noStrike">
              <a:solidFill>
                <a:schemeClr val="lt1"/>
              </a:solidFill>
              <a:latin typeface="Twentieth Century"/>
              <a:ea typeface="Twentieth Century"/>
              <a:cs typeface="Twentieth Century"/>
              <a:sym typeface="Twentieth Century"/>
            </a:endParaRPr>
          </a:p>
        </p:txBody>
      </p:sp>
      <p:sp>
        <p:nvSpPr>
          <p:cNvPr id="133" name="Google Shape;133;p36"/>
          <p:cNvSpPr/>
          <p:nvPr/>
        </p:nvSpPr>
        <p:spPr>
          <a:xfrm>
            <a:off x="7273475" y="2632604"/>
            <a:ext cx="1640114" cy="827314"/>
          </a:xfrm>
          <a:prstGeom prst="roundRect">
            <a:avLst>
              <a:gd fmla="val 16667" name="adj"/>
            </a:avLst>
          </a:prstGeom>
          <a:solidFill>
            <a:srgbClr val="007499"/>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800" u="none" cap="none" strike="noStrike">
                <a:solidFill>
                  <a:schemeClr val="lt1"/>
                </a:solidFill>
                <a:latin typeface="Twentieth Century"/>
                <a:ea typeface="Twentieth Century"/>
                <a:cs typeface="Twentieth Century"/>
                <a:sym typeface="Twentieth Century"/>
              </a:rPr>
              <a:t>OBRA SOCIAL SINDICAL</a:t>
            </a:r>
            <a:endParaRPr b="0" i="0" sz="1800" u="none" cap="none" strike="noStrike">
              <a:solidFill>
                <a:schemeClr val="lt1"/>
              </a:solidFill>
              <a:latin typeface="Twentieth Century"/>
              <a:ea typeface="Twentieth Century"/>
              <a:cs typeface="Twentieth Century"/>
              <a:sym typeface="Twentieth Century"/>
            </a:endParaRPr>
          </a:p>
        </p:txBody>
      </p:sp>
      <p:sp>
        <p:nvSpPr>
          <p:cNvPr id="134" name="Google Shape;134;p36"/>
          <p:cNvSpPr/>
          <p:nvPr/>
        </p:nvSpPr>
        <p:spPr>
          <a:xfrm>
            <a:off x="7208162" y="5420061"/>
            <a:ext cx="1640114" cy="827314"/>
          </a:xfrm>
          <a:prstGeom prst="roundRect">
            <a:avLst>
              <a:gd fmla="val 16667" name="adj"/>
            </a:avLst>
          </a:prstGeom>
          <a:solidFill>
            <a:srgbClr val="007499"/>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800" u="none" cap="none" strike="noStrike">
                <a:solidFill>
                  <a:schemeClr val="lt1"/>
                </a:solidFill>
                <a:latin typeface="Twentieth Century"/>
                <a:ea typeface="Twentieth Century"/>
                <a:cs typeface="Twentieth Century"/>
                <a:sym typeface="Twentieth Century"/>
              </a:rPr>
              <a:t>OBRA SOCIAL JERARQUICA</a:t>
            </a:r>
            <a:endParaRPr b="0" i="0" sz="1800" u="none" cap="none" strike="noStrike">
              <a:solidFill>
                <a:schemeClr val="lt1"/>
              </a:solidFill>
              <a:latin typeface="Twentieth Century"/>
              <a:ea typeface="Twentieth Century"/>
              <a:cs typeface="Twentieth Century"/>
              <a:sym typeface="Twentieth Century"/>
            </a:endParaRPr>
          </a:p>
        </p:txBody>
      </p:sp>
      <p:sp>
        <p:nvSpPr>
          <p:cNvPr id="135" name="Google Shape;135;p36"/>
          <p:cNvSpPr/>
          <p:nvPr/>
        </p:nvSpPr>
        <p:spPr>
          <a:xfrm>
            <a:off x="4573816" y="2615977"/>
            <a:ext cx="1640114" cy="827314"/>
          </a:xfrm>
          <a:prstGeom prst="roundRect">
            <a:avLst>
              <a:gd fmla="val 16667" name="adj"/>
            </a:avLst>
          </a:prstGeom>
          <a:solidFill>
            <a:srgbClr val="007499"/>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800" u="none" cap="none" strike="noStrike">
                <a:solidFill>
                  <a:schemeClr val="lt1"/>
                </a:solidFill>
                <a:latin typeface="Twentieth Century"/>
                <a:ea typeface="Twentieth Century"/>
                <a:cs typeface="Twentieth Century"/>
                <a:sym typeface="Twentieth Century"/>
              </a:rPr>
              <a:t>PRESTADORES PROPIOS</a:t>
            </a:r>
            <a:endParaRPr b="0" i="0" sz="1800" u="none" cap="none" strike="noStrike">
              <a:solidFill>
                <a:schemeClr val="lt1"/>
              </a:solidFill>
              <a:latin typeface="Twentieth Century"/>
              <a:ea typeface="Twentieth Century"/>
              <a:cs typeface="Twentieth Century"/>
              <a:sym typeface="Twentieth Century"/>
            </a:endParaRPr>
          </a:p>
        </p:txBody>
      </p:sp>
      <p:sp>
        <p:nvSpPr>
          <p:cNvPr id="136" name="Google Shape;136;p36"/>
          <p:cNvSpPr/>
          <p:nvPr/>
        </p:nvSpPr>
        <p:spPr>
          <a:xfrm>
            <a:off x="4573816" y="5953459"/>
            <a:ext cx="1640114" cy="827314"/>
          </a:xfrm>
          <a:prstGeom prst="roundRect">
            <a:avLst>
              <a:gd fmla="val 16667" name="adj"/>
            </a:avLst>
          </a:prstGeom>
          <a:solidFill>
            <a:schemeClr val="accent2"/>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800" u="none" cap="none" strike="noStrike">
                <a:solidFill>
                  <a:schemeClr val="lt1"/>
                </a:solidFill>
                <a:latin typeface="Twentieth Century"/>
                <a:ea typeface="Twentieth Century"/>
                <a:cs typeface="Twentieth Century"/>
                <a:sym typeface="Twentieth Century"/>
              </a:rPr>
              <a:t>MEDICINA PREPAGA</a:t>
            </a:r>
            <a:endParaRPr b="0" i="0" sz="1800" u="none" cap="none" strike="noStrike">
              <a:solidFill>
                <a:schemeClr val="lt1"/>
              </a:solidFill>
              <a:latin typeface="Twentieth Century"/>
              <a:ea typeface="Twentieth Century"/>
              <a:cs typeface="Twentieth Century"/>
              <a:sym typeface="Twentieth Century"/>
            </a:endParaRPr>
          </a:p>
        </p:txBody>
      </p:sp>
      <p:sp>
        <p:nvSpPr>
          <p:cNvPr id="137" name="Google Shape;137;p36"/>
          <p:cNvSpPr/>
          <p:nvPr/>
        </p:nvSpPr>
        <p:spPr>
          <a:xfrm>
            <a:off x="4573816" y="4982583"/>
            <a:ext cx="1640114" cy="827314"/>
          </a:xfrm>
          <a:prstGeom prst="roundRect">
            <a:avLst>
              <a:gd fmla="val 16667" name="adj"/>
            </a:avLst>
          </a:prstGeom>
          <a:solidFill>
            <a:srgbClr val="007499"/>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800" u="none" cap="none" strike="noStrike">
                <a:solidFill>
                  <a:schemeClr val="lt1"/>
                </a:solidFill>
                <a:latin typeface="Twentieth Century"/>
                <a:ea typeface="Twentieth Century"/>
                <a:cs typeface="Twentieth Century"/>
                <a:sym typeface="Twentieth Century"/>
              </a:rPr>
              <a:t>PRESTADORES PROPIOS</a:t>
            </a:r>
            <a:endParaRPr b="0" i="0" sz="1800" u="none" cap="none" strike="noStrike">
              <a:solidFill>
                <a:schemeClr val="lt1"/>
              </a:solidFill>
              <a:latin typeface="Twentieth Century"/>
              <a:ea typeface="Twentieth Century"/>
              <a:cs typeface="Twentieth Century"/>
              <a:sym typeface="Twentieth Century"/>
            </a:endParaRPr>
          </a:p>
        </p:txBody>
      </p:sp>
      <p:sp>
        <p:nvSpPr>
          <p:cNvPr id="138" name="Google Shape;138;p36"/>
          <p:cNvSpPr/>
          <p:nvPr/>
        </p:nvSpPr>
        <p:spPr>
          <a:xfrm>
            <a:off x="3630387" y="1697084"/>
            <a:ext cx="653143" cy="435428"/>
          </a:xfrm>
          <a:prstGeom prst="rightArrow">
            <a:avLst>
              <a:gd fmla="val 50000" name="adj1"/>
              <a:gd fmla="val 50000" name="adj2"/>
            </a:avLst>
          </a:prstGeom>
          <a:noFill/>
          <a:ln cap="flat" cmpd="sng" w="15875">
            <a:solidFill>
              <a:srgbClr val="3F3F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139" name="Google Shape;139;p36"/>
          <p:cNvSpPr/>
          <p:nvPr/>
        </p:nvSpPr>
        <p:spPr>
          <a:xfrm>
            <a:off x="6428016" y="1631770"/>
            <a:ext cx="653143" cy="435428"/>
          </a:xfrm>
          <a:prstGeom prst="rightArrow">
            <a:avLst>
              <a:gd fmla="val 50000" name="adj1"/>
              <a:gd fmla="val 50000" name="adj2"/>
            </a:avLst>
          </a:prstGeom>
          <a:noFill/>
          <a:ln cap="flat" cmpd="sng" w="15875">
            <a:solidFill>
              <a:srgbClr val="3F3F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cxnSp>
        <p:nvCxnSpPr>
          <p:cNvPr id="140" name="Google Shape;140;p36"/>
          <p:cNvCxnSpPr>
            <a:stCxn id="132" idx="3"/>
            <a:endCxn id="133" idx="3"/>
          </p:cNvCxnSpPr>
          <p:nvPr/>
        </p:nvCxnSpPr>
        <p:spPr>
          <a:xfrm flipH="1">
            <a:off x="8913688" y="1849484"/>
            <a:ext cx="50700" cy="1196700"/>
          </a:xfrm>
          <a:prstGeom prst="bentConnector3">
            <a:avLst>
              <a:gd fmla="val -450888" name="adj1"/>
            </a:avLst>
          </a:prstGeom>
          <a:noFill/>
          <a:ln cap="flat" cmpd="sng" w="15875">
            <a:solidFill>
              <a:schemeClr val="dk1"/>
            </a:solidFill>
            <a:prstDash val="solid"/>
            <a:round/>
            <a:headEnd len="sm" w="sm" type="none"/>
            <a:tailEnd len="med" w="med" type="triangle"/>
          </a:ln>
        </p:spPr>
      </p:cxnSp>
      <p:cxnSp>
        <p:nvCxnSpPr>
          <p:cNvPr id="141" name="Google Shape;141;p36"/>
          <p:cNvCxnSpPr>
            <a:stCxn id="132" idx="3"/>
            <a:endCxn id="134" idx="3"/>
          </p:cNvCxnSpPr>
          <p:nvPr/>
        </p:nvCxnSpPr>
        <p:spPr>
          <a:xfrm flipH="1">
            <a:off x="8848288" y="1849484"/>
            <a:ext cx="116100" cy="3984300"/>
          </a:xfrm>
          <a:prstGeom prst="bentConnector3">
            <a:avLst>
              <a:gd fmla="val -196899" name="adj1"/>
            </a:avLst>
          </a:prstGeom>
          <a:noFill/>
          <a:ln cap="flat" cmpd="sng" w="15875">
            <a:solidFill>
              <a:schemeClr val="dk1"/>
            </a:solidFill>
            <a:prstDash val="solid"/>
            <a:round/>
            <a:headEnd len="sm" w="sm" type="none"/>
            <a:tailEnd len="med" w="med" type="triangle"/>
          </a:ln>
        </p:spPr>
      </p:cxnSp>
      <p:sp>
        <p:nvSpPr>
          <p:cNvPr id="142" name="Google Shape;142;p36"/>
          <p:cNvSpPr/>
          <p:nvPr/>
        </p:nvSpPr>
        <p:spPr>
          <a:xfrm>
            <a:off x="3064328" y="2480856"/>
            <a:ext cx="653143" cy="435428"/>
          </a:xfrm>
          <a:prstGeom prst="wave">
            <a:avLst>
              <a:gd fmla="val 12500" name="adj1"/>
              <a:gd fmla="val 0" name="adj2"/>
            </a:avLst>
          </a:prstGeom>
          <a:solidFill>
            <a:srgbClr val="A5A5A5"/>
          </a:solidFill>
          <a:ln cap="flat"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000" u="none" cap="none" strike="noStrike">
                <a:solidFill>
                  <a:schemeClr val="dk1"/>
                </a:solidFill>
                <a:latin typeface="Twentieth Century"/>
                <a:ea typeface="Twentieth Century"/>
                <a:cs typeface="Twentieth Century"/>
                <a:sym typeface="Twentieth Century"/>
              </a:rPr>
              <a:t>FORM. 931</a:t>
            </a:r>
            <a:endParaRPr b="0" i="0" sz="1000" u="none" cap="none" strike="noStrike">
              <a:solidFill>
                <a:schemeClr val="dk1"/>
              </a:solidFill>
              <a:latin typeface="Twentieth Century"/>
              <a:ea typeface="Twentieth Century"/>
              <a:cs typeface="Twentieth Century"/>
              <a:sym typeface="Twentieth Century"/>
            </a:endParaRPr>
          </a:p>
        </p:txBody>
      </p:sp>
      <p:sp>
        <p:nvSpPr>
          <p:cNvPr id="143" name="Google Shape;143;p36"/>
          <p:cNvSpPr/>
          <p:nvPr/>
        </p:nvSpPr>
        <p:spPr>
          <a:xfrm rot="-3147331">
            <a:off x="6140487" y="5478747"/>
            <a:ext cx="965203" cy="1026888"/>
          </a:xfrm>
          <a:prstGeom prst="leftUpArrow">
            <a:avLst/>
          </a:prstGeom>
          <a:noFill/>
          <a:ln cap="flat" cmpd="sng" w="15875">
            <a:solidFill>
              <a:srgbClr val="3F3F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144" name="Google Shape;144;p36"/>
          <p:cNvSpPr/>
          <p:nvPr/>
        </p:nvSpPr>
        <p:spPr>
          <a:xfrm>
            <a:off x="1859643" y="5953459"/>
            <a:ext cx="1640114" cy="827314"/>
          </a:xfrm>
          <a:prstGeom prst="roundRect">
            <a:avLst>
              <a:gd fmla="val 16667" name="adj"/>
            </a:avLst>
          </a:prstGeom>
          <a:solidFill>
            <a:schemeClr val="accent2"/>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800" u="none" cap="none" strike="noStrike">
                <a:solidFill>
                  <a:schemeClr val="lt1"/>
                </a:solidFill>
                <a:latin typeface="Twentieth Century"/>
                <a:ea typeface="Twentieth Century"/>
                <a:cs typeface="Twentieth Century"/>
                <a:sym typeface="Twentieth Century"/>
              </a:rPr>
              <a:t>PRESTADORES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i="0" lang="en-US" sz="1800" u="none" cap="none" strike="noStrike">
                <a:solidFill>
                  <a:schemeClr val="lt1"/>
                </a:solidFill>
                <a:latin typeface="Twentieth Century"/>
                <a:ea typeface="Twentieth Century"/>
                <a:cs typeface="Twentieth Century"/>
                <a:sym typeface="Twentieth Century"/>
              </a:rPr>
              <a:t>PRIVADOS</a:t>
            </a:r>
            <a:endParaRPr b="0" i="0" sz="1800" u="none" cap="none" strike="noStrike">
              <a:solidFill>
                <a:schemeClr val="lt1"/>
              </a:solidFill>
              <a:latin typeface="Twentieth Century"/>
              <a:ea typeface="Twentieth Century"/>
              <a:cs typeface="Twentieth Century"/>
              <a:sym typeface="Twentieth Century"/>
            </a:endParaRPr>
          </a:p>
        </p:txBody>
      </p:sp>
      <p:sp>
        <p:nvSpPr>
          <p:cNvPr id="145" name="Google Shape;145;p36"/>
          <p:cNvSpPr/>
          <p:nvPr/>
        </p:nvSpPr>
        <p:spPr>
          <a:xfrm rot="10800000">
            <a:off x="6373590" y="2781999"/>
            <a:ext cx="653143" cy="435428"/>
          </a:xfrm>
          <a:prstGeom prst="rightArrow">
            <a:avLst>
              <a:gd fmla="val 50000" name="adj1"/>
              <a:gd fmla="val 50000" name="adj2"/>
            </a:avLst>
          </a:prstGeom>
          <a:noFill/>
          <a:ln cap="flat" cmpd="sng" w="15875">
            <a:solidFill>
              <a:srgbClr val="3F3F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146" name="Google Shape;146;p36"/>
          <p:cNvSpPr/>
          <p:nvPr/>
        </p:nvSpPr>
        <p:spPr>
          <a:xfrm rot="10800000">
            <a:off x="3717471" y="6149402"/>
            <a:ext cx="653143" cy="435428"/>
          </a:xfrm>
          <a:prstGeom prst="rightArrow">
            <a:avLst>
              <a:gd fmla="val 50000" name="adj1"/>
              <a:gd fmla="val 50000" name="adj2"/>
            </a:avLst>
          </a:prstGeom>
          <a:noFill/>
          <a:ln cap="flat" cmpd="sng" w="15875">
            <a:solidFill>
              <a:srgbClr val="3F3F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147" name="Google Shape;147;p36"/>
          <p:cNvSpPr/>
          <p:nvPr/>
        </p:nvSpPr>
        <p:spPr>
          <a:xfrm>
            <a:off x="1138396" y="3571014"/>
            <a:ext cx="7629207" cy="163674"/>
          </a:xfrm>
          <a:custGeom>
            <a:rect b="b" l="l" r="r" t="t"/>
            <a:pathLst>
              <a:path extrusionOk="0" h="537120" w="4601029">
                <a:moveTo>
                  <a:pt x="0" y="464548"/>
                </a:moveTo>
                <a:cubicBezTo>
                  <a:pt x="524933" y="235948"/>
                  <a:pt x="1049867" y="7348"/>
                  <a:pt x="1494972" y="91"/>
                </a:cubicBezTo>
                <a:cubicBezTo>
                  <a:pt x="1940077" y="-7166"/>
                  <a:pt x="2247296" y="418586"/>
                  <a:pt x="2670629" y="421005"/>
                </a:cubicBezTo>
                <a:cubicBezTo>
                  <a:pt x="3093962" y="423424"/>
                  <a:pt x="3713239" y="-4748"/>
                  <a:pt x="4034972" y="14605"/>
                </a:cubicBezTo>
                <a:cubicBezTo>
                  <a:pt x="4356705" y="33957"/>
                  <a:pt x="4463143" y="459710"/>
                  <a:pt x="4601029" y="537120"/>
                </a:cubicBezTo>
              </a:path>
            </a:pathLst>
          </a:custGeom>
          <a:noFill/>
          <a:ln cap="flat" cmpd="sng" w="19050">
            <a:solidFill>
              <a:schemeClr val="accent5"/>
            </a:solidFill>
            <a:prstDash val="solid"/>
            <a:round/>
            <a:headEnd len="sm" w="sm" type="none"/>
            <a:tailEnd len="sm" w="sm" type="none"/>
          </a:ln>
          <a:effectLst>
            <a:outerShdw blurRad="50800" rotWithShape="0" algn="ctr" dir="5400000" dist="12700">
              <a:srgbClr val="000000">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dk1"/>
              </a:solidFill>
              <a:latin typeface="Twentieth Century"/>
              <a:ea typeface="Twentieth Century"/>
              <a:cs typeface="Twentieth Century"/>
              <a:sym typeface="Twentieth Century"/>
            </a:endParaRPr>
          </a:p>
        </p:txBody>
      </p:sp>
      <p:pic>
        <p:nvPicPr>
          <p:cNvPr descr="Image result for utn frba" id="148" name="Google Shape;148;p36"/>
          <p:cNvPicPr preferRelativeResize="0"/>
          <p:nvPr/>
        </p:nvPicPr>
        <p:blipFill rotWithShape="1">
          <a:blip r:embed="rId3">
            <a:alphaModFix/>
          </a:blip>
          <a:srcRect b="0" l="0" r="0" t="0"/>
          <a:stretch/>
        </p:blipFill>
        <p:spPr>
          <a:xfrm>
            <a:off x="6846195" y="64396"/>
            <a:ext cx="2611323" cy="952745"/>
          </a:xfrm>
          <a:prstGeom prst="rect">
            <a:avLst/>
          </a:prstGeom>
          <a:noFill/>
          <a:ln>
            <a:noFill/>
          </a:ln>
        </p:spPr>
      </p:pic>
      <p:sp>
        <p:nvSpPr>
          <p:cNvPr id="149" name="Google Shape;149;p36"/>
          <p:cNvSpPr/>
          <p:nvPr/>
        </p:nvSpPr>
        <p:spPr>
          <a:xfrm>
            <a:off x="381554" y="1007261"/>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t/>
            </a:r>
            <a:endParaRPr b="0" i="0" sz="1662" u="none" cap="none" strike="noStrike">
              <a:solidFill>
                <a:schemeClr val="dk1"/>
              </a:solidFill>
              <a:latin typeface="Calibri"/>
              <a:ea typeface="Calibri"/>
              <a:cs typeface="Calibri"/>
              <a:sym typeface="Calibri"/>
            </a:endParaRPr>
          </a:p>
        </p:txBody>
      </p:sp>
      <p:sp>
        <p:nvSpPr>
          <p:cNvPr id="150" name="Google Shape;150;p36"/>
          <p:cNvSpPr txBox="1"/>
          <p:nvPr/>
        </p:nvSpPr>
        <p:spPr>
          <a:xfrm>
            <a:off x="485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None/>
            </a:pPr>
            <a:r>
              <a:rPr b="1" i="0" lang="en-US" sz="1800" u="none" cap="none" strike="noStrike">
                <a:solidFill>
                  <a:srgbClr val="932328"/>
                </a:solidFill>
                <a:latin typeface="Arial"/>
                <a:ea typeface="Arial"/>
                <a:cs typeface="Arial"/>
                <a:sym typeface="Arial"/>
              </a:rPr>
              <a:t>Relaciones Industriales</a:t>
            </a:r>
            <a:endParaRPr b="0" i="0" sz="1800" u="none" cap="none" strike="noStrike">
              <a:solidFill>
                <a:schemeClr val="dk1"/>
              </a:solidFill>
              <a:latin typeface="Twentieth Century"/>
              <a:ea typeface="Twentieth Century"/>
              <a:cs typeface="Twentieth Century"/>
              <a:sym typeface="Twentieth Century"/>
            </a:endParaRPr>
          </a:p>
          <a:p>
            <a:pPr indent="-714375" lvl="0" marL="714375" marR="0" rtl="0" algn="l">
              <a:lnSpc>
                <a:spcPct val="90000"/>
              </a:lnSpc>
              <a:spcBef>
                <a:spcPts val="0"/>
              </a:spcBef>
              <a:spcAft>
                <a:spcPts val="0"/>
              </a:spcAft>
              <a:buNone/>
            </a:pPr>
            <a:r>
              <a:rPr b="1" i="0" lang="en-US" sz="1800" u="none" cap="none" strike="noStrike">
                <a:solidFill>
                  <a:srgbClr val="932328"/>
                </a:solidFill>
                <a:latin typeface="Arial"/>
                <a:ea typeface="Arial"/>
                <a:cs typeface="Arial"/>
                <a:sym typeface="Arial"/>
              </a:rPr>
              <a:t>Flujo del dinero de la Seguridad Social</a:t>
            </a:r>
            <a:endParaRPr b="0" i="0" sz="1800" u="none" cap="none" strike="noStrike">
              <a:solidFill>
                <a:schemeClr val="dk1"/>
              </a:solidFill>
              <a:latin typeface="Twentieth Century"/>
              <a:ea typeface="Twentieth Century"/>
              <a:cs typeface="Twentieth Century"/>
              <a:sym typeface="Twentieth Century"/>
            </a:endParaRPr>
          </a:p>
        </p:txBody>
      </p:sp>
      <p:sp>
        <p:nvSpPr>
          <p:cNvPr id="151" name="Google Shape;151;p36"/>
          <p:cNvSpPr/>
          <p:nvPr/>
        </p:nvSpPr>
        <p:spPr>
          <a:xfrm>
            <a:off x="1178732" y="4616486"/>
            <a:ext cx="7629207" cy="163674"/>
          </a:xfrm>
          <a:custGeom>
            <a:rect b="b" l="l" r="r" t="t"/>
            <a:pathLst>
              <a:path extrusionOk="0" h="537120" w="4601029">
                <a:moveTo>
                  <a:pt x="0" y="464548"/>
                </a:moveTo>
                <a:cubicBezTo>
                  <a:pt x="524933" y="235948"/>
                  <a:pt x="1049867" y="7348"/>
                  <a:pt x="1494972" y="91"/>
                </a:cubicBezTo>
                <a:cubicBezTo>
                  <a:pt x="1940077" y="-7166"/>
                  <a:pt x="2247296" y="418586"/>
                  <a:pt x="2670629" y="421005"/>
                </a:cubicBezTo>
                <a:cubicBezTo>
                  <a:pt x="3093962" y="423424"/>
                  <a:pt x="3713239" y="-4748"/>
                  <a:pt x="4034972" y="14605"/>
                </a:cubicBezTo>
                <a:cubicBezTo>
                  <a:pt x="4356705" y="33957"/>
                  <a:pt x="4463143" y="459710"/>
                  <a:pt x="4601029" y="537120"/>
                </a:cubicBezTo>
              </a:path>
            </a:pathLst>
          </a:custGeom>
          <a:noFill/>
          <a:ln cap="flat" cmpd="sng" w="19050">
            <a:solidFill>
              <a:schemeClr val="accent5"/>
            </a:solidFill>
            <a:prstDash val="solid"/>
            <a:round/>
            <a:headEnd len="sm" w="sm" type="none"/>
            <a:tailEnd len="sm" w="sm" type="none"/>
          </a:ln>
          <a:effectLst>
            <a:outerShdw blurRad="50800" rotWithShape="0" algn="ctr" dir="5400000" dist="12700">
              <a:srgbClr val="000000">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152" name="Google Shape;152;p36"/>
          <p:cNvSpPr/>
          <p:nvPr/>
        </p:nvSpPr>
        <p:spPr>
          <a:xfrm>
            <a:off x="7208162" y="3727474"/>
            <a:ext cx="1640114" cy="827314"/>
          </a:xfrm>
          <a:prstGeom prst="roundRect">
            <a:avLst>
              <a:gd fmla="val 16667" name="adj"/>
            </a:avLst>
          </a:prstGeom>
          <a:solidFill>
            <a:srgbClr val="007499"/>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800" u="none" cap="none" strike="noStrike">
                <a:solidFill>
                  <a:schemeClr val="lt1"/>
                </a:solidFill>
                <a:latin typeface="Twentieth Century"/>
                <a:ea typeface="Twentieth Century"/>
                <a:cs typeface="Twentieth Century"/>
                <a:sym typeface="Twentieth Century"/>
              </a:rPr>
              <a:t>CAjAS o REGIMENES ESPECIALES</a:t>
            </a:r>
            <a:endParaRPr b="0" i="0" sz="1800" u="none" cap="none" strike="noStrike">
              <a:solidFill>
                <a:schemeClr val="lt1"/>
              </a:solidFill>
              <a:latin typeface="Twentieth Century"/>
              <a:ea typeface="Twentieth Century"/>
              <a:cs typeface="Twentieth Century"/>
              <a:sym typeface="Twentieth Century"/>
            </a:endParaRPr>
          </a:p>
        </p:txBody>
      </p:sp>
      <p:cxnSp>
        <p:nvCxnSpPr>
          <p:cNvPr id="153" name="Google Shape;153;p36"/>
          <p:cNvCxnSpPr>
            <a:stCxn id="132" idx="3"/>
            <a:endCxn id="152" idx="3"/>
          </p:cNvCxnSpPr>
          <p:nvPr/>
        </p:nvCxnSpPr>
        <p:spPr>
          <a:xfrm flipH="1">
            <a:off x="8848288" y="1849484"/>
            <a:ext cx="116100" cy="2291700"/>
          </a:xfrm>
          <a:prstGeom prst="bentConnector3">
            <a:avLst>
              <a:gd fmla="val -196899" name="adj1"/>
            </a:avLst>
          </a:prstGeom>
          <a:noFill/>
          <a:ln cap="flat" cmpd="sng" w="9525">
            <a:solidFill>
              <a:schemeClr val="dk1"/>
            </a:solidFill>
            <a:prstDash val="solid"/>
            <a:round/>
            <a:headEnd len="sm" w="sm" type="none"/>
            <a:tailEnd len="med" w="med" type="triangle"/>
          </a:ln>
        </p:spPr>
      </p:cxnSp>
      <p:sp>
        <p:nvSpPr>
          <p:cNvPr id="154" name="Google Shape;154;p36"/>
          <p:cNvSpPr/>
          <p:nvPr/>
        </p:nvSpPr>
        <p:spPr>
          <a:xfrm>
            <a:off x="4589752" y="3788986"/>
            <a:ext cx="1640114" cy="827314"/>
          </a:xfrm>
          <a:prstGeom prst="roundRect">
            <a:avLst>
              <a:gd fmla="val 16667" name="adj"/>
            </a:avLst>
          </a:prstGeom>
          <a:solidFill>
            <a:schemeClr val="accent2"/>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800" u="none" cap="none" strike="noStrike">
                <a:solidFill>
                  <a:schemeClr val="lt1"/>
                </a:solidFill>
                <a:latin typeface="Twentieth Century"/>
                <a:ea typeface="Twentieth Century"/>
                <a:cs typeface="Twentieth Century"/>
                <a:sym typeface="Twentieth Century"/>
              </a:rPr>
              <a:t>PRESTADORES PROPIOS o PRIVADOS</a:t>
            </a:r>
            <a:endParaRPr b="0" i="0" sz="1800" u="none" cap="none" strike="noStrike">
              <a:solidFill>
                <a:schemeClr val="lt1"/>
              </a:solidFill>
              <a:latin typeface="Twentieth Century"/>
              <a:ea typeface="Twentieth Century"/>
              <a:cs typeface="Twentieth Century"/>
              <a:sym typeface="Twentieth Century"/>
            </a:endParaRPr>
          </a:p>
        </p:txBody>
      </p:sp>
      <p:sp>
        <p:nvSpPr>
          <p:cNvPr id="155" name="Google Shape;155;p36"/>
          <p:cNvSpPr/>
          <p:nvPr/>
        </p:nvSpPr>
        <p:spPr>
          <a:xfrm rot="10800000">
            <a:off x="6373589" y="3953990"/>
            <a:ext cx="653143" cy="435428"/>
          </a:xfrm>
          <a:prstGeom prst="rightArrow">
            <a:avLst>
              <a:gd fmla="val 50000" name="adj1"/>
              <a:gd fmla="val 50000" name="adj2"/>
            </a:avLst>
          </a:prstGeom>
          <a:noFill/>
          <a:ln cap="flat" cmpd="sng" w="15875">
            <a:solidFill>
              <a:srgbClr val="3F3F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4"/>
          <p:cNvSpPr txBox="1"/>
          <p:nvPr/>
        </p:nvSpPr>
        <p:spPr>
          <a:xfrm>
            <a:off x="485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None/>
            </a:pPr>
            <a:r>
              <a:rPr b="1" i="0" lang="en-US" sz="1800" u="none" cap="none" strike="noStrike">
                <a:solidFill>
                  <a:srgbClr val="932328"/>
                </a:solidFill>
                <a:latin typeface="Arial"/>
                <a:ea typeface="Arial"/>
                <a:cs typeface="Arial"/>
                <a:sym typeface="Arial"/>
              </a:rPr>
              <a:t>Relaciones Industriales</a:t>
            </a:r>
            <a:endParaRPr b="0" i="0" sz="1800" u="none" cap="none" strike="noStrike">
              <a:solidFill>
                <a:schemeClr val="dk1"/>
              </a:solidFill>
              <a:latin typeface="Twentieth Century"/>
              <a:ea typeface="Twentieth Century"/>
              <a:cs typeface="Twentieth Century"/>
              <a:sym typeface="Twentieth Century"/>
            </a:endParaRPr>
          </a:p>
          <a:p>
            <a:pPr indent="-714375" lvl="0" marL="714375" marR="0" rtl="0" algn="l">
              <a:lnSpc>
                <a:spcPct val="90000"/>
              </a:lnSpc>
              <a:spcBef>
                <a:spcPts val="0"/>
              </a:spcBef>
              <a:spcAft>
                <a:spcPts val="0"/>
              </a:spcAft>
              <a:buNone/>
            </a:pPr>
            <a:r>
              <a:rPr b="1" i="0" lang="en-US" sz="1800" u="none" cap="none" strike="noStrike">
                <a:solidFill>
                  <a:srgbClr val="932328"/>
                </a:solidFill>
                <a:latin typeface="Arial"/>
                <a:ea typeface="Arial"/>
                <a:cs typeface="Arial"/>
                <a:sym typeface="Arial"/>
              </a:rPr>
              <a:t>Aportes y Contribuciones</a:t>
            </a:r>
            <a:endParaRPr b="0" i="0" sz="1800" u="none" cap="none" strike="noStrike">
              <a:solidFill>
                <a:schemeClr val="dk1"/>
              </a:solidFill>
              <a:latin typeface="Twentieth Century"/>
              <a:ea typeface="Twentieth Century"/>
              <a:cs typeface="Twentieth Century"/>
              <a:sym typeface="Twentieth Century"/>
            </a:endParaRPr>
          </a:p>
        </p:txBody>
      </p:sp>
      <p:sp>
        <p:nvSpPr>
          <p:cNvPr id="162" name="Google Shape;162;p34"/>
          <p:cNvSpPr/>
          <p:nvPr/>
        </p:nvSpPr>
        <p:spPr>
          <a:xfrm>
            <a:off x="807457" y="1361778"/>
            <a:ext cx="8458199" cy="368550"/>
          </a:xfrm>
          <a:prstGeom prst="roundRect">
            <a:avLst>
              <a:gd fmla="val 16667" name="adj"/>
            </a:avLst>
          </a:prstGeom>
          <a:solidFill>
            <a:srgbClr val="C00000"/>
          </a:solidFill>
          <a:ln>
            <a:noFill/>
          </a:ln>
          <a:effectLst>
            <a:outerShdw blurRad="149986" algn="ctr" dir="8460000" dist="250189">
              <a:srgbClr val="000000">
                <a:alpha val="26666"/>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1600" u="none" cap="none" strike="noStrike">
                <a:solidFill>
                  <a:schemeClr val="lt1"/>
                </a:solidFill>
                <a:latin typeface="Arial"/>
                <a:ea typeface="Arial"/>
                <a:cs typeface="Arial"/>
                <a:sym typeface="Arial"/>
              </a:rPr>
              <a:t>       </a:t>
            </a:r>
            <a:endParaRPr b="1" i="0" sz="1600" u="none" cap="none" strike="noStrike">
              <a:solidFill>
                <a:schemeClr val="lt1"/>
              </a:solidFill>
              <a:latin typeface="Arial"/>
              <a:ea typeface="Arial"/>
              <a:cs typeface="Arial"/>
              <a:sym typeface="Arial"/>
            </a:endParaRPr>
          </a:p>
        </p:txBody>
      </p:sp>
      <p:sp>
        <p:nvSpPr>
          <p:cNvPr id="163" name="Google Shape;163;p34"/>
          <p:cNvSpPr/>
          <p:nvPr/>
        </p:nvSpPr>
        <p:spPr>
          <a:xfrm>
            <a:off x="1103588" y="1361778"/>
            <a:ext cx="76988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chemeClr val="lt1"/>
                </a:solidFill>
                <a:latin typeface="Calibri"/>
                <a:ea typeface="Calibri"/>
                <a:cs typeface="Calibri"/>
                <a:sym typeface="Calibri"/>
              </a:rPr>
              <a:t>Aportes del empleado</a:t>
            </a:r>
            <a:endParaRPr b="1" i="0" sz="1800" u="none" cap="none" strike="noStrike">
              <a:solidFill>
                <a:schemeClr val="lt1"/>
              </a:solidFill>
              <a:latin typeface="Calibri"/>
              <a:ea typeface="Calibri"/>
              <a:cs typeface="Calibri"/>
              <a:sym typeface="Calibri"/>
            </a:endParaRPr>
          </a:p>
        </p:txBody>
      </p:sp>
      <p:sp>
        <p:nvSpPr>
          <p:cNvPr id="164" name="Google Shape;164;p34"/>
          <p:cNvSpPr txBox="1"/>
          <p:nvPr/>
        </p:nvSpPr>
        <p:spPr>
          <a:xfrm>
            <a:off x="1658169" y="1751339"/>
            <a:ext cx="6306438" cy="19389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000" u="none" cap="none" strike="noStrike">
              <a:solidFill>
                <a:schemeClr val="dk1"/>
              </a:solidFill>
              <a:latin typeface="Calibri"/>
              <a:ea typeface="Calibri"/>
              <a:cs typeface="Calibri"/>
              <a:sym typeface="Calibri"/>
            </a:endParaRPr>
          </a:p>
          <a:p>
            <a:pPr indent="-127000" lvl="1" marL="45720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  SIPA (Sistema Integrado Previsional Argentino)   11%</a:t>
            </a:r>
            <a:endParaRPr b="0" i="0" sz="1800" u="none" cap="none" strike="noStrike">
              <a:solidFill>
                <a:schemeClr val="dk1"/>
              </a:solidFill>
              <a:latin typeface="Twentieth Century"/>
              <a:ea typeface="Twentieth Century"/>
              <a:cs typeface="Twentieth Century"/>
              <a:sym typeface="Twentieth Century"/>
            </a:endParaRPr>
          </a:p>
          <a:p>
            <a:pPr indent="-127000" lvl="1" marL="45720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  INSSJP – PAMI (Ley 19032)    3%</a:t>
            </a:r>
            <a:endParaRPr b="0" i="0" sz="1800" u="none" cap="none" strike="noStrike">
              <a:solidFill>
                <a:schemeClr val="dk1"/>
              </a:solidFill>
              <a:latin typeface="Twentieth Century"/>
              <a:ea typeface="Twentieth Century"/>
              <a:cs typeface="Twentieth Century"/>
              <a:sym typeface="Twentieth Century"/>
            </a:endParaRPr>
          </a:p>
          <a:p>
            <a:pPr indent="-127000" lvl="1" marL="457200" marR="0" rtl="0" algn="l">
              <a:lnSpc>
                <a:spcPct val="100000"/>
              </a:lnSpc>
              <a:spcBef>
                <a:spcPts val="0"/>
              </a:spcBef>
              <a:spcAft>
                <a:spcPts val="0"/>
              </a:spcAft>
              <a:buClr>
                <a:schemeClr val="dk1"/>
              </a:buClr>
              <a:buSzPts val="2000"/>
              <a:buFont typeface="Arial"/>
              <a:buChar char="•"/>
            </a:pPr>
            <a:r>
              <a:rPr b="1" i="0" lang="en-US" sz="2000" u="none" cap="none" strike="noStrike">
                <a:solidFill>
                  <a:schemeClr val="dk1"/>
                </a:solidFill>
                <a:latin typeface="Calibri"/>
                <a:ea typeface="Calibri"/>
                <a:cs typeface="Calibri"/>
                <a:sym typeface="Calibri"/>
              </a:rPr>
              <a:t>  </a:t>
            </a:r>
            <a:r>
              <a:rPr b="0" i="0" lang="en-US" sz="2000" u="none" cap="none" strike="noStrike">
                <a:solidFill>
                  <a:schemeClr val="dk1"/>
                </a:solidFill>
                <a:latin typeface="Calibri"/>
                <a:ea typeface="Calibri"/>
                <a:cs typeface="Calibri"/>
                <a:sym typeface="Calibri"/>
              </a:rPr>
              <a:t>Obra Social  3%</a:t>
            </a:r>
            <a:endParaRPr b="0" i="0" sz="1800" u="none" cap="none" strike="noStrike">
              <a:solidFill>
                <a:schemeClr val="dk1"/>
              </a:solidFill>
              <a:latin typeface="Twentieth Century"/>
              <a:ea typeface="Twentieth Century"/>
              <a:cs typeface="Twentieth Century"/>
              <a:sym typeface="Twentieth Century"/>
            </a:endParaRPr>
          </a:p>
          <a:p>
            <a:pPr indent="0" lvl="1" marL="457200" marR="0" rtl="0" algn="l">
              <a:lnSpc>
                <a:spcPct val="100000"/>
              </a:lnSpc>
              <a:spcBef>
                <a:spcPts val="0"/>
              </a:spcBef>
              <a:spcAft>
                <a:spcPts val="0"/>
              </a:spcAft>
              <a:buNone/>
            </a:pPr>
            <a:r>
              <a:t/>
            </a:r>
            <a:endParaRPr b="0" i="0" sz="2000" u="none" cap="none" strike="noStrike">
              <a:solidFill>
                <a:schemeClr val="dk1"/>
              </a:solidFill>
              <a:latin typeface="Calibri"/>
              <a:ea typeface="Calibri"/>
              <a:cs typeface="Calibri"/>
              <a:sym typeface="Calibri"/>
            </a:endParaRPr>
          </a:p>
          <a:p>
            <a:pPr indent="0" lvl="1" marL="457200" marR="0" rtl="0" algn="l">
              <a:lnSpc>
                <a:spcPct val="100000"/>
              </a:lnSpc>
              <a:spcBef>
                <a:spcPts val="0"/>
              </a:spcBef>
              <a:spcAft>
                <a:spcPts val="0"/>
              </a:spcAft>
              <a:buNone/>
            </a:pPr>
            <a:r>
              <a:rPr b="0" i="0" lang="en-US" sz="2000" u="none" cap="none" strike="noStrike">
                <a:solidFill>
                  <a:schemeClr val="dk1"/>
                </a:solidFill>
                <a:latin typeface="Calibri"/>
                <a:ea typeface="Calibri"/>
                <a:cs typeface="Calibri"/>
                <a:sym typeface="Calibri"/>
              </a:rPr>
              <a:t>                                  </a:t>
            </a:r>
            <a:r>
              <a:rPr b="1" i="0" lang="en-US" sz="2000" u="none" cap="none" strike="noStrike">
                <a:solidFill>
                  <a:schemeClr val="dk1"/>
                </a:solidFill>
                <a:latin typeface="Calibri"/>
                <a:ea typeface="Calibri"/>
                <a:cs typeface="Calibri"/>
                <a:sym typeface="Calibri"/>
              </a:rPr>
              <a:t>TOTAL: 17%</a:t>
            </a:r>
            <a:endParaRPr b="0" i="0" sz="2000" u="none" cap="none" strike="noStrike">
              <a:solidFill>
                <a:schemeClr val="dk1"/>
              </a:solidFill>
              <a:latin typeface="Calibri"/>
              <a:ea typeface="Calibri"/>
              <a:cs typeface="Calibri"/>
              <a:sym typeface="Calibri"/>
            </a:endParaRPr>
          </a:p>
        </p:txBody>
      </p:sp>
      <p:sp>
        <p:nvSpPr>
          <p:cNvPr id="165" name="Google Shape;165;p34"/>
          <p:cNvSpPr/>
          <p:nvPr/>
        </p:nvSpPr>
        <p:spPr>
          <a:xfrm>
            <a:off x="381554" y="1091668"/>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t/>
            </a:r>
            <a:endParaRPr b="0" i="0" sz="1662" u="none" cap="none" strike="noStrike">
              <a:solidFill>
                <a:schemeClr val="dk1"/>
              </a:solidFill>
              <a:latin typeface="Calibri"/>
              <a:ea typeface="Calibri"/>
              <a:cs typeface="Calibri"/>
              <a:sym typeface="Calibri"/>
            </a:endParaRPr>
          </a:p>
        </p:txBody>
      </p:sp>
      <p:pic>
        <p:nvPicPr>
          <p:cNvPr descr="Image result for utn frba" id="166" name="Google Shape;166;p34"/>
          <p:cNvPicPr preferRelativeResize="0"/>
          <p:nvPr/>
        </p:nvPicPr>
        <p:blipFill rotWithShape="1">
          <a:blip r:embed="rId3">
            <a:alphaModFix/>
          </a:blip>
          <a:srcRect b="0" l="0" r="0" t="0"/>
          <a:stretch/>
        </p:blipFill>
        <p:spPr>
          <a:xfrm>
            <a:off x="6846195" y="64396"/>
            <a:ext cx="2611323" cy="952745"/>
          </a:xfrm>
          <a:prstGeom prst="rect">
            <a:avLst/>
          </a:prstGeom>
          <a:noFill/>
          <a:ln>
            <a:noFill/>
          </a:ln>
        </p:spPr>
      </p:pic>
      <p:pic>
        <p:nvPicPr>
          <p:cNvPr id="167" name="Google Shape;167;p34"/>
          <p:cNvPicPr preferRelativeResize="0"/>
          <p:nvPr/>
        </p:nvPicPr>
        <p:blipFill rotWithShape="1">
          <a:blip r:embed="rId4">
            <a:alphaModFix/>
          </a:blip>
          <a:srcRect b="36819" l="0" r="0" t="0"/>
          <a:stretch/>
        </p:blipFill>
        <p:spPr>
          <a:xfrm>
            <a:off x="807457" y="3918817"/>
            <a:ext cx="8458200" cy="1847516"/>
          </a:xfrm>
          <a:prstGeom prst="rect">
            <a:avLst/>
          </a:prstGeom>
          <a:noFill/>
          <a:ln>
            <a:noFill/>
          </a:ln>
        </p:spPr>
      </p:pic>
      <p:sp>
        <p:nvSpPr>
          <p:cNvPr id="168" name="Google Shape;168;p34"/>
          <p:cNvSpPr/>
          <p:nvPr/>
        </p:nvSpPr>
        <p:spPr>
          <a:xfrm>
            <a:off x="3773325" y="3199450"/>
            <a:ext cx="2022900" cy="616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id="174" name="Google Shape;174;p35"/>
          <p:cNvPicPr preferRelativeResize="0"/>
          <p:nvPr/>
        </p:nvPicPr>
        <p:blipFill rotWithShape="1">
          <a:blip r:embed="rId3">
            <a:alphaModFix/>
          </a:blip>
          <a:srcRect b="0" l="0" r="0" t="0"/>
          <a:stretch/>
        </p:blipFill>
        <p:spPr>
          <a:xfrm>
            <a:off x="836824" y="1670475"/>
            <a:ext cx="8007862" cy="4575342"/>
          </a:xfrm>
          <a:prstGeom prst="rect">
            <a:avLst/>
          </a:prstGeom>
          <a:noFill/>
          <a:ln>
            <a:noFill/>
          </a:ln>
        </p:spPr>
      </p:pic>
      <p:sp>
        <p:nvSpPr>
          <p:cNvPr id="175" name="Google Shape;175;p35"/>
          <p:cNvSpPr/>
          <p:nvPr/>
        </p:nvSpPr>
        <p:spPr>
          <a:xfrm>
            <a:off x="807458" y="1289543"/>
            <a:ext cx="8007862" cy="368550"/>
          </a:xfrm>
          <a:prstGeom prst="roundRect">
            <a:avLst>
              <a:gd fmla="val 16667" name="adj"/>
            </a:avLst>
          </a:prstGeom>
          <a:solidFill>
            <a:srgbClr val="C00000"/>
          </a:solidFill>
          <a:ln>
            <a:noFill/>
          </a:ln>
          <a:effectLst>
            <a:outerShdw blurRad="149986" algn="ctr" dir="8460000" dist="250189">
              <a:srgbClr val="000000">
                <a:alpha val="26666"/>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1600" u="none" cap="none" strike="noStrike">
                <a:solidFill>
                  <a:schemeClr val="lt1"/>
                </a:solidFill>
                <a:latin typeface="Arial"/>
                <a:ea typeface="Arial"/>
                <a:cs typeface="Arial"/>
                <a:sym typeface="Arial"/>
              </a:rPr>
              <a:t>       </a:t>
            </a:r>
            <a:endParaRPr b="1" i="0" sz="1600" u="none" cap="none" strike="noStrike">
              <a:solidFill>
                <a:schemeClr val="lt1"/>
              </a:solidFill>
              <a:latin typeface="Arial"/>
              <a:ea typeface="Arial"/>
              <a:cs typeface="Arial"/>
              <a:sym typeface="Arial"/>
            </a:endParaRPr>
          </a:p>
        </p:txBody>
      </p:sp>
      <p:sp>
        <p:nvSpPr>
          <p:cNvPr id="176" name="Google Shape;176;p35"/>
          <p:cNvSpPr/>
          <p:nvPr/>
        </p:nvSpPr>
        <p:spPr>
          <a:xfrm>
            <a:off x="1116495" y="1289543"/>
            <a:ext cx="76988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chemeClr val="lt1"/>
                </a:solidFill>
                <a:latin typeface="Calibri"/>
                <a:ea typeface="Calibri"/>
                <a:cs typeface="Calibri"/>
                <a:sym typeface="Calibri"/>
              </a:rPr>
              <a:t>Contribuciones Patronales</a:t>
            </a:r>
            <a:endParaRPr b="0" i="0" sz="1800" u="none" cap="none" strike="noStrike">
              <a:solidFill>
                <a:schemeClr val="lt1"/>
              </a:solidFill>
              <a:latin typeface="Calibri"/>
              <a:ea typeface="Calibri"/>
              <a:cs typeface="Calibri"/>
              <a:sym typeface="Calibri"/>
            </a:endParaRPr>
          </a:p>
        </p:txBody>
      </p:sp>
      <p:pic>
        <p:nvPicPr>
          <p:cNvPr descr="Image result for utn frba" id="177" name="Google Shape;177;p35"/>
          <p:cNvPicPr preferRelativeResize="0"/>
          <p:nvPr/>
        </p:nvPicPr>
        <p:blipFill rotWithShape="1">
          <a:blip r:embed="rId4">
            <a:alphaModFix/>
          </a:blip>
          <a:srcRect b="0" l="0" r="0" t="0"/>
          <a:stretch/>
        </p:blipFill>
        <p:spPr>
          <a:xfrm>
            <a:off x="6846195" y="64396"/>
            <a:ext cx="2611323" cy="952745"/>
          </a:xfrm>
          <a:prstGeom prst="rect">
            <a:avLst/>
          </a:prstGeom>
          <a:noFill/>
          <a:ln>
            <a:noFill/>
          </a:ln>
        </p:spPr>
      </p:pic>
      <p:sp>
        <p:nvSpPr>
          <p:cNvPr id="178" name="Google Shape;178;p35"/>
          <p:cNvSpPr/>
          <p:nvPr/>
        </p:nvSpPr>
        <p:spPr>
          <a:xfrm>
            <a:off x="381554" y="1091668"/>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t/>
            </a:r>
            <a:endParaRPr b="0" i="0" sz="1662" u="none" cap="none" strike="noStrike">
              <a:solidFill>
                <a:schemeClr val="dk1"/>
              </a:solidFill>
              <a:latin typeface="Calibri"/>
              <a:ea typeface="Calibri"/>
              <a:cs typeface="Calibri"/>
              <a:sym typeface="Calibri"/>
            </a:endParaRPr>
          </a:p>
        </p:txBody>
      </p:sp>
      <p:sp>
        <p:nvSpPr>
          <p:cNvPr id="179" name="Google Shape;179;p35"/>
          <p:cNvSpPr txBox="1"/>
          <p:nvPr/>
        </p:nvSpPr>
        <p:spPr>
          <a:xfrm>
            <a:off x="485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None/>
            </a:pPr>
            <a:r>
              <a:rPr b="1" i="0" lang="en-US" sz="1800" u="none" cap="none" strike="noStrike">
                <a:solidFill>
                  <a:srgbClr val="932328"/>
                </a:solidFill>
                <a:latin typeface="Arial"/>
                <a:ea typeface="Arial"/>
                <a:cs typeface="Arial"/>
                <a:sym typeface="Arial"/>
              </a:rPr>
              <a:t>Relaciones Industriales</a:t>
            </a:r>
            <a:endParaRPr b="0" i="0" sz="1800" u="none" cap="none" strike="noStrike">
              <a:solidFill>
                <a:schemeClr val="dk1"/>
              </a:solidFill>
              <a:latin typeface="Twentieth Century"/>
              <a:ea typeface="Twentieth Century"/>
              <a:cs typeface="Twentieth Century"/>
              <a:sym typeface="Twentieth Century"/>
            </a:endParaRPr>
          </a:p>
          <a:p>
            <a:pPr indent="-714375" lvl="0" marL="714375" marR="0" rtl="0" algn="l">
              <a:lnSpc>
                <a:spcPct val="90000"/>
              </a:lnSpc>
              <a:spcBef>
                <a:spcPts val="0"/>
              </a:spcBef>
              <a:spcAft>
                <a:spcPts val="0"/>
              </a:spcAft>
              <a:buNone/>
            </a:pPr>
            <a:r>
              <a:rPr b="1" i="0" lang="en-US" sz="1800" u="none" cap="none" strike="noStrike">
                <a:solidFill>
                  <a:srgbClr val="932328"/>
                </a:solidFill>
                <a:latin typeface="Arial"/>
                <a:ea typeface="Arial"/>
                <a:cs typeface="Arial"/>
                <a:sym typeface="Arial"/>
              </a:rPr>
              <a:t>Aportes y Contribuciones</a:t>
            </a:r>
            <a:endParaRPr b="0" i="0" sz="1800" u="none" cap="none" strike="noStrike">
              <a:solidFill>
                <a:schemeClr val="dk1"/>
              </a:solidFill>
              <a:latin typeface="Twentieth Century"/>
              <a:ea typeface="Twentieth Century"/>
              <a:cs typeface="Twentieth Century"/>
              <a:sym typeface="Twentieth Century"/>
            </a:endParaRPr>
          </a:p>
        </p:txBody>
      </p:sp>
      <p:sp>
        <p:nvSpPr>
          <p:cNvPr id="180" name="Google Shape;180;p35"/>
          <p:cNvSpPr/>
          <p:nvPr/>
        </p:nvSpPr>
        <p:spPr>
          <a:xfrm>
            <a:off x="7095310" y="2571750"/>
            <a:ext cx="1749376" cy="3905250"/>
          </a:xfrm>
          <a:prstGeom prst="rect">
            <a:avLst/>
          </a:prstGeom>
          <a:noFill/>
          <a:ln cap="flat" cmpd="sng" w="5715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181" name="Google Shape;181;p35"/>
          <p:cNvSpPr/>
          <p:nvPr/>
        </p:nvSpPr>
        <p:spPr>
          <a:xfrm>
            <a:off x="6958538" y="5702875"/>
            <a:ext cx="2022900" cy="616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7"/>
          <p:cNvSpPr/>
          <p:nvPr/>
        </p:nvSpPr>
        <p:spPr>
          <a:xfrm>
            <a:off x="1721804" y="2347535"/>
            <a:ext cx="5808713" cy="395723"/>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None/>
            </a:pPr>
            <a:r>
              <a:rPr b="0" i="0" lang="en-US" sz="1800" u="none" cap="none" strike="noStrike">
                <a:solidFill>
                  <a:srgbClr val="932328"/>
                </a:solidFill>
                <a:latin typeface="Arial"/>
                <a:ea typeface="Arial"/>
                <a:cs typeface="Arial"/>
                <a:sym typeface="Arial"/>
              </a:rPr>
              <a:t>Marco legal actual</a:t>
            </a:r>
            <a:endParaRPr b="0" i="0" sz="1400" u="none" cap="none" strike="noStrike">
              <a:solidFill>
                <a:srgbClr val="000000"/>
              </a:solidFill>
              <a:latin typeface="Arial"/>
              <a:ea typeface="Arial"/>
              <a:cs typeface="Arial"/>
              <a:sym typeface="Arial"/>
            </a:endParaRPr>
          </a:p>
        </p:txBody>
      </p:sp>
      <p:sp>
        <p:nvSpPr>
          <p:cNvPr id="187" name="Google Shape;187;p37">
            <a:hlinkClick action="ppaction://hlinksldjump" r:id="rId3"/>
          </p:cNvPr>
          <p:cNvSpPr/>
          <p:nvPr/>
        </p:nvSpPr>
        <p:spPr>
          <a:xfrm>
            <a:off x="1523976" y="2347535"/>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None/>
            </a:pPr>
            <a:r>
              <a:t/>
            </a:r>
            <a:endParaRPr b="0" i="0" sz="1662" u="none" cap="none" strike="noStrike">
              <a:solidFill>
                <a:srgbClr val="932328"/>
              </a:solidFill>
              <a:latin typeface="Arial"/>
              <a:ea typeface="Arial"/>
              <a:cs typeface="Arial"/>
              <a:sym typeface="Arial"/>
            </a:endParaRPr>
          </a:p>
        </p:txBody>
      </p:sp>
      <p:sp>
        <p:nvSpPr>
          <p:cNvPr id="188" name="Google Shape;188;p37"/>
          <p:cNvSpPr/>
          <p:nvPr/>
        </p:nvSpPr>
        <p:spPr>
          <a:xfrm>
            <a:off x="1721804" y="3534505"/>
            <a:ext cx="5808713" cy="395723"/>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None/>
            </a:pPr>
            <a:r>
              <a:rPr b="0" i="0" lang="en-US" sz="1800" u="none" cap="none" strike="noStrike">
                <a:solidFill>
                  <a:srgbClr val="932328"/>
                </a:solidFill>
                <a:latin typeface="Arial"/>
                <a:ea typeface="Arial"/>
                <a:cs typeface="Arial"/>
                <a:sym typeface="Arial"/>
              </a:rPr>
              <a:t>Riesgos del trabajo</a:t>
            </a:r>
            <a:endParaRPr b="0" i="0" sz="1400" u="none" cap="none" strike="noStrike">
              <a:solidFill>
                <a:srgbClr val="000000"/>
              </a:solidFill>
              <a:latin typeface="Arial"/>
              <a:ea typeface="Arial"/>
              <a:cs typeface="Arial"/>
              <a:sym typeface="Arial"/>
            </a:endParaRPr>
          </a:p>
        </p:txBody>
      </p:sp>
      <p:sp>
        <p:nvSpPr>
          <p:cNvPr id="189" name="Google Shape;189;p37">
            <a:hlinkClick action="ppaction://hlinksldjump" r:id="rId4"/>
          </p:cNvPr>
          <p:cNvSpPr/>
          <p:nvPr/>
        </p:nvSpPr>
        <p:spPr>
          <a:xfrm>
            <a:off x="1523976" y="3534505"/>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None/>
            </a:pPr>
            <a:r>
              <a:t/>
            </a:r>
            <a:endParaRPr b="0" i="0" sz="1662" u="none" cap="none" strike="noStrike">
              <a:solidFill>
                <a:srgbClr val="932328"/>
              </a:solidFill>
              <a:latin typeface="Arial"/>
              <a:ea typeface="Arial"/>
              <a:cs typeface="Arial"/>
              <a:sym typeface="Arial"/>
            </a:endParaRPr>
          </a:p>
        </p:txBody>
      </p:sp>
      <p:sp>
        <p:nvSpPr>
          <p:cNvPr id="190" name="Google Shape;190;p37"/>
          <p:cNvSpPr/>
          <p:nvPr/>
        </p:nvSpPr>
        <p:spPr>
          <a:xfrm>
            <a:off x="1721804" y="4127989"/>
            <a:ext cx="5808713" cy="395723"/>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None/>
            </a:pPr>
            <a:r>
              <a:rPr b="0" i="0" lang="en-US" sz="1800" u="none" cap="none" strike="noStrike">
                <a:solidFill>
                  <a:srgbClr val="932328"/>
                </a:solidFill>
                <a:latin typeface="Arial"/>
                <a:ea typeface="Arial"/>
                <a:cs typeface="Arial"/>
                <a:sym typeface="Arial"/>
              </a:rPr>
              <a:t>Seguridad Social</a:t>
            </a:r>
            <a:endParaRPr b="0" i="0" sz="1400" u="none" cap="none" strike="noStrike">
              <a:solidFill>
                <a:srgbClr val="000000"/>
              </a:solidFill>
              <a:latin typeface="Arial"/>
              <a:ea typeface="Arial"/>
              <a:cs typeface="Arial"/>
              <a:sym typeface="Arial"/>
            </a:endParaRPr>
          </a:p>
        </p:txBody>
      </p:sp>
      <p:sp>
        <p:nvSpPr>
          <p:cNvPr id="191" name="Google Shape;191;p37">
            <a:hlinkClick action="ppaction://hlinksldjump" r:id="rId5"/>
          </p:cNvPr>
          <p:cNvSpPr/>
          <p:nvPr/>
        </p:nvSpPr>
        <p:spPr>
          <a:xfrm>
            <a:off x="1523976" y="4127989"/>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None/>
            </a:pPr>
            <a:r>
              <a:t/>
            </a:r>
            <a:endParaRPr b="0" i="0" sz="1662" u="none" cap="none" strike="noStrike">
              <a:solidFill>
                <a:srgbClr val="932328"/>
              </a:solidFill>
              <a:latin typeface="Arial"/>
              <a:ea typeface="Arial"/>
              <a:cs typeface="Arial"/>
              <a:sym typeface="Arial"/>
            </a:endParaRPr>
          </a:p>
        </p:txBody>
      </p:sp>
      <p:sp>
        <p:nvSpPr>
          <p:cNvPr id="192" name="Google Shape;192;p37"/>
          <p:cNvSpPr txBox="1"/>
          <p:nvPr/>
        </p:nvSpPr>
        <p:spPr>
          <a:xfrm>
            <a:off x="609600" y="104111"/>
            <a:ext cx="9144000" cy="1096614"/>
          </a:xfrm>
          <a:prstGeom prst="rect">
            <a:avLst/>
          </a:prstGeom>
          <a:noFill/>
          <a:ln>
            <a:noFill/>
          </a:ln>
        </p:spPr>
        <p:txBody>
          <a:bodyPr anchorCtr="0" anchor="ctr" bIns="33225" lIns="66450" spcFirstLastPara="1" rIns="66450" wrap="square" tIns="232600">
            <a:noAutofit/>
          </a:bodyPr>
          <a:lstStyle/>
          <a:p>
            <a:pPr indent="-659440" lvl="0" marL="659440" marR="0" rtl="0" algn="l">
              <a:lnSpc>
                <a:spcPct val="90000"/>
              </a:lnSpc>
              <a:spcBef>
                <a:spcPts val="0"/>
              </a:spcBef>
              <a:spcAft>
                <a:spcPts val="0"/>
              </a:spcAft>
              <a:buNone/>
            </a:pPr>
            <a:r>
              <a:rPr b="1" i="0" lang="en-US" sz="1845" u="none" cap="none" strike="noStrike">
                <a:solidFill>
                  <a:srgbClr val="932328"/>
                </a:solidFill>
                <a:latin typeface="Arial"/>
                <a:ea typeface="Arial"/>
                <a:cs typeface="Arial"/>
                <a:sym typeface="Arial"/>
              </a:rPr>
              <a:t>Relaciones Industriales</a:t>
            </a:r>
            <a:endParaRPr b="0" i="0" sz="1400" u="none" cap="none" strike="noStrike">
              <a:solidFill>
                <a:srgbClr val="000000"/>
              </a:solidFill>
              <a:latin typeface="Arial"/>
              <a:ea typeface="Arial"/>
              <a:cs typeface="Arial"/>
              <a:sym typeface="Arial"/>
            </a:endParaRPr>
          </a:p>
          <a:p>
            <a:pPr indent="-659440" lvl="0" marL="659440" marR="0" rtl="0" algn="l">
              <a:lnSpc>
                <a:spcPct val="90000"/>
              </a:lnSpc>
              <a:spcBef>
                <a:spcPts val="0"/>
              </a:spcBef>
              <a:spcAft>
                <a:spcPts val="0"/>
              </a:spcAft>
              <a:buNone/>
            </a:pPr>
            <a:r>
              <a:rPr b="1" i="0" lang="en-US" sz="2954" u="none" cap="none" strike="noStrike">
                <a:solidFill>
                  <a:srgbClr val="932328"/>
                </a:solidFill>
                <a:latin typeface="Arial"/>
                <a:ea typeface="Arial"/>
                <a:cs typeface="Arial"/>
                <a:sym typeface="Arial"/>
              </a:rPr>
              <a:t>Agenda</a:t>
            </a:r>
            <a:endParaRPr b="1" i="0" sz="2585" u="none" cap="none" strike="noStrike">
              <a:solidFill>
                <a:srgbClr val="932328"/>
              </a:solidFill>
              <a:latin typeface="Arial"/>
              <a:ea typeface="Arial"/>
              <a:cs typeface="Arial"/>
              <a:sym typeface="Arial"/>
            </a:endParaRPr>
          </a:p>
        </p:txBody>
      </p:sp>
      <p:sp>
        <p:nvSpPr>
          <p:cNvPr id="193" name="Google Shape;193;p37"/>
          <p:cNvSpPr/>
          <p:nvPr/>
        </p:nvSpPr>
        <p:spPr>
          <a:xfrm>
            <a:off x="1721804" y="1817781"/>
            <a:ext cx="5808713" cy="362769"/>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None/>
            </a:pPr>
            <a:r>
              <a:rPr b="0" i="0" lang="en-US" sz="1800" u="none" cap="none" strike="noStrike">
                <a:solidFill>
                  <a:srgbClr val="932328"/>
                </a:solidFill>
                <a:latin typeface="Arial"/>
                <a:ea typeface="Arial"/>
                <a:cs typeface="Arial"/>
                <a:sym typeface="Arial"/>
              </a:rPr>
              <a:t>Derecho Laboral, historia y principios</a:t>
            </a:r>
            <a:endParaRPr b="0" i="0" sz="1400" u="none" cap="none" strike="noStrike">
              <a:solidFill>
                <a:srgbClr val="000000"/>
              </a:solidFill>
              <a:latin typeface="Arial"/>
              <a:ea typeface="Arial"/>
              <a:cs typeface="Arial"/>
              <a:sym typeface="Arial"/>
            </a:endParaRPr>
          </a:p>
        </p:txBody>
      </p:sp>
      <p:sp>
        <p:nvSpPr>
          <p:cNvPr id="194" name="Google Shape;194;p37">
            <a:hlinkClick action="ppaction://hlinksldjump" r:id="rId6"/>
          </p:cNvPr>
          <p:cNvSpPr/>
          <p:nvPr/>
        </p:nvSpPr>
        <p:spPr>
          <a:xfrm>
            <a:off x="1523976" y="1784828"/>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None/>
            </a:pPr>
            <a:r>
              <a:t/>
            </a:r>
            <a:endParaRPr b="0" i="0" sz="1662" u="none" cap="none" strike="noStrike">
              <a:solidFill>
                <a:srgbClr val="932328"/>
              </a:solidFill>
              <a:latin typeface="Arial"/>
              <a:ea typeface="Arial"/>
              <a:cs typeface="Arial"/>
              <a:sym typeface="Arial"/>
            </a:endParaRPr>
          </a:p>
        </p:txBody>
      </p:sp>
      <p:sp>
        <p:nvSpPr>
          <p:cNvPr id="195" name="Google Shape;195;p37"/>
          <p:cNvSpPr/>
          <p:nvPr/>
        </p:nvSpPr>
        <p:spPr>
          <a:xfrm>
            <a:off x="810532" y="4787381"/>
            <a:ext cx="593446" cy="329815"/>
          </a:xfrm>
          <a:prstGeom prst="rightArrow">
            <a:avLst>
              <a:gd fmla="val 50000" name="adj1"/>
              <a:gd fmla="val 50000" name="adj2"/>
            </a:avLst>
          </a:prstGeom>
          <a:solidFill>
            <a:srgbClr val="E4AB1C"/>
          </a:solidFill>
          <a:ln cap="flat" cmpd="sng" w="25400">
            <a:solidFill>
              <a:srgbClr val="BA8915"/>
            </a:solidFill>
            <a:prstDash val="solid"/>
            <a:round/>
            <a:headEnd len="sm" w="sm" type="none"/>
            <a:tailEnd len="sm" w="sm" type="none"/>
          </a:ln>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None/>
            </a:pPr>
            <a:r>
              <a:t/>
            </a:r>
            <a:endParaRPr b="0" i="0" sz="1662" u="none" cap="none" strike="noStrike">
              <a:solidFill>
                <a:schemeClr val="lt1"/>
              </a:solidFill>
              <a:latin typeface="Arial"/>
              <a:ea typeface="Arial"/>
              <a:cs typeface="Arial"/>
              <a:sym typeface="Arial"/>
            </a:endParaRPr>
          </a:p>
        </p:txBody>
      </p:sp>
      <p:sp>
        <p:nvSpPr>
          <p:cNvPr id="196" name="Google Shape;196;p37"/>
          <p:cNvSpPr/>
          <p:nvPr/>
        </p:nvSpPr>
        <p:spPr>
          <a:xfrm>
            <a:off x="7530516" y="1795900"/>
            <a:ext cx="390222" cy="1633101"/>
          </a:xfrm>
          <a:prstGeom prst="rightBracket">
            <a:avLst>
              <a:gd fmla="val 8333" name="adj"/>
            </a:avLst>
          </a:prstGeom>
          <a:noFill/>
          <a:ln cap="flat" cmpd="sng" w="38100">
            <a:solidFill>
              <a:srgbClr val="E4AB1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662" u="none" cap="none" strike="noStrike">
              <a:solidFill>
                <a:schemeClr val="dk1"/>
              </a:solidFill>
              <a:latin typeface="Twentieth Century"/>
              <a:ea typeface="Twentieth Century"/>
              <a:cs typeface="Twentieth Century"/>
              <a:sym typeface="Twentieth Century"/>
            </a:endParaRPr>
          </a:p>
        </p:txBody>
      </p:sp>
      <p:sp>
        <p:nvSpPr>
          <p:cNvPr id="197" name="Google Shape;197;p37"/>
          <p:cNvSpPr txBox="1"/>
          <p:nvPr/>
        </p:nvSpPr>
        <p:spPr>
          <a:xfrm>
            <a:off x="8127933" y="2385087"/>
            <a:ext cx="1128393" cy="6038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62" u="none" cap="none" strike="noStrike">
                <a:solidFill>
                  <a:srgbClr val="C00000"/>
                </a:solidFill>
                <a:latin typeface="Arial"/>
                <a:ea typeface="Arial"/>
                <a:cs typeface="Arial"/>
                <a:sym typeface="Arial"/>
              </a:rPr>
              <a:t>CLASE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662" u="none" cap="none" strike="noStrike">
              <a:solidFill>
                <a:srgbClr val="C00000"/>
              </a:solidFill>
              <a:latin typeface="Twentieth Century"/>
              <a:ea typeface="Twentieth Century"/>
              <a:cs typeface="Twentieth Century"/>
              <a:sym typeface="Twentieth Century"/>
            </a:endParaRPr>
          </a:p>
        </p:txBody>
      </p:sp>
      <p:sp>
        <p:nvSpPr>
          <p:cNvPr id="198" name="Google Shape;198;p37"/>
          <p:cNvSpPr/>
          <p:nvPr/>
        </p:nvSpPr>
        <p:spPr>
          <a:xfrm>
            <a:off x="7530516" y="3575184"/>
            <a:ext cx="404290" cy="1633308"/>
          </a:xfrm>
          <a:prstGeom prst="rightBracket">
            <a:avLst>
              <a:gd fmla="val 0" name="adj"/>
            </a:avLst>
          </a:prstGeom>
          <a:noFill/>
          <a:ln cap="flat" cmpd="sng" w="38100">
            <a:solidFill>
              <a:srgbClr val="E4AB1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662" u="none" cap="none" strike="noStrike">
              <a:solidFill>
                <a:schemeClr val="dk1"/>
              </a:solidFill>
              <a:latin typeface="Twentieth Century"/>
              <a:ea typeface="Twentieth Century"/>
              <a:cs typeface="Twentieth Century"/>
              <a:sym typeface="Twentieth Century"/>
            </a:endParaRPr>
          </a:p>
        </p:txBody>
      </p:sp>
      <p:sp>
        <p:nvSpPr>
          <p:cNvPr id="199" name="Google Shape;199;p37"/>
          <p:cNvSpPr txBox="1"/>
          <p:nvPr/>
        </p:nvSpPr>
        <p:spPr>
          <a:xfrm>
            <a:off x="8125779" y="3930228"/>
            <a:ext cx="1128393" cy="6038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62" u="none" cap="none" strike="noStrike">
                <a:solidFill>
                  <a:srgbClr val="C00000"/>
                </a:solidFill>
                <a:latin typeface="Arial"/>
                <a:ea typeface="Arial"/>
                <a:cs typeface="Arial"/>
                <a:sym typeface="Arial"/>
              </a:rPr>
              <a:t>CLASE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662" u="none" cap="none" strike="noStrike">
              <a:solidFill>
                <a:srgbClr val="C00000"/>
              </a:solidFill>
              <a:latin typeface="Twentieth Century"/>
              <a:ea typeface="Twentieth Century"/>
              <a:cs typeface="Twentieth Century"/>
              <a:sym typeface="Twentieth Century"/>
            </a:endParaRPr>
          </a:p>
        </p:txBody>
      </p:sp>
      <p:sp>
        <p:nvSpPr>
          <p:cNvPr id="200" name="Google Shape;200;p37"/>
          <p:cNvSpPr/>
          <p:nvPr/>
        </p:nvSpPr>
        <p:spPr>
          <a:xfrm>
            <a:off x="1721804" y="2981699"/>
            <a:ext cx="5808713" cy="355042"/>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None/>
            </a:pPr>
            <a:r>
              <a:rPr b="0" i="0" lang="en-US" sz="1800" u="none" cap="none" strike="noStrike">
                <a:solidFill>
                  <a:srgbClr val="932328"/>
                </a:solidFill>
                <a:latin typeface="Arial"/>
                <a:ea typeface="Arial"/>
                <a:cs typeface="Arial"/>
                <a:sym typeface="Arial"/>
              </a:rPr>
              <a:t>Aplicación práctica</a:t>
            </a:r>
            <a:endParaRPr b="0" i="0" sz="1400" u="none" cap="none" strike="noStrike">
              <a:solidFill>
                <a:srgbClr val="000000"/>
              </a:solidFill>
              <a:latin typeface="Arial"/>
              <a:ea typeface="Arial"/>
              <a:cs typeface="Arial"/>
              <a:sym typeface="Arial"/>
            </a:endParaRPr>
          </a:p>
        </p:txBody>
      </p:sp>
      <p:sp>
        <p:nvSpPr>
          <p:cNvPr id="201" name="Google Shape;201;p37">
            <a:hlinkClick action="ppaction://hlinksldjump" r:id="rId7"/>
          </p:cNvPr>
          <p:cNvSpPr/>
          <p:nvPr/>
        </p:nvSpPr>
        <p:spPr>
          <a:xfrm>
            <a:off x="1523976" y="2941019"/>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None/>
            </a:pPr>
            <a:r>
              <a:t/>
            </a:r>
            <a:endParaRPr b="0" i="0" sz="1662" u="none" cap="none" strike="noStrike">
              <a:solidFill>
                <a:srgbClr val="932328"/>
              </a:solidFill>
              <a:latin typeface="Arial"/>
              <a:ea typeface="Arial"/>
              <a:cs typeface="Arial"/>
              <a:sym typeface="Arial"/>
            </a:endParaRPr>
          </a:p>
        </p:txBody>
      </p:sp>
      <p:sp>
        <p:nvSpPr>
          <p:cNvPr id="202" name="Google Shape;202;p37"/>
          <p:cNvSpPr/>
          <p:nvPr/>
        </p:nvSpPr>
        <p:spPr>
          <a:xfrm>
            <a:off x="1707736" y="4721473"/>
            <a:ext cx="5808713" cy="395723"/>
          </a:xfrm>
          <a:prstGeom prst="roundRect">
            <a:avLst>
              <a:gd fmla="val 16667" name="adj"/>
            </a:avLst>
          </a:prstGeom>
          <a:solidFill>
            <a:srgbClr val="F2F2F2"/>
          </a:solidFill>
          <a:ln>
            <a:noFill/>
          </a:ln>
          <a:effectLst>
            <a:outerShdw blurRad="149986" algn="ctr" dir="8460000" dist="250189">
              <a:srgbClr val="000000">
                <a:alpha val="27058"/>
              </a:srgbClr>
            </a:outerShdw>
          </a:effectLst>
        </p:spPr>
        <p:txBody>
          <a:bodyPr anchorCtr="0" anchor="ctr" bIns="42175" lIns="84375" spcFirstLastPara="1" rIns="84375" wrap="square" tIns="42175">
            <a:noAutofit/>
          </a:bodyPr>
          <a:lstStyle/>
          <a:p>
            <a:pPr indent="328254" lvl="0" marL="0" marR="0" rtl="0" algn="l">
              <a:lnSpc>
                <a:spcPct val="100000"/>
              </a:lnSpc>
              <a:spcBef>
                <a:spcPts val="0"/>
              </a:spcBef>
              <a:spcAft>
                <a:spcPts val="0"/>
              </a:spcAft>
              <a:buNone/>
            </a:pPr>
            <a:r>
              <a:rPr b="0" i="0" lang="en-US" sz="1800" u="none" cap="none" strike="noStrike">
                <a:solidFill>
                  <a:srgbClr val="932328"/>
                </a:solidFill>
                <a:latin typeface="Arial"/>
                <a:ea typeface="Arial"/>
                <a:cs typeface="Arial"/>
                <a:sym typeface="Arial"/>
              </a:rPr>
              <a:t>Cierre de contrato</a:t>
            </a:r>
            <a:endParaRPr b="0" i="0" sz="1400" u="none" cap="none" strike="noStrike">
              <a:solidFill>
                <a:srgbClr val="000000"/>
              </a:solidFill>
              <a:latin typeface="Arial"/>
              <a:ea typeface="Arial"/>
              <a:cs typeface="Arial"/>
              <a:sym typeface="Arial"/>
            </a:endParaRPr>
          </a:p>
        </p:txBody>
      </p:sp>
      <p:sp>
        <p:nvSpPr>
          <p:cNvPr id="203" name="Google Shape;203;p37">
            <a:hlinkClick action="ppaction://hlinksldjump" r:id="rId8"/>
          </p:cNvPr>
          <p:cNvSpPr/>
          <p:nvPr/>
        </p:nvSpPr>
        <p:spPr>
          <a:xfrm>
            <a:off x="1509908" y="4721473"/>
            <a:ext cx="527538" cy="395723"/>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None/>
            </a:pPr>
            <a:r>
              <a:t/>
            </a:r>
            <a:endParaRPr b="0" i="0" sz="1662" u="none" cap="none" strike="noStrike">
              <a:solidFill>
                <a:srgbClr val="932328"/>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7" name="Shape 207"/>
        <p:cNvGrpSpPr/>
        <p:nvPr/>
      </p:nvGrpSpPr>
      <p:grpSpPr>
        <a:xfrm>
          <a:off x="0" y="0"/>
          <a:ext cx="0" cy="0"/>
          <a:chOff x="0" y="0"/>
          <a:chExt cx="0" cy="0"/>
        </a:xfrm>
      </p:grpSpPr>
      <p:sp>
        <p:nvSpPr>
          <p:cNvPr id="208" name="Google Shape;208;p38"/>
          <p:cNvSpPr/>
          <p:nvPr/>
        </p:nvSpPr>
        <p:spPr>
          <a:xfrm>
            <a:off x="1623787" y="2158159"/>
            <a:ext cx="6231762" cy="428628"/>
          </a:xfrm>
          <a:prstGeom prst="roundRect">
            <a:avLst>
              <a:gd fmla="val 16667" name="adj"/>
            </a:avLst>
          </a:prstGeom>
          <a:solidFill>
            <a:srgbClr val="F2F2F2"/>
          </a:solidFill>
          <a:ln>
            <a:noFill/>
          </a:ln>
          <a:effectLst>
            <a:outerShdw blurRad="149987" algn="ctr" dir="8460000" dist="250190">
              <a:srgbClr val="000000">
                <a:alpha val="27450"/>
              </a:srgbClr>
            </a:outerShdw>
          </a:effectLst>
        </p:spPr>
        <p:txBody>
          <a:bodyPr anchorCtr="0" anchor="ctr" bIns="45700" lIns="91425" spcFirstLastPara="1" rIns="91425" wrap="square" tIns="45700">
            <a:noAutofit/>
          </a:bodyPr>
          <a:lstStyle/>
          <a:p>
            <a:pPr indent="36195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2060"/>
                </a:solidFill>
                <a:latin typeface="Calibri"/>
                <a:ea typeface="Calibri"/>
                <a:cs typeface="Calibri"/>
                <a:sym typeface="Calibri"/>
              </a:rPr>
              <a:t>Extinción de contrato por tiempo determinado o indeterminado</a:t>
            </a:r>
            <a:endParaRPr b="0" i="0" sz="1600" u="none" cap="none" strike="noStrike">
              <a:solidFill>
                <a:srgbClr val="002060"/>
              </a:solidFill>
              <a:latin typeface="Calibri"/>
              <a:ea typeface="Calibri"/>
              <a:cs typeface="Calibri"/>
              <a:sym typeface="Calibri"/>
            </a:endParaRPr>
          </a:p>
        </p:txBody>
      </p:sp>
      <p:sp>
        <p:nvSpPr>
          <p:cNvPr id="209" name="Google Shape;209;p38"/>
          <p:cNvSpPr/>
          <p:nvPr/>
        </p:nvSpPr>
        <p:spPr>
          <a:xfrm>
            <a:off x="1431448" y="2129864"/>
            <a:ext cx="571504" cy="428628"/>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None/>
            </a:pPr>
            <a:r>
              <a:t/>
            </a:r>
            <a:endParaRPr b="0" i="0" sz="1662" u="none" cap="none" strike="noStrike">
              <a:solidFill>
                <a:srgbClr val="932328"/>
              </a:solidFill>
              <a:latin typeface="Arial"/>
              <a:ea typeface="Arial"/>
              <a:cs typeface="Arial"/>
              <a:sym typeface="Arial"/>
            </a:endParaRPr>
          </a:p>
        </p:txBody>
      </p:sp>
      <p:sp>
        <p:nvSpPr>
          <p:cNvPr id="210" name="Google Shape;210;p38"/>
          <p:cNvSpPr/>
          <p:nvPr/>
        </p:nvSpPr>
        <p:spPr>
          <a:xfrm>
            <a:off x="1717200" y="2756988"/>
            <a:ext cx="6100985" cy="416150"/>
          </a:xfrm>
          <a:prstGeom prst="roundRect">
            <a:avLst>
              <a:gd fmla="val 16667" name="adj"/>
            </a:avLst>
          </a:prstGeom>
          <a:solidFill>
            <a:srgbClr val="F2F2F2"/>
          </a:solidFill>
          <a:ln>
            <a:noFill/>
          </a:ln>
          <a:effectLst>
            <a:outerShdw blurRad="149987" algn="ctr" dir="8460000" dist="250190">
              <a:srgbClr val="000000">
                <a:alpha val="27450"/>
              </a:srgbClr>
            </a:outerShdw>
          </a:effectLst>
        </p:spPr>
        <p:txBody>
          <a:bodyPr anchorCtr="0" anchor="ctr" bIns="45700" lIns="91425" spcFirstLastPara="1" rIns="91425" wrap="square" tIns="45700">
            <a:noAutofit/>
          </a:bodyPr>
          <a:lstStyle/>
          <a:p>
            <a:pPr indent="361950" lvl="0" marL="0" marR="0" rtl="0" algn="l">
              <a:lnSpc>
                <a:spcPct val="100000"/>
              </a:lnSpc>
              <a:spcBef>
                <a:spcPts val="0"/>
              </a:spcBef>
              <a:spcAft>
                <a:spcPts val="0"/>
              </a:spcAft>
              <a:buNone/>
            </a:pPr>
            <a:r>
              <a:rPr b="0" i="0" lang="en-US" sz="1800" u="none" cap="none" strike="noStrike">
                <a:solidFill>
                  <a:srgbClr val="002060"/>
                </a:solidFill>
                <a:latin typeface="Calibri"/>
                <a:ea typeface="Calibri"/>
                <a:cs typeface="Calibri"/>
                <a:sym typeface="Calibri"/>
              </a:rPr>
              <a:t>Renuncia / abandono de trabajo</a:t>
            </a:r>
            <a:endParaRPr b="0" i="0" sz="1800" u="none" cap="none" strike="noStrike">
              <a:solidFill>
                <a:srgbClr val="002060"/>
              </a:solidFill>
              <a:latin typeface="Calibri"/>
              <a:ea typeface="Calibri"/>
              <a:cs typeface="Calibri"/>
              <a:sym typeface="Calibri"/>
            </a:endParaRPr>
          </a:p>
        </p:txBody>
      </p:sp>
      <p:sp>
        <p:nvSpPr>
          <p:cNvPr id="211" name="Google Shape;211;p38"/>
          <p:cNvSpPr/>
          <p:nvPr/>
        </p:nvSpPr>
        <p:spPr>
          <a:xfrm>
            <a:off x="1431448" y="2744510"/>
            <a:ext cx="571504" cy="428628"/>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None/>
            </a:pPr>
            <a:r>
              <a:t/>
            </a:r>
            <a:endParaRPr b="0" i="0" sz="1662" u="none" cap="none" strike="noStrike">
              <a:solidFill>
                <a:srgbClr val="932328"/>
              </a:solidFill>
              <a:latin typeface="Arial"/>
              <a:ea typeface="Arial"/>
              <a:cs typeface="Arial"/>
              <a:sym typeface="Arial"/>
            </a:endParaRPr>
          </a:p>
        </p:txBody>
      </p:sp>
      <p:sp>
        <p:nvSpPr>
          <p:cNvPr id="212" name="Google Shape;212;p38"/>
          <p:cNvSpPr/>
          <p:nvPr/>
        </p:nvSpPr>
        <p:spPr>
          <a:xfrm>
            <a:off x="1717199" y="3429000"/>
            <a:ext cx="6100985" cy="504056"/>
          </a:xfrm>
          <a:prstGeom prst="roundRect">
            <a:avLst>
              <a:gd fmla="val 16667" name="adj"/>
            </a:avLst>
          </a:prstGeom>
          <a:solidFill>
            <a:srgbClr val="F2F2F2"/>
          </a:solidFill>
          <a:ln>
            <a:noFill/>
          </a:ln>
          <a:effectLst>
            <a:outerShdw blurRad="149987" algn="ctr" dir="8460000" dist="250190">
              <a:srgbClr val="000000">
                <a:alpha val="27450"/>
              </a:srgbClr>
            </a:outerShdw>
          </a:effectLst>
        </p:spPr>
        <p:txBody>
          <a:bodyPr anchorCtr="0" anchor="ctr" bIns="45700" lIns="91425" spcFirstLastPara="1" rIns="91425" wrap="square" tIns="45700">
            <a:noAutofit/>
          </a:bodyPr>
          <a:lstStyle/>
          <a:p>
            <a:pPr indent="36195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2060"/>
                </a:solidFill>
                <a:latin typeface="Calibri"/>
                <a:ea typeface="Calibri"/>
                <a:cs typeface="Calibri"/>
                <a:sym typeface="Calibri"/>
              </a:rPr>
              <a:t> Despido indirecto /Despido sin causa / con causa</a:t>
            </a:r>
            <a:endParaRPr b="0" i="0" sz="1400" u="none" cap="none" strike="noStrike">
              <a:solidFill>
                <a:srgbClr val="000000"/>
              </a:solidFill>
              <a:latin typeface="Arial"/>
              <a:ea typeface="Arial"/>
              <a:cs typeface="Arial"/>
              <a:sym typeface="Arial"/>
            </a:endParaRPr>
          </a:p>
        </p:txBody>
      </p:sp>
      <p:sp>
        <p:nvSpPr>
          <p:cNvPr id="213" name="Google Shape;213;p38"/>
          <p:cNvSpPr/>
          <p:nvPr/>
        </p:nvSpPr>
        <p:spPr>
          <a:xfrm>
            <a:off x="1432390" y="3430679"/>
            <a:ext cx="571504" cy="428628"/>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None/>
            </a:pPr>
            <a:r>
              <a:t/>
            </a:r>
            <a:endParaRPr b="0" i="0" sz="1662" u="none" cap="none" strike="noStrike">
              <a:solidFill>
                <a:srgbClr val="932328"/>
              </a:solidFill>
              <a:latin typeface="Arial"/>
              <a:ea typeface="Arial"/>
              <a:cs typeface="Arial"/>
              <a:sym typeface="Arial"/>
            </a:endParaRPr>
          </a:p>
        </p:txBody>
      </p:sp>
      <p:sp>
        <p:nvSpPr>
          <p:cNvPr id="214" name="Google Shape;214;p38"/>
          <p:cNvSpPr/>
          <p:nvPr/>
        </p:nvSpPr>
        <p:spPr>
          <a:xfrm>
            <a:off x="1538576" y="1496442"/>
            <a:ext cx="6508144" cy="428628"/>
          </a:xfrm>
          <a:prstGeom prst="roundRect">
            <a:avLst>
              <a:gd fmla="val 16667" name="adj"/>
            </a:avLst>
          </a:prstGeom>
          <a:solidFill>
            <a:srgbClr val="DBDADA"/>
          </a:solidFill>
          <a:ln>
            <a:noFill/>
          </a:ln>
          <a:effectLst>
            <a:outerShdw blurRad="149987" algn="ctr" dir="8460000" dist="250190">
              <a:srgbClr val="000000">
                <a:alpha val="27450"/>
              </a:srgbClr>
            </a:outerShdw>
          </a:effectLst>
        </p:spPr>
        <p:txBody>
          <a:bodyPr anchorCtr="0" anchor="ctr" bIns="45700" lIns="91425" spcFirstLastPara="1" rIns="91425" wrap="square" tIns="45700">
            <a:noAutofit/>
          </a:bodyPr>
          <a:lstStyle/>
          <a:p>
            <a:pPr indent="36195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2060"/>
                </a:solidFill>
                <a:latin typeface="Calibri"/>
                <a:ea typeface="Calibri"/>
                <a:cs typeface="Calibri"/>
                <a:sym typeface="Calibri"/>
              </a:rPr>
              <a:t>Causas por las que finaliza un contrato de trabajo</a:t>
            </a:r>
            <a:endParaRPr b="0" i="0" sz="1800" u="none" cap="none" strike="noStrike">
              <a:solidFill>
                <a:srgbClr val="002060"/>
              </a:solidFill>
              <a:latin typeface="Calibri"/>
              <a:ea typeface="Calibri"/>
              <a:cs typeface="Calibri"/>
              <a:sym typeface="Calibri"/>
            </a:endParaRPr>
          </a:p>
        </p:txBody>
      </p:sp>
      <p:sp>
        <p:nvSpPr>
          <p:cNvPr id="215" name="Google Shape;215;p38"/>
          <p:cNvSpPr/>
          <p:nvPr/>
        </p:nvSpPr>
        <p:spPr>
          <a:xfrm>
            <a:off x="1280592" y="1484784"/>
            <a:ext cx="571504" cy="428628"/>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None/>
            </a:pPr>
            <a:r>
              <a:t/>
            </a:r>
            <a:endParaRPr b="0" i="0" sz="1662" u="none" cap="none" strike="noStrike">
              <a:solidFill>
                <a:srgbClr val="932328"/>
              </a:solidFill>
              <a:latin typeface="Arial"/>
              <a:ea typeface="Arial"/>
              <a:cs typeface="Arial"/>
              <a:sym typeface="Arial"/>
            </a:endParaRPr>
          </a:p>
        </p:txBody>
      </p:sp>
      <p:sp>
        <p:nvSpPr>
          <p:cNvPr id="216" name="Google Shape;216;p38"/>
          <p:cNvSpPr/>
          <p:nvPr/>
        </p:nvSpPr>
        <p:spPr>
          <a:xfrm>
            <a:off x="1717200" y="4186794"/>
            <a:ext cx="6100984" cy="504056"/>
          </a:xfrm>
          <a:prstGeom prst="roundRect">
            <a:avLst>
              <a:gd fmla="val 16667" name="adj"/>
            </a:avLst>
          </a:prstGeom>
          <a:solidFill>
            <a:srgbClr val="F2F2F2"/>
          </a:solidFill>
          <a:ln>
            <a:noFill/>
          </a:ln>
          <a:effectLst>
            <a:outerShdw blurRad="149987" algn="ctr" dir="8460000" dist="250190">
              <a:srgbClr val="000000">
                <a:alpha val="27450"/>
              </a:srgbClr>
            </a:outerShdw>
          </a:effectLst>
        </p:spPr>
        <p:txBody>
          <a:bodyPr anchorCtr="0" anchor="ctr" bIns="45700" lIns="91425" spcFirstLastPara="1" rIns="91425" wrap="square" tIns="45700">
            <a:noAutofit/>
          </a:bodyPr>
          <a:lstStyle/>
          <a:p>
            <a:pPr indent="36195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2060"/>
                </a:solidFill>
                <a:latin typeface="Calibri"/>
                <a:ea typeface="Calibri"/>
                <a:cs typeface="Calibri"/>
                <a:sym typeface="Calibri"/>
              </a:rPr>
              <a:t> Documentación en cierre de contratos</a:t>
            </a:r>
            <a:endParaRPr b="0" i="0" sz="1400" u="none" cap="none" strike="noStrike">
              <a:solidFill>
                <a:srgbClr val="000000"/>
              </a:solidFill>
              <a:latin typeface="Arial"/>
              <a:ea typeface="Arial"/>
              <a:cs typeface="Arial"/>
              <a:sym typeface="Arial"/>
            </a:endParaRPr>
          </a:p>
        </p:txBody>
      </p:sp>
      <p:sp>
        <p:nvSpPr>
          <p:cNvPr id="217" name="Google Shape;217;p38"/>
          <p:cNvSpPr/>
          <p:nvPr/>
        </p:nvSpPr>
        <p:spPr>
          <a:xfrm>
            <a:off x="1468812" y="4186794"/>
            <a:ext cx="571504" cy="428628"/>
          </a:xfrm>
          <a:prstGeom prst="ellipse">
            <a:avLst/>
          </a:prstGeom>
          <a:solidFill>
            <a:srgbClr val="C00000"/>
          </a:solidFill>
          <a:ln>
            <a:noFill/>
          </a:ln>
          <a:effectLst>
            <a:outerShdw blurRad="44450" algn="ctr" dir="5400000" dist="27939">
              <a:srgbClr val="000000">
                <a:alpha val="30980"/>
              </a:srgbClr>
            </a:outerShdw>
          </a:effectLst>
        </p:spPr>
        <p:txBody>
          <a:bodyPr anchorCtr="0" anchor="ctr" bIns="42175" lIns="84375" spcFirstLastPara="1" rIns="84375" wrap="square" tIns="42175">
            <a:noAutofit/>
          </a:bodyPr>
          <a:lstStyle/>
          <a:p>
            <a:pPr indent="0" lvl="0" marL="0" marR="0" rtl="0" algn="ctr">
              <a:lnSpc>
                <a:spcPct val="100000"/>
              </a:lnSpc>
              <a:spcBef>
                <a:spcPts val="0"/>
              </a:spcBef>
              <a:spcAft>
                <a:spcPts val="0"/>
              </a:spcAft>
              <a:buNone/>
            </a:pPr>
            <a:r>
              <a:t/>
            </a:r>
            <a:endParaRPr b="0" i="0" sz="1662" u="none" cap="none" strike="noStrike">
              <a:solidFill>
                <a:srgbClr val="932328"/>
              </a:solidFill>
              <a:latin typeface="Arial"/>
              <a:ea typeface="Arial"/>
              <a:cs typeface="Arial"/>
              <a:sym typeface="Arial"/>
            </a:endParaRPr>
          </a:p>
        </p:txBody>
      </p:sp>
      <p:sp>
        <p:nvSpPr>
          <p:cNvPr id="218" name="Google Shape;218;p38"/>
          <p:cNvSpPr txBox="1"/>
          <p:nvPr/>
        </p:nvSpPr>
        <p:spPr>
          <a:xfrm>
            <a:off x="0" y="-24"/>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UNIDAD 11: Extinción del contrato de trabajo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pic>
        <p:nvPicPr>
          <p:cNvPr id="223" name="Google Shape;223;p39"/>
          <p:cNvPicPr preferRelativeResize="0"/>
          <p:nvPr/>
        </p:nvPicPr>
        <p:blipFill rotWithShape="1">
          <a:blip r:embed="rId3">
            <a:alphaModFix/>
          </a:blip>
          <a:srcRect b="0" l="0" r="0" t="0"/>
          <a:stretch/>
        </p:blipFill>
        <p:spPr>
          <a:xfrm>
            <a:off x="760234" y="2137024"/>
            <a:ext cx="5152311" cy="2899210"/>
          </a:xfrm>
          <a:prstGeom prst="rect">
            <a:avLst/>
          </a:prstGeom>
          <a:noFill/>
          <a:ln>
            <a:noFill/>
          </a:ln>
        </p:spPr>
      </p:pic>
      <p:pic>
        <p:nvPicPr>
          <p:cNvPr id="224" name="Google Shape;224;p39"/>
          <p:cNvPicPr preferRelativeResize="0"/>
          <p:nvPr/>
        </p:nvPicPr>
        <p:blipFill rotWithShape="1">
          <a:blip r:embed="rId4">
            <a:alphaModFix/>
          </a:blip>
          <a:srcRect b="27137" l="23309" r="21306" t="13144"/>
          <a:stretch/>
        </p:blipFill>
        <p:spPr>
          <a:xfrm>
            <a:off x="5912545" y="2137024"/>
            <a:ext cx="1600777" cy="1178053"/>
          </a:xfrm>
          <a:prstGeom prst="rect">
            <a:avLst/>
          </a:prstGeom>
          <a:noFill/>
          <a:ln>
            <a:noFill/>
          </a:ln>
        </p:spPr>
      </p:pic>
      <p:sp>
        <p:nvSpPr>
          <p:cNvPr id="225" name="Google Shape;225;p39"/>
          <p:cNvSpPr txBox="1"/>
          <p:nvPr/>
        </p:nvSpPr>
        <p:spPr>
          <a:xfrm>
            <a:off x="6569611" y="3431906"/>
            <a:ext cx="2968283" cy="230832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800" u="none" cap="none" strike="noStrike">
                <a:solidFill>
                  <a:srgbClr val="000000"/>
                </a:solidFill>
                <a:latin typeface="Calibri"/>
                <a:ea typeface="Calibri"/>
                <a:cs typeface="Calibri"/>
                <a:sym typeface="Calibri"/>
              </a:rPr>
              <a:t>¿Alguna vez renunciaste?</a:t>
            </a:r>
            <a:endParaRPr/>
          </a:p>
          <a:p>
            <a:pPr indent="0" lvl="0" marL="0" marR="0" rtl="0" algn="ctr">
              <a:lnSpc>
                <a:spcPct val="100000"/>
              </a:lnSpc>
              <a:spcBef>
                <a:spcPts val="0"/>
              </a:spcBef>
              <a:spcAft>
                <a:spcPts val="0"/>
              </a:spcAft>
              <a:buNone/>
            </a:pPr>
            <a:r>
              <a:t/>
            </a:r>
            <a:endParaRPr b="1" i="0" sz="18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None/>
            </a:pPr>
            <a:r>
              <a:rPr b="1" i="0" lang="en-US" sz="1800" u="none" cap="none" strike="noStrike">
                <a:solidFill>
                  <a:srgbClr val="000000"/>
                </a:solidFill>
                <a:latin typeface="Calibri"/>
                <a:ea typeface="Calibri"/>
                <a:cs typeface="Calibri"/>
                <a:sym typeface="Calibri"/>
              </a:rPr>
              <a:t>¿Te despidieron?</a:t>
            </a:r>
            <a:endParaRPr/>
          </a:p>
          <a:p>
            <a:pPr indent="0" lvl="0" marL="0" marR="0" rtl="0" algn="ctr">
              <a:lnSpc>
                <a:spcPct val="100000"/>
              </a:lnSpc>
              <a:spcBef>
                <a:spcPts val="0"/>
              </a:spcBef>
              <a:spcAft>
                <a:spcPts val="0"/>
              </a:spcAft>
              <a:buNone/>
            </a:pPr>
            <a:r>
              <a:t/>
            </a:r>
            <a:endParaRPr b="1" i="0" sz="18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None/>
            </a:pPr>
            <a:r>
              <a:rPr b="1" i="0" lang="en-US" sz="1800" u="none" cap="none" strike="noStrike">
                <a:solidFill>
                  <a:srgbClr val="000000"/>
                </a:solidFill>
                <a:latin typeface="Calibri"/>
                <a:ea typeface="Calibri"/>
                <a:cs typeface="Calibri"/>
                <a:sym typeface="Calibri"/>
              </a:rPr>
              <a:t>¿Entendiste lo que cobraste?</a:t>
            </a:r>
            <a:endParaRPr/>
          </a:p>
          <a:p>
            <a:pPr indent="0" lvl="0" marL="0" marR="0" rtl="0" algn="ctr">
              <a:lnSpc>
                <a:spcPct val="100000"/>
              </a:lnSpc>
              <a:spcBef>
                <a:spcPts val="0"/>
              </a:spcBef>
              <a:spcAft>
                <a:spcPts val="0"/>
              </a:spcAft>
              <a:buNone/>
            </a:pPr>
            <a:r>
              <a:t/>
            </a:r>
            <a:endParaRPr b="1" i="0" sz="18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None/>
            </a:pPr>
            <a:r>
              <a:rPr b="1" i="0" lang="en-US" sz="1800" u="none" cap="none" strike="noStrike">
                <a:solidFill>
                  <a:srgbClr val="000000"/>
                </a:solidFill>
                <a:latin typeface="Calibri"/>
                <a:ea typeface="Calibri"/>
                <a:cs typeface="Calibri"/>
                <a:sym typeface="Calibri"/>
              </a:rPr>
              <a:t>¿Tuviste que estimar costos de indemnización?</a:t>
            </a:r>
            <a:endParaRPr b="1" i="0" sz="1800" u="none" cap="none" strike="noStrike">
              <a:solidFill>
                <a:srgbClr val="000000"/>
              </a:solidFill>
              <a:latin typeface="Calibri"/>
              <a:ea typeface="Calibri"/>
              <a:cs typeface="Calibri"/>
              <a:sym typeface="Calibri"/>
            </a:endParaRPr>
          </a:p>
        </p:txBody>
      </p:sp>
      <p:sp>
        <p:nvSpPr>
          <p:cNvPr id="226" name="Google Shape;226;p39"/>
          <p:cNvSpPr txBox="1"/>
          <p:nvPr/>
        </p:nvSpPr>
        <p:spPr>
          <a:xfrm>
            <a:off x="0" y="-24"/>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UNIDAD 11: Extinción del contrato de trabajo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
          <p:cNvSpPr txBox="1"/>
          <p:nvPr/>
        </p:nvSpPr>
        <p:spPr>
          <a:xfrm>
            <a:off x="1967138" y="2060575"/>
            <a:ext cx="6303385" cy="424727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800"/>
              <a:buFont typeface="Noto Sans Symbols"/>
              <a:buChar char="⮚"/>
            </a:pPr>
            <a:r>
              <a:rPr b="0" i="0" lang="en-US" sz="1800" u="none" cap="none" strike="noStrike">
                <a:solidFill>
                  <a:srgbClr val="FF0000"/>
                </a:solidFill>
                <a:latin typeface="Arial"/>
                <a:ea typeface="Arial"/>
                <a:cs typeface="Arial"/>
                <a:sym typeface="Arial"/>
              </a:rPr>
              <a:t>DESPIDO EN PERIODO PRUEBA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800"/>
              <a:buFont typeface="Noto Sans Symbols"/>
              <a:buChar char="⮚"/>
            </a:pPr>
            <a:r>
              <a:rPr b="0" i="0" lang="en-US" sz="1800" u="none" cap="none" strike="noStrike">
                <a:solidFill>
                  <a:srgbClr val="FF0000"/>
                </a:solidFill>
                <a:latin typeface="Arial"/>
                <a:ea typeface="Arial"/>
                <a:cs typeface="Arial"/>
                <a:sym typeface="Arial"/>
              </a:rPr>
              <a:t> RENUNCIA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rgbClr val="002060"/>
                </a:solidFill>
                <a:latin typeface="Arial"/>
                <a:ea typeface="Arial"/>
                <a:cs typeface="Arial"/>
                <a:sym typeface="Arial"/>
              </a:rPr>
              <a:t>MUTUO ACUERDO</a:t>
            </a:r>
            <a:endParaRPr b="0" i="0" sz="1400" u="none" cap="none" strike="noStrike">
              <a:solidFill>
                <a:srgbClr val="00206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800"/>
              <a:buFont typeface="Noto Sans Symbols"/>
              <a:buChar char="⮚"/>
            </a:pPr>
            <a:r>
              <a:rPr b="0" i="0" lang="en-US" sz="1800" u="none" cap="none" strike="noStrike">
                <a:solidFill>
                  <a:srgbClr val="FF0000"/>
                </a:solidFill>
                <a:latin typeface="Arial"/>
                <a:ea typeface="Arial"/>
                <a:cs typeface="Arial"/>
                <a:sym typeface="Arial"/>
              </a:rPr>
              <a:t>DESPIDO SIN CAUSA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800"/>
              <a:buFont typeface="Noto Sans Symbols"/>
              <a:buChar char="⮚"/>
            </a:pPr>
            <a:r>
              <a:rPr b="0" i="0" lang="en-US" sz="1800" u="none" cap="none" strike="noStrike">
                <a:solidFill>
                  <a:srgbClr val="FF0000"/>
                </a:solidFill>
                <a:latin typeface="Arial"/>
                <a:ea typeface="Arial"/>
                <a:cs typeface="Arial"/>
                <a:sym typeface="Arial"/>
              </a:rPr>
              <a:t>DESPIDO CON JUSTA CAUSA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800"/>
              <a:buFont typeface="Noto Sans Symbols"/>
              <a:buChar char="⮚"/>
            </a:pPr>
            <a:r>
              <a:rPr b="0" i="0" lang="en-US" sz="1800" u="none" cap="none" strike="noStrike">
                <a:solidFill>
                  <a:srgbClr val="FF0000"/>
                </a:solidFill>
                <a:latin typeface="Arial"/>
                <a:ea typeface="Arial"/>
                <a:cs typeface="Arial"/>
                <a:sym typeface="Arial"/>
              </a:rPr>
              <a:t>POR ABANDONO DE TRABAJO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rgbClr val="002060"/>
                </a:solidFill>
                <a:latin typeface="Arial"/>
                <a:ea typeface="Arial"/>
                <a:cs typeface="Arial"/>
                <a:sym typeface="Arial"/>
              </a:rPr>
              <a:t>POR FUERZA MAYOR (disminución o falta de trabajo)</a:t>
            </a:r>
            <a:endParaRPr b="0" i="0" sz="1400" u="none" cap="none" strike="noStrike">
              <a:solidFill>
                <a:srgbClr val="00206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rgbClr val="002060"/>
                </a:solidFill>
                <a:latin typeface="Arial"/>
                <a:ea typeface="Arial"/>
                <a:cs typeface="Arial"/>
                <a:sym typeface="Arial"/>
              </a:rPr>
              <a:t>POR MUERTE DEL TRABAJADOR</a:t>
            </a:r>
            <a:endParaRPr b="0" i="0" sz="1400" u="none" cap="none" strike="noStrike">
              <a:solidFill>
                <a:srgbClr val="00206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rgbClr val="002060"/>
                </a:solidFill>
                <a:latin typeface="Arial"/>
                <a:ea typeface="Arial"/>
                <a:cs typeface="Arial"/>
                <a:sym typeface="Arial"/>
              </a:rPr>
              <a:t>POR MUERTE DEL EMPLEADOR</a:t>
            </a:r>
            <a:endParaRPr b="0" i="0" sz="1400" u="none" cap="none" strike="noStrike">
              <a:solidFill>
                <a:srgbClr val="00206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rgbClr val="002060"/>
                </a:solidFill>
                <a:latin typeface="Arial"/>
                <a:ea typeface="Arial"/>
                <a:cs typeface="Arial"/>
                <a:sym typeface="Arial"/>
              </a:rPr>
              <a:t>POR QUIEBRA O CONCURSO</a:t>
            </a:r>
            <a:endParaRPr b="0" i="0" sz="1400" u="none" cap="none" strike="noStrike">
              <a:solidFill>
                <a:srgbClr val="00206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rgbClr val="002060"/>
                </a:solidFill>
                <a:latin typeface="Arial"/>
                <a:ea typeface="Arial"/>
                <a:cs typeface="Arial"/>
                <a:sym typeface="Arial"/>
              </a:rPr>
              <a:t>POR VENCIMIENTO DEL PLAZO (ejemplo plazo fijo)</a:t>
            </a:r>
            <a:endParaRPr b="0" i="0" sz="1400" u="none" cap="none" strike="noStrike">
              <a:solidFill>
                <a:srgbClr val="00206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rgbClr val="002060"/>
                </a:solidFill>
                <a:latin typeface="Arial"/>
                <a:ea typeface="Arial"/>
                <a:cs typeface="Arial"/>
                <a:sym typeface="Arial"/>
              </a:rPr>
              <a:t>POR JUBILACIÓN DEL TRABAJADOR</a:t>
            </a:r>
            <a:endParaRPr b="0" i="0" sz="1400" u="none" cap="none" strike="noStrike">
              <a:solidFill>
                <a:srgbClr val="00206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rgbClr val="002060"/>
                </a:solidFill>
                <a:latin typeface="Arial"/>
                <a:ea typeface="Arial"/>
                <a:cs typeface="Arial"/>
                <a:sym typeface="Arial"/>
              </a:rPr>
              <a:t>POR INCAPACIDAD PERMANENTE</a:t>
            </a:r>
            <a:endParaRPr b="0" i="0" sz="1400" u="none" cap="none" strike="noStrike">
              <a:solidFill>
                <a:srgbClr val="00206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Arial"/>
              <a:ea typeface="Arial"/>
              <a:cs typeface="Arial"/>
              <a:sym typeface="Arial"/>
            </a:endParaRPr>
          </a:p>
        </p:txBody>
      </p:sp>
      <p:sp>
        <p:nvSpPr>
          <p:cNvPr id="232" name="Google Shape;232;p3"/>
          <p:cNvSpPr txBox="1"/>
          <p:nvPr/>
        </p:nvSpPr>
        <p:spPr>
          <a:xfrm>
            <a:off x="287968" y="1463568"/>
            <a:ext cx="9271668"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2060"/>
                </a:solidFill>
                <a:latin typeface="Calibri"/>
                <a:ea typeface="Calibri"/>
                <a:cs typeface="Calibri"/>
                <a:sym typeface="Calibri"/>
              </a:rPr>
              <a:t>Ley 20744 Titulo XII</a:t>
            </a:r>
            <a:endParaRPr b="0" i="0" sz="1400" u="none" cap="none" strike="noStrike">
              <a:solidFill>
                <a:srgbClr val="00206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2060"/>
                </a:solidFill>
                <a:latin typeface="Calibri"/>
                <a:ea typeface="Calibri"/>
                <a:cs typeface="Calibri"/>
                <a:sym typeface="Calibri"/>
              </a:rPr>
              <a:t>De la Extinción del Contrato de Trabajo</a:t>
            </a:r>
            <a:endParaRPr b="0" i="0" sz="1400" u="none" cap="none" strike="noStrike">
              <a:solidFill>
                <a:srgbClr val="00206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3" name="Google Shape;233;p3"/>
          <p:cNvSpPr txBox="1"/>
          <p:nvPr/>
        </p:nvSpPr>
        <p:spPr>
          <a:xfrm>
            <a:off x="0" y="-24"/>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UNIDAD 11: Extinción del contrato de trabajo</a:t>
            </a:r>
            <a:endParaRPr/>
          </a:p>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Causas por las que puede finalizar la relación laboral</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1"/>
                                        </p:tgtEl>
                                        <p:attrNameLst>
                                          <p:attrName>style.visibility</p:attrName>
                                        </p:attrNameLst>
                                      </p:cBhvr>
                                      <p:to>
                                        <p:strVal val="visible"/>
                                      </p:to>
                                    </p:set>
                                    <p:anim calcmode="lin" valueType="num">
                                      <p:cBhvr additive="base">
                                        <p:cTn dur="500"/>
                                        <p:tgtEl>
                                          <p:spTgt spid="23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
          <p:cNvSpPr txBox="1"/>
          <p:nvPr/>
        </p:nvSpPr>
        <p:spPr>
          <a:xfrm>
            <a:off x="111082" y="1187976"/>
            <a:ext cx="93585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2060"/>
                </a:solidFill>
                <a:latin typeface="Calibri"/>
                <a:ea typeface="Calibri"/>
                <a:cs typeface="Calibri"/>
                <a:sym typeface="Calibri"/>
              </a:rPr>
              <a:t>El contrato de trabajo no podrá ser disuelto por voluntad de una de las partes sin previo aviso y por escrito. </a:t>
            </a:r>
            <a:endParaRPr/>
          </a:p>
        </p:txBody>
      </p:sp>
      <p:sp>
        <p:nvSpPr>
          <p:cNvPr id="241" name="Google Shape;241;p4"/>
          <p:cNvSpPr txBox="1"/>
          <p:nvPr/>
        </p:nvSpPr>
        <p:spPr>
          <a:xfrm>
            <a:off x="0" y="-24"/>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UNIDAD 11: Extinción del contrato de trabajo</a:t>
            </a:r>
            <a:endParaRPr/>
          </a:p>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 </a:t>
            </a:r>
            <a:r>
              <a:rPr b="1" i="0" lang="en-US" sz="2000" u="none" cap="none" strike="noStrike">
                <a:solidFill>
                  <a:srgbClr val="002060"/>
                </a:solidFill>
                <a:latin typeface="Calibri"/>
                <a:ea typeface="Calibri"/>
                <a:cs typeface="Calibri"/>
                <a:sym typeface="Calibri"/>
              </a:rPr>
              <a:t>Extinción del contrato- Preaviso</a:t>
            </a:r>
            <a:endParaRPr b="0" i="0" sz="2000" u="none" cap="none" strike="noStrike">
              <a:solidFill>
                <a:srgbClr val="000000"/>
              </a:solidFill>
              <a:latin typeface="Arial"/>
              <a:ea typeface="Arial"/>
              <a:cs typeface="Arial"/>
              <a:sym typeface="Arial"/>
            </a:endParaRPr>
          </a:p>
        </p:txBody>
      </p:sp>
      <p:pic>
        <p:nvPicPr>
          <p:cNvPr id="242" name="Google Shape;242;p4"/>
          <p:cNvPicPr preferRelativeResize="0"/>
          <p:nvPr/>
        </p:nvPicPr>
        <p:blipFill rotWithShape="1">
          <a:blip r:embed="rId3">
            <a:alphaModFix/>
          </a:blip>
          <a:srcRect b="0" l="0" r="0" t="0"/>
          <a:stretch/>
        </p:blipFill>
        <p:spPr>
          <a:xfrm>
            <a:off x="829850" y="2306875"/>
            <a:ext cx="8282827" cy="36186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5"/>
          <p:cNvSpPr txBox="1"/>
          <p:nvPr/>
        </p:nvSpPr>
        <p:spPr>
          <a:xfrm>
            <a:off x="0" y="-24"/>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UNIDAD 11: Extinción del contrato de trabajo</a:t>
            </a:r>
            <a:endParaRPr/>
          </a:p>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 </a:t>
            </a:r>
            <a:r>
              <a:rPr b="1" i="0" lang="en-US" sz="2000" u="none" cap="none" strike="noStrike">
                <a:solidFill>
                  <a:srgbClr val="002060"/>
                </a:solidFill>
                <a:latin typeface="Calibri"/>
                <a:ea typeface="Calibri"/>
                <a:cs typeface="Calibri"/>
                <a:sym typeface="Calibri"/>
              </a:rPr>
              <a:t>Extinción del contrato - Periodo prueba</a:t>
            </a:r>
            <a:endParaRPr b="0" i="0" sz="2000" u="none" cap="none" strike="noStrike">
              <a:solidFill>
                <a:srgbClr val="000000"/>
              </a:solidFill>
              <a:latin typeface="Arial"/>
              <a:ea typeface="Arial"/>
              <a:cs typeface="Arial"/>
              <a:sym typeface="Arial"/>
            </a:endParaRPr>
          </a:p>
        </p:txBody>
      </p:sp>
      <p:pic>
        <p:nvPicPr>
          <p:cNvPr id="248" name="Google Shape;248;p5"/>
          <p:cNvPicPr preferRelativeResize="0"/>
          <p:nvPr/>
        </p:nvPicPr>
        <p:blipFill rotWithShape="1">
          <a:blip r:embed="rId3">
            <a:alphaModFix/>
          </a:blip>
          <a:srcRect b="0" l="0" r="0" t="0"/>
          <a:stretch/>
        </p:blipFill>
        <p:spPr>
          <a:xfrm>
            <a:off x="6757458" y="1561839"/>
            <a:ext cx="2569422" cy="1687254"/>
          </a:xfrm>
          <a:prstGeom prst="rect">
            <a:avLst/>
          </a:prstGeom>
          <a:noFill/>
          <a:ln>
            <a:noFill/>
          </a:ln>
        </p:spPr>
      </p:pic>
      <p:sp>
        <p:nvSpPr>
          <p:cNvPr id="249" name="Google Shape;249;p5"/>
          <p:cNvSpPr/>
          <p:nvPr/>
        </p:nvSpPr>
        <p:spPr>
          <a:xfrm>
            <a:off x="3722457" y="2559369"/>
            <a:ext cx="281354" cy="2462920"/>
          </a:xfrm>
          <a:prstGeom prst="leftBrace">
            <a:avLst>
              <a:gd fmla="val 8333" name="adj1"/>
              <a:gd fmla="val 50000" name="adj2"/>
            </a:avLst>
          </a:prstGeom>
          <a:noFill/>
          <a:ln cap="flat" cmpd="sng" w="9525">
            <a:solidFill>
              <a:srgbClr val="C2293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250" name="Google Shape;250;p5"/>
          <p:cNvSpPr txBox="1"/>
          <p:nvPr/>
        </p:nvSpPr>
        <p:spPr>
          <a:xfrm>
            <a:off x="4342842" y="2559369"/>
            <a:ext cx="4285764" cy="2352952"/>
          </a:xfrm>
          <a:prstGeom prst="rect">
            <a:avLst/>
          </a:prstGeom>
          <a:noFill/>
          <a:ln>
            <a:noFill/>
          </a:ln>
        </p:spPr>
        <p:txBody>
          <a:bodyPr anchorCtr="0" anchor="t" bIns="45700" lIns="91425" spcFirstLastPara="1" rIns="91425" wrap="square" tIns="45700">
            <a:spAutoFit/>
          </a:bodyPr>
          <a:lstStyle/>
          <a:p>
            <a:pPr indent="-101600" lvl="4" marL="0" marR="0" rtl="0" algn="l">
              <a:lnSpc>
                <a:spcPct val="150000"/>
              </a:lnSpc>
              <a:spcBef>
                <a:spcPts val="0"/>
              </a:spcBef>
              <a:spcAft>
                <a:spcPts val="0"/>
              </a:spcAft>
              <a:buClr>
                <a:srgbClr val="004D66"/>
              </a:buClr>
              <a:buSzPts val="1600"/>
              <a:buFont typeface="Noto Sans Symbols"/>
              <a:buChar char="❖"/>
            </a:pPr>
            <a:r>
              <a:rPr b="1" i="0" lang="en-US" sz="2000" u="none" cap="none" strike="noStrike">
                <a:solidFill>
                  <a:srgbClr val="002060"/>
                </a:solidFill>
                <a:latin typeface="Calibri"/>
                <a:ea typeface="Calibri"/>
                <a:cs typeface="Calibri"/>
                <a:sym typeface="Calibri"/>
              </a:rPr>
              <a:t>Días trabajados</a:t>
            </a:r>
            <a:endParaRPr b="0" i="0" sz="1800" u="none" cap="none" strike="noStrike">
              <a:solidFill>
                <a:srgbClr val="002060"/>
              </a:solidFill>
              <a:latin typeface="Arial"/>
              <a:ea typeface="Arial"/>
              <a:cs typeface="Arial"/>
              <a:sym typeface="Arial"/>
            </a:endParaRPr>
          </a:p>
          <a:p>
            <a:pPr indent="-101600" lvl="2" marL="0" marR="0" rtl="0" algn="l">
              <a:lnSpc>
                <a:spcPct val="150000"/>
              </a:lnSpc>
              <a:spcBef>
                <a:spcPts val="0"/>
              </a:spcBef>
              <a:spcAft>
                <a:spcPts val="0"/>
              </a:spcAft>
              <a:buClr>
                <a:srgbClr val="004D66"/>
              </a:buClr>
              <a:buSzPts val="1600"/>
              <a:buFont typeface="Noto Sans Symbols"/>
              <a:buChar char="❖"/>
            </a:pPr>
            <a:r>
              <a:rPr b="1" i="0" lang="en-US" sz="2000" u="none" cap="none" strike="noStrike">
                <a:solidFill>
                  <a:srgbClr val="002060"/>
                </a:solidFill>
                <a:latin typeface="Calibri"/>
                <a:ea typeface="Calibri"/>
                <a:cs typeface="Calibri"/>
                <a:sym typeface="Calibri"/>
              </a:rPr>
              <a:t>Preaviso 15 días</a:t>
            </a:r>
            <a:endParaRPr b="0" i="0" sz="1800" u="none" cap="none" strike="noStrike">
              <a:solidFill>
                <a:srgbClr val="002060"/>
              </a:solidFill>
              <a:latin typeface="Arial"/>
              <a:ea typeface="Arial"/>
              <a:cs typeface="Arial"/>
              <a:sym typeface="Arial"/>
            </a:endParaRPr>
          </a:p>
          <a:p>
            <a:pPr indent="-101600" lvl="2" marL="0" marR="0" rtl="0" algn="l">
              <a:lnSpc>
                <a:spcPct val="150000"/>
              </a:lnSpc>
              <a:spcBef>
                <a:spcPts val="0"/>
              </a:spcBef>
              <a:spcAft>
                <a:spcPts val="0"/>
              </a:spcAft>
              <a:buClr>
                <a:srgbClr val="004D66"/>
              </a:buClr>
              <a:buSzPts val="1600"/>
              <a:buFont typeface="Noto Sans Symbols"/>
              <a:buChar char="❖"/>
            </a:pPr>
            <a:r>
              <a:rPr b="1" i="0" lang="en-US" sz="2000" u="none" cap="none" strike="noStrike">
                <a:solidFill>
                  <a:srgbClr val="002060"/>
                </a:solidFill>
                <a:latin typeface="Calibri"/>
                <a:ea typeface="Calibri"/>
                <a:cs typeface="Calibri"/>
                <a:sym typeface="Calibri"/>
              </a:rPr>
              <a:t>SAC Proporcional</a:t>
            </a:r>
            <a:endParaRPr b="0" i="0" sz="1800" u="none" cap="none" strike="noStrike">
              <a:solidFill>
                <a:srgbClr val="002060"/>
              </a:solidFill>
              <a:latin typeface="Arial"/>
              <a:ea typeface="Arial"/>
              <a:cs typeface="Arial"/>
              <a:sym typeface="Arial"/>
            </a:endParaRPr>
          </a:p>
          <a:p>
            <a:pPr indent="-101600" lvl="2" marL="0" marR="0" rtl="0" algn="l">
              <a:lnSpc>
                <a:spcPct val="150000"/>
              </a:lnSpc>
              <a:spcBef>
                <a:spcPts val="0"/>
              </a:spcBef>
              <a:spcAft>
                <a:spcPts val="0"/>
              </a:spcAft>
              <a:buClr>
                <a:srgbClr val="004D66"/>
              </a:buClr>
              <a:buSzPts val="1600"/>
              <a:buFont typeface="Noto Sans Symbols"/>
              <a:buChar char="❖"/>
            </a:pPr>
            <a:r>
              <a:rPr b="1" i="0" lang="en-US" sz="2000" u="none" cap="none" strike="noStrike">
                <a:solidFill>
                  <a:srgbClr val="002060"/>
                </a:solidFill>
                <a:latin typeface="Calibri"/>
                <a:ea typeface="Calibri"/>
                <a:cs typeface="Calibri"/>
                <a:sym typeface="Calibri"/>
              </a:rPr>
              <a:t> Vacaciones no gozadas</a:t>
            </a:r>
            <a:endParaRPr b="0" i="0" sz="1800" u="none" cap="none" strike="noStrike">
              <a:solidFill>
                <a:srgbClr val="002060"/>
              </a:solidFill>
              <a:latin typeface="Arial"/>
              <a:ea typeface="Arial"/>
              <a:cs typeface="Arial"/>
              <a:sym typeface="Arial"/>
            </a:endParaRPr>
          </a:p>
          <a:p>
            <a:pPr indent="-101600" lvl="2" marL="0" marR="0" rtl="0" algn="l">
              <a:lnSpc>
                <a:spcPct val="150000"/>
              </a:lnSpc>
              <a:spcBef>
                <a:spcPts val="0"/>
              </a:spcBef>
              <a:spcAft>
                <a:spcPts val="0"/>
              </a:spcAft>
              <a:buClr>
                <a:srgbClr val="004D66"/>
              </a:buClr>
              <a:buSzPts val="1600"/>
              <a:buFont typeface="Noto Sans Symbols"/>
              <a:buChar char="❖"/>
            </a:pPr>
            <a:r>
              <a:rPr b="1" i="0" lang="en-US" sz="2000" u="none" cap="none" strike="noStrike">
                <a:solidFill>
                  <a:srgbClr val="002060"/>
                </a:solidFill>
                <a:latin typeface="Calibri"/>
                <a:ea typeface="Calibri"/>
                <a:cs typeface="Calibri"/>
                <a:sym typeface="Calibri"/>
              </a:rPr>
              <a:t> SAC sobre vacaciones no gozadas</a:t>
            </a:r>
            <a:endParaRPr b="0" i="0" sz="2000" u="none" cap="none" strike="noStrike">
              <a:solidFill>
                <a:srgbClr val="002060"/>
              </a:solidFill>
              <a:latin typeface="Calibri"/>
              <a:ea typeface="Calibri"/>
              <a:cs typeface="Calibri"/>
              <a:sym typeface="Calibri"/>
            </a:endParaRPr>
          </a:p>
        </p:txBody>
      </p:sp>
      <p:sp>
        <p:nvSpPr>
          <p:cNvPr id="251" name="Google Shape;251;p5"/>
          <p:cNvSpPr txBox="1"/>
          <p:nvPr/>
        </p:nvSpPr>
        <p:spPr>
          <a:xfrm>
            <a:off x="340523" y="2975221"/>
            <a:ext cx="3254513" cy="1631216"/>
          </a:xfrm>
          <a:prstGeom prst="rect">
            <a:avLst/>
          </a:prstGeom>
          <a:solidFill>
            <a:srgbClr val="FFFB8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002060"/>
                </a:solidFill>
                <a:latin typeface="Calibri"/>
                <a:ea typeface="Calibri"/>
                <a:cs typeface="Calibri"/>
                <a:sym typeface="Calibri"/>
              </a:rPr>
              <a:t>En la liquidación final a liquidar al empleado, deberán abonarse los siguientes </a:t>
            </a:r>
            <a:r>
              <a:rPr b="1" i="0" lang="en-US" sz="2000" u="none" cap="none" strike="noStrike">
                <a:solidFill>
                  <a:srgbClr val="002060"/>
                </a:solidFill>
                <a:latin typeface="Calibri"/>
                <a:ea typeface="Calibri"/>
                <a:cs typeface="Calibri"/>
                <a:sym typeface="Calibri"/>
              </a:rPr>
              <a:t>conceptos remunerativos: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6"/>
          <p:cNvSpPr txBox="1"/>
          <p:nvPr/>
        </p:nvSpPr>
        <p:spPr>
          <a:xfrm>
            <a:off x="283915" y="1810678"/>
            <a:ext cx="9422060" cy="64629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2060"/>
                </a:solidFill>
                <a:latin typeface="Calibri"/>
                <a:ea typeface="Calibri"/>
                <a:cs typeface="Calibri"/>
                <a:sym typeface="Calibri"/>
              </a:rPr>
              <a:t>Deberá formalizarse mediante despacho telegráfico colacionado personalmente por el trabajador a su empleador.</a:t>
            </a:r>
            <a:endParaRPr b="0" i="0" sz="1800" u="none" cap="none" strike="noStrike">
              <a:solidFill>
                <a:schemeClr val="dk1"/>
              </a:solidFill>
              <a:latin typeface="Arial"/>
              <a:ea typeface="Arial"/>
              <a:cs typeface="Arial"/>
              <a:sym typeface="Arial"/>
            </a:endParaRPr>
          </a:p>
        </p:txBody>
      </p:sp>
      <p:sp>
        <p:nvSpPr>
          <p:cNvPr id="257" name="Google Shape;257;p6"/>
          <p:cNvSpPr txBox="1"/>
          <p:nvPr/>
        </p:nvSpPr>
        <p:spPr>
          <a:xfrm>
            <a:off x="0" y="1166664"/>
            <a:ext cx="5543730" cy="4000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sng" cap="none" strike="noStrike">
                <a:solidFill>
                  <a:srgbClr val="002060"/>
                </a:solidFill>
                <a:latin typeface="Calibri"/>
                <a:ea typeface="Calibri"/>
                <a:cs typeface="Calibri"/>
                <a:sym typeface="Calibri"/>
              </a:rPr>
              <a:t>RENUNCIA</a:t>
            </a:r>
            <a:r>
              <a:rPr b="1" i="0" lang="en-US" sz="1400" u="sng" cap="none" strike="noStrike">
                <a:solidFill>
                  <a:srgbClr val="004D66"/>
                </a:solidFill>
                <a:latin typeface="Arial"/>
                <a:ea typeface="Arial"/>
                <a:cs typeface="Arial"/>
                <a:sym typeface="Arial"/>
              </a:rPr>
              <a:t> </a:t>
            </a:r>
            <a:r>
              <a:rPr b="1" i="0" lang="en-US" sz="2000" u="sng" cap="none" strike="noStrike">
                <a:solidFill>
                  <a:srgbClr val="002060"/>
                </a:solidFill>
                <a:latin typeface="Calibri"/>
                <a:ea typeface="Calibri"/>
                <a:cs typeface="Calibri"/>
                <a:sym typeface="Calibri"/>
              </a:rPr>
              <a:t>DEL TRABAJADOR (ARTÍCULO 240 LCT)</a:t>
            </a:r>
            <a:endParaRPr b="1" i="0" sz="2000" u="sng" cap="none" strike="noStrike">
              <a:solidFill>
                <a:srgbClr val="002060"/>
              </a:solidFill>
              <a:latin typeface="Calibri"/>
              <a:ea typeface="Calibri"/>
              <a:cs typeface="Calibri"/>
              <a:sym typeface="Calibri"/>
            </a:endParaRPr>
          </a:p>
        </p:txBody>
      </p:sp>
      <p:sp>
        <p:nvSpPr>
          <p:cNvPr id="258" name="Google Shape;258;p6"/>
          <p:cNvSpPr txBox="1"/>
          <p:nvPr/>
        </p:nvSpPr>
        <p:spPr>
          <a:xfrm>
            <a:off x="0" y="-24"/>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UNIDAD 11: Extinción del contrato de trabajo</a:t>
            </a:r>
            <a:endParaRPr/>
          </a:p>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 </a:t>
            </a:r>
            <a:r>
              <a:rPr b="1" i="0" lang="en-US" sz="2000" u="none" cap="none" strike="noStrike">
                <a:solidFill>
                  <a:srgbClr val="002060"/>
                </a:solidFill>
                <a:latin typeface="Calibri"/>
                <a:ea typeface="Calibri"/>
                <a:cs typeface="Calibri"/>
                <a:sym typeface="Calibri"/>
              </a:rPr>
              <a:t>Extinción del contrato - renuncia del trabajador</a:t>
            </a:r>
            <a:endParaRPr b="0" i="0" sz="2000" u="none" cap="none" strike="noStrike">
              <a:solidFill>
                <a:srgbClr val="000000"/>
              </a:solidFill>
              <a:latin typeface="Arial"/>
              <a:ea typeface="Arial"/>
              <a:cs typeface="Arial"/>
              <a:sym typeface="Arial"/>
            </a:endParaRPr>
          </a:p>
        </p:txBody>
      </p:sp>
      <p:pic>
        <p:nvPicPr>
          <p:cNvPr id="259" name="Google Shape;259;p6"/>
          <p:cNvPicPr preferRelativeResize="0"/>
          <p:nvPr/>
        </p:nvPicPr>
        <p:blipFill rotWithShape="1">
          <a:blip r:embed="rId3">
            <a:alphaModFix/>
          </a:blip>
          <a:srcRect b="0" l="29920" r="15464" t="0"/>
          <a:stretch/>
        </p:blipFill>
        <p:spPr>
          <a:xfrm>
            <a:off x="6554831" y="2491574"/>
            <a:ext cx="1915194" cy="1976009"/>
          </a:xfrm>
          <a:prstGeom prst="rect">
            <a:avLst/>
          </a:prstGeom>
          <a:noFill/>
          <a:ln>
            <a:noFill/>
          </a:ln>
        </p:spPr>
      </p:pic>
      <p:sp>
        <p:nvSpPr>
          <p:cNvPr id="260" name="Google Shape;260;p6"/>
          <p:cNvSpPr txBox="1"/>
          <p:nvPr/>
        </p:nvSpPr>
        <p:spPr>
          <a:xfrm>
            <a:off x="3682992" y="3991464"/>
            <a:ext cx="4261232" cy="1891287"/>
          </a:xfrm>
          <a:prstGeom prst="rect">
            <a:avLst/>
          </a:prstGeom>
          <a:noFill/>
          <a:ln>
            <a:noFill/>
          </a:ln>
        </p:spPr>
        <p:txBody>
          <a:bodyPr anchorCtr="0" anchor="t" bIns="45700" lIns="91425" spcFirstLastPara="1" rIns="91425" wrap="square" tIns="45700">
            <a:spAutoFit/>
          </a:bodyPr>
          <a:lstStyle/>
          <a:p>
            <a:pPr indent="-285750" lvl="2" marL="285750" marR="0" rtl="0" algn="l">
              <a:lnSpc>
                <a:spcPct val="150000"/>
              </a:lnSpc>
              <a:spcBef>
                <a:spcPts val="0"/>
              </a:spcBef>
              <a:spcAft>
                <a:spcPts val="0"/>
              </a:spcAft>
              <a:buClr>
                <a:srgbClr val="004D66"/>
              </a:buClr>
              <a:buSzPts val="1600"/>
              <a:buFont typeface="Noto Sans Symbols"/>
              <a:buChar char="❖"/>
            </a:pPr>
            <a:r>
              <a:rPr b="1" i="0" lang="en-US" sz="2000" u="none" cap="none" strike="noStrike">
                <a:solidFill>
                  <a:srgbClr val="002060"/>
                </a:solidFill>
                <a:latin typeface="Calibri"/>
                <a:ea typeface="Calibri"/>
                <a:cs typeface="Calibri"/>
                <a:sym typeface="Calibri"/>
              </a:rPr>
              <a:t>  Días trabajados</a:t>
            </a:r>
            <a:endParaRPr/>
          </a:p>
          <a:p>
            <a:pPr indent="-171450" lvl="2" marL="171450" marR="0" rtl="0" algn="l">
              <a:lnSpc>
                <a:spcPct val="150000"/>
              </a:lnSpc>
              <a:spcBef>
                <a:spcPts val="0"/>
              </a:spcBef>
              <a:spcAft>
                <a:spcPts val="0"/>
              </a:spcAft>
              <a:buClr>
                <a:srgbClr val="004D66"/>
              </a:buClr>
              <a:buSzPts val="1600"/>
              <a:buFont typeface="Noto Sans Symbols"/>
              <a:buChar char="❖"/>
            </a:pPr>
            <a:r>
              <a:rPr b="1" i="0" lang="en-US" sz="1400" u="none" cap="none" strike="noStrike">
                <a:solidFill>
                  <a:srgbClr val="002060"/>
                </a:solidFill>
                <a:latin typeface="Calibri"/>
                <a:ea typeface="Calibri"/>
                <a:cs typeface="Calibri"/>
                <a:sym typeface="Calibri"/>
              </a:rPr>
              <a:t>  </a:t>
            </a:r>
            <a:r>
              <a:rPr b="1" i="0" lang="en-US" sz="2000" u="none" cap="none" strike="noStrike">
                <a:solidFill>
                  <a:srgbClr val="002060"/>
                </a:solidFill>
                <a:latin typeface="Calibri"/>
                <a:ea typeface="Calibri"/>
                <a:cs typeface="Calibri"/>
                <a:sym typeface="Calibri"/>
              </a:rPr>
              <a:t>SAC Proporcional</a:t>
            </a:r>
            <a:endParaRPr/>
          </a:p>
          <a:p>
            <a:pPr indent="-171450" lvl="2" marL="171450" marR="0" rtl="0" algn="l">
              <a:lnSpc>
                <a:spcPct val="150000"/>
              </a:lnSpc>
              <a:spcBef>
                <a:spcPts val="0"/>
              </a:spcBef>
              <a:spcAft>
                <a:spcPts val="0"/>
              </a:spcAft>
              <a:buClr>
                <a:srgbClr val="004D66"/>
              </a:buClr>
              <a:buSzPts val="1600"/>
              <a:buFont typeface="Noto Sans Symbols"/>
              <a:buChar char="❖"/>
            </a:pPr>
            <a:r>
              <a:rPr b="1" i="0" lang="en-US" sz="2000" u="none" cap="none" strike="noStrike">
                <a:solidFill>
                  <a:srgbClr val="002060"/>
                </a:solidFill>
                <a:latin typeface="Calibri"/>
                <a:ea typeface="Calibri"/>
                <a:cs typeface="Calibri"/>
                <a:sym typeface="Calibri"/>
              </a:rPr>
              <a:t>  Vacaciones no gozadas</a:t>
            </a:r>
            <a:endParaRPr/>
          </a:p>
          <a:p>
            <a:pPr indent="-171450" lvl="2" marL="171450" marR="0" rtl="0" algn="l">
              <a:lnSpc>
                <a:spcPct val="150000"/>
              </a:lnSpc>
              <a:spcBef>
                <a:spcPts val="0"/>
              </a:spcBef>
              <a:spcAft>
                <a:spcPts val="0"/>
              </a:spcAft>
              <a:buClr>
                <a:srgbClr val="004D66"/>
              </a:buClr>
              <a:buSzPts val="1600"/>
              <a:buFont typeface="Noto Sans Symbols"/>
              <a:buChar char="❖"/>
            </a:pPr>
            <a:r>
              <a:rPr b="1" i="0" lang="en-US" sz="2000" u="none" cap="none" strike="noStrike">
                <a:solidFill>
                  <a:srgbClr val="002060"/>
                </a:solidFill>
                <a:latin typeface="Calibri"/>
                <a:ea typeface="Calibri"/>
                <a:cs typeface="Calibri"/>
                <a:sym typeface="Calibri"/>
              </a:rPr>
              <a:t>  SAC sobre vacaciones no gozadas</a:t>
            </a:r>
            <a:endParaRPr/>
          </a:p>
        </p:txBody>
      </p:sp>
      <p:sp>
        <p:nvSpPr>
          <p:cNvPr id="261" name="Google Shape;261;p6"/>
          <p:cNvSpPr txBox="1"/>
          <p:nvPr/>
        </p:nvSpPr>
        <p:spPr>
          <a:xfrm>
            <a:off x="119747" y="4060120"/>
            <a:ext cx="2915222" cy="1631216"/>
          </a:xfrm>
          <a:prstGeom prst="rect">
            <a:avLst/>
          </a:prstGeom>
          <a:solidFill>
            <a:srgbClr val="FFFB8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002060"/>
                </a:solidFill>
                <a:latin typeface="Calibri"/>
                <a:ea typeface="Calibri"/>
                <a:cs typeface="Calibri"/>
                <a:sym typeface="Calibri"/>
              </a:rPr>
              <a:t>En la liquidación final a liquidar al empleado, deberán abonarse los siguientes </a:t>
            </a:r>
            <a:r>
              <a:rPr b="1" i="0" lang="en-US" sz="2000" u="none" cap="none" strike="noStrike">
                <a:solidFill>
                  <a:srgbClr val="002060"/>
                </a:solidFill>
                <a:latin typeface="Calibri"/>
                <a:ea typeface="Calibri"/>
                <a:cs typeface="Calibri"/>
                <a:sym typeface="Calibri"/>
              </a:rPr>
              <a:t>conceptos remunerativos:</a:t>
            </a:r>
            <a:endParaRPr/>
          </a:p>
        </p:txBody>
      </p:sp>
      <p:sp>
        <p:nvSpPr>
          <p:cNvPr id="262" name="Google Shape;262;p6"/>
          <p:cNvSpPr/>
          <p:nvPr/>
        </p:nvSpPr>
        <p:spPr>
          <a:xfrm>
            <a:off x="3157192" y="3711680"/>
            <a:ext cx="281354" cy="2462920"/>
          </a:xfrm>
          <a:prstGeom prst="leftBrace">
            <a:avLst>
              <a:gd fmla="val 8333" name="adj1"/>
              <a:gd fmla="val 50000" name="adj2"/>
            </a:avLst>
          </a:prstGeom>
          <a:noFill/>
          <a:ln cap="flat" cmpd="sng" w="9525">
            <a:solidFill>
              <a:srgbClr val="C2293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7"/>
          <p:cNvSpPr txBox="1"/>
          <p:nvPr/>
        </p:nvSpPr>
        <p:spPr>
          <a:xfrm>
            <a:off x="16014" y="1701768"/>
            <a:ext cx="9543556" cy="1200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2060"/>
                </a:solidFill>
                <a:latin typeface="Calibri"/>
                <a:ea typeface="Calibri"/>
                <a:cs typeface="Calibri"/>
                <a:sym typeface="Calibri"/>
              </a:rPr>
              <a:t>Ante las ausencias injustificadas y sin aviso del trabajador</a:t>
            </a:r>
            <a:r>
              <a:rPr b="0" i="0" lang="en-US" sz="1800" u="none" cap="none" strike="noStrike">
                <a:solidFill>
                  <a:srgbClr val="002060"/>
                </a:solidFill>
                <a:latin typeface="Calibri"/>
                <a:ea typeface="Calibri"/>
                <a:cs typeface="Calibri"/>
                <a:sym typeface="Calibri"/>
              </a:rPr>
              <a:t>,  el empleador lo debe intimar para que dentro del plazo de 48 hs. se presente a trabajar y justifique las inasistencias. Si pasado el plazo, el trabajador no responde o no se presenta a trabajar, se le debe enviar una nueva notificación informando la </a:t>
            </a:r>
            <a:r>
              <a:rPr b="1" i="0" lang="en-US" sz="1800" u="none" cap="none" strike="noStrike">
                <a:solidFill>
                  <a:srgbClr val="002060"/>
                </a:solidFill>
                <a:latin typeface="Calibri"/>
                <a:ea typeface="Calibri"/>
                <a:cs typeface="Calibri"/>
                <a:sym typeface="Calibri"/>
              </a:rPr>
              <a:t>extinción del contrato por abandono de trabajo</a:t>
            </a:r>
            <a:r>
              <a:rPr b="0" i="0" lang="en-US" sz="1800" u="none" cap="none" strike="noStrike">
                <a:solidFill>
                  <a:srgbClr val="002060"/>
                </a:solidFill>
                <a:latin typeface="Calibri"/>
                <a:ea typeface="Calibri"/>
                <a:cs typeface="Calibri"/>
                <a:sym typeface="Calibri"/>
              </a:rPr>
              <a:t>.</a:t>
            </a:r>
            <a:endParaRPr b="0" i="0" sz="1800" u="none" cap="none" strike="noStrike">
              <a:solidFill>
                <a:srgbClr val="002060"/>
              </a:solidFill>
              <a:latin typeface="Calibri"/>
              <a:ea typeface="Calibri"/>
              <a:cs typeface="Calibri"/>
              <a:sym typeface="Calibri"/>
            </a:endParaRPr>
          </a:p>
        </p:txBody>
      </p:sp>
      <p:sp>
        <p:nvSpPr>
          <p:cNvPr id="268" name="Google Shape;268;p7"/>
          <p:cNvSpPr txBox="1"/>
          <p:nvPr/>
        </p:nvSpPr>
        <p:spPr>
          <a:xfrm>
            <a:off x="16014" y="1187976"/>
            <a:ext cx="5697415" cy="4000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sng" cap="none" strike="noStrike">
                <a:solidFill>
                  <a:srgbClr val="002060"/>
                </a:solidFill>
                <a:latin typeface="Calibri"/>
                <a:ea typeface="Calibri"/>
                <a:cs typeface="Calibri"/>
                <a:sym typeface="Calibri"/>
              </a:rPr>
              <a:t>ABANDONO DE TRABAJO (ARTÍCULO 244 LCT)</a:t>
            </a:r>
            <a:endParaRPr b="1" i="0" sz="2000" u="sng" cap="none" strike="noStrike">
              <a:solidFill>
                <a:srgbClr val="002060"/>
              </a:solidFill>
              <a:latin typeface="Calibri"/>
              <a:ea typeface="Calibri"/>
              <a:cs typeface="Calibri"/>
              <a:sym typeface="Calibri"/>
            </a:endParaRPr>
          </a:p>
        </p:txBody>
      </p:sp>
      <p:sp>
        <p:nvSpPr>
          <p:cNvPr id="269" name="Google Shape;269;p7"/>
          <p:cNvSpPr txBox="1"/>
          <p:nvPr/>
        </p:nvSpPr>
        <p:spPr>
          <a:xfrm>
            <a:off x="0" y="-24"/>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UNIDAD 11: Extinción del contrato de trabajo</a:t>
            </a:r>
            <a:endParaRPr/>
          </a:p>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 </a:t>
            </a:r>
            <a:r>
              <a:rPr b="1" i="0" lang="en-US" sz="2000" u="none" cap="none" strike="noStrike">
                <a:solidFill>
                  <a:srgbClr val="002060"/>
                </a:solidFill>
                <a:latin typeface="Calibri"/>
                <a:ea typeface="Calibri"/>
                <a:cs typeface="Calibri"/>
                <a:sym typeface="Calibri"/>
              </a:rPr>
              <a:t>Extinción del contrato - abandono de trabajo</a:t>
            </a:r>
            <a:endParaRPr b="0" i="0" sz="2000" u="none" cap="none" strike="noStrike">
              <a:solidFill>
                <a:srgbClr val="000000"/>
              </a:solidFill>
              <a:latin typeface="Arial"/>
              <a:ea typeface="Arial"/>
              <a:cs typeface="Arial"/>
              <a:sym typeface="Arial"/>
            </a:endParaRPr>
          </a:p>
        </p:txBody>
      </p:sp>
      <p:pic>
        <p:nvPicPr>
          <p:cNvPr id="270" name="Google Shape;270;p7"/>
          <p:cNvPicPr preferRelativeResize="0"/>
          <p:nvPr/>
        </p:nvPicPr>
        <p:blipFill rotWithShape="1">
          <a:blip r:embed="rId3">
            <a:alphaModFix/>
          </a:blip>
          <a:srcRect b="0" l="0" r="0" t="0"/>
          <a:stretch/>
        </p:blipFill>
        <p:spPr>
          <a:xfrm>
            <a:off x="7648116" y="2853083"/>
            <a:ext cx="1779378" cy="1779378"/>
          </a:xfrm>
          <a:prstGeom prst="rect">
            <a:avLst/>
          </a:prstGeom>
          <a:noFill/>
          <a:ln>
            <a:noFill/>
          </a:ln>
        </p:spPr>
      </p:pic>
      <p:sp>
        <p:nvSpPr>
          <p:cNvPr id="271" name="Google Shape;271;p7"/>
          <p:cNvSpPr txBox="1"/>
          <p:nvPr/>
        </p:nvSpPr>
        <p:spPr>
          <a:xfrm>
            <a:off x="16014" y="4244176"/>
            <a:ext cx="3429564" cy="1323439"/>
          </a:xfrm>
          <a:prstGeom prst="rect">
            <a:avLst/>
          </a:prstGeom>
          <a:solidFill>
            <a:srgbClr val="FFFB8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002060"/>
                </a:solidFill>
                <a:latin typeface="Calibri"/>
                <a:ea typeface="Calibri"/>
                <a:cs typeface="Calibri"/>
                <a:sym typeface="Calibri"/>
              </a:rPr>
              <a:t>En la liquidación final a liquidar al empleado, deberán abonarse los siguientes </a:t>
            </a:r>
            <a:r>
              <a:rPr b="1" i="0" lang="en-US" sz="2000" u="none" cap="none" strike="noStrike">
                <a:solidFill>
                  <a:srgbClr val="002060"/>
                </a:solidFill>
                <a:latin typeface="Calibri"/>
                <a:ea typeface="Calibri"/>
                <a:cs typeface="Calibri"/>
                <a:sym typeface="Calibri"/>
              </a:rPr>
              <a:t>conceptos remunerativos:</a:t>
            </a:r>
            <a:endParaRPr/>
          </a:p>
        </p:txBody>
      </p:sp>
      <p:sp>
        <p:nvSpPr>
          <p:cNvPr id="272" name="Google Shape;272;p7"/>
          <p:cNvSpPr txBox="1"/>
          <p:nvPr/>
        </p:nvSpPr>
        <p:spPr>
          <a:xfrm>
            <a:off x="4084280" y="3955032"/>
            <a:ext cx="4261200" cy="1785600"/>
          </a:xfrm>
          <a:prstGeom prst="rect">
            <a:avLst/>
          </a:prstGeom>
          <a:noFill/>
          <a:ln>
            <a:noFill/>
          </a:ln>
        </p:spPr>
        <p:txBody>
          <a:bodyPr anchorCtr="0" anchor="t" bIns="45700" lIns="91425" spcFirstLastPara="1" rIns="91425" wrap="square" tIns="45700">
            <a:spAutoFit/>
          </a:bodyPr>
          <a:lstStyle/>
          <a:p>
            <a:pPr indent="-285750" lvl="2" marL="285750" marR="0" rtl="0" algn="l">
              <a:lnSpc>
                <a:spcPct val="150000"/>
              </a:lnSpc>
              <a:spcBef>
                <a:spcPts val="0"/>
              </a:spcBef>
              <a:spcAft>
                <a:spcPts val="0"/>
              </a:spcAft>
              <a:buClr>
                <a:srgbClr val="004D66"/>
              </a:buClr>
              <a:buSzPts val="1600"/>
              <a:buFont typeface="Noto Sans Symbols"/>
              <a:buChar char="❖"/>
            </a:pPr>
            <a:r>
              <a:rPr b="1" i="0" lang="en-US" sz="2000" u="none" cap="none" strike="noStrike">
                <a:solidFill>
                  <a:srgbClr val="002060"/>
                </a:solidFill>
                <a:latin typeface="Calibri"/>
                <a:ea typeface="Calibri"/>
                <a:cs typeface="Calibri"/>
                <a:sym typeface="Calibri"/>
              </a:rPr>
              <a:t>Días trabajados</a:t>
            </a:r>
            <a:endParaRPr/>
          </a:p>
          <a:p>
            <a:pPr indent="-171450" lvl="2" marL="171450" marR="0" rtl="0" algn="l">
              <a:lnSpc>
                <a:spcPct val="150000"/>
              </a:lnSpc>
              <a:spcBef>
                <a:spcPts val="0"/>
              </a:spcBef>
              <a:spcAft>
                <a:spcPts val="0"/>
              </a:spcAft>
              <a:buClr>
                <a:srgbClr val="004D66"/>
              </a:buClr>
              <a:buSzPts val="1600"/>
              <a:buFont typeface="Noto Sans Symbols"/>
              <a:buChar char="❖"/>
            </a:pPr>
            <a:r>
              <a:rPr b="1" i="0" lang="en-US" sz="1400" u="none" cap="none" strike="noStrike">
                <a:solidFill>
                  <a:srgbClr val="002060"/>
                </a:solidFill>
                <a:latin typeface="Calibri"/>
                <a:ea typeface="Calibri"/>
                <a:cs typeface="Calibri"/>
                <a:sym typeface="Calibri"/>
              </a:rPr>
              <a:t>  </a:t>
            </a:r>
            <a:r>
              <a:rPr b="1" i="0" lang="en-US" sz="2000" u="none" cap="none" strike="noStrike">
                <a:solidFill>
                  <a:srgbClr val="002060"/>
                </a:solidFill>
                <a:latin typeface="Calibri"/>
                <a:ea typeface="Calibri"/>
                <a:cs typeface="Calibri"/>
                <a:sym typeface="Calibri"/>
              </a:rPr>
              <a:t>SAC Proporcional</a:t>
            </a:r>
            <a:endParaRPr/>
          </a:p>
          <a:p>
            <a:pPr indent="-171450" lvl="2" marL="171450" marR="0" rtl="0" algn="l">
              <a:lnSpc>
                <a:spcPct val="150000"/>
              </a:lnSpc>
              <a:spcBef>
                <a:spcPts val="0"/>
              </a:spcBef>
              <a:spcAft>
                <a:spcPts val="0"/>
              </a:spcAft>
              <a:buClr>
                <a:srgbClr val="004D66"/>
              </a:buClr>
              <a:buSzPts val="1600"/>
              <a:buFont typeface="Noto Sans Symbols"/>
              <a:buChar char="❖"/>
            </a:pPr>
            <a:r>
              <a:rPr b="1" i="0" lang="en-US" sz="2000" u="none" cap="none" strike="noStrike">
                <a:solidFill>
                  <a:srgbClr val="002060"/>
                </a:solidFill>
                <a:latin typeface="Calibri"/>
                <a:ea typeface="Calibri"/>
                <a:cs typeface="Calibri"/>
                <a:sym typeface="Calibri"/>
              </a:rPr>
              <a:t>  Vacaciones no gozadas</a:t>
            </a:r>
            <a:endParaRPr/>
          </a:p>
          <a:p>
            <a:pPr indent="-171450" lvl="2" marL="171450" marR="0" rtl="0" algn="l">
              <a:lnSpc>
                <a:spcPct val="150000"/>
              </a:lnSpc>
              <a:spcBef>
                <a:spcPts val="0"/>
              </a:spcBef>
              <a:spcAft>
                <a:spcPts val="0"/>
              </a:spcAft>
              <a:buClr>
                <a:srgbClr val="004D66"/>
              </a:buClr>
              <a:buSzPts val="1600"/>
              <a:buFont typeface="Noto Sans Symbols"/>
              <a:buChar char="❖"/>
            </a:pPr>
            <a:r>
              <a:rPr b="1" i="0" lang="en-US" sz="2000" u="none" cap="none" strike="noStrike">
                <a:solidFill>
                  <a:srgbClr val="002060"/>
                </a:solidFill>
                <a:latin typeface="Calibri"/>
                <a:ea typeface="Calibri"/>
                <a:cs typeface="Calibri"/>
                <a:sym typeface="Calibri"/>
              </a:rPr>
              <a:t>  SAC sobre vacaciones no gozadas</a:t>
            </a:r>
            <a:endParaRPr/>
          </a:p>
        </p:txBody>
      </p:sp>
      <p:sp>
        <p:nvSpPr>
          <p:cNvPr id="273" name="Google Shape;273;p7"/>
          <p:cNvSpPr/>
          <p:nvPr/>
        </p:nvSpPr>
        <p:spPr>
          <a:xfrm>
            <a:off x="3506326" y="3680469"/>
            <a:ext cx="281354" cy="2462920"/>
          </a:xfrm>
          <a:prstGeom prst="leftBrace">
            <a:avLst>
              <a:gd fmla="val 8333" name="adj1"/>
              <a:gd fmla="val 50000" name="adj2"/>
            </a:avLst>
          </a:prstGeom>
          <a:noFill/>
          <a:ln cap="flat" cmpd="sng" w="9525">
            <a:solidFill>
              <a:srgbClr val="C2293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8"/>
          <p:cNvSpPr txBox="1"/>
          <p:nvPr/>
        </p:nvSpPr>
        <p:spPr>
          <a:xfrm>
            <a:off x="0" y="1755895"/>
            <a:ext cx="9705975" cy="17542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La LCT establece que se podrá </a:t>
            </a:r>
            <a:r>
              <a:rPr b="1" i="0" lang="en-US" sz="1800" u="none" cap="none" strike="noStrike">
                <a:solidFill>
                  <a:schemeClr val="dk1"/>
                </a:solidFill>
                <a:latin typeface="Calibri"/>
                <a:ea typeface="Calibri"/>
                <a:cs typeface="Calibri"/>
                <a:sym typeface="Calibri"/>
              </a:rPr>
              <a:t>extinguir el contrato de trabajo con justa causa </a:t>
            </a:r>
            <a:r>
              <a:rPr b="0" i="0" lang="en-US" sz="1800" u="none" cap="none" strike="noStrike">
                <a:solidFill>
                  <a:schemeClr val="dk1"/>
                </a:solidFill>
                <a:latin typeface="Calibri"/>
                <a:ea typeface="Calibri"/>
                <a:cs typeface="Calibri"/>
                <a:sym typeface="Calibri"/>
              </a:rPr>
              <a:t>cuando exista inobservancia de las obligaciones resultantes del contrato de trabajo que configuren injuria y que, por su </a:t>
            </a:r>
            <a:r>
              <a:rPr b="1" i="0" lang="en-US" sz="1800" u="none" cap="none" strike="noStrike">
                <a:solidFill>
                  <a:srgbClr val="FF0000"/>
                </a:solidFill>
                <a:latin typeface="Calibri"/>
                <a:ea typeface="Calibri"/>
                <a:cs typeface="Calibri"/>
                <a:sym typeface="Calibri"/>
              </a:rPr>
              <a:t>gravedad</a:t>
            </a:r>
            <a:r>
              <a:rPr b="0" i="0" lang="en-US" sz="1800" u="none" cap="none" strike="noStrike">
                <a:solidFill>
                  <a:schemeClr val="dk1"/>
                </a:solidFill>
                <a:latin typeface="Calibri"/>
                <a:ea typeface="Calibri"/>
                <a:cs typeface="Calibri"/>
                <a:sym typeface="Calibri"/>
              </a:rPr>
              <a:t>, no consienta la prosecución de la relación.</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La ley no define qué se considera hecho grave y deja a consideración de los jueces la determinación de las causales que pueden considerarse para justificar el despido.</a:t>
            </a:r>
            <a:endParaRPr b="0" i="0" sz="1800" u="none" cap="none" strike="noStrike">
              <a:solidFill>
                <a:srgbClr val="000000"/>
              </a:solidFill>
              <a:latin typeface="Calibri"/>
              <a:ea typeface="Calibri"/>
              <a:cs typeface="Calibri"/>
              <a:sym typeface="Calibri"/>
            </a:endParaRPr>
          </a:p>
        </p:txBody>
      </p:sp>
      <p:sp>
        <p:nvSpPr>
          <p:cNvPr id="279" name="Google Shape;279;p8"/>
          <p:cNvSpPr txBox="1"/>
          <p:nvPr/>
        </p:nvSpPr>
        <p:spPr>
          <a:xfrm>
            <a:off x="0" y="1219563"/>
            <a:ext cx="5712542" cy="4000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sng" cap="none" strike="noStrike">
                <a:solidFill>
                  <a:srgbClr val="002060"/>
                </a:solidFill>
                <a:latin typeface="Calibri"/>
                <a:ea typeface="Calibri"/>
                <a:cs typeface="Calibri"/>
                <a:sym typeface="Calibri"/>
              </a:rPr>
              <a:t>DESPIDO CON JUSTA CAUSA (ARTÍCULO 242 LCT)</a:t>
            </a:r>
            <a:endParaRPr b="1" i="0" sz="2000" u="sng" cap="none" strike="noStrike">
              <a:solidFill>
                <a:srgbClr val="002060"/>
              </a:solidFill>
              <a:latin typeface="Calibri"/>
              <a:ea typeface="Calibri"/>
              <a:cs typeface="Calibri"/>
              <a:sym typeface="Calibri"/>
            </a:endParaRPr>
          </a:p>
        </p:txBody>
      </p:sp>
      <p:sp>
        <p:nvSpPr>
          <p:cNvPr id="280" name="Google Shape;280;p8"/>
          <p:cNvSpPr txBox="1"/>
          <p:nvPr/>
        </p:nvSpPr>
        <p:spPr>
          <a:xfrm>
            <a:off x="0" y="-24"/>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UNIDAD 11: Extinción del contrato de trabajo</a:t>
            </a:r>
            <a:endParaRPr/>
          </a:p>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 </a:t>
            </a:r>
            <a:r>
              <a:rPr b="1" i="0" lang="en-US" sz="2000" u="none" cap="none" strike="noStrike">
                <a:solidFill>
                  <a:srgbClr val="002060"/>
                </a:solidFill>
                <a:latin typeface="Calibri"/>
                <a:ea typeface="Calibri"/>
                <a:cs typeface="Calibri"/>
                <a:sym typeface="Calibri"/>
              </a:rPr>
              <a:t>Extinción del contrato por despido con justa causa</a:t>
            </a:r>
            <a:endParaRPr b="0" i="0" sz="2000" u="none" cap="none" strike="noStrike">
              <a:solidFill>
                <a:srgbClr val="000000"/>
              </a:solidFill>
              <a:latin typeface="Arial"/>
              <a:ea typeface="Arial"/>
              <a:cs typeface="Arial"/>
              <a:sym typeface="Arial"/>
            </a:endParaRPr>
          </a:p>
        </p:txBody>
      </p:sp>
      <p:pic>
        <p:nvPicPr>
          <p:cNvPr id="281" name="Google Shape;281;p8"/>
          <p:cNvPicPr preferRelativeResize="0"/>
          <p:nvPr/>
        </p:nvPicPr>
        <p:blipFill rotWithShape="1">
          <a:blip r:embed="rId3">
            <a:alphaModFix/>
          </a:blip>
          <a:srcRect b="0" l="0" r="0" t="0"/>
          <a:stretch/>
        </p:blipFill>
        <p:spPr>
          <a:xfrm>
            <a:off x="7675186" y="3329544"/>
            <a:ext cx="1497111" cy="1497111"/>
          </a:xfrm>
          <a:prstGeom prst="rect">
            <a:avLst/>
          </a:prstGeom>
          <a:noFill/>
          <a:ln>
            <a:noFill/>
          </a:ln>
        </p:spPr>
      </p:pic>
      <p:sp>
        <p:nvSpPr>
          <p:cNvPr id="282" name="Google Shape;282;p8"/>
          <p:cNvSpPr txBox="1"/>
          <p:nvPr/>
        </p:nvSpPr>
        <p:spPr>
          <a:xfrm>
            <a:off x="149123" y="4224213"/>
            <a:ext cx="3688470" cy="1323439"/>
          </a:xfrm>
          <a:prstGeom prst="rect">
            <a:avLst/>
          </a:prstGeom>
          <a:solidFill>
            <a:srgbClr val="FFFB8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002060"/>
                </a:solidFill>
                <a:latin typeface="Calibri"/>
                <a:ea typeface="Calibri"/>
                <a:cs typeface="Calibri"/>
                <a:sym typeface="Calibri"/>
              </a:rPr>
              <a:t>En la liquidación final a liquidar al empleado, deberán abonarse los siguientes </a:t>
            </a:r>
            <a:r>
              <a:rPr b="1" i="0" lang="en-US" sz="2000" u="none" cap="none" strike="noStrike">
                <a:solidFill>
                  <a:srgbClr val="002060"/>
                </a:solidFill>
                <a:latin typeface="Calibri"/>
                <a:ea typeface="Calibri"/>
                <a:cs typeface="Calibri"/>
                <a:sym typeface="Calibri"/>
              </a:rPr>
              <a:t>conceptos remunerativos:</a:t>
            </a:r>
            <a:endParaRPr/>
          </a:p>
        </p:txBody>
      </p:sp>
      <p:sp>
        <p:nvSpPr>
          <p:cNvPr id="283" name="Google Shape;283;p8"/>
          <p:cNvSpPr txBox="1"/>
          <p:nvPr/>
        </p:nvSpPr>
        <p:spPr>
          <a:xfrm>
            <a:off x="4788842" y="3940290"/>
            <a:ext cx="4261232" cy="1891287"/>
          </a:xfrm>
          <a:prstGeom prst="rect">
            <a:avLst/>
          </a:prstGeom>
          <a:noFill/>
          <a:ln>
            <a:noFill/>
          </a:ln>
        </p:spPr>
        <p:txBody>
          <a:bodyPr anchorCtr="0" anchor="t" bIns="45700" lIns="91425" spcFirstLastPara="1" rIns="91425" wrap="square" tIns="45700">
            <a:spAutoFit/>
          </a:bodyPr>
          <a:lstStyle/>
          <a:p>
            <a:pPr indent="-285750" lvl="2" marL="285750" marR="0" rtl="0" algn="l">
              <a:lnSpc>
                <a:spcPct val="150000"/>
              </a:lnSpc>
              <a:spcBef>
                <a:spcPts val="0"/>
              </a:spcBef>
              <a:spcAft>
                <a:spcPts val="0"/>
              </a:spcAft>
              <a:buClr>
                <a:srgbClr val="004D66"/>
              </a:buClr>
              <a:buSzPts val="1600"/>
              <a:buFont typeface="Noto Sans Symbols"/>
              <a:buChar char="❖"/>
            </a:pPr>
            <a:r>
              <a:rPr b="1" i="0" lang="en-US" sz="2000" u="none" cap="none" strike="noStrike">
                <a:solidFill>
                  <a:srgbClr val="002060"/>
                </a:solidFill>
                <a:latin typeface="Calibri"/>
                <a:ea typeface="Calibri"/>
                <a:cs typeface="Calibri"/>
                <a:sym typeface="Calibri"/>
              </a:rPr>
              <a:t>  Días trabajados</a:t>
            </a:r>
            <a:endParaRPr/>
          </a:p>
          <a:p>
            <a:pPr indent="-171450" lvl="2" marL="171450" marR="0" rtl="0" algn="l">
              <a:lnSpc>
                <a:spcPct val="150000"/>
              </a:lnSpc>
              <a:spcBef>
                <a:spcPts val="0"/>
              </a:spcBef>
              <a:spcAft>
                <a:spcPts val="0"/>
              </a:spcAft>
              <a:buClr>
                <a:srgbClr val="004D66"/>
              </a:buClr>
              <a:buSzPts val="1600"/>
              <a:buFont typeface="Noto Sans Symbols"/>
              <a:buChar char="❖"/>
            </a:pPr>
            <a:r>
              <a:rPr b="1" i="0" lang="en-US" sz="1400" u="none" cap="none" strike="noStrike">
                <a:solidFill>
                  <a:srgbClr val="002060"/>
                </a:solidFill>
                <a:latin typeface="Calibri"/>
                <a:ea typeface="Calibri"/>
                <a:cs typeface="Calibri"/>
                <a:sym typeface="Calibri"/>
              </a:rPr>
              <a:t>  </a:t>
            </a:r>
            <a:r>
              <a:rPr b="1" i="0" lang="en-US" sz="2000" u="none" cap="none" strike="noStrike">
                <a:solidFill>
                  <a:srgbClr val="002060"/>
                </a:solidFill>
                <a:latin typeface="Calibri"/>
                <a:ea typeface="Calibri"/>
                <a:cs typeface="Calibri"/>
                <a:sym typeface="Calibri"/>
              </a:rPr>
              <a:t>SAC Proporcional</a:t>
            </a:r>
            <a:endParaRPr/>
          </a:p>
          <a:p>
            <a:pPr indent="-171450" lvl="2" marL="171450" marR="0" rtl="0" algn="l">
              <a:lnSpc>
                <a:spcPct val="150000"/>
              </a:lnSpc>
              <a:spcBef>
                <a:spcPts val="0"/>
              </a:spcBef>
              <a:spcAft>
                <a:spcPts val="0"/>
              </a:spcAft>
              <a:buClr>
                <a:srgbClr val="004D66"/>
              </a:buClr>
              <a:buSzPts val="1600"/>
              <a:buFont typeface="Noto Sans Symbols"/>
              <a:buChar char="❖"/>
            </a:pPr>
            <a:r>
              <a:rPr b="1" i="0" lang="en-US" sz="2000" u="none" cap="none" strike="noStrike">
                <a:solidFill>
                  <a:srgbClr val="002060"/>
                </a:solidFill>
                <a:latin typeface="Calibri"/>
                <a:ea typeface="Calibri"/>
                <a:cs typeface="Calibri"/>
                <a:sym typeface="Calibri"/>
              </a:rPr>
              <a:t>  Vacaciones no gozadas</a:t>
            </a:r>
            <a:endParaRPr/>
          </a:p>
          <a:p>
            <a:pPr indent="-171450" lvl="2" marL="171450" marR="0" rtl="0" algn="l">
              <a:lnSpc>
                <a:spcPct val="150000"/>
              </a:lnSpc>
              <a:spcBef>
                <a:spcPts val="0"/>
              </a:spcBef>
              <a:spcAft>
                <a:spcPts val="0"/>
              </a:spcAft>
              <a:buClr>
                <a:srgbClr val="004D66"/>
              </a:buClr>
              <a:buSzPts val="1600"/>
              <a:buFont typeface="Noto Sans Symbols"/>
              <a:buChar char="❖"/>
            </a:pPr>
            <a:r>
              <a:rPr b="1" i="0" lang="en-US" sz="2000" u="none" cap="none" strike="noStrike">
                <a:solidFill>
                  <a:srgbClr val="002060"/>
                </a:solidFill>
                <a:latin typeface="Calibri"/>
                <a:ea typeface="Calibri"/>
                <a:cs typeface="Calibri"/>
                <a:sym typeface="Calibri"/>
              </a:rPr>
              <a:t>  SAC sobre vacaciones no gozadas</a:t>
            </a:r>
            <a:endParaRPr/>
          </a:p>
        </p:txBody>
      </p:sp>
      <p:sp>
        <p:nvSpPr>
          <p:cNvPr id="284" name="Google Shape;284;p8"/>
          <p:cNvSpPr/>
          <p:nvPr/>
        </p:nvSpPr>
        <p:spPr>
          <a:xfrm>
            <a:off x="4263042" y="3660506"/>
            <a:ext cx="281354" cy="2462920"/>
          </a:xfrm>
          <a:prstGeom prst="leftBrace">
            <a:avLst>
              <a:gd fmla="val 8333" name="adj1"/>
              <a:gd fmla="val 50000" name="adj2"/>
            </a:avLst>
          </a:prstGeom>
          <a:noFill/>
          <a:ln cap="flat" cmpd="sng" w="9525">
            <a:solidFill>
              <a:srgbClr val="C2293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9"/>
          <p:cNvSpPr txBox="1"/>
          <p:nvPr/>
        </p:nvSpPr>
        <p:spPr>
          <a:xfrm>
            <a:off x="0" y="2140432"/>
            <a:ext cx="9906000" cy="2862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El trabajador puede considerarse despedido ante un hecho </a:t>
            </a:r>
            <a:r>
              <a:rPr b="1" i="0" lang="en-US" sz="1800" u="none" cap="none" strike="noStrike">
                <a:solidFill>
                  <a:schemeClr val="dk1"/>
                </a:solidFill>
                <a:latin typeface="Calibri"/>
                <a:ea typeface="Calibri"/>
                <a:cs typeface="Calibri"/>
                <a:sym typeface="Calibri"/>
              </a:rPr>
              <a:t>grave</a:t>
            </a:r>
            <a:r>
              <a:rPr b="0" i="0" lang="en-US" sz="1800" u="none" cap="none" strike="noStrike">
                <a:solidFill>
                  <a:schemeClr val="dk1"/>
                </a:solidFill>
                <a:latin typeface="Calibri"/>
                <a:ea typeface="Calibri"/>
                <a:cs typeface="Calibri"/>
                <a:sym typeface="Calibri"/>
              </a:rPr>
              <a:t> del empleador que le provoque </a:t>
            </a:r>
            <a:r>
              <a:rPr b="1" i="0" lang="en-US" sz="1800" u="none" cap="none" strike="noStrike">
                <a:solidFill>
                  <a:schemeClr val="dk1"/>
                </a:solidFill>
                <a:latin typeface="Calibri"/>
                <a:ea typeface="Calibri"/>
                <a:cs typeface="Calibri"/>
                <a:sym typeface="Calibri"/>
              </a:rPr>
              <a:t>perjuicio, </a:t>
            </a:r>
            <a:r>
              <a:rPr b="0" i="0" lang="en-US" sz="1800" u="none" cap="none" strike="noStrike">
                <a:solidFill>
                  <a:schemeClr val="dk1"/>
                </a:solidFill>
                <a:latin typeface="Calibri"/>
                <a:ea typeface="Calibri"/>
                <a:cs typeface="Calibri"/>
                <a:sym typeface="Calibri"/>
              </a:rPr>
              <a:t>Por</a:t>
            </a:r>
            <a:r>
              <a:rPr b="1" i="0" lang="en-US" sz="1800" u="none" cap="none" strike="noStrike">
                <a:solidFill>
                  <a:schemeClr val="dk1"/>
                </a:solidFill>
                <a:latin typeface="Calibri"/>
                <a:ea typeface="Calibri"/>
                <a:cs typeface="Calibri"/>
                <a:sym typeface="Calibri"/>
              </a:rPr>
              <a:t> </a:t>
            </a:r>
            <a:r>
              <a:rPr i="0" lang="en-US" sz="1800" u="none" cap="none" strike="noStrike">
                <a:solidFill>
                  <a:schemeClr val="dk1"/>
                </a:solidFill>
                <a:latin typeface="Calibri"/>
                <a:ea typeface="Calibri"/>
                <a:cs typeface="Calibri"/>
                <a:sym typeface="Calibri"/>
              </a:rPr>
              <a:t>ej</a:t>
            </a:r>
            <a:r>
              <a:rPr b="0" i="0" lang="en-US" sz="1800" u="none" cap="none" strike="noStrike">
                <a:solidFill>
                  <a:schemeClr val="dk1"/>
                </a:solidFill>
                <a:latin typeface="Calibri"/>
                <a:ea typeface="Calibri"/>
                <a:cs typeface="Calibri"/>
                <a:sym typeface="Calibri"/>
              </a:rPr>
              <a:t>emplo:</a:t>
            </a:r>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285750" lvl="0" marL="28575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chemeClr val="dk1"/>
                </a:solidFill>
                <a:latin typeface="Calibri"/>
                <a:ea typeface="Calibri"/>
                <a:cs typeface="Calibri"/>
                <a:sym typeface="Calibri"/>
              </a:rPr>
              <a:t> Que el empleador rebaje salarios, categoría </a:t>
            </a:r>
            <a:endParaRPr/>
          </a:p>
          <a:p>
            <a:pPr indent="-285750" lvl="0" marL="28575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chemeClr val="dk1"/>
                </a:solidFill>
                <a:latin typeface="Calibri"/>
                <a:ea typeface="Calibri"/>
                <a:cs typeface="Calibri"/>
                <a:sym typeface="Calibri"/>
              </a:rPr>
              <a:t> Que el empleador modifique la modalidad de contratación</a:t>
            </a:r>
            <a:endParaRPr/>
          </a:p>
          <a:p>
            <a:pPr indent="-285750" lvl="0" marL="28575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chemeClr val="dk1"/>
                </a:solidFill>
                <a:latin typeface="Calibri"/>
                <a:ea typeface="Calibri"/>
                <a:cs typeface="Calibri"/>
                <a:sym typeface="Calibri"/>
              </a:rPr>
              <a:t> Que el empleador no abone las remuneraciones.</a:t>
            </a:r>
            <a:endParaRPr/>
          </a:p>
          <a:p>
            <a:pPr indent="-285750" lvl="0" marL="28575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chemeClr val="dk1"/>
                </a:solidFill>
                <a:latin typeface="Calibri"/>
                <a:ea typeface="Calibri"/>
                <a:cs typeface="Calibri"/>
                <a:sym typeface="Calibri"/>
              </a:rPr>
              <a:t>La registración tardía de la fecha de ingreso o declaración de un sueldo inferior al real ante la AFIP.</a:t>
            </a:r>
            <a:br>
              <a:rPr b="0" i="0" lang="en-US" sz="1800" u="none" cap="none" strike="noStrike">
                <a:solidFill>
                  <a:schemeClr val="dk1"/>
                </a:solidFill>
                <a:latin typeface="Calibri"/>
                <a:ea typeface="Calibri"/>
                <a:cs typeface="Calibri"/>
                <a:sym typeface="Calibri"/>
              </a:rPr>
            </a:br>
            <a:endParaRPr b="0" i="0" sz="18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El trabajador deberá intimar al empleador para que modifique la decisión y, de no hacerlo, puede considerarse despedido.</a:t>
            </a:r>
            <a:endParaRPr b="0" i="0" sz="1800" u="none" cap="none" strike="noStrike">
              <a:solidFill>
                <a:schemeClr val="dk1"/>
              </a:solidFill>
              <a:latin typeface="Calibri"/>
              <a:ea typeface="Calibri"/>
              <a:cs typeface="Calibri"/>
              <a:sym typeface="Calibri"/>
            </a:endParaRPr>
          </a:p>
        </p:txBody>
      </p:sp>
      <p:sp>
        <p:nvSpPr>
          <p:cNvPr id="290" name="Google Shape;290;p9"/>
          <p:cNvSpPr txBox="1"/>
          <p:nvPr/>
        </p:nvSpPr>
        <p:spPr>
          <a:xfrm>
            <a:off x="0" y="1194602"/>
            <a:ext cx="5192037" cy="4000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sng" cap="none" strike="noStrike">
                <a:solidFill>
                  <a:srgbClr val="002060"/>
                </a:solidFill>
                <a:latin typeface="Calibri"/>
                <a:ea typeface="Calibri"/>
                <a:cs typeface="Calibri"/>
                <a:sym typeface="Calibri"/>
              </a:rPr>
              <a:t>DESPIDO INDIRECTO (ARTÍCULO 246 LCT)</a:t>
            </a:r>
            <a:endParaRPr b="1" i="0" sz="2000" u="sng" cap="none" strike="noStrike">
              <a:solidFill>
                <a:srgbClr val="002060"/>
              </a:solidFill>
              <a:latin typeface="Calibri"/>
              <a:ea typeface="Calibri"/>
              <a:cs typeface="Calibri"/>
              <a:sym typeface="Calibri"/>
            </a:endParaRPr>
          </a:p>
        </p:txBody>
      </p:sp>
      <p:sp>
        <p:nvSpPr>
          <p:cNvPr id="291" name="Google Shape;291;p9"/>
          <p:cNvSpPr txBox="1"/>
          <p:nvPr/>
        </p:nvSpPr>
        <p:spPr>
          <a:xfrm>
            <a:off x="0" y="-24"/>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UNIDAD 11: Extinción del contrato de trabajo</a:t>
            </a:r>
            <a:endParaRPr/>
          </a:p>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 </a:t>
            </a:r>
            <a:r>
              <a:rPr b="1" i="0" lang="en-US" sz="2000" u="none" cap="none" strike="noStrike">
                <a:solidFill>
                  <a:srgbClr val="002060"/>
                </a:solidFill>
                <a:latin typeface="Calibri"/>
                <a:ea typeface="Calibri"/>
                <a:cs typeface="Calibri"/>
                <a:sym typeface="Calibri"/>
              </a:rPr>
              <a:t>Extinción del contrato - despido indirecto</a:t>
            </a:r>
            <a:endParaRPr b="0" i="0" sz="2000" u="none" cap="none" strike="noStrike">
              <a:solidFill>
                <a:srgbClr val="000000"/>
              </a:solidFill>
              <a:latin typeface="Arial"/>
              <a:ea typeface="Arial"/>
              <a:cs typeface="Arial"/>
              <a:sym typeface="Arial"/>
            </a:endParaRPr>
          </a:p>
        </p:txBody>
      </p:sp>
      <p:sp>
        <p:nvSpPr>
          <p:cNvPr id="292" name="Google Shape;292;p9"/>
          <p:cNvSpPr txBox="1"/>
          <p:nvPr/>
        </p:nvSpPr>
        <p:spPr>
          <a:xfrm>
            <a:off x="1954662" y="1694962"/>
            <a:ext cx="5753686" cy="307777"/>
          </a:xfrm>
          <a:prstGeom prst="rect">
            <a:avLst/>
          </a:prstGeom>
          <a:solidFill>
            <a:srgbClr val="FFFB8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INJURIA SUFICIENTE POR CULPA DEL EMPLEADOR</a:t>
            </a:r>
            <a:endParaRPr b="1" i="0" sz="1400" u="none" cap="none" strike="noStrike">
              <a:solidFill>
                <a:srgbClr val="000000"/>
              </a:solidFill>
              <a:latin typeface="Arial"/>
              <a:ea typeface="Arial"/>
              <a:cs typeface="Arial"/>
              <a:sym typeface="Arial"/>
            </a:endParaRPr>
          </a:p>
        </p:txBody>
      </p:sp>
      <p:sp>
        <p:nvSpPr>
          <p:cNvPr id="293" name="Google Shape;293;p9"/>
          <p:cNvSpPr txBox="1"/>
          <p:nvPr/>
        </p:nvSpPr>
        <p:spPr>
          <a:xfrm>
            <a:off x="844647" y="5403690"/>
            <a:ext cx="8216705" cy="830997"/>
          </a:xfrm>
          <a:prstGeom prst="rect">
            <a:avLst/>
          </a:prstGeom>
          <a:solidFill>
            <a:srgbClr val="FCDDCB"/>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1" lang="en-US" sz="2400" u="none" cap="none" strike="noStrike">
                <a:solidFill>
                  <a:schemeClr val="dk1"/>
                </a:solidFill>
                <a:latin typeface="Calibri"/>
                <a:ea typeface="Calibri"/>
                <a:cs typeface="Calibri"/>
                <a:sym typeface="Calibri"/>
              </a:rPr>
              <a:t>Le corresponde el pago de los mismos conceptos que en el caso de Despido sin Causa.</a:t>
            </a:r>
            <a:endParaRPr b="1" i="1" sz="2400" u="none" cap="none" strike="noStrike">
              <a:solidFill>
                <a:srgbClr val="000000"/>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10"/>
          <p:cNvSpPr txBox="1"/>
          <p:nvPr/>
        </p:nvSpPr>
        <p:spPr>
          <a:xfrm>
            <a:off x="0" y="1113481"/>
            <a:ext cx="5371638" cy="4000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sng" cap="none" strike="noStrike">
                <a:solidFill>
                  <a:srgbClr val="002060"/>
                </a:solidFill>
                <a:latin typeface="Calibri"/>
                <a:ea typeface="Calibri"/>
                <a:cs typeface="Calibri"/>
                <a:sym typeface="Calibri"/>
              </a:rPr>
              <a:t>DESPIDO SIN CAUSA (ARTÍCULO 245 LCT)</a:t>
            </a:r>
            <a:endParaRPr b="1" i="0" sz="2000" u="sng" cap="none" strike="noStrike">
              <a:solidFill>
                <a:srgbClr val="002060"/>
              </a:solidFill>
              <a:latin typeface="Calibri"/>
              <a:ea typeface="Calibri"/>
              <a:cs typeface="Calibri"/>
              <a:sym typeface="Calibri"/>
            </a:endParaRPr>
          </a:p>
        </p:txBody>
      </p:sp>
      <p:sp>
        <p:nvSpPr>
          <p:cNvPr id="301" name="Google Shape;301;p10"/>
          <p:cNvSpPr txBox="1"/>
          <p:nvPr/>
        </p:nvSpPr>
        <p:spPr>
          <a:xfrm>
            <a:off x="0" y="-24"/>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UNIDAD 11: Extinción del contrato de trabajo</a:t>
            </a:r>
            <a:endParaRPr/>
          </a:p>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 </a:t>
            </a:r>
            <a:r>
              <a:rPr b="1" i="0" lang="en-US" sz="2000" u="none" cap="none" strike="noStrike">
                <a:solidFill>
                  <a:srgbClr val="002060"/>
                </a:solidFill>
                <a:latin typeface="Calibri"/>
                <a:ea typeface="Calibri"/>
                <a:cs typeface="Calibri"/>
                <a:sym typeface="Calibri"/>
              </a:rPr>
              <a:t>Extinción del contrato - despido sin causa</a:t>
            </a:r>
            <a:endParaRPr b="0" i="0" sz="2000" u="none" cap="none" strike="noStrike">
              <a:solidFill>
                <a:srgbClr val="000000"/>
              </a:solidFill>
              <a:latin typeface="Arial"/>
              <a:ea typeface="Arial"/>
              <a:cs typeface="Arial"/>
              <a:sym typeface="Arial"/>
            </a:endParaRPr>
          </a:p>
        </p:txBody>
      </p:sp>
      <p:sp>
        <p:nvSpPr>
          <p:cNvPr id="302" name="Google Shape;302;p10"/>
          <p:cNvSpPr txBox="1"/>
          <p:nvPr/>
        </p:nvSpPr>
        <p:spPr>
          <a:xfrm>
            <a:off x="0" y="1598910"/>
            <a:ext cx="9906000"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Calibri"/>
                <a:ea typeface="Calibri"/>
                <a:cs typeface="Calibri"/>
                <a:sym typeface="Calibri"/>
              </a:rPr>
              <a:t>El despido es la extinción de una relación laboral, cuando tiene origen en una </a:t>
            </a:r>
            <a:r>
              <a:rPr b="1" i="0" lang="en-US" sz="1800" u="none" cap="none" strike="noStrike">
                <a:solidFill>
                  <a:srgbClr val="000000"/>
                </a:solidFill>
                <a:latin typeface="Calibri"/>
                <a:ea typeface="Calibri"/>
                <a:cs typeface="Calibri"/>
                <a:sym typeface="Calibri"/>
              </a:rPr>
              <a:t>decisión unilateral por parte del empleador.</a:t>
            </a:r>
            <a:r>
              <a:rPr b="0" i="0" lang="en-US" sz="1800" u="none" cap="none" strike="noStrike">
                <a:solidFill>
                  <a:srgbClr val="000000"/>
                </a:solidFill>
                <a:latin typeface="Calibri"/>
                <a:ea typeface="Calibri"/>
                <a:cs typeface="Calibri"/>
                <a:sym typeface="Calibri"/>
              </a:rPr>
              <a:t> El despido se produce cuando el empresario decide unilateralmente extinguir el contrato laboral de un trabajador.</a:t>
            </a:r>
            <a:endParaRPr b="0" i="0" sz="1800" u="none" cap="none" strike="noStrike">
              <a:solidFill>
                <a:srgbClr val="000000"/>
              </a:solidFill>
              <a:latin typeface="Calibri"/>
              <a:ea typeface="Calibri"/>
              <a:cs typeface="Calibri"/>
              <a:sym typeface="Calibri"/>
            </a:endParaRPr>
          </a:p>
        </p:txBody>
      </p:sp>
      <p:sp>
        <p:nvSpPr>
          <p:cNvPr id="303" name="Google Shape;303;p10"/>
          <p:cNvSpPr txBox="1"/>
          <p:nvPr/>
        </p:nvSpPr>
        <p:spPr>
          <a:xfrm>
            <a:off x="3624349" y="2557815"/>
            <a:ext cx="5835600" cy="32016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4D66"/>
              </a:buClr>
              <a:buSzPts val="1800"/>
              <a:buFont typeface="Noto Sans Symbols"/>
              <a:buChar char="❖"/>
            </a:pPr>
            <a:r>
              <a:rPr b="1" i="0" lang="en-US" sz="1600" u="none" cap="none" strike="noStrike">
                <a:solidFill>
                  <a:srgbClr val="004D66"/>
                </a:solidFill>
                <a:latin typeface="Calibri"/>
                <a:ea typeface="Calibri"/>
                <a:cs typeface="Calibri"/>
                <a:sym typeface="Calibri"/>
              </a:rPr>
              <a:t>Días trabajados</a:t>
            </a:r>
            <a:endParaRPr/>
          </a:p>
          <a:p>
            <a:pPr indent="0" lvl="0" marL="0" marR="0" rtl="0" algn="l">
              <a:lnSpc>
                <a:spcPct val="115000"/>
              </a:lnSpc>
              <a:spcBef>
                <a:spcPts val="0"/>
              </a:spcBef>
              <a:spcAft>
                <a:spcPts val="0"/>
              </a:spcAft>
              <a:buClr>
                <a:srgbClr val="004D66"/>
              </a:buClr>
              <a:buSzPts val="1800"/>
              <a:buFont typeface="Noto Sans Symbols"/>
              <a:buChar char="❖"/>
            </a:pPr>
            <a:r>
              <a:rPr b="1" i="0" lang="en-US" sz="1600" u="none" cap="none" strike="noStrike">
                <a:solidFill>
                  <a:srgbClr val="004D66"/>
                </a:solidFill>
                <a:latin typeface="Calibri"/>
                <a:ea typeface="Calibri"/>
                <a:cs typeface="Calibri"/>
                <a:sym typeface="Calibri"/>
              </a:rPr>
              <a:t>SAC Proporcional</a:t>
            </a:r>
            <a:r>
              <a:rPr b="0" i="0" lang="en-US" sz="1600" u="none" cap="none" strike="noStrike">
                <a:solidFill>
                  <a:schemeClr val="dk1"/>
                </a:solidFill>
                <a:latin typeface="Calibri"/>
                <a:ea typeface="Calibri"/>
                <a:cs typeface="Calibri"/>
                <a:sym typeface="Calibri"/>
              </a:rPr>
              <a:t>.</a:t>
            </a:r>
            <a:endParaRPr b="0" i="0" sz="1600" u="none" cap="none" strike="noStrike">
              <a:solidFill>
                <a:srgbClr val="000000"/>
              </a:solidFill>
              <a:latin typeface="Calibri"/>
              <a:ea typeface="Calibri"/>
              <a:cs typeface="Calibri"/>
              <a:sym typeface="Calibri"/>
            </a:endParaRPr>
          </a:p>
          <a:p>
            <a:pPr indent="0" lvl="0" marL="0" marR="0" rtl="0" algn="l">
              <a:lnSpc>
                <a:spcPct val="115000"/>
              </a:lnSpc>
              <a:spcBef>
                <a:spcPts val="0"/>
              </a:spcBef>
              <a:spcAft>
                <a:spcPts val="0"/>
              </a:spcAft>
              <a:buClr>
                <a:srgbClr val="004D66"/>
              </a:buClr>
              <a:buSzPts val="1800"/>
              <a:buFont typeface="Noto Sans Symbols"/>
              <a:buChar char="❖"/>
            </a:pPr>
            <a:r>
              <a:rPr b="1" i="0" lang="en-US" sz="1600" u="none" cap="none" strike="noStrike">
                <a:solidFill>
                  <a:srgbClr val="004D66"/>
                </a:solidFill>
                <a:latin typeface="Calibri"/>
                <a:ea typeface="Calibri"/>
                <a:cs typeface="Calibri"/>
                <a:sym typeface="Calibri"/>
              </a:rPr>
              <a:t> Vacaciones no gozadas.</a:t>
            </a:r>
            <a:endParaRPr b="0" i="0" sz="1600" u="none" cap="none" strike="noStrike">
              <a:solidFill>
                <a:srgbClr val="000000"/>
              </a:solidFill>
              <a:latin typeface="Calibri"/>
              <a:ea typeface="Calibri"/>
              <a:cs typeface="Calibri"/>
              <a:sym typeface="Calibri"/>
            </a:endParaRPr>
          </a:p>
          <a:p>
            <a:pPr indent="0" lvl="0" marL="0" marR="0" rtl="0" algn="l">
              <a:lnSpc>
                <a:spcPct val="115000"/>
              </a:lnSpc>
              <a:spcBef>
                <a:spcPts val="0"/>
              </a:spcBef>
              <a:spcAft>
                <a:spcPts val="0"/>
              </a:spcAft>
              <a:buClr>
                <a:srgbClr val="004D66"/>
              </a:buClr>
              <a:buSzPts val="1800"/>
              <a:buFont typeface="Noto Sans Symbols"/>
              <a:buChar char="❖"/>
            </a:pPr>
            <a:r>
              <a:rPr b="1" i="0" lang="en-US" sz="1600" u="none" cap="none" strike="noStrike">
                <a:solidFill>
                  <a:srgbClr val="004D66"/>
                </a:solidFill>
                <a:latin typeface="Calibri"/>
                <a:ea typeface="Calibri"/>
                <a:cs typeface="Calibri"/>
                <a:sym typeface="Calibri"/>
              </a:rPr>
              <a:t> SAC sobre vacaciones no gozadas.</a:t>
            </a:r>
            <a:endParaRPr b="0" i="0" sz="1600" u="none" cap="none" strike="noStrike">
              <a:solidFill>
                <a:srgbClr val="000000"/>
              </a:solidFill>
              <a:latin typeface="Calibri"/>
              <a:ea typeface="Calibri"/>
              <a:cs typeface="Calibri"/>
              <a:sym typeface="Calibri"/>
            </a:endParaRPr>
          </a:p>
          <a:p>
            <a:pPr indent="0" lvl="0" marL="0" marR="0" rtl="0" algn="l">
              <a:lnSpc>
                <a:spcPct val="115000"/>
              </a:lnSpc>
              <a:spcBef>
                <a:spcPts val="0"/>
              </a:spcBef>
              <a:spcAft>
                <a:spcPts val="0"/>
              </a:spcAft>
              <a:buClr>
                <a:srgbClr val="AC430B"/>
              </a:buClr>
              <a:buSzPts val="1800"/>
              <a:buFont typeface="Noto Sans Symbols"/>
              <a:buChar char="❖"/>
            </a:pPr>
            <a:r>
              <a:rPr b="1" i="0" lang="en-US" sz="1600" u="none" cap="none" strike="noStrike">
                <a:solidFill>
                  <a:schemeClr val="accent4"/>
                </a:solidFill>
                <a:latin typeface="Calibri"/>
                <a:ea typeface="Calibri"/>
                <a:cs typeface="Calibri"/>
                <a:sym typeface="Calibri"/>
              </a:rPr>
              <a:t> Antigüedad: 1 mes de sueldo por año de servicio o fracción mayor a 3 meses.</a:t>
            </a:r>
            <a:endParaRPr/>
          </a:p>
          <a:p>
            <a:pPr indent="0" lvl="0" marL="0" marR="0" rtl="0" algn="l">
              <a:lnSpc>
                <a:spcPct val="115000"/>
              </a:lnSpc>
              <a:spcBef>
                <a:spcPts val="0"/>
              </a:spcBef>
              <a:spcAft>
                <a:spcPts val="0"/>
              </a:spcAft>
              <a:buClr>
                <a:srgbClr val="AC430B"/>
              </a:buClr>
              <a:buSzPts val="1800"/>
              <a:buFont typeface="Noto Sans Symbols"/>
              <a:buChar char="❖"/>
            </a:pPr>
            <a:r>
              <a:rPr b="1" i="0" lang="en-US" sz="1600" u="none" cap="none" strike="noStrike">
                <a:solidFill>
                  <a:schemeClr val="accent4"/>
                </a:solidFill>
                <a:latin typeface="Calibri"/>
                <a:ea typeface="Calibri"/>
                <a:cs typeface="Calibri"/>
                <a:sym typeface="Calibri"/>
              </a:rPr>
              <a:t> Indemnización sustitutiva por Preaviso</a:t>
            </a:r>
            <a:endParaRPr/>
          </a:p>
          <a:p>
            <a:pPr indent="0" lvl="0" marL="0" marR="0" rtl="0" algn="l">
              <a:lnSpc>
                <a:spcPct val="115000"/>
              </a:lnSpc>
              <a:spcBef>
                <a:spcPts val="0"/>
              </a:spcBef>
              <a:spcAft>
                <a:spcPts val="0"/>
              </a:spcAft>
              <a:buClr>
                <a:srgbClr val="AC430B"/>
              </a:buClr>
              <a:buSzPts val="1800"/>
              <a:buFont typeface="Noto Sans Symbols"/>
              <a:buChar char="❖"/>
            </a:pPr>
            <a:r>
              <a:rPr b="0" i="0" lang="en-US" sz="1600" u="none" cap="none" strike="noStrike">
                <a:solidFill>
                  <a:schemeClr val="accent4"/>
                </a:solidFill>
                <a:latin typeface="Calibri"/>
                <a:ea typeface="Calibri"/>
                <a:cs typeface="Calibri"/>
                <a:sym typeface="Calibri"/>
              </a:rPr>
              <a:t> SAC sobre preaviso</a:t>
            </a:r>
            <a:endParaRPr/>
          </a:p>
          <a:p>
            <a:pPr indent="0" lvl="0" marL="0" marR="0" rtl="0" algn="l">
              <a:lnSpc>
                <a:spcPct val="115000"/>
              </a:lnSpc>
              <a:spcBef>
                <a:spcPts val="0"/>
              </a:spcBef>
              <a:spcAft>
                <a:spcPts val="0"/>
              </a:spcAft>
              <a:buClr>
                <a:srgbClr val="AC430B"/>
              </a:buClr>
              <a:buSzPts val="1800"/>
              <a:buFont typeface="Noto Sans Symbols"/>
              <a:buChar char="❖"/>
            </a:pPr>
            <a:r>
              <a:rPr b="1" i="0" lang="en-US" sz="1600" u="none" cap="none" strike="noStrike">
                <a:solidFill>
                  <a:schemeClr val="accent4"/>
                </a:solidFill>
                <a:latin typeface="Calibri"/>
                <a:ea typeface="Calibri"/>
                <a:cs typeface="Calibri"/>
                <a:sym typeface="Calibri"/>
              </a:rPr>
              <a:t> Integración mes de despido (días faltantes hasta fin de mes)</a:t>
            </a:r>
            <a:endParaRPr/>
          </a:p>
          <a:p>
            <a:pPr indent="0" lvl="0" marL="0" marR="0" rtl="0" algn="l">
              <a:lnSpc>
                <a:spcPct val="115000"/>
              </a:lnSpc>
              <a:spcBef>
                <a:spcPts val="0"/>
              </a:spcBef>
              <a:spcAft>
                <a:spcPts val="0"/>
              </a:spcAft>
              <a:buClr>
                <a:srgbClr val="AC430B"/>
              </a:buClr>
              <a:buSzPts val="1800"/>
              <a:buFont typeface="Noto Sans Symbols"/>
              <a:buChar char="❖"/>
            </a:pPr>
            <a:r>
              <a:rPr b="0" i="0" lang="en-US" sz="1600" u="none" cap="none" strike="noStrike">
                <a:solidFill>
                  <a:schemeClr val="accent4"/>
                </a:solidFill>
                <a:latin typeface="Calibri"/>
                <a:ea typeface="Calibri"/>
                <a:cs typeface="Calibri"/>
                <a:sym typeface="Calibri"/>
              </a:rPr>
              <a:t>SAC sobre integración</a:t>
            </a:r>
            <a:endParaRPr/>
          </a:p>
        </p:txBody>
      </p:sp>
      <p:sp>
        <p:nvSpPr>
          <p:cNvPr id="304" name="Google Shape;304;p10"/>
          <p:cNvSpPr/>
          <p:nvPr/>
        </p:nvSpPr>
        <p:spPr>
          <a:xfrm>
            <a:off x="3305375" y="2451099"/>
            <a:ext cx="452400" cy="3522900"/>
          </a:xfrm>
          <a:prstGeom prst="leftBrace">
            <a:avLst>
              <a:gd fmla="val 8333" name="adj1"/>
              <a:gd fmla="val 50000" name="adj2"/>
            </a:avLst>
          </a:prstGeom>
          <a:noFill/>
          <a:ln cap="flat" cmpd="sng" w="9525">
            <a:solidFill>
              <a:srgbClr val="FEB91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305" name="Google Shape;305;p10"/>
          <p:cNvSpPr txBox="1"/>
          <p:nvPr/>
        </p:nvSpPr>
        <p:spPr>
          <a:xfrm>
            <a:off x="178763" y="3320098"/>
            <a:ext cx="3126608" cy="1938992"/>
          </a:xfrm>
          <a:prstGeom prst="rect">
            <a:avLst/>
          </a:prstGeom>
          <a:solidFill>
            <a:srgbClr val="FFFB8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002060"/>
                </a:solidFill>
                <a:latin typeface="Calibri"/>
                <a:ea typeface="Calibri"/>
                <a:cs typeface="Calibri"/>
                <a:sym typeface="Calibri"/>
              </a:rPr>
              <a:t>En la liquidación final a liquidar al empleado, deberán abonarse los siguientes </a:t>
            </a:r>
            <a:r>
              <a:rPr b="1" i="0" lang="en-US" sz="2000" u="none" cap="none" strike="noStrike">
                <a:solidFill>
                  <a:srgbClr val="002060"/>
                </a:solidFill>
                <a:latin typeface="Calibri"/>
                <a:ea typeface="Calibri"/>
                <a:cs typeface="Calibri"/>
                <a:sym typeface="Calibri"/>
              </a:rPr>
              <a:t>conceptos remunerativos e indemnizatorios: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0"/>
          <p:cNvSpPr txBox="1"/>
          <p:nvPr/>
        </p:nvSpPr>
        <p:spPr>
          <a:xfrm>
            <a:off x="0" y="-24"/>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UNIDAD 11: Extinción del contrato de trabajo</a:t>
            </a:r>
            <a:endParaRPr/>
          </a:p>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 </a:t>
            </a:r>
            <a:r>
              <a:rPr b="1" i="0" lang="en-US" sz="2000" u="none" cap="none" strike="noStrike">
                <a:solidFill>
                  <a:srgbClr val="002060"/>
                </a:solidFill>
                <a:latin typeface="Calibri"/>
                <a:ea typeface="Calibri"/>
                <a:cs typeface="Calibri"/>
                <a:sym typeface="Calibri"/>
              </a:rPr>
              <a:t>Extinción del contrato - despido sin causa</a:t>
            </a:r>
            <a:endParaRPr b="0" i="0" sz="2000" u="none" cap="none" strike="noStrike">
              <a:solidFill>
                <a:srgbClr val="000000"/>
              </a:solidFill>
              <a:latin typeface="Arial"/>
              <a:ea typeface="Arial"/>
              <a:cs typeface="Arial"/>
              <a:sym typeface="Arial"/>
            </a:endParaRPr>
          </a:p>
        </p:txBody>
      </p:sp>
      <p:sp>
        <p:nvSpPr>
          <p:cNvPr id="312" name="Google Shape;312;p40"/>
          <p:cNvSpPr txBox="1"/>
          <p:nvPr/>
        </p:nvSpPr>
        <p:spPr>
          <a:xfrm>
            <a:off x="299257" y="1643896"/>
            <a:ext cx="9406717" cy="677108"/>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2400" u="none" cap="none" strike="noStrike">
                <a:solidFill>
                  <a:srgbClr val="000000"/>
                </a:solidFill>
                <a:latin typeface="Calibri"/>
                <a:ea typeface="Calibri"/>
                <a:cs typeface="Calibri"/>
                <a:sym typeface="Calibri"/>
              </a:rPr>
              <a:t>¿Cuándo pagar indemnización por integración del mes de despido?</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3" name="Google Shape;313;p40"/>
          <p:cNvSpPr txBox="1"/>
          <p:nvPr/>
        </p:nvSpPr>
        <p:spPr>
          <a:xfrm>
            <a:off x="731521" y="2782671"/>
            <a:ext cx="8015476" cy="17543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Calibri"/>
                <a:ea typeface="Calibri"/>
                <a:cs typeface="Calibri"/>
                <a:sym typeface="Calibri"/>
              </a:rPr>
              <a:t>Cuando la extinción del contrato de trabajo dispuesta por el empleador </a:t>
            </a:r>
            <a:r>
              <a:rPr b="1" i="0" lang="en-US" sz="1800" u="sng" cap="none" strike="noStrike">
                <a:solidFill>
                  <a:srgbClr val="000000"/>
                </a:solidFill>
                <a:latin typeface="Calibri"/>
                <a:ea typeface="Calibri"/>
                <a:cs typeface="Calibri"/>
                <a:sym typeface="Calibri"/>
              </a:rPr>
              <a:t>se produzca sin preaviso y en fecha que no coincida con el último día del mes</a:t>
            </a:r>
            <a:r>
              <a:rPr b="0" i="0" lang="en-US" sz="1800" u="none" cap="none" strike="noStrike">
                <a:solidFill>
                  <a:srgbClr val="000000"/>
                </a:solidFill>
                <a:latin typeface="Calibri"/>
                <a:ea typeface="Calibri"/>
                <a:cs typeface="Calibri"/>
                <a:sym typeface="Calibri"/>
              </a:rPr>
              <a:t>, la indemnización sustitutiva debida al trabajador </a:t>
            </a:r>
            <a:r>
              <a:rPr b="1" i="0" lang="en-US" sz="1800" u="none" cap="none" strike="noStrike">
                <a:solidFill>
                  <a:srgbClr val="000000"/>
                </a:solidFill>
                <a:latin typeface="Calibri"/>
                <a:ea typeface="Calibri"/>
                <a:cs typeface="Calibri"/>
                <a:sym typeface="Calibri"/>
              </a:rPr>
              <a:t>se integrará con una suma igual a los salarios por los días faltantes hasta el último día del mes en el que se produjera el despido.</a:t>
            </a:r>
            <a:endParaRPr/>
          </a:p>
          <a:p>
            <a:pPr indent="0" lvl="0" marL="0" marR="0" rtl="0" algn="l">
              <a:lnSpc>
                <a:spcPct val="100000"/>
              </a:lnSpc>
              <a:spcBef>
                <a:spcPts val="0"/>
              </a:spcBef>
              <a:spcAft>
                <a:spcPts val="0"/>
              </a:spcAft>
              <a:buNone/>
            </a:pPr>
            <a:r>
              <a:t/>
            </a:r>
            <a:endParaRPr b="1"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1" i="0" lang="en-US" sz="1800" u="none" cap="none" strike="noStrike">
                <a:solidFill>
                  <a:srgbClr val="0070C0"/>
                </a:solidFill>
                <a:latin typeface="Calibri"/>
                <a:ea typeface="Calibri"/>
                <a:cs typeface="Calibri"/>
                <a:sym typeface="Calibri"/>
              </a:rPr>
              <a:t>Sueldo bruto /30 * cantidad de días restantes para completar el mes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pic>
        <p:nvPicPr>
          <p:cNvPr descr="Image result for utn frba" id="318" name="Google Shape;318;p15"/>
          <p:cNvPicPr preferRelativeResize="0"/>
          <p:nvPr/>
        </p:nvPicPr>
        <p:blipFill rotWithShape="1">
          <a:blip r:embed="rId3">
            <a:alphaModFix/>
          </a:blip>
          <a:srcRect b="0" l="0" r="0" t="0"/>
          <a:stretch/>
        </p:blipFill>
        <p:spPr>
          <a:xfrm>
            <a:off x="6846195" y="64396"/>
            <a:ext cx="2611323" cy="952745"/>
          </a:xfrm>
          <a:prstGeom prst="rect">
            <a:avLst/>
          </a:prstGeom>
          <a:noFill/>
          <a:ln>
            <a:noFill/>
          </a:ln>
        </p:spPr>
      </p:pic>
      <p:sp>
        <p:nvSpPr>
          <p:cNvPr id="319" name="Google Shape;319;p15"/>
          <p:cNvSpPr/>
          <p:nvPr/>
        </p:nvSpPr>
        <p:spPr>
          <a:xfrm>
            <a:off x="381554" y="1091668"/>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662"/>
              <a:buFont typeface="Arial"/>
              <a:buNone/>
            </a:pPr>
            <a:r>
              <a:t/>
            </a:r>
            <a:endParaRPr b="0" i="0" sz="1662" u="none" cap="none" strike="noStrike">
              <a:solidFill>
                <a:schemeClr val="dk1"/>
              </a:solidFill>
              <a:latin typeface="Calibri"/>
              <a:ea typeface="Calibri"/>
              <a:cs typeface="Calibri"/>
              <a:sym typeface="Calibri"/>
            </a:endParaRPr>
          </a:p>
        </p:txBody>
      </p:sp>
      <p:sp>
        <p:nvSpPr>
          <p:cNvPr id="320" name="Google Shape;320;p15"/>
          <p:cNvSpPr txBox="1"/>
          <p:nvPr/>
        </p:nvSpPr>
        <p:spPr>
          <a:xfrm>
            <a:off x="381554" y="1418897"/>
            <a:ext cx="9075963" cy="443194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Char char="❑"/>
            </a:pPr>
            <a:r>
              <a:rPr b="1" i="0" lang="en-US" sz="1600" u="none" cap="none" strike="noStrike">
                <a:solidFill>
                  <a:schemeClr val="dk1"/>
                </a:solidFill>
                <a:latin typeface="Calibri"/>
                <a:ea typeface="Calibri"/>
                <a:cs typeface="Calibri"/>
                <a:sym typeface="Calibri"/>
              </a:rPr>
              <a:t>SAC SOBRE VACACIONES NO GOZADAS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Cuando el contrato se extingue por cualquier causa -despido, </a:t>
            </a:r>
            <a:r>
              <a:rPr b="1" i="0" lang="en-US" sz="1600" u="none" cap="none" strike="noStrike">
                <a:solidFill>
                  <a:schemeClr val="dk1"/>
                </a:solidFill>
                <a:latin typeface="Calibri"/>
                <a:ea typeface="Calibri"/>
                <a:cs typeface="Calibri"/>
                <a:sym typeface="Calibri"/>
              </a:rPr>
              <a:t>renuncia</a:t>
            </a:r>
            <a:r>
              <a:rPr b="0" i="0" lang="en-US" sz="1600" u="none" cap="none" strike="noStrike">
                <a:solidFill>
                  <a:schemeClr val="dk1"/>
                </a:solidFill>
                <a:latin typeface="Calibri"/>
                <a:ea typeface="Calibri"/>
                <a:cs typeface="Calibri"/>
                <a:sym typeface="Calibri"/>
              </a:rPr>
              <a:t>, abandono, u otros- además de la formalidad de notificar por escrito, se debe liquidar el sueldo del mes, el sueldo anual complementario (</a:t>
            </a:r>
            <a:r>
              <a:rPr b="1" i="0" lang="en-US" sz="1600" u="none" cap="none" strike="noStrike">
                <a:solidFill>
                  <a:schemeClr val="dk1"/>
                </a:solidFill>
                <a:latin typeface="Calibri"/>
                <a:ea typeface="Calibri"/>
                <a:cs typeface="Calibri"/>
                <a:sym typeface="Calibri"/>
              </a:rPr>
              <a:t>SAC</a:t>
            </a:r>
            <a:r>
              <a:rPr b="0" i="0" lang="en-US" sz="1600" u="none" cap="none" strike="noStrike">
                <a:solidFill>
                  <a:schemeClr val="dk1"/>
                </a:solidFill>
                <a:latin typeface="Calibri"/>
                <a:ea typeface="Calibri"/>
                <a:cs typeface="Calibri"/>
                <a:sym typeface="Calibri"/>
              </a:rPr>
              <a:t>) proporcional, los días que correspondan por </a:t>
            </a:r>
            <a:r>
              <a:rPr b="1" i="0" lang="en-US" sz="1600" u="none" cap="none" strike="noStrike">
                <a:solidFill>
                  <a:schemeClr val="dk1"/>
                </a:solidFill>
                <a:latin typeface="Calibri"/>
                <a:ea typeface="Calibri"/>
                <a:cs typeface="Calibri"/>
                <a:sym typeface="Calibri"/>
              </a:rPr>
              <a:t>vacaciones no gozadas</a:t>
            </a:r>
            <a:r>
              <a:rPr b="0" i="0" lang="en-US" sz="1600" u="none" cap="none" strike="noStrike">
                <a:solidFill>
                  <a:schemeClr val="dk1"/>
                </a:solidFill>
                <a:latin typeface="Calibri"/>
                <a:ea typeface="Calibri"/>
                <a:cs typeface="Calibri"/>
                <a:sym typeface="Calibri"/>
              </a:rPr>
              <a:t>, más el </a:t>
            </a:r>
            <a:r>
              <a:rPr b="1" i="0" lang="en-US" sz="1600" u="none" cap="none" strike="noStrike">
                <a:solidFill>
                  <a:schemeClr val="dk1"/>
                </a:solidFill>
                <a:latin typeface="Calibri"/>
                <a:ea typeface="Calibri"/>
                <a:cs typeface="Calibri"/>
                <a:sym typeface="Calibri"/>
              </a:rPr>
              <a:t>SAC</a:t>
            </a:r>
            <a:r>
              <a:rPr b="0" i="0" lang="en-US" sz="1600" u="none" cap="none" strike="noStrike">
                <a:solidFill>
                  <a:schemeClr val="dk1"/>
                </a:solidFill>
                <a:latin typeface="Calibri"/>
                <a:ea typeface="Calibri"/>
                <a:cs typeface="Calibri"/>
                <a:sym typeface="Calibri"/>
              </a:rPr>
              <a:t> de </a:t>
            </a:r>
            <a:r>
              <a:rPr b="1" i="0" lang="en-US" sz="1600" u="none" cap="none" strike="noStrike">
                <a:solidFill>
                  <a:schemeClr val="dk1"/>
                </a:solidFill>
                <a:latin typeface="Calibri"/>
                <a:ea typeface="Calibri"/>
                <a:cs typeface="Calibri"/>
                <a:sym typeface="Calibri"/>
              </a:rPr>
              <a:t>vacaciones no gozadas.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70C0"/>
                </a:solidFill>
                <a:latin typeface="Calibri"/>
                <a:ea typeface="Calibri"/>
                <a:cs typeface="Calibri"/>
                <a:sym typeface="Calibri"/>
              </a:rPr>
              <a:t>VACACIONES NO GOZADAS /12 = SAC SOBRE VACACIONES NO GOZADAS</a:t>
            </a:r>
            <a:endParaRPr b="1" i="0" sz="1800" u="none" cap="none" strike="noStrike">
              <a:solidFill>
                <a:srgbClr val="0070C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Noto Sans Symbols"/>
              <a:buChar char="❑"/>
            </a:pPr>
            <a:r>
              <a:rPr b="1" i="0" lang="en-US" sz="1600" u="none" cap="none" strike="noStrike">
                <a:solidFill>
                  <a:schemeClr val="dk1"/>
                </a:solidFill>
                <a:latin typeface="Calibri"/>
                <a:ea typeface="Calibri"/>
                <a:cs typeface="Calibri"/>
                <a:sym typeface="Calibri"/>
              </a:rPr>
              <a:t>SAC PREAVISO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El </a:t>
            </a:r>
            <a:r>
              <a:rPr b="1" i="0" lang="en-US" sz="1600" u="none" cap="none" strike="noStrike">
                <a:solidFill>
                  <a:schemeClr val="dk1"/>
                </a:solidFill>
                <a:latin typeface="Calibri"/>
                <a:ea typeface="Calibri"/>
                <a:cs typeface="Calibri"/>
                <a:sym typeface="Calibri"/>
              </a:rPr>
              <a:t>SAC sobre preaviso</a:t>
            </a:r>
            <a:r>
              <a:rPr b="0" i="0" lang="en-US" sz="1600" u="none" cap="none" strike="noStrike">
                <a:solidFill>
                  <a:schemeClr val="dk1"/>
                </a:solidFill>
                <a:latin typeface="Calibri"/>
                <a:ea typeface="Calibri"/>
                <a:cs typeface="Calibri"/>
                <a:sym typeface="Calibri"/>
              </a:rPr>
              <a:t> consiste en </a:t>
            </a:r>
            <a:r>
              <a:rPr b="1" i="0" lang="en-US" sz="1600" u="none" cap="none" strike="noStrike">
                <a:solidFill>
                  <a:schemeClr val="dk1"/>
                </a:solidFill>
                <a:latin typeface="Calibri"/>
                <a:ea typeface="Calibri"/>
                <a:cs typeface="Calibri"/>
                <a:sym typeface="Calibri"/>
              </a:rPr>
              <a:t>calcular</a:t>
            </a:r>
            <a:r>
              <a:rPr b="0" i="0" lang="en-US" sz="1600" u="none" cap="none" strike="noStrike">
                <a:solidFill>
                  <a:schemeClr val="dk1"/>
                </a:solidFill>
                <a:latin typeface="Calibri"/>
                <a:ea typeface="Calibri"/>
                <a:cs typeface="Calibri"/>
                <a:sym typeface="Calibri"/>
              </a:rPr>
              <a:t> el Salario Anual Complementario </a:t>
            </a:r>
            <a:r>
              <a:rPr b="1" i="0" lang="en-US" sz="1600" u="none" cap="none" strike="noStrike">
                <a:solidFill>
                  <a:schemeClr val="dk1"/>
                </a:solidFill>
                <a:latin typeface="Calibri"/>
                <a:ea typeface="Calibri"/>
                <a:cs typeface="Calibri"/>
                <a:sym typeface="Calibri"/>
              </a:rPr>
              <a:t>sobre </a:t>
            </a:r>
            <a:r>
              <a:rPr b="0" i="0" lang="en-US" sz="1600" u="none" cap="none" strike="noStrike">
                <a:solidFill>
                  <a:schemeClr val="dk1"/>
                </a:solidFill>
                <a:latin typeface="Calibri"/>
                <a:ea typeface="Calibri"/>
                <a:cs typeface="Calibri"/>
                <a:sym typeface="Calibri"/>
              </a:rPr>
              <a:t>el monto de la indemnización anterior y </a:t>
            </a:r>
            <a:r>
              <a:rPr b="1" i="0" lang="en-US" sz="1600" u="none" cap="none" strike="noStrike">
                <a:solidFill>
                  <a:schemeClr val="dk1"/>
                </a:solidFill>
                <a:latin typeface="Calibri"/>
                <a:ea typeface="Calibri"/>
                <a:cs typeface="Calibri"/>
                <a:sym typeface="Calibri"/>
              </a:rPr>
              <a:t>se calcula</a:t>
            </a:r>
            <a:r>
              <a:rPr b="0" i="0" lang="en-US" sz="1600" u="none" cap="none" strike="noStrike">
                <a:solidFill>
                  <a:schemeClr val="dk1"/>
                </a:solidFill>
                <a:latin typeface="Calibri"/>
                <a:ea typeface="Calibri"/>
                <a:cs typeface="Calibri"/>
                <a:sym typeface="Calibri"/>
              </a:rPr>
              <a:t> de la siguiente manera: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70C0"/>
                </a:solidFill>
                <a:latin typeface="Calibri"/>
                <a:ea typeface="Calibri"/>
                <a:cs typeface="Calibri"/>
                <a:sym typeface="Calibri"/>
              </a:rPr>
              <a:t>                  Indemnización por Falta de Preaviso / 12 = SAC sobre Preaviso.</a:t>
            </a:r>
            <a:endParaRPr b="1" i="0" sz="1800" u="none" cap="none" strike="noStrike">
              <a:solidFill>
                <a:srgbClr val="0070C0"/>
              </a:solidFill>
              <a:latin typeface="Calibri"/>
              <a:ea typeface="Calibri"/>
              <a:cs typeface="Calibri"/>
              <a:sym typeface="Calibri"/>
            </a:endParaRPr>
          </a:p>
          <a:p>
            <a:pPr indent="101600" lvl="0" marL="0" marR="0" rtl="0" algn="l">
              <a:lnSpc>
                <a:spcPct val="100000"/>
              </a:lnSpc>
              <a:spcBef>
                <a:spcPts val="0"/>
              </a:spcBef>
              <a:spcAft>
                <a:spcPts val="0"/>
              </a:spcAft>
              <a:buClr>
                <a:schemeClr val="dk1"/>
              </a:buClr>
              <a:buSzPts val="1600"/>
              <a:buFont typeface="Noto Sans Symbols"/>
              <a:buNone/>
            </a:pPr>
            <a:r>
              <a:t/>
            </a:r>
            <a:endParaRPr b="1"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Noto Sans Symbols"/>
              <a:buChar char="❑"/>
            </a:pPr>
            <a:r>
              <a:rPr b="1" i="0" lang="en-US" sz="1600" u="none" cap="none" strike="noStrike">
                <a:solidFill>
                  <a:schemeClr val="dk1"/>
                </a:solidFill>
                <a:latin typeface="Calibri"/>
                <a:ea typeface="Calibri"/>
                <a:cs typeface="Calibri"/>
                <a:sym typeface="Calibri"/>
              </a:rPr>
              <a:t>SAC INTEGRACIÓN</a:t>
            </a:r>
            <a:endParaRPr b="1"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Consiste en calcular el SAC sobre el monto de indemnización por integración</a:t>
            </a:r>
            <a:endParaRPr/>
          </a:p>
          <a:p>
            <a:pPr indent="0" lvl="0" marL="0" marR="0" rtl="0" algn="l">
              <a:lnSpc>
                <a:spcPct val="100000"/>
              </a:lnSpc>
              <a:spcBef>
                <a:spcPts val="0"/>
              </a:spcBef>
              <a:spcAft>
                <a:spcPts val="0"/>
              </a:spcAft>
              <a:buNone/>
            </a:pPr>
            <a:r>
              <a:rPr b="1" i="0" lang="en-US" sz="1800" u="none" cap="none" strike="noStrike">
                <a:solidFill>
                  <a:srgbClr val="0070C0"/>
                </a:solidFill>
                <a:latin typeface="Calibri"/>
                <a:ea typeface="Calibri"/>
                <a:cs typeface="Calibri"/>
                <a:sym typeface="Calibri"/>
              </a:rPr>
              <a:t>                  Indemnización por integración/ 12 = SAC sobre integración.</a:t>
            </a:r>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21" name="Google Shape;321;p15"/>
          <p:cNvSpPr txBox="1"/>
          <p:nvPr/>
        </p:nvSpPr>
        <p:spPr>
          <a:xfrm>
            <a:off x="0" y="-24"/>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UNIDAD 11: Extinción del contrato de trabajo</a:t>
            </a:r>
            <a:endParaRPr/>
          </a:p>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 </a:t>
            </a:r>
            <a:r>
              <a:rPr b="1" i="0" lang="en-US" sz="2000" u="none" cap="none" strike="noStrike">
                <a:solidFill>
                  <a:srgbClr val="002060"/>
                </a:solidFill>
                <a:latin typeface="Calibri"/>
                <a:ea typeface="Calibri"/>
                <a:cs typeface="Calibri"/>
                <a:sym typeface="Calibri"/>
              </a:rPr>
              <a:t>Conceptos de SAC para liquidaciones finales</a:t>
            </a:r>
            <a:endParaRPr b="0" i="0" sz="2000" u="none" cap="none" strike="noStrike">
              <a:solidFill>
                <a:srgbClr val="000000"/>
              </a:solidFill>
              <a:latin typeface="Arial"/>
              <a:ea typeface="Arial"/>
              <a:cs typeface="Arial"/>
              <a:sym typeface="Arial"/>
            </a:endParaRPr>
          </a:p>
        </p:txBody>
      </p:sp>
      <p:sp>
        <p:nvSpPr>
          <p:cNvPr id="322" name="Google Shape;322;p15"/>
          <p:cNvSpPr txBox="1"/>
          <p:nvPr/>
        </p:nvSpPr>
        <p:spPr>
          <a:xfrm>
            <a:off x="947651" y="5984492"/>
            <a:ext cx="7171590" cy="584775"/>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600" u="none" cap="none" strike="noStrike">
                <a:solidFill>
                  <a:srgbClr val="000000"/>
                </a:solidFill>
                <a:latin typeface="Calibri"/>
                <a:ea typeface="Calibri"/>
                <a:cs typeface="Calibri"/>
                <a:sym typeface="Calibri"/>
              </a:rPr>
              <a:t>En algunas liquidaciones finales calculamos SAC proporcional, SAC sobre vacaciones no gozadas , SAC sobre preaviso y SAC sobre integración</a:t>
            </a:r>
            <a:endParaRPr/>
          </a:p>
        </p:txBody>
      </p:sp>
      <p:pic>
        <p:nvPicPr>
          <p:cNvPr id="323" name="Google Shape;323;p15"/>
          <p:cNvPicPr preferRelativeResize="0"/>
          <p:nvPr/>
        </p:nvPicPr>
        <p:blipFill rotWithShape="1">
          <a:blip r:embed="rId4">
            <a:alphaModFix/>
          </a:blip>
          <a:srcRect b="-2976" l="20526" r="21106" t="-2813"/>
          <a:stretch/>
        </p:blipFill>
        <p:spPr>
          <a:xfrm>
            <a:off x="8331454" y="5367341"/>
            <a:ext cx="822472" cy="87876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11"/>
          <p:cNvSpPr txBox="1"/>
          <p:nvPr/>
        </p:nvSpPr>
        <p:spPr>
          <a:xfrm>
            <a:off x="238091" y="1460000"/>
            <a:ext cx="9310718" cy="83095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Al momento de la </a:t>
            </a:r>
            <a:r>
              <a:rPr lang="en-US" sz="1600">
                <a:solidFill>
                  <a:schemeClr val="dk1"/>
                </a:solidFill>
                <a:latin typeface="Calibri"/>
                <a:ea typeface="Calibri"/>
                <a:cs typeface="Calibri"/>
                <a:sym typeface="Calibri"/>
              </a:rPr>
              <a:t>extinción</a:t>
            </a:r>
            <a:r>
              <a:rPr b="0" i="0" lang="en-US" sz="1600" u="none" cap="none" strike="noStrike">
                <a:solidFill>
                  <a:schemeClr val="dk1"/>
                </a:solidFill>
                <a:latin typeface="Calibri"/>
                <a:ea typeface="Calibri"/>
                <a:cs typeface="Calibri"/>
                <a:sym typeface="Calibri"/>
              </a:rPr>
              <a:t> de la </a:t>
            </a:r>
            <a:r>
              <a:rPr lang="en-US" sz="1600">
                <a:solidFill>
                  <a:schemeClr val="dk1"/>
                </a:solidFill>
                <a:latin typeface="Calibri"/>
                <a:ea typeface="Calibri"/>
                <a:cs typeface="Calibri"/>
                <a:sym typeface="Calibri"/>
              </a:rPr>
              <a:t>relación</a:t>
            </a:r>
            <a:r>
              <a:rPr b="0" i="0" lang="en-US" sz="1600" u="none" cap="none" strike="noStrike">
                <a:solidFill>
                  <a:schemeClr val="dk1"/>
                </a:solidFill>
                <a:latin typeface="Calibri"/>
                <a:ea typeface="Calibri"/>
                <a:cs typeface="Calibri"/>
                <a:sym typeface="Calibri"/>
              </a:rPr>
              <a:t> laboral el empleador debe hacer entrega de 3 tipos de certificados distintos. Si así no lo hiciera y el empleado hubiera intimado correctamente la entrega de los mismos, </a:t>
            </a:r>
            <a:r>
              <a:rPr b="1" i="0" lang="en-US" sz="1600" u="none" cap="none" strike="noStrike">
                <a:solidFill>
                  <a:schemeClr val="dk1"/>
                </a:solidFill>
                <a:latin typeface="Calibri"/>
                <a:ea typeface="Calibri"/>
                <a:cs typeface="Calibri"/>
                <a:sym typeface="Calibri"/>
              </a:rPr>
              <a:t>po</a:t>
            </a:r>
            <a:r>
              <a:rPr b="1" i="0" lang="en-US" sz="1600" u="none" cap="none" strike="noStrike">
                <a:solidFill>
                  <a:schemeClr val="dk1"/>
                </a:solidFill>
                <a:latin typeface="Calibri"/>
                <a:ea typeface="Calibri"/>
                <a:cs typeface="Calibri"/>
                <a:sym typeface="Calibri"/>
              </a:rPr>
              <a:t>drá hacerse acreedor a una indemnización de tres (3) sueldos, conforme lo dispone </a:t>
            </a:r>
            <a:r>
              <a:rPr b="1" lang="en-US" sz="1600">
                <a:solidFill>
                  <a:schemeClr val="dk1"/>
                </a:solidFill>
                <a:latin typeface="Calibri"/>
                <a:ea typeface="Calibri"/>
                <a:cs typeface="Calibri"/>
                <a:sym typeface="Calibri"/>
              </a:rPr>
              <a:t>e</a:t>
            </a:r>
            <a:r>
              <a:rPr b="1" i="0" lang="en-US" sz="1600" u="none" cap="none" strike="noStrike">
                <a:solidFill>
                  <a:schemeClr val="dk1"/>
                </a:solidFill>
                <a:latin typeface="Calibri"/>
                <a:ea typeface="Calibri"/>
                <a:cs typeface="Calibri"/>
                <a:sym typeface="Calibri"/>
              </a:rPr>
              <a:t>l Artículo 80 LCT.</a:t>
            </a:r>
            <a:endParaRPr b="1" i="0" sz="1600" u="none" cap="none" strike="noStrike">
              <a:solidFill>
                <a:srgbClr val="AC430B"/>
              </a:solidFill>
              <a:latin typeface="Calibri"/>
              <a:ea typeface="Calibri"/>
              <a:cs typeface="Calibri"/>
              <a:sym typeface="Calibri"/>
            </a:endParaRPr>
          </a:p>
        </p:txBody>
      </p:sp>
      <p:sp>
        <p:nvSpPr>
          <p:cNvPr id="331" name="Google Shape;331;p11"/>
          <p:cNvSpPr txBox="1"/>
          <p:nvPr/>
        </p:nvSpPr>
        <p:spPr>
          <a:xfrm>
            <a:off x="179924" y="2504982"/>
            <a:ext cx="9470513" cy="1323399"/>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600"/>
              <a:buFont typeface="Arial"/>
              <a:buAutoNum type="arabicParenR"/>
            </a:pPr>
            <a:r>
              <a:rPr b="1" i="0" lang="en-US" sz="1600" u="none" cap="none" strike="noStrike">
                <a:solidFill>
                  <a:schemeClr val="dk1"/>
                </a:solidFill>
                <a:latin typeface="Calibri"/>
                <a:ea typeface="Calibri"/>
                <a:cs typeface="Calibri"/>
                <a:sym typeface="Calibri"/>
              </a:rPr>
              <a:t>El certificado de trabajo del Art. 80 de la Ley de Contrato de Trabajo (LCT)</a:t>
            </a:r>
            <a:r>
              <a:rPr b="1" i="0" lang="en-US" sz="1600" u="none" cap="none" strike="noStrike">
                <a:solidFill>
                  <a:schemeClr val="accent4"/>
                </a:solidFill>
                <a:latin typeface="Calibri"/>
                <a:ea typeface="Calibri"/>
                <a:cs typeface="Calibri"/>
                <a:sym typeface="Calibri"/>
              </a:rPr>
              <a:t> OBLIGATORIO CON PLAZO DE 30 DÍAS</a:t>
            </a:r>
            <a:endParaRPr/>
          </a:p>
          <a:p>
            <a:pPr indent="-342900" lvl="0" marL="342900" marR="0" rtl="0" algn="l">
              <a:lnSpc>
                <a:spcPct val="100000"/>
              </a:lnSpc>
              <a:spcBef>
                <a:spcPts val="0"/>
              </a:spcBef>
              <a:spcAft>
                <a:spcPts val="0"/>
              </a:spcAft>
              <a:buClr>
                <a:srgbClr val="000000"/>
              </a:buClr>
              <a:buSzPts val="1600"/>
              <a:buFont typeface="Arial"/>
              <a:buAutoNum type="arabicParenR"/>
            </a:pPr>
            <a:r>
              <a:rPr b="1" i="0" lang="en-US" sz="1600" u="none" cap="none" strike="noStrike">
                <a:solidFill>
                  <a:schemeClr val="dk1"/>
                </a:solidFill>
                <a:latin typeface="Calibri"/>
                <a:ea typeface="Calibri"/>
                <a:cs typeface="Calibri"/>
                <a:sym typeface="Calibri"/>
              </a:rPr>
              <a:t>Certificación de Servicios y Remuneraciones de la ANSES. </a:t>
            </a:r>
            <a:r>
              <a:rPr b="1" i="0" lang="en-US" sz="1600" u="none" cap="none" strike="noStrike">
                <a:solidFill>
                  <a:schemeClr val="accent4"/>
                </a:solidFill>
                <a:latin typeface="Calibri"/>
                <a:ea typeface="Calibri"/>
                <a:cs typeface="Calibri"/>
                <a:sym typeface="Calibri"/>
              </a:rPr>
              <a:t>OBLIGATORIO CON PLAZO DE 30 DÍAS</a:t>
            </a:r>
            <a:endParaRPr/>
          </a:p>
          <a:p>
            <a:pPr indent="-342900" lvl="0" marL="342900" marR="0" rtl="0" algn="l">
              <a:lnSpc>
                <a:spcPct val="100000"/>
              </a:lnSpc>
              <a:spcBef>
                <a:spcPts val="0"/>
              </a:spcBef>
              <a:spcAft>
                <a:spcPts val="0"/>
              </a:spcAft>
              <a:buClr>
                <a:srgbClr val="000000"/>
              </a:buClr>
              <a:buSzPts val="1600"/>
              <a:buFont typeface="Arial"/>
              <a:buAutoNum type="arabicParenR"/>
            </a:pPr>
            <a:r>
              <a:rPr b="1" i="0" lang="en-US" sz="1600" u="none" cap="none" strike="noStrike">
                <a:solidFill>
                  <a:schemeClr val="dk1"/>
                </a:solidFill>
                <a:latin typeface="Calibri"/>
                <a:ea typeface="Calibri"/>
                <a:cs typeface="Calibri"/>
                <a:sym typeface="Calibri"/>
              </a:rPr>
              <a:t>Baja de AFIP y recibo de sueldo de liquidación final</a:t>
            </a:r>
            <a:endParaRPr b="1"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1" i="0" sz="1600" u="none" cap="none" strike="noStrike">
              <a:solidFill>
                <a:schemeClr val="accent4"/>
              </a:solidFill>
              <a:latin typeface="Calibri"/>
              <a:ea typeface="Calibri"/>
              <a:cs typeface="Calibri"/>
              <a:sym typeface="Calibri"/>
            </a:endParaRPr>
          </a:p>
        </p:txBody>
      </p:sp>
      <p:sp>
        <p:nvSpPr>
          <p:cNvPr id="332" name="Google Shape;332;p11"/>
          <p:cNvSpPr txBox="1"/>
          <p:nvPr/>
        </p:nvSpPr>
        <p:spPr>
          <a:xfrm>
            <a:off x="357191" y="3849545"/>
            <a:ext cx="4171289" cy="23082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Adicionalmente Deberán entregar y dejar </a:t>
            </a:r>
            <a:r>
              <a:rPr b="1" i="0" lang="en-US" sz="1600" u="none" cap="none" strike="noStrike">
                <a:solidFill>
                  <a:schemeClr val="dk1"/>
                </a:solidFill>
                <a:latin typeface="Calibri"/>
                <a:ea typeface="Calibri"/>
                <a:cs typeface="Calibri"/>
                <a:sym typeface="Calibri"/>
              </a:rPr>
              <a:t>constancia con firma</a:t>
            </a:r>
            <a:endParaRPr b="0" i="0" sz="1400" u="none" cap="none" strike="noStrike">
              <a:solidFill>
                <a:srgbClr val="000000"/>
              </a:solidFill>
              <a:latin typeface="Calibri"/>
              <a:ea typeface="Calibri"/>
              <a:cs typeface="Calibri"/>
              <a:sym typeface="Calibri"/>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Certificado de trabajo/carta de recomendación  - </a:t>
            </a:r>
            <a:r>
              <a:rPr b="0" i="1" lang="en-US" sz="1600" u="none" cap="none" strike="noStrike">
                <a:solidFill>
                  <a:schemeClr val="dk1"/>
                </a:solidFill>
                <a:latin typeface="Calibri"/>
                <a:ea typeface="Calibri"/>
                <a:cs typeface="Calibri"/>
                <a:sym typeface="Calibri"/>
              </a:rPr>
              <a:t>Una nota en papel membrete de la empresa donde deje constancia categoría, duración de la relación laboral, horario y demás condiciones de trabajo</a:t>
            </a:r>
            <a:r>
              <a:rPr b="0" i="0" lang="en-US" sz="1600" u="none" cap="none" strike="noStrike">
                <a:solidFill>
                  <a:schemeClr val="dk1"/>
                </a:solidFill>
                <a:latin typeface="Calibri"/>
                <a:ea typeface="Calibri"/>
                <a:cs typeface="Calibri"/>
                <a:sym typeface="Calibri"/>
              </a:rPr>
              <a:t>.</a:t>
            </a:r>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F 1357 – Impuesto a las Ganancias</a:t>
            </a:r>
            <a:endParaRPr b="0" i="0" sz="1400" u="none" cap="none" strike="noStrike">
              <a:solidFill>
                <a:srgbClr val="000000"/>
              </a:solidFill>
              <a:latin typeface="Calibri"/>
              <a:ea typeface="Calibri"/>
              <a:cs typeface="Calibri"/>
              <a:sym typeface="Calibri"/>
            </a:endParaRPr>
          </a:p>
        </p:txBody>
      </p:sp>
      <p:sp>
        <p:nvSpPr>
          <p:cNvPr id="333" name="Google Shape;333;p11"/>
          <p:cNvSpPr txBox="1"/>
          <p:nvPr/>
        </p:nvSpPr>
        <p:spPr>
          <a:xfrm>
            <a:off x="0" y="-24"/>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UNIDAD 11: Extinción del contrato de trabajo</a:t>
            </a:r>
            <a:endParaRPr/>
          </a:p>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 </a:t>
            </a:r>
            <a:r>
              <a:rPr b="1" i="0" lang="en-US" sz="2000" u="none" cap="none" strike="noStrike">
                <a:solidFill>
                  <a:srgbClr val="002060"/>
                </a:solidFill>
                <a:latin typeface="Calibri"/>
                <a:ea typeface="Calibri"/>
                <a:cs typeface="Calibri"/>
                <a:sym typeface="Calibri"/>
              </a:rPr>
              <a:t>Documentación- Documentos legales</a:t>
            </a:r>
            <a:endParaRPr b="0" i="0" sz="2000" u="none" cap="none" strike="noStrike">
              <a:solidFill>
                <a:srgbClr val="000000"/>
              </a:solidFill>
              <a:latin typeface="Arial"/>
              <a:ea typeface="Arial"/>
              <a:cs typeface="Arial"/>
              <a:sym typeface="Arial"/>
            </a:endParaRPr>
          </a:p>
        </p:txBody>
      </p:sp>
      <p:pic>
        <p:nvPicPr>
          <p:cNvPr id="334" name="Google Shape;334;p11"/>
          <p:cNvPicPr preferRelativeResize="0"/>
          <p:nvPr/>
        </p:nvPicPr>
        <p:blipFill rotWithShape="1">
          <a:blip r:embed="rId3">
            <a:alphaModFix/>
          </a:blip>
          <a:srcRect b="0" l="0" r="0" t="0"/>
          <a:stretch/>
        </p:blipFill>
        <p:spPr>
          <a:xfrm>
            <a:off x="5198715" y="3476589"/>
            <a:ext cx="4350094" cy="268124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8" name="Shape 338"/>
        <p:cNvGrpSpPr/>
        <p:nvPr/>
      </p:nvGrpSpPr>
      <p:grpSpPr>
        <a:xfrm>
          <a:off x="0" y="0"/>
          <a:ext cx="0" cy="0"/>
          <a:chOff x="0" y="0"/>
          <a:chExt cx="0" cy="0"/>
        </a:xfrm>
      </p:grpSpPr>
      <p:sp>
        <p:nvSpPr>
          <p:cNvPr id="339" name="Google Shape;339;p41"/>
          <p:cNvSpPr/>
          <p:nvPr/>
        </p:nvSpPr>
        <p:spPr>
          <a:xfrm>
            <a:off x="381554" y="1091668"/>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t/>
            </a:r>
            <a:endParaRPr b="0" i="0" sz="1662" u="none" cap="none" strike="noStrike">
              <a:solidFill>
                <a:schemeClr val="dk1"/>
              </a:solidFill>
              <a:latin typeface="Calibri"/>
              <a:ea typeface="Calibri"/>
              <a:cs typeface="Calibri"/>
              <a:sym typeface="Calibri"/>
            </a:endParaRPr>
          </a:p>
        </p:txBody>
      </p:sp>
      <p:pic>
        <p:nvPicPr>
          <p:cNvPr id="340" name="Google Shape;340;p41"/>
          <p:cNvPicPr preferRelativeResize="0"/>
          <p:nvPr/>
        </p:nvPicPr>
        <p:blipFill rotWithShape="1">
          <a:blip r:embed="rId3">
            <a:alphaModFix/>
          </a:blip>
          <a:srcRect b="0" l="0" r="0" t="0"/>
          <a:stretch/>
        </p:blipFill>
        <p:spPr>
          <a:xfrm>
            <a:off x="7296686" y="70294"/>
            <a:ext cx="2609314" cy="951058"/>
          </a:xfrm>
          <a:prstGeom prst="rect">
            <a:avLst/>
          </a:prstGeom>
          <a:noFill/>
          <a:ln>
            <a:noFill/>
          </a:ln>
        </p:spPr>
      </p:pic>
      <p:sp>
        <p:nvSpPr>
          <p:cNvPr id="341" name="Google Shape;341;p41"/>
          <p:cNvSpPr txBox="1"/>
          <p:nvPr/>
        </p:nvSpPr>
        <p:spPr>
          <a:xfrm>
            <a:off x="485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None/>
            </a:pPr>
            <a:r>
              <a:rPr b="1" i="0" lang="en-US" sz="1800" u="none" cap="none" strike="noStrike">
                <a:solidFill>
                  <a:srgbClr val="932328"/>
                </a:solidFill>
                <a:latin typeface="Arial"/>
                <a:ea typeface="Arial"/>
                <a:cs typeface="Arial"/>
                <a:sym typeface="Arial"/>
              </a:rPr>
              <a:t>Relaciones Industriales</a:t>
            </a:r>
            <a:endParaRPr/>
          </a:p>
          <a:p>
            <a:pPr indent="-714375" lvl="0" marL="714375" marR="0" rtl="0" algn="l">
              <a:lnSpc>
                <a:spcPct val="9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342" name="Google Shape;342;p41"/>
          <p:cNvPicPr preferRelativeResize="0"/>
          <p:nvPr/>
        </p:nvPicPr>
        <p:blipFill rotWithShape="1">
          <a:blip r:embed="rId4">
            <a:alphaModFix/>
          </a:blip>
          <a:srcRect b="0" l="0" r="0" t="0"/>
          <a:stretch/>
        </p:blipFill>
        <p:spPr>
          <a:xfrm>
            <a:off x="6404186" y="3429000"/>
            <a:ext cx="2553786" cy="2441195"/>
          </a:xfrm>
          <a:prstGeom prst="rect">
            <a:avLst/>
          </a:prstGeom>
          <a:noFill/>
          <a:ln>
            <a:noFill/>
          </a:ln>
        </p:spPr>
      </p:pic>
      <p:sp>
        <p:nvSpPr>
          <p:cNvPr id="343" name="Google Shape;343;p41"/>
          <p:cNvSpPr/>
          <p:nvPr/>
        </p:nvSpPr>
        <p:spPr>
          <a:xfrm>
            <a:off x="858745" y="2676764"/>
            <a:ext cx="4254244" cy="3193431"/>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2400" u="sng" cap="none" strike="noStrike">
                <a:solidFill>
                  <a:schemeClr val="dk1"/>
                </a:solidFill>
                <a:latin typeface="Arial"/>
                <a:ea typeface="Arial"/>
                <a:cs typeface="Arial"/>
                <a:sym typeface="Arial"/>
              </a:rPr>
              <a:t>ACTIVIDAD 1- A</a:t>
            </a:r>
            <a:endParaRPr/>
          </a:p>
          <a:p>
            <a:pPr indent="0" lvl="0" marL="0" marR="0" rtl="0" algn="ctr">
              <a:lnSpc>
                <a:spcPct val="100000"/>
              </a:lnSpc>
              <a:spcBef>
                <a:spcPts val="0"/>
              </a:spcBef>
              <a:spcAft>
                <a:spcPts val="0"/>
              </a:spcAft>
              <a:buNone/>
            </a:pPr>
            <a:r>
              <a:t/>
            </a:r>
            <a:endParaRPr b="0" i="0" sz="24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24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None/>
            </a:pPr>
            <a:r>
              <a:rPr b="0" i="0" lang="en-US" sz="2400" u="none" cap="none" strike="noStrike">
                <a:solidFill>
                  <a:srgbClr val="FF0000"/>
                </a:solidFill>
                <a:latin typeface="Arial"/>
                <a:ea typeface="Arial"/>
                <a:cs typeface="Arial"/>
                <a:sym typeface="Arial"/>
              </a:rPr>
              <a:t>¿</a:t>
            </a:r>
            <a:r>
              <a:rPr lang="en-US" sz="2400">
                <a:solidFill>
                  <a:srgbClr val="FF0000"/>
                </a:solidFill>
              </a:rPr>
              <a:t>Qué</a:t>
            </a:r>
            <a:r>
              <a:rPr b="0" i="0" lang="en-US" sz="2400" u="none" cap="none" strike="noStrike">
                <a:solidFill>
                  <a:srgbClr val="FF0000"/>
                </a:solidFill>
                <a:latin typeface="Arial"/>
                <a:ea typeface="Arial"/>
                <a:cs typeface="Arial"/>
                <a:sym typeface="Arial"/>
              </a:rPr>
              <a:t> modificarías de las leyes laborales actuales?</a:t>
            </a:r>
            <a:endParaRPr b="0" i="0" sz="2400" u="none" cap="none" strike="noStrike">
              <a:solidFill>
                <a:srgbClr val="FF0000"/>
              </a:solidFill>
              <a:latin typeface="Arial"/>
              <a:ea typeface="Arial"/>
              <a:cs typeface="Arial"/>
              <a:sym typeface="Arial"/>
            </a:endParaRPr>
          </a:p>
        </p:txBody>
      </p:sp>
      <p:sp>
        <p:nvSpPr>
          <p:cNvPr id="344" name="Google Shape;344;p41"/>
          <p:cNvSpPr/>
          <p:nvPr/>
        </p:nvSpPr>
        <p:spPr>
          <a:xfrm>
            <a:off x="1919402" y="1276926"/>
            <a:ext cx="6085136" cy="974648"/>
          </a:xfrm>
          <a:prstGeom prst="rect">
            <a:avLst/>
          </a:prstGeom>
          <a:solidFill>
            <a:schemeClr val="accent2"/>
          </a:solidFill>
          <a:ln cap="flat" cmpd="sng" w="25400">
            <a:solidFill>
              <a:schemeClr val="dk2"/>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4000" u="none" cap="none" strike="noStrike">
                <a:solidFill>
                  <a:schemeClr val="lt1"/>
                </a:solidFill>
                <a:latin typeface="Arial"/>
                <a:ea typeface="Arial"/>
                <a:cs typeface="Arial"/>
                <a:sym typeface="Arial"/>
              </a:rPr>
              <a:t>Rescate</a:t>
            </a:r>
            <a:endParaRPr b="0" i="0" sz="4000" u="none" cap="none" strike="noStrike">
              <a:solidFill>
                <a:schemeClr val="lt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8" name="Shape 348"/>
        <p:cNvGrpSpPr/>
        <p:nvPr/>
      </p:nvGrpSpPr>
      <p:grpSpPr>
        <a:xfrm>
          <a:off x="0" y="0"/>
          <a:ext cx="0" cy="0"/>
          <a:chOff x="0" y="0"/>
          <a:chExt cx="0" cy="0"/>
        </a:xfrm>
      </p:grpSpPr>
      <p:sp>
        <p:nvSpPr>
          <p:cNvPr id="349" name="Google Shape;349;p42"/>
          <p:cNvSpPr/>
          <p:nvPr/>
        </p:nvSpPr>
        <p:spPr>
          <a:xfrm>
            <a:off x="381554" y="1091668"/>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t/>
            </a:r>
            <a:endParaRPr b="0" i="0" sz="1662" u="none" cap="none" strike="noStrike">
              <a:solidFill>
                <a:schemeClr val="dk1"/>
              </a:solidFill>
              <a:latin typeface="Calibri"/>
              <a:ea typeface="Calibri"/>
              <a:cs typeface="Calibri"/>
              <a:sym typeface="Calibri"/>
            </a:endParaRPr>
          </a:p>
        </p:txBody>
      </p:sp>
      <p:pic>
        <p:nvPicPr>
          <p:cNvPr id="350" name="Google Shape;350;p42"/>
          <p:cNvPicPr preferRelativeResize="0"/>
          <p:nvPr/>
        </p:nvPicPr>
        <p:blipFill rotWithShape="1">
          <a:blip r:embed="rId3">
            <a:alphaModFix/>
          </a:blip>
          <a:srcRect b="0" l="0" r="0" t="0"/>
          <a:stretch/>
        </p:blipFill>
        <p:spPr>
          <a:xfrm>
            <a:off x="7296686" y="70294"/>
            <a:ext cx="2609314" cy="951058"/>
          </a:xfrm>
          <a:prstGeom prst="rect">
            <a:avLst/>
          </a:prstGeom>
          <a:noFill/>
          <a:ln>
            <a:noFill/>
          </a:ln>
        </p:spPr>
      </p:pic>
      <p:sp>
        <p:nvSpPr>
          <p:cNvPr id="351" name="Google Shape;351;p42"/>
          <p:cNvSpPr txBox="1"/>
          <p:nvPr/>
        </p:nvSpPr>
        <p:spPr>
          <a:xfrm>
            <a:off x="485504"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None/>
            </a:pPr>
            <a:r>
              <a:rPr b="1" i="0" lang="en-US" sz="1800" u="none" cap="none" strike="noStrike">
                <a:solidFill>
                  <a:srgbClr val="932328"/>
                </a:solidFill>
                <a:latin typeface="Arial"/>
                <a:ea typeface="Arial"/>
                <a:cs typeface="Arial"/>
                <a:sym typeface="Arial"/>
              </a:rPr>
              <a:t>Relaciones Industriales</a:t>
            </a:r>
            <a:endParaRPr/>
          </a:p>
          <a:p>
            <a:pPr indent="-714375" lvl="0" marL="714375" marR="0" rtl="0" algn="l">
              <a:lnSpc>
                <a:spcPct val="90000"/>
              </a:lnSpc>
              <a:spcBef>
                <a:spcPts val="0"/>
              </a:spcBef>
              <a:spcAft>
                <a:spcPts val="0"/>
              </a:spcAft>
              <a:buNone/>
            </a:pPr>
            <a:r>
              <a:rPr b="1" i="0" lang="en-US" sz="1800" u="none" cap="none" strike="noStrike">
                <a:solidFill>
                  <a:srgbClr val="932328"/>
                </a:solidFill>
                <a:latin typeface="Arial"/>
                <a:ea typeface="Arial"/>
                <a:cs typeface="Arial"/>
                <a:sym typeface="Arial"/>
              </a:rPr>
              <a:t>CIERRE UNIDADES 10 y 11</a:t>
            </a:r>
            <a:endParaRPr b="0" i="0" sz="1400" u="none" cap="none" strike="noStrike">
              <a:solidFill>
                <a:srgbClr val="000000"/>
              </a:solidFill>
              <a:latin typeface="Arial"/>
              <a:ea typeface="Arial"/>
              <a:cs typeface="Arial"/>
              <a:sym typeface="Arial"/>
            </a:endParaRPr>
          </a:p>
        </p:txBody>
      </p:sp>
      <p:pic>
        <p:nvPicPr>
          <p:cNvPr id="352" name="Google Shape;352;p42"/>
          <p:cNvPicPr preferRelativeResize="0"/>
          <p:nvPr/>
        </p:nvPicPr>
        <p:blipFill rotWithShape="1">
          <a:blip r:embed="rId4">
            <a:alphaModFix/>
          </a:blip>
          <a:srcRect b="0" l="0" r="0" t="0"/>
          <a:stretch/>
        </p:blipFill>
        <p:spPr>
          <a:xfrm>
            <a:off x="6727645" y="3695007"/>
            <a:ext cx="2553786" cy="2441195"/>
          </a:xfrm>
          <a:prstGeom prst="rect">
            <a:avLst/>
          </a:prstGeom>
          <a:noFill/>
          <a:ln>
            <a:noFill/>
          </a:ln>
        </p:spPr>
      </p:pic>
      <p:sp>
        <p:nvSpPr>
          <p:cNvPr id="353" name="Google Shape;353;p42"/>
          <p:cNvSpPr/>
          <p:nvPr/>
        </p:nvSpPr>
        <p:spPr>
          <a:xfrm>
            <a:off x="99525" y="3146949"/>
            <a:ext cx="6085200" cy="2799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2400" u="sng" cap="none" strike="noStrike">
                <a:solidFill>
                  <a:schemeClr val="dk1"/>
                </a:solidFill>
                <a:latin typeface="Arial"/>
                <a:ea typeface="Arial"/>
                <a:cs typeface="Arial"/>
                <a:sym typeface="Arial"/>
              </a:rPr>
              <a:t>ACTIVIDAD 1- B</a:t>
            </a:r>
            <a:endParaRPr/>
          </a:p>
          <a:p>
            <a:pPr indent="0" lvl="0" marL="0" marR="0" rtl="0" algn="ctr">
              <a:lnSpc>
                <a:spcPct val="100000"/>
              </a:lnSpc>
              <a:spcBef>
                <a:spcPts val="0"/>
              </a:spcBef>
              <a:spcAft>
                <a:spcPts val="0"/>
              </a:spcAft>
              <a:buNone/>
            </a:pPr>
            <a:r>
              <a:t/>
            </a:r>
            <a:endParaRPr b="0" i="0" sz="24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24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None/>
            </a:pPr>
            <a:r>
              <a:rPr lang="en-US" sz="2400">
                <a:solidFill>
                  <a:srgbClr val="FF0000"/>
                </a:solidFill>
              </a:rPr>
              <a:t>¡</a:t>
            </a:r>
            <a:r>
              <a:rPr b="0" i="0" lang="en-US" sz="2400" u="none" cap="none" strike="noStrike">
                <a:solidFill>
                  <a:srgbClr val="FF0000"/>
                </a:solidFill>
                <a:latin typeface="Arial"/>
                <a:ea typeface="Arial"/>
                <a:cs typeface="Arial"/>
                <a:sym typeface="Arial"/>
              </a:rPr>
              <a:t>Felicitaciones! Después de mucho esfuerzo lograste armar tu propio negocio minorista y ten</a:t>
            </a:r>
            <a:r>
              <a:rPr lang="en-US" sz="2400">
                <a:solidFill>
                  <a:srgbClr val="FF0000"/>
                </a:solidFill>
              </a:rPr>
              <a:t>é</a:t>
            </a:r>
            <a:r>
              <a:rPr b="0" i="0" lang="en-US" sz="2400" u="none" cap="none" strike="noStrike">
                <a:solidFill>
                  <a:srgbClr val="FF0000"/>
                </a:solidFill>
                <a:latin typeface="Arial"/>
                <a:ea typeface="Arial"/>
                <a:cs typeface="Arial"/>
                <a:sym typeface="Arial"/>
              </a:rPr>
              <a:t>s que contratar 10 empleados.</a:t>
            </a:r>
            <a:endParaRPr/>
          </a:p>
          <a:p>
            <a:pPr indent="0" lvl="0" marL="0" marR="0" rtl="0" algn="ctr">
              <a:lnSpc>
                <a:spcPct val="100000"/>
              </a:lnSpc>
              <a:spcBef>
                <a:spcPts val="0"/>
              </a:spcBef>
              <a:spcAft>
                <a:spcPts val="0"/>
              </a:spcAft>
              <a:buNone/>
            </a:pPr>
            <a:r>
              <a:t/>
            </a:r>
            <a:endParaRPr b="0" i="0" sz="24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None/>
            </a:pPr>
            <a:r>
              <a:rPr b="0" i="0" lang="en-US" sz="2400" u="none" cap="none" strike="noStrike">
                <a:solidFill>
                  <a:srgbClr val="FF0000"/>
                </a:solidFill>
                <a:latin typeface="Arial"/>
                <a:ea typeface="Arial"/>
                <a:cs typeface="Arial"/>
                <a:sym typeface="Arial"/>
              </a:rPr>
              <a:t>Ahora, volviendo a la pregunta anterior: ¿Modificarías las mismas cosas? </a:t>
            </a:r>
            <a:endParaRPr/>
          </a:p>
          <a:p>
            <a:pPr indent="0" lvl="0" marL="0" marR="0" rtl="0" algn="ctr">
              <a:lnSpc>
                <a:spcPct val="100000"/>
              </a:lnSpc>
              <a:spcBef>
                <a:spcPts val="0"/>
              </a:spcBef>
              <a:spcAft>
                <a:spcPts val="0"/>
              </a:spcAft>
              <a:buNone/>
            </a:pPr>
            <a:r>
              <a:rPr b="0" i="0" lang="en-US" sz="2400" u="none" cap="none" strike="noStrike">
                <a:solidFill>
                  <a:srgbClr val="FF0000"/>
                </a:solidFill>
                <a:latin typeface="Arial"/>
                <a:ea typeface="Arial"/>
                <a:cs typeface="Arial"/>
                <a:sym typeface="Arial"/>
              </a:rPr>
              <a:t>¿Cambió en algo tu punto de vista?</a:t>
            </a:r>
            <a:endParaRPr b="0" i="0" sz="2400" u="none" cap="none" strike="noStrike">
              <a:solidFill>
                <a:srgbClr val="FF0000"/>
              </a:solidFill>
              <a:latin typeface="Arial"/>
              <a:ea typeface="Arial"/>
              <a:cs typeface="Arial"/>
              <a:sym typeface="Arial"/>
            </a:endParaRPr>
          </a:p>
        </p:txBody>
      </p:sp>
      <p:sp>
        <p:nvSpPr>
          <p:cNvPr id="354" name="Google Shape;354;p42"/>
          <p:cNvSpPr/>
          <p:nvPr/>
        </p:nvSpPr>
        <p:spPr>
          <a:xfrm>
            <a:off x="1919402" y="1276926"/>
            <a:ext cx="6085136" cy="974648"/>
          </a:xfrm>
          <a:prstGeom prst="rect">
            <a:avLst/>
          </a:prstGeom>
          <a:solidFill>
            <a:schemeClr val="accent2"/>
          </a:solidFill>
          <a:ln cap="flat" cmpd="sng" w="25400">
            <a:solidFill>
              <a:schemeClr val="dk2"/>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4000" u="none" cap="none" strike="noStrike">
                <a:solidFill>
                  <a:schemeClr val="lt1"/>
                </a:solidFill>
                <a:latin typeface="Arial"/>
                <a:ea typeface="Arial"/>
                <a:cs typeface="Arial"/>
                <a:sym typeface="Arial"/>
              </a:rPr>
              <a:t>Rescate</a:t>
            </a:r>
            <a:endParaRPr b="0" i="0" sz="4000" u="none" cap="none" strike="noStrike">
              <a:solidFill>
                <a:schemeClr val="lt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9" name="Shape 359"/>
        <p:cNvGrpSpPr/>
        <p:nvPr/>
      </p:nvGrpSpPr>
      <p:grpSpPr>
        <a:xfrm>
          <a:off x="0" y="0"/>
          <a:ext cx="0" cy="0"/>
          <a:chOff x="0" y="0"/>
          <a:chExt cx="0" cy="0"/>
        </a:xfrm>
      </p:grpSpPr>
      <p:grpSp>
        <p:nvGrpSpPr>
          <p:cNvPr id="360" name="Google Shape;360;p43"/>
          <p:cNvGrpSpPr/>
          <p:nvPr/>
        </p:nvGrpSpPr>
        <p:grpSpPr>
          <a:xfrm>
            <a:off x="660365" y="1700852"/>
            <a:ext cx="8386282" cy="1324149"/>
            <a:chOff x="7383" y="1039767"/>
            <a:chExt cx="8386282" cy="1324149"/>
          </a:xfrm>
        </p:grpSpPr>
        <p:sp>
          <p:nvSpPr>
            <p:cNvPr id="361" name="Google Shape;361;p43"/>
            <p:cNvSpPr/>
            <p:nvPr/>
          </p:nvSpPr>
          <p:spPr>
            <a:xfrm>
              <a:off x="7383" y="1039767"/>
              <a:ext cx="2206916" cy="1324149"/>
            </a:xfrm>
            <a:prstGeom prst="roundRect">
              <a:avLst>
                <a:gd fmla="val 10000" name="adj"/>
              </a:avLst>
            </a:prstGeom>
            <a:solidFill>
              <a:srgbClr val="FFC000"/>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2" name="Google Shape;362;p43"/>
            <p:cNvSpPr txBox="1"/>
            <p:nvPr/>
          </p:nvSpPr>
          <p:spPr>
            <a:xfrm>
              <a:off x="46166" y="1078550"/>
              <a:ext cx="2129350" cy="1246583"/>
            </a:xfrm>
            <a:prstGeom prst="rect">
              <a:avLst/>
            </a:prstGeom>
            <a:noFill/>
            <a:ln>
              <a:noFill/>
            </a:ln>
          </p:spPr>
          <p:txBody>
            <a:bodyPr anchorCtr="0" anchor="ctr" bIns="148575" lIns="148575" spcFirstLastPara="1" rIns="148575" wrap="square" tIns="148575">
              <a:noAutofit/>
            </a:bodyPr>
            <a:lstStyle/>
            <a:p>
              <a:pPr indent="0" lvl="0" marL="0" marR="0" rtl="0" algn="ctr">
                <a:lnSpc>
                  <a:spcPct val="90000"/>
                </a:lnSpc>
                <a:spcBef>
                  <a:spcPts val="0"/>
                </a:spcBef>
                <a:spcAft>
                  <a:spcPts val="0"/>
                </a:spcAft>
                <a:buNone/>
              </a:pPr>
              <a:r>
                <a:rPr b="0" i="0" lang="en-US" sz="3900" u="none" cap="none" strike="noStrike">
                  <a:solidFill>
                    <a:srgbClr val="FFFFFF"/>
                  </a:solidFill>
                  <a:latin typeface="Calibri"/>
                  <a:ea typeface="Calibri"/>
                  <a:cs typeface="Calibri"/>
                  <a:sym typeface="Calibri"/>
                </a:rPr>
                <a:t>Personas</a:t>
              </a:r>
              <a:endParaRPr b="0" i="0" sz="1400" u="none" cap="none" strike="noStrike">
                <a:solidFill>
                  <a:srgbClr val="000000"/>
                </a:solidFill>
                <a:latin typeface="Arial"/>
                <a:ea typeface="Arial"/>
                <a:cs typeface="Arial"/>
                <a:sym typeface="Arial"/>
              </a:endParaRPr>
            </a:p>
          </p:txBody>
        </p:sp>
        <p:sp>
          <p:nvSpPr>
            <p:cNvPr id="363" name="Google Shape;363;p43"/>
            <p:cNvSpPr/>
            <p:nvPr/>
          </p:nvSpPr>
          <p:spPr>
            <a:xfrm>
              <a:off x="2434991" y="1428184"/>
              <a:ext cx="467866" cy="547315"/>
            </a:xfrm>
            <a:prstGeom prst="rightArrow">
              <a:avLst>
                <a:gd fmla="val 60000" name="adj1"/>
                <a:gd fmla="val 50000" name="adj2"/>
              </a:avLst>
            </a:prstGeom>
            <a:solidFill>
              <a:srgbClr val="FFC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4" name="Google Shape;364;p43"/>
            <p:cNvSpPr txBox="1"/>
            <p:nvPr/>
          </p:nvSpPr>
          <p:spPr>
            <a:xfrm>
              <a:off x="2434991" y="1537647"/>
              <a:ext cx="327506" cy="328389"/>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t/>
              </a:r>
              <a:endParaRPr b="0" i="0" sz="2300" u="none" cap="none" strike="noStrike">
                <a:solidFill>
                  <a:srgbClr val="FFFFFF"/>
                </a:solidFill>
                <a:latin typeface="Calibri"/>
                <a:ea typeface="Calibri"/>
                <a:cs typeface="Calibri"/>
                <a:sym typeface="Calibri"/>
              </a:endParaRPr>
            </a:p>
          </p:txBody>
        </p:sp>
        <p:sp>
          <p:nvSpPr>
            <p:cNvPr id="365" name="Google Shape;365;p43"/>
            <p:cNvSpPr/>
            <p:nvPr/>
          </p:nvSpPr>
          <p:spPr>
            <a:xfrm>
              <a:off x="3097066" y="1039767"/>
              <a:ext cx="2206916" cy="1324149"/>
            </a:xfrm>
            <a:prstGeom prst="roundRect">
              <a:avLst>
                <a:gd fmla="val 10000" name="adj"/>
              </a:avLst>
            </a:prstGeom>
            <a:solidFill>
              <a:srgbClr val="2EE844"/>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6" name="Google Shape;366;p43"/>
            <p:cNvSpPr txBox="1"/>
            <p:nvPr/>
          </p:nvSpPr>
          <p:spPr>
            <a:xfrm>
              <a:off x="3135849" y="1078550"/>
              <a:ext cx="2129350" cy="1246583"/>
            </a:xfrm>
            <a:prstGeom prst="rect">
              <a:avLst/>
            </a:prstGeom>
            <a:noFill/>
            <a:ln>
              <a:noFill/>
            </a:ln>
          </p:spPr>
          <p:txBody>
            <a:bodyPr anchorCtr="0" anchor="ctr" bIns="148575" lIns="148575" spcFirstLastPara="1" rIns="148575" wrap="square" tIns="148575">
              <a:noAutofit/>
            </a:bodyPr>
            <a:lstStyle/>
            <a:p>
              <a:pPr indent="0" lvl="0" marL="0" marR="0" rtl="0" algn="ctr">
                <a:lnSpc>
                  <a:spcPct val="90000"/>
                </a:lnSpc>
                <a:spcBef>
                  <a:spcPts val="0"/>
                </a:spcBef>
                <a:spcAft>
                  <a:spcPts val="0"/>
                </a:spcAft>
                <a:buNone/>
              </a:pPr>
              <a:r>
                <a:rPr b="0" i="0" lang="en-US" sz="3900" u="none" cap="none" strike="noStrike">
                  <a:solidFill>
                    <a:srgbClr val="FFFFFF"/>
                  </a:solidFill>
                  <a:latin typeface="Calibri"/>
                  <a:ea typeface="Calibri"/>
                  <a:cs typeface="Calibri"/>
                  <a:sym typeface="Calibri"/>
                </a:rPr>
                <a:t>Proceso</a:t>
              </a:r>
              <a:endParaRPr b="0" i="0" sz="3900" u="none" cap="none" strike="noStrike">
                <a:solidFill>
                  <a:srgbClr val="FFFFFF"/>
                </a:solidFill>
                <a:latin typeface="Calibri"/>
                <a:ea typeface="Calibri"/>
                <a:cs typeface="Calibri"/>
                <a:sym typeface="Calibri"/>
              </a:endParaRPr>
            </a:p>
          </p:txBody>
        </p:sp>
        <p:sp>
          <p:nvSpPr>
            <p:cNvPr id="367" name="Google Shape;367;p43"/>
            <p:cNvSpPr/>
            <p:nvPr/>
          </p:nvSpPr>
          <p:spPr>
            <a:xfrm>
              <a:off x="5524674" y="1428184"/>
              <a:ext cx="467866" cy="547315"/>
            </a:xfrm>
            <a:prstGeom prst="rightArrow">
              <a:avLst>
                <a:gd fmla="val 60000" name="adj1"/>
                <a:gd fmla="val 50000" name="adj2"/>
              </a:avLst>
            </a:prstGeom>
            <a:solidFill>
              <a:srgbClr val="5999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8" name="Google Shape;368;p43"/>
            <p:cNvSpPr txBox="1"/>
            <p:nvPr/>
          </p:nvSpPr>
          <p:spPr>
            <a:xfrm>
              <a:off x="5524674" y="1537647"/>
              <a:ext cx="327506" cy="328389"/>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t/>
              </a:r>
              <a:endParaRPr b="0" i="0" sz="2300" u="none" cap="none" strike="noStrike">
                <a:solidFill>
                  <a:srgbClr val="FFFFFF"/>
                </a:solidFill>
                <a:latin typeface="Calibri"/>
                <a:ea typeface="Calibri"/>
                <a:cs typeface="Calibri"/>
                <a:sym typeface="Calibri"/>
              </a:endParaRPr>
            </a:p>
          </p:txBody>
        </p:sp>
        <p:sp>
          <p:nvSpPr>
            <p:cNvPr id="369" name="Google Shape;369;p43"/>
            <p:cNvSpPr/>
            <p:nvPr/>
          </p:nvSpPr>
          <p:spPr>
            <a:xfrm>
              <a:off x="6186749" y="1039767"/>
              <a:ext cx="2206916" cy="1324149"/>
            </a:xfrm>
            <a:prstGeom prst="roundRect">
              <a:avLst>
                <a:gd fmla="val 10000" name="adj"/>
              </a:avLst>
            </a:prstGeom>
            <a:solidFill>
              <a:srgbClr val="5999D5"/>
            </a:solidFill>
            <a:ln cap="flat" cmpd="sng" w="12700">
              <a:solidFill>
                <a:srgbClr val="FFFFFF"/>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0" name="Google Shape;370;p43"/>
            <p:cNvSpPr txBox="1"/>
            <p:nvPr/>
          </p:nvSpPr>
          <p:spPr>
            <a:xfrm>
              <a:off x="6225532" y="1078550"/>
              <a:ext cx="2129350" cy="1246583"/>
            </a:xfrm>
            <a:prstGeom prst="rect">
              <a:avLst/>
            </a:prstGeom>
            <a:noFill/>
            <a:ln>
              <a:noFill/>
            </a:ln>
          </p:spPr>
          <p:txBody>
            <a:bodyPr anchorCtr="0" anchor="ctr" bIns="148575" lIns="148575" spcFirstLastPara="1" rIns="148575" wrap="square" tIns="148575">
              <a:noAutofit/>
            </a:bodyPr>
            <a:lstStyle/>
            <a:p>
              <a:pPr indent="0" lvl="0" marL="0" marR="0" rtl="0" algn="ctr">
                <a:lnSpc>
                  <a:spcPct val="90000"/>
                </a:lnSpc>
                <a:spcBef>
                  <a:spcPts val="0"/>
                </a:spcBef>
                <a:spcAft>
                  <a:spcPts val="0"/>
                </a:spcAft>
                <a:buNone/>
              </a:pPr>
              <a:r>
                <a:rPr b="0" i="0" lang="en-US" sz="3900" u="none" cap="none" strike="noStrike">
                  <a:solidFill>
                    <a:srgbClr val="FFFFFF"/>
                  </a:solidFill>
                  <a:latin typeface="Calibri"/>
                  <a:ea typeface="Calibri"/>
                  <a:cs typeface="Calibri"/>
                  <a:sym typeface="Calibri"/>
                </a:rPr>
                <a:t> Negocio</a:t>
              </a:r>
              <a:endParaRPr b="0" i="0" sz="3900" u="none" cap="none" strike="noStrike">
                <a:solidFill>
                  <a:srgbClr val="FFFFFF"/>
                </a:solidFill>
                <a:latin typeface="Calibri"/>
                <a:ea typeface="Calibri"/>
                <a:cs typeface="Calibri"/>
                <a:sym typeface="Calibri"/>
              </a:endParaRPr>
            </a:p>
          </p:txBody>
        </p:sp>
      </p:grpSp>
      <p:pic>
        <p:nvPicPr>
          <p:cNvPr descr="Confused person" id="371" name="Google Shape;371;p43"/>
          <p:cNvPicPr preferRelativeResize="0"/>
          <p:nvPr/>
        </p:nvPicPr>
        <p:blipFill rotWithShape="1">
          <a:blip r:embed="rId3">
            <a:alphaModFix/>
          </a:blip>
          <a:srcRect b="0" l="0" r="0" t="0"/>
          <a:stretch/>
        </p:blipFill>
        <p:spPr>
          <a:xfrm>
            <a:off x="2108058" y="2572522"/>
            <a:ext cx="914400" cy="914400"/>
          </a:xfrm>
          <a:prstGeom prst="rect">
            <a:avLst/>
          </a:prstGeom>
          <a:noFill/>
          <a:ln>
            <a:noFill/>
          </a:ln>
        </p:spPr>
      </p:pic>
      <p:pic>
        <p:nvPicPr>
          <p:cNvPr descr="Cycle with people" id="372" name="Google Shape;372;p43"/>
          <p:cNvPicPr preferRelativeResize="0"/>
          <p:nvPr/>
        </p:nvPicPr>
        <p:blipFill rotWithShape="1">
          <a:blip r:embed="rId4">
            <a:alphaModFix/>
          </a:blip>
          <a:srcRect b="0" l="0" r="0" t="0"/>
          <a:stretch/>
        </p:blipFill>
        <p:spPr>
          <a:xfrm>
            <a:off x="5252091" y="2531249"/>
            <a:ext cx="914400" cy="914400"/>
          </a:xfrm>
          <a:prstGeom prst="rect">
            <a:avLst/>
          </a:prstGeom>
          <a:noFill/>
          <a:ln>
            <a:noFill/>
          </a:ln>
        </p:spPr>
      </p:pic>
      <p:pic>
        <p:nvPicPr>
          <p:cNvPr descr="Briefcase" id="373" name="Google Shape;373;p43"/>
          <p:cNvPicPr preferRelativeResize="0"/>
          <p:nvPr/>
        </p:nvPicPr>
        <p:blipFill rotWithShape="1">
          <a:blip r:embed="rId5">
            <a:alphaModFix/>
          </a:blip>
          <a:srcRect b="0" l="0" r="0" t="0"/>
          <a:stretch/>
        </p:blipFill>
        <p:spPr>
          <a:xfrm>
            <a:off x="8381338" y="2550299"/>
            <a:ext cx="914400" cy="914400"/>
          </a:xfrm>
          <a:prstGeom prst="rect">
            <a:avLst/>
          </a:prstGeom>
          <a:noFill/>
          <a:ln>
            <a:noFill/>
          </a:ln>
        </p:spPr>
      </p:pic>
      <p:sp>
        <p:nvSpPr>
          <p:cNvPr id="374" name="Google Shape;374;p43"/>
          <p:cNvSpPr txBox="1"/>
          <p:nvPr/>
        </p:nvSpPr>
        <p:spPr>
          <a:xfrm>
            <a:off x="660365" y="3651941"/>
            <a:ext cx="2658600" cy="20620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000000"/>
                </a:solidFill>
                <a:latin typeface="Calibri"/>
                <a:ea typeface="Calibri"/>
                <a:cs typeface="Calibri"/>
                <a:sym typeface="Calibri"/>
              </a:rPr>
              <a:t>La clase de hoy impacta en los siguientes temas del bloque de personas:</a:t>
            </a:r>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Calibri"/>
              <a:ea typeface="Calibri"/>
              <a:cs typeface="Calibri"/>
              <a:sym typeface="Calibri"/>
            </a:endParaRPr>
          </a:p>
          <a:p>
            <a:pPr indent="-285750" lvl="0" marL="28575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Calibri"/>
                <a:ea typeface="Calibri"/>
                <a:cs typeface="Calibri"/>
                <a:sym typeface="Calibri"/>
              </a:rPr>
              <a:t>Afecta directamente la relación laboral, marcando principios, derechos y obligaciones</a:t>
            </a:r>
            <a:endParaRPr b="0" i="0" sz="1400" u="none" cap="none" strike="noStrike">
              <a:solidFill>
                <a:srgbClr val="000000"/>
              </a:solidFill>
              <a:latin typeface="Arial"/>
              <a:ea typeface="Arial"/>
              <a:cs typeface="Arial"/>
              <a:sym typeface="Arial"/>
            </a:endParaRPr>
          </a:p>
        </p:txBody>
      </p:sp>
      <p:sp>
        <p:nvSpPr>
          <p:cNvPr id="375" name="Google Shape;375;p43"/>
          <p:cNvSpPr txBox="1"/>
          <p:nvPr/>
        </p:nvSpPr>
        <p:spPr>
          <a:xfrm>
            <a:off x="3685814" y="3651940"/>
            <a:ext cx="2387100" cy="227750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000000"/>
                </a:solidFill>
                <a:latin typeface="Calibri"/>
                <a:ea typeface="Calibri"/>
                <a:cs typeface="Calibri"/>
                <a:sym typeface="Calibri"/>
              </a:rPr>
              <a:t>El tema de hoy impactará en los siguientes procesos: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Calibri"/>
                <a:ea typeface="Calibri"/>
                <a:cs typeface="Calibri"/>
                <a:sym typeface="Calibri"/>
              </a:rPr>
              <a:t>Reclutamiento y Selección</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Calibri"/>
                <a:ea typeface="Calibri"/>
                <a:cs typeface="Calibri"/>
                <a:sym typeface="Calibri"/>
              </a:rPr>
              <a:t>Compensaciones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Calibri"/>
                <a:ea typeface="Calibri"/>
                <a:cs typeface="Calibri"/>
                <a:sym typeface="Calibri"/>
              </a:rPr>
              <a:t>Relaciones Laborales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Calibri"/>
                <a:ea typeface="Calibri"/>
                <a:cs typeface="Calibri"/>
                <a:sym typeface="Calibri"/>
              </a:rPr>
              <a:t>Administración de personal</a:t>
            </a:r>
            <a:endParaRPr b="0" i="0" sz="1400" u="none" cap="none" strike="noStrike">
              <a:solidFill>
                <a:srgbClr val="000000"/>
              </a:solidFill>
              <a:latin typeface="Arial"/>
              <a:ea typeface="Arial"/>
              <a:cs typeface="Arial"/>
              <a:sym typeface="Arial"/>
            </a:endParaRPr>
          </a:p>
        </p:txBody>
      </p:sp>
      <p:sp>
        <p:nvSpPr>
          <p:cNvPr id="376" name="Google Shape;376;p43"/>
          <p:cNvSpPr txBox="1"/>
          <p:nvPr/>
        </p:nvSpPr>
        <p:spPr>
          <a:xfrm>
            <a:off x="6355547" y="3592754"/>
            <a:ext cx="3024900" cy="10158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Calibri"/>
                <a:ea typeface="Calibri"/>
                <a:cs typeface="Calibri"/>
                <a:sym typeface="Calibri"/>
              </a:rPr>
              <a:t>Pymes  </a:t>
            </a:r>
            <a:r>
              <a:rPr b="1" lang="en-US" sz="1800">
                <a:latin typeface="Calibri"/>
                <a:ea typeface="Calibri"/>
                <a:cs typeface="Calibri"/>
                <a:sym typeface="Calibri"/>
              </a:rPr>
              <a:t>V</a:t>
            </a:r>
            <a:r>
              <a:rPr b="1" i="0" lang="en-US" sz="1800" u="none" cap="none" strike="noStrike">
                <a:solidFill>
                  <a:srgbClr val="000000"/>
                </a:solidFill>
                <a:latin typeface="Calibri"/>
                <a:ea typeface="Calibri"/>
                <a:cs typeface="Calibri"/>
                <a:sym typeface="Calibri"/>
              </a:rPr>
              <a:t>s. Corporativo</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Es transversal al tamaño y tipo de compañía.</a:t>
            </a:r>
            <a:endParaRPr b="0" i="0" sz="1800" u="none" cap="none" strike="noStrike">
              <a:solidFill>
                <a:srgbClr val="000000"/>
              </a:solidFill>
              <a:latin typeface="Calibri"/>
              <a:ea typeface="Calibri"/>
              <a:cs typeface="Calibri"/>
              <a:sym typeface="Calibri"/>
            </a:endParaRPr>
          </a:p>
        </p:txBody>
      </p:sp>
      <p:sp>
        <p:nvSpPr>
          <p:cNvPr id="377" name="Google Shape;377;p43"/>
          <p:cNvSpPr txBox="1"/>
          <p:nvPr/>
        </p:nvSpPr>
        <p:spPr>
          <a:xfrm>
            <a:off x="376320" y="-23"/>
            <a:ext cx="6609806" cy="1097303"/>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None/>
            </a:pPr>
            <a:r>
              <a:rPr b="1" i="0" lang="en-US" sz="2000" u="none" cap="none" strike="noStrike">
                <a:solidFill>
                  <a:srgbClr val="932328"/>
                </a:solidFill>
                <a:latin typeface="Arial"/>
                <a:ea typeface="Arial"/>
                <a:cs typeface="Arial"/>
                <a:sym typeface="Arial"/>
              </a:rPr>
              <a:t>Unidad –  Personas – Liderazgo</a:t>
            </a:r>
            <a:endParaRPr b="1" i="0" sz="2800" u="none" cap="none" strike="noStrike">
              <a:solidFill>
                <a:srgbClr val="932328"/>
              </a:solidFill>
              <a:latin typeface="Arial"/>
              <a:ea typeface="Arial"/>
              <a:cs typeface="Arial"/>
              <a:sym typeface="Arial"/>
            </a:endParaRPr>
          </a:p>
          <a:p>
            <a:pPr indent="-714375" lvl="0" marL="714375" marR="0" rtl="0" algn="l">
              <a:lnSpc>
                <a:spcPct val="90000"/>
              </a:lnSpc>
              <a:spcBef>
                <a:spcPts val="0"/>
              </a:spcBef>
              <a:spcAft>
                <a:spcPts val="0"/>
              </a:spcAft>
              <a:buNone/>
            </a:pPr>
            <a:r>
              <a:rPr b="1" i="0" lang="en-US" sz="2400" u="none" cap="none" strike="noStrike">
                <a:solidFill>
                  <a:srgbClr val="932328"/>
                </a:solidFill>
                <a:latin typeface="Arial"/>
                <a:ea typeface="Arial"/>
                <a:cs typeface="Arial"/>
                <a:sym typeface="Arial"/>
              </a:rPr>
              <a:t>Ambitos de Aplicación</a:t>
            </a:r>
            <a:endParaRPr b="1" i="0" sz="1800" u="none" cap="none" strike="noStrike">
              <a:solidFill>
                <a:srgbClr val="932328"/>
              </a:solidFill>
              <a:latin typeface="Arial"/>
              <a:ea typeface="Arial"/>
              <a:cs typeface="Arial"/>
              <a:sym typeface="Arial"/>
            </a:endParaRPr>
          </a:p>
        </p:txBody>
      </p:sp>
      <p:pic>
        <p:nvPicPr>
          <p:cNvPr descr="Image result for utn frba" id="378" name="Google Shape;378;p43"/>
          <p:cNvPicPr preferRelativeResize="0"/>
          <p:nvPr/>
        </p:nvPicPr>
        <p:blipFill rotWithShape="1">
          <a:blip r:embed="rId6">
            <a:alphaModFix/>
          </a:blip>
          <a:srcRect b="0" l="0" r="0" t="0"/>
          <a:stretch/>
        </p:blipFill>
        <p:spPr>
          <a:xfrm>
            <a:off x="7094652" y="218690"/>
            <a:ext cx="2611323" cy="7826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pic>
        <p:nvPicPr>
          <p:cNvPr id="383" name="Google Shape;383;p16"/>
          <p:cNvPicPr preferRelativeResize="0"/>
          <p:nvPr/>
        </p:nvPicPr>
        <p:blipFill rotWithShape="1">
          <a:blip r:embed="rId3">
            <a:alphaModFix/>
          </a:blip>
          <a:srcRect b="0" l="0" r="0" t="0"/>
          <a:stretch/>
        </p:blipFill>
        <p:spPr>
          <a:xfrm>
            <a:off x="1952546" y="1266262"/>
            <a:ext cx="6000907" cy="5022166"/>
          </a:xfrm>
          <a:prstGeom prst="rect">
            <a:avLst/>
          </a:prstGeom>
          <a:noFill/>
          <a:ln>
            <a:noFill/>
          </a:ln>
        </p:spPr>
      </p:pic>
      <p:sp>
        <p:nvSpPr>
          <p:cNvPr id="384" name="Google Shape;384;p16"/>
          <p:cNvSpPr txBox="1"/>
          <p:nvPr/>
        </p:nvSpPr>
        <p:spPr>
          <a:xfrm>
            <a:off x="0" y="-24"/>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UNIDAD 11: Extinción del contrato de trabajo</a:t>
            </a:r>
            <a:endParaRPr/>
          </a:p>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 </a:t>
            </a:r>
            <a:r>
              <a:rPr b="1" i="0" lang="en-US" sz="2000" u="none" cap="none" strike="noStrike">
                <a:solidFill>
                  <a:srgbClr val="002060"/>
                </a:solidFill>
                <a:latin typeface="Calibri"/>
                <a:ea typeface="Calibri"/>
                <a:cs typeface="Calibri"/>
                <a:sym typeface="Calibri"/>
              </a:rPr>
              <a:t>Ejercicios</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4"/>
          <p:cNvSpPr txBox="1"/>
          <p:nvPr/>
        </p:nvSpPr>
        <p:spPr>
          <a:xfrm>
            <a:off x="0" y="-24"/>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UNIDAD 11: Extinción del contrato de trabajo</a:t>
            </a:r>
            <a:endParaRPr/>
          </a:p>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 </a:t>
            </a:r>
            <a:r>
              <a:rPr b="1" i="0" lang="en-US" sz="2000" u="none" cap="none" strike="noStrike">
                <a:solidFill>
                  <a:srgbClr val="002060"/>
                </a:solidFill>
                <a:latin typeface="Calibri"/>
                <a:ea typeface="Calibri"/>
                <a:cs typeface="Calibri"/>
                <a:sym typeface="Calibri"/>
              </a:rPr>
              <a:t>Liquidaciones finales- ¿Qué datos necesito para liquidar?</a:t>
            </a:r>
            <a:endParaRPr b="0" i="0" sz="2000" u="none" cap="none" strike="noStrike">
              <a:solidFill>
                <a:srgbClr val="000000"/>
              </a:solidFill>
              <a:latin typeface="Arial"/>
              <a:ea typeface="Arial"/>
              <a:cs typeface="Arial"/>
              <a:sym typeface="Arial"/>
            </a:endParaRPr>
          </a:p>
        </p:txBody>
      </p:sp>
      <p:pic>
        <p:nvPicPr>
          <p:cNvPr id="390" name="Google Shape;390;p44"/>
          <p:cNvPicPr preferRelativeResize="0"/>
          <p:nvPr/>
        </p:nvPicPr>
        <p:blipFill rotWithShape="1">
          <a:blip r:embed="rId3">
            <a:alphaModFix/>
          </a:blip>
          <a:srcRect b="2780" l="0" r="0" t="4755"/>
          <a:stretch/>
        </p:blipFill>
        <p:spPr>
          <a:xfrm>
            <a:off x="0" y="1441194"/>
            <a:ext cx="9906000" cy="4579778"/>
          </a:xfrm>
          <a:prstGeom prst="rect">
            <a:avLst/>
          </a:prstGeom>
          <a:noFill/>
          <a:ln>
            <a:noFill/>
          </a:ln>
        </p:spPr>
      </p:pic>
      <p:sp>
        <p:nvSpPr>
          <p:cNvPr id="391" name="Google Shape;391;p44"/>
          <p:cNvSpPr txBox="1"/>
          <p:nvPr/>
        </p:nvSpPr>
        <p:spPr>
          <a:xfrm>
            <a:off x="618974" y="1960917"/>
            <a:ext cx="2307101" cy="523220"/>
          </a:xfrm>
          <a:prstGeom prst="rect">
            <a:avLst/>
          </a:prstGeom>
          <a:solidFill>
            <a:srgbClr val="FCDDCB"/>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1400" u="none" cap="none" strike="noStrike">
                <a:solidFill>
                  <a:srgbClr val="000000"/>
                </a:solidFill>
                <a:latin typeface="Aharoni"/>
                <a:ea typeface="Aharoni"/>
                <a:cs typeface="Aharoni"/>
                <a:sym typeface="Aharoni"/>
              </a:rPr>
              <a:t>Fecha de Ingreso </a:t>
            </a:r>
            <a:endParaRPr/>
          </a:p>
          <a:p>
            <a:pPr indent="0" lvl="0" marL="0" marR="0" rtl="0" algn="ctr">
              <a:lnSpc>
                <a:spcPct val="100000"/>
              </a:lnSpc>
              <a:spcBef>
                <a:spcPts val="0"/>
              </a:spcBef>
              <a:spcAft>
                <a:spcPts val="0"/>
              </a:spcAft>
              <a:buNone/>
            </a:pPr>
            <a:r>
              <a:rPr b="0" i="0" lang="en-US" sz="1400" u="none" cap="none" strike="noStrike">
                <a:solidFill>
                  <a:srgbClr val="000000"/>
                </a:solidFill>
                <a:latin typeface="Aharoni"/>
                <a:ea typeface="Aharoni"/>
                <a:cs typeface="Aharoni"/>
                <a:sym typeface="Aharoni"/>
              </a:rPr>
              <a:t>y egreso </a:t>
            </a:r>
            <a:endParaRPr/>
          </a:p>
        </p:txBody>
      </p:sp>
      <p:sp>
        <p:nvSpPr>
          <p:cNvPr id="392" name="Google Shape;392;p44"/>
          <p:cNvSpPr txBox="1"/>
          <p:nvPr/>
        </p:nvSpPr>
        <p:spPr>
          <a:xfrm>
            <a:off x="703378" y="3356727"/>
            <a:ext cx="2138289" cy="307777"/>
          </a:xfrm>
          <a:prstGeom prst="rect">
            <a:avLst/>
          </a:prstGeom>
          <a:solidFill>
            <a:srgbClr val="FCDDCB"/>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1400" u="none" cap="none" strike="noStrike">
                <a:solidFill>
                  <a:srgbClr val="000000"/>
                </a:solidFill>
                <a:latin typeface="Aharoni"/>
                <a:ea typeface="Aharoni"/>
                <a:cs typeface="Aharoni"/>
                <a:sym typeface="Aharoni"/>
              </a:rPr>
              <a:t>Antigüedad</a:t>
            </a:r>
            <a:endParaRPr/>
          </a:p>
        </p:txBody>
      </p:sp>
      <p:sp>
        <p:nvSpPr>
          <p:cNvPr id="393" name="Google Shape;393;p44"/>
          <p:cNvSpPr txBox="1"/>
          <p:nvPr/>
        </p:nvSpPr>
        <p:spPr>
          <a:xfrm>
            <a:off x="703378" y="4185229"/>
            <a:ext cx="2138289" cy="307777"/>
          </a:xfrm>
          <a:prstGeom prst="rect">
            <a:avLst/>
          </a:prstGeom>
          <a:solidFill>
            <a:srgbClr val="FCDDCB"/>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1400" u="none" cap="none" strike="noStrike">
                <a:solidFill>
                  <a:srgbClr val="000000"/>
                </a:solidFill>
                <a:latin typeface="Aharoni"/>
                <a:ea typeface="Aharoni"/>
                <a:cs typeface="Aharoni"/>
                <a:sym typeface="Aharoni"/>
              </a:rPr>
              <a:t>Motivo de egreso</a:t>
            </a:r>
            <a:endParaRPr/>
          </a:p>
        </p:txBody>
      </p:sp>
      <p:sp>
        <p:nvSpPr>
          <p:cNvPr id="394" name="Google Shape;394;p44"/>
          <p:cNvSpPr/>
          <p:nvPr/>
        </p:nvSpPr>
        <p:spPr>
          <a:xfrm>
            <a:off x="1582610" y="2670277"/>
            <a:ext cx="379827" cy="523220"/>
          </a:xfrm>
          <a:prstGeom prst="upDownArrow">
            <a:avLst>
              <a:gd fmla="val 50000" name="adj1"/>
              <a:gd fmla="val 50000" name="adj2"/>
            </a:avLst>
          </a:prstGeom>
          <a:solidFill>
            <a:schemeClr val="accent1"/>
          </a:solidFill>
          <a:ln cap="flat" cmpd="sng" w="25400">
            <a:solidFill>
              <a:srgbClr val="BA891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95" name="Google Shape;395;p44"/>
          <p:cNvSpPr txBox="1"/>
          <p:nvPr/>
        </p:nvSpPr>
        <p:spPr>
          <a:xfrm>
            <a:off x="6979927" y="2126510"/>
            <a:ext cx="2138289" cy="307777"/>
          </a:xfrm>
          <a:prstGeom prst="rect">
            <a:avLst/>
          </a:prstGeom>
          <a:solidFill>
            <a:srgbClr val="FCDDCB"/>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1400" u="none" cap="none" strike="noStrike">
                <a:solidFill>
                  <a:srgbClr val="000000"/>
                </a:solidFill>
                <a:latin typeface="Aharoni"/>
                <a:ea typeface="Aharoni"/>
                <a:cs typeface="Aharoni"/>
                <a:sym typeface="Aharoni"/>
              </a:rPr>
              <a:t>Sueldo bruto</a:t>
            </a:r>
            <a:endParaRPr/>
          </a:p>
        </p:txBody>
      </p:sp>
      <p:sp>
        <p:nvSpPr>
          <p:cNvPr id="396" name="Google Shape;396;p44"/>
          <p:cNvSpPr txBox="1"/>
          <p:nvPr/>
        </p:nvSpPr>
        <p:spPr>
          <a:xfrm>
            <a:off x="6979927" y="4539479"/>
            <a:ext cx="2138400" cy="738900"/>
          </a:xfrm>
          <a:prstGeom prst="rect">
            <a:avLst/>
          </a:prstGeom>
          <a:solidFill>
            <a:srgbClr val="FCDDCB"/>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1400" u="none" cap="none" strike="noStrike">
                <a:solidFill>
                  <a:srgbClr val="000000"/>
                </a:solidFill>
                <a:latin typeface="Aharoni"/>
                <a:ea typeface="Aharoni"/>
                <a:cs typeface="Aharoni"/>
                <a:sym typeface="Aharoni"/>
              </a:rPr>
              <a:t>Verificar estado de cuenta: si tiene anticipos, </a:t>
            </a:r>
            <a:r>
              <a:rPr lang="en-US">
                <a:latin typeface="Aharoni"/>
                <a:ea typeface="Aharoni"/>
                <a:cs typeface="Aharoni"/>
                <a:sym typeface="Aharoni"/>
              </a:rPr>
              <a:t>préstamos</a:t>
            </a:r>
            <a:r>
              <a:rPr b="0" i="0" lang="en-US" sz="1400" u="none" cap="none" strike="noStrike">
                <a:solidFill>
                  <a:srgbClr val="000000"/>
                </a:solidFill>
                <a:latin typeface="Aharoni"/>
                <a:ea typeface="Aharoni"/>
                <a:cs typeface="Aharoni"/>
                <a:sym typeface="Aharoni"/>
              </a:rPr>
              <a:t> etc.</a:t>
            </a:r>
            <a:endParaRPr/>
          </a:p>
        </p:txBody>
      </p:sp>
      <p:sp>
        <p:nvSpPr>
          <p:cNvPr id="397" name="Google Shape;397;p44"/>
          <p:cNvSpPr txBox="1"/>
          <p:nvPr/>
        </p:nvSpPr>
        <p:spPr>
          <a:xfrm>
            <a:off x="6979926" y="3293168"/>
            <a:ext cx="2138289" cy="523220"/>
          </a:xfrm>
          <a:prstGeom prst="rect">
            <a:avLst/>
          </a:prstGeom>
          <a:solidFill>
            <a:srgbClr val="FCDDCB"/>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1400" u="none" cap="none" strike="noStrike">
                <a:solidFill>
                  <a:srgbClr val="000000"/>
                </a:solidFill>
                <a:latin typeface="Aharoni"/>
                <a:ea typeface="Aharoni"/>
                <a:cs typeface="Aharoni"/>
                <a:sym typeface="Aharoni"/>
              </a:rPr>
              <a:t>Verificar vacaciones pendientes</a:t>
            </a:r>
            <a:endParaRPr/>
          </a:p>
        </p:txBody>
      </p:sp>
      <p:sp>
        <p:nvSpPr>
          <p:cNvPr id="398" name="Google Shape;398;p44"/>
          <p:cNvSpPr txBox="1"/>
          <p:nvPr/>
        </p:nvSpPr>
        <p:spPr>
          <a:xfrm>
            <a:off x="703377" y="5103100"/>
            <a:ext cx="2138289" cy="523220"/>
          </a:xfrm>
          <a:prstGeom prst="rect">
            <a:avLst/>
          </a:prstGeom>
          <a:solidFill>
            <a:srgbClr val="FCDDCB"/>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1400" u="none" cap="none" strike="noStrike">
                <a:solidFill>
                  <a:srgbClr val="000000"/>
                </a:solidFill>
                <a:latin typeface="Aharoni"/>
                <a:ea typeface="Aharoni"/>
                <a:cs typeface="Aharoni"/>
                <a:sym typeface="Aharoni"/>
              </a:rPr>
              <a:t>Telegrama o carta documento</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13"/>
          <p:cNvSpPr/>
          <p:nvPr/>
        </p:nvSpPr>
        <p:spPr>
          <a:xfrm>
            <a:off x="381554" y="1091668"/>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662"/>
              <a:buFont typeface="Arial"/>
              <a:buNone/>
            </a:pPr>
            <a:r>
              <a:t/>
            </a:r>
            <a:endParaRPr b="0" i="0" sz="1662" u="none" cap="none" strike="noStrike">
              <a:solidFill>
                <a:schemeClr val="dk1"/>
              </a:solidFill>
              <a:latin typeface="Calibri"/>
              <a:ea typeface="Calibri"/>
              <a:cs typeface="Calibri"/>
              <a:sym typeface="Calibri"/>
            </a:endParaRPr>
          </a:p>
        </p:txBody>
      </p:sp>
      <p:pic>
        <p:nvPicPr>
          <p:cNvPr descr="Image result for utn frba" id="404" name="Google Shape;404;p13"/>
          <p:cNvPicPr preferRelativeResize="0"/>
          <p:nvPr/>
        </p:nvPicPr>
        <p:blipFill rotWithShape="1">
          <a:blip r:embed="rId3">
            <a:alphaModFix/>
          </a:blip>
          <a:srcRect b="0" l="0" r="0" t="0"/>
          <a:stretch/>
        </p:blipFill>
        <p:spPr>
          <a:xfrm>
            <a:off x="6846195" y="64396"/>
            <a:ext cx="2611323" cy="952745"/>
          </a:xfrm>
          <a:prstGeom prst="rect">
            <a:avLst/>
          </a:prstGeom>
          <a:noFill/>
          <a:ln>
            <a:noFill/>
          </a:ln>
        </p:spPr>
      </p:pic>
      <p:sp>
        <p:nvSpPr>
          <p:cNvPr id="405" name="Google Shape;405;p13"/>
          <p:cNvSpPr txBox="1"/>
          <p:nvPr/>
        </p:nvSpPr>
        <p:spPr>
          <a:xfrm>
            <a:off x="617988" y="1667094"/>
            <a:ext cx="7948200" cy="4217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lang="en-US" sz="1600" u="sng">
                <a:solidFill>
                  <a:schemeClr val="dk1"/>
                </a:solidFill>
                <a:latin typeface="Calibri"/>
                <a:ea typeface="Calibri"/>
                <a:cs typeface="Calibri"/>
                <a:sym typeface="Calibri"/>
              </a:rPr>
              <a:t>Trabajador 1:</a:t>
            </a:r>
            <a:endParaRPr b="1" sz="1600" u="sng">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alibri"/>
                <a:ea typeface="Calibri"/>
                <a:cs typeface="Calibri"/>
                <a:sym typeface="Calibri"/>
              </a:rPr>
              <a:t>Antigüedad: </a:t>
            </a:r>
            <a:r>
              <a:rPr b="1" lang="en-US" sz="1600">
                <a:solidFill>
                  <a:schemeClr val="dk1"/>
                </a:solidFill>
                <a:latin typeface="Calibri"/>
                <a:ea typeface="Calibri"/>
                <a:cs typeface="Calibri"/>
                <a:sym typeface="Calibri"/>
              </a:rPr>
              <a:t>2</a:t>
            </a:r>
            <a:r>
              <a:rPr b="1" i="0" lang="en-US" sz="1600" u="none" cap="none" strike="noStrike">
                <a:solidFill>
                  <a:schemeClr val="dk1"/>
                </a:solidFill>
                <a:latin typeface="Calibri"/>
                <a:ea typeface="Calibri"/>
                <a:cs typeface="Calibri"/>
                <a:sym typeface="Calibri"/>
              </a:rPr>
              <a:t>años</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alibri"/>
                <a:ea typeface="Calibri"/>
                <a:cs typeface="Calibri"/>
                <a:sym typeface="Calibri"/>
              </a:rPr>
              <a:t>Días de vacaciones: 14 días (trabajando el año completo, se toman 360 días)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alibri"/>
                <a:ea typeface="Calibri"/>
                <a:cs typeface="Calibri"/>
                <a:sym typeface="Calibri"/>
              </a:rPr>
              <a:t>Fecha de renuncia: 15/08/2019</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alibri"/>
                <a:ea typeface="Calibri"/>
                <a:cs typeface="Calibri"/>
                <a:sym typeface="Calibri"/>
              </a:rPr>
              <a:t>Sueldo bruto mensual: $30.000</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Arial Narrow"/>
              <a:ea typeface="Arial Narrow"/>
              <a:cs typeface="Arial Narrow"/>
              <a:sym typeface="Arial Narrow"/>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2060"/>
              </a:solidFill>
              <a:latin typeface="Arial Narrow"/>
              <a:ea typeface="Arial Narrow"/>
              <a:cs typeface="Arial Narrow"/>
              <a:sym typeface="Arial Narro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2060"/>
                </a:solidFill>
                <a:latin typeface="Arial Narrow"/>
                <a:ea typeface="Arial Narrow"/>
                <a:cs typeface="Arial Narrow"/>
                <a:sym typeface="Arial Narrow"/>
              </a:rPr>
              <a:t>1º CALCULO DÍAS QUE CORRESPONDEN DE FORMA PROPORCIONAL</a:t>
            </a:r>
            <a:endParaRPr b="0" i="0" sz="1400" u="none" cap="none" strike="noStrike">
              <a:solidFill>
                <a:srgbClr val="00206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70C0"/>
              </a:solidFill>
              <a:latin typeface="Arial Narrow"/>
              <a:ea typeface="Arial Narrow"/>
              <a:cs typeface="Arial Narrow"/>
              <a:sym typeface="Arial Narrow"/>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Arial Narrow"/>
              <a:ea typeface="Arial Narrow"/>
              <a:cs typeface="Arial Narrow"/>
              <a:sym typeface="Arial Narrow"/>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Narrow"/>
                <a:ea typeface="Arial Narrow"/>
                <a:cs typeface="Arial Narrow"/>
                <a:sym typeface="Arial Narrow"/>
              </a:rPr>
              <a:t>14 / 360  * 226 (días efectivamente trabajados) =  8.78 días de vacaciones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Arial Narrow"/>
              <a:ea typeface="Arial Narrow"/>
              <a:cs typeface="Arial Narrow"/>
              <a:sym typeface="Arial Narrow"/>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Arial Narrow"/>
              <a:ea typeface="Arial Narrow"/>
              <a:cs typeface="Arial Narrow"/>
              <a:sym typeface="Arial Narro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2060"/>
                </a:solidFill>
                <a:latin typeface="Arial Narrow"/>
                <a:ea typeface="Arial Narrow"/>
                <a:cs typeface="Arial Narrow"/>
                <a:sym typeface="Arial Narrow"/>
              </a:rPr>
              <a:t>2º CALCULO IMPORTE A ABONAR  (con fórmula de vacaciones)</a:t>
            </a:r>
            <a:endParaRPr b="0" i="0" sz="1400" u="none" cap="none" strike="noStrike">
              <a:solidFill>
                <a:srgbClr val="00206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70C0"/>
              </a:solidFill>
              <a:latin typeface="Arial Narrow"/>
              <a:ea typeface="Arial Narrow"/>
              <a:cs typeface="Arial Narrow"/>
              <a:sym typeface="Arial Narrow"/>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70C0"/>
              </a:solidFill>
              <a:latin typeface="Arial Narrow"/>
              <a:ea typeface="Arial Narrow"/>
              <a:cs typeface="Arial Narrow"/>
              <a:sym typeface="Arial Narrow"/>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Narrow"/>
                <a:ea typeface="Arial Narrow"/>
                <a:cs typeface="Arial Narrow"/>
                <a:sym typeface="Arial Narrow"/>
              </a:rPr>
              <a:t>$</a:t>
            </a:r>
            <a:r>
              <a:rPr b="1" i="0" lang="en-US" sz="1600" u="none" cap="none" strike="noStrike">
                <a:solidFill>
                  <a:schemeClr val="dk1"/>
                </a:solidFill>
                <a:latin typeface="Arial Narrow"/>
                <a:ea typeface="Arial Narrow"/>
                <a:cs typeface="Arial Narrow"/>
                <a:sym typeface="Arial Narrow"/>
              </a:rPr>
              <a:t>30.000 / 25  *  9 =  $10.800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Arial Narrow"/>
              <a:ea typeface="Arial Narrow"/>
              <a:cs typeface="Arial Narrow"/>
              <a:sym typeface="Arial Narrow"/>
            </a:endParaRPr>
          </a:p>
        </p:txBody>
      </p:sp>
      <p:sp>
        <p:nvSpPr>
          <p:cNvPr id="406" name="Google Shape;406;p13"/>
          <p:cNvSpPr/>
          <p:nvPr/>
        </p:nvSpPr>
        <p:spPr>
          <a:xfrm>
            <a:off x="2149990" y="5142360"/>
            <a:ext cx="825824" cy="647114"/>
          </a:xfrm>
          <a:prstGeom prst="ellipse">
            <a:avLst/>
          </a:prstGeom>
          <a:no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cxnSp>
        <p:nvCxnSpPr>
          <p:cNvPr id="407" name="Google Shape;407;p13"/>
          <p:cNvCxnSpPr/>
          <p:nvPr/>
        </p:nvCxnSpPr>
        <p:spPr>
          <a:xfrm>
            <a:off x="3080626" y="5442775"/>
            <a:ext cx="1012875" cy="1588"/>
          </a:xfrm>
          <a:prstGeom prst="straightConnector1">
            <a:avLst/>
          </a:prstGeom>
          <a:noFill/>
          <a:ln cap="flat" cmpd="sng" w="9525">
            <a:solidFill>
              <a:schemeClr val="accent4"/>
            </a:solidFill>
            <a:prstDash val="solid"/>
            <a:round/>
            <a:headEnd len="sm" w="sm" type="none"/>
            <a:tailEnd len="med" w="med" type="stealth"/>
          </a:ln>
        </p:spPr>
      </p:cxnSp>
      <p:sp>
        <p:nvSpPr>
          <p:cNvPr id="408" name="Google Shape;408;p13"/>
          <p:cNvSpPr txBox="1"/>
          <p:nvPr/>
        </p:nvSpPr>
        <p:spPr>
          <a:xfrm>
            <a:off x="4303125" y="5096585"/>
            <a:ext cx="2912012" cy="738664"/>
          </a:xfrm>
          <a:prstGeom prst="rect">
            <a:avLst/>
          </a:prstGeom>
          <a:solidFill>
            <a:schemeClr val="accent4"/>
          </a:solidFill>
          <a:ln cap="flat" cmpd="sng" w="25400">
            <a:solidFill>
              <a:srgbClr val="83A2AD"/>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Arial"/>
                <a:ea typeface="Arial"/>
                <a:cs typeface="Arial"/>
                <a:sym typeface="Arial"/>
              </a:rPr>
              <a:t>IMPORTE A ABONAR EN CONCEPTO DE VACACIONES NO GOZADAS</a:t>
            </a:r>
            <a:endParaRPr b="0" i="0" sz="1400" u="none" cap="none" strike="noStrike">
              <a:solidFill>
                <a:schemeClr val="lt1"/>
              </a:solidFill>
              <a:latin typeface="Arial"/>
              <a:ea typeface="Arial"/>
              <a:cs typeface="Arial"/>
              <a:sym typeface="Arial"/>
            </a:endParaRPr>
          </a:p>
        </p:txBody>
      </p:sp>
      <p:cxnSp>
        <p:nvCxnSpPr>
          <p:cNvPr id="409" name="Google Shape;409;p13"/>
          <p:cNvCxnSpPr/>
          <p:nvPr/>
        </p:nvCxnSpPr>
        <p:spPr>
          <a:xfrm flipH="1" rot="10800000">
            <a:off x="6594986" y="4148916"/>
            <a:ext cx="787790" cy="1"/>
          </a:xfrm>
          <a:prstGeom prst="straightConnector1">
            <a:avLst/>
          </a:prstGeom>
          <a:noFill/>
          <a:ln cap="flat" cmpd="sng" w="9525">
            <a:solidFill>
              <a:schemeClr val="accent4"/>
            </a:solidFill>
            <a:prstDash val="solid"/>
            <a:round/>
            <a:headEnd len="sm" w="sm" type="none"/>
            <a:tailEnd len="med" w="med" type="stealth"/>
          </a:ln>
        </p:spPr>
      </p:cxnSp>
      <p:sp>
        <p:nvSpPr>
          <p:cNvPr id="410" name="Google Shape;410;p13"/>
          <p:cNvSpPr txBox="1"/>
          <p:nvPr/>
        </p:nvSpPr>
        <p:spPr>
          <a:xfrm>
            <a:off x="7571498" y="3995027"/>
            <a:ext cx="1645920" cy="307777"/>
          </a:xfrm>
          <a:prstGeom prst="rect">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Redondeo a 9 días</a:t>
            </a:r>
            <a:endParaRPr b="0" i="0" sz="1400" u="none" cap="none" strike="noStrike">
              <a:solidFill>
                <a:schemeClr val="dk1"/>
              </a:solidFill>
              <a:latin typeface="Calibri"/>
              <a:ea typeface="Calibri"/>
              <a:cs typeface="Calibri"/>
              <a:sym typeface="Calibri"/>
            </a:endParaRPr>
          </a:p>
        </p:txBody>
      </p:sp>
      <p:sp>
        <p:nvSpPr>
          <p:cNvPr id="411" name="Google Shape;411;p13"/>
          <p:cNvSpPr txBox="1"/>
          <p:nvPr/>
        </p:nvSpPr>
        <p:spPr>
          <a:xfrm>
            <a:off x="0" y="-24"/>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UNIDAD 11: Extinción del contrato de trabajo</a:t>
            </a:r>
            <a:endParaRPr/>
          </a:p>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 </a:t>
            </a:r>
            <a:r>
              <a:rPr b="0" i="0" lang="en-US" sz="2400" u="none" cap="none" strike="noStrike">
                <a:solidFill>
                  <a:srgbClr val="002060"/>
                </a:solidFill>
                <a:latin typeface="Calibri"/>
                <a:ea typeface="Calibri"/>
                <a:cs typeface="Calibri"/>
                <a:sym typeface="Calibri"/>
              </a:rPr>
              <a:t>Ejercicio</a:t>
            </a:r>
            <a:r>
              <a:rPr b="1" i="0" lang="en-US" sz="2400" u="none" cap="none" strike="noStrike">
                <a:solidFill>
                  <a:srgbClr val="002060"/>
                </a:solidFill>
                <a:latin typeface="Calibri"/>
                <a:ea typeface="Calibri"/>
                <a:cs typeface="Calibri"/>
                <a:sym typeface="Calibri"/>
              </a:rPr>
              <a:t>: </a:t>
            </a:r>
            <a:r>
              <a:rPr b="1" i="0" lang="en-US" sz="2000" u="none" cap="none" strike="noStrike">
                <a:solidFill>
                  <a:srgbClr val="002060"/>
                </a:solidFill>
                <a:latin typeface="Calibri"/>
                <a:ea typeface="Calibri"/>
                <a:cs typeface="Calibri"/>
                <a:sym typeface="Calibri"/>
              </a:rPr>
              <a:t>Liquidación por vacaciones proporcionales</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pic>
        <p:nvPicPr>
          <p:cNvPr descr="Image result for utn frba" id="418" name="Google Shape;418;p12"/>
          <p:cNvPicPr preferRelativeResize="0"/>
          <p:nvPr/>
        </p:nvPicPr>
        <p:blipFill rotWithShape="1">
          <a:blip r:embed="rId3">
            <a:alphaModFix/>
          </a:blip>
          <a:srcRect b="0" l="0" r="0" t="0"/>
          <a:stretch/>
        </p:blipFill>
        <p:spPr>
          <a:xfrm>
            <a:off x="6846195" y="64396"/>
            <a:ext cx="2611323" cy="952745"/>
          </a:xfrm>
          <a:prstGeom prst="rect">
            <a:avLst/>
          </a:prstGeom>
          <a:noFill/>
          <a:ln>
            <a:noFill/>
          </a:ln>
        </p:spPr>
      </p:pic>
      <p:sp>
        <p:nvSpPr>
          <p:cNvPr id="419" name="Google Shape;419;p12"/>
          <p:cNvSpPr/>
          <p:nvPr/>
        </p:nvSpPr>
        <p:spPr>
          <a:xfrm>
            <a:off x="381554" y="1091668"/>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662"/>
              <a:buFont typeface="Arial"/>
              <a:buNone/>
            </a:pPr>
            <a:r>
              <a:t/>
            </a:r>
            <a:endParaRPr b="0" i="0" sz="1662" u="none" cap="none" strike="noStrike">
              <a:solidFill>
                <a:schemeClr val="dk1"/>
              </a:solidFill>
              <a:latin typeface="Calibri"/>
              <a:ea typeface="Calibri"/>
              <a:cs typeface="Calibri"/>
              <a:sym typeface="Calibri"/>
            </a:endParaRPr>
          </a:p>
        </p:txBody>
      </p:sp>
      <p:pic>
        <p:nvPicPr>
          <p:cNvPr id="420" name="Google Shape;420;p12"/>
          <p:cNvPicPr preferRelativeResize="0"/>
          <p:nvPr/>
        </p:nvPicPr>
        <p:blipFill rotWithShape="1">
          <a:blip r:embed="rId4">
            <a:alphaModFix/>
          </a:blip>
          <a:srcRect b="25143" l="9471" r="15817" t="26010"/>
          <a:stretch/>
        </p:blipFill>
        <p:spPr>
          <a:xfrm>
            <a:off x="656815" y="1892131"/>
            <a:ext cx="8501253" cy="4241383"/>
          </a:xfrm>
          <a:prstGeom prst="rect">
            <a:avLst/>
          </a:prstGeom>
          <a:noFill/>
          <a:ln>
            <a:noFill/>
          </a:ln>
        </p:spPr>
      </p:pic>
      <p:sp>
        <p:nvSpPr>
          <p:cNvPr id="421" name="Google Shape;421;p12"/>
          <p:cNvSpPr txBox="1"/>
          <p:nvPr/>
        </p:nvSpPr>
        <p:spPr>
          <a:xfrm>
            <a:off x="0" y="-24"/>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UNIDAD 11: Extinción del contrato de trabajo</a:t>
            </a:r>
            <a:endParaRPr/>
          </a:p>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 </a:t>
            </a:r>
            <a:r>
              <a:rPr b="0" i="0" lang="en-US" sz="2400" u="none" cap="none" strike="noStrike">
                <a:solidFill>
                  <a:srgbClr val="002060"/>
                </a:solidFill>
                <a:latin typeface="Calibri"/>
                <a:ea typeface="Calibri"/>
                <a:cs typeface="Calibri"/>
                <a:sym typeface="Calibri"/>
              </a:rPr>
              <a:t>Ejercicio</a:t>
            </a:r>
            <a:r>
              <a:rPr b="1" i="0" lang="en-US" sz="2400" u="none" cap="none" strike="noStrike">
                <a:solidFill>
                  <a:srgbClr val="002060"/>
                </a:solidFill>
                <a:latin typeface="Calibri"/>
                <a:ea typeface="Calibri"/>
                <a:cs typeface="Calibri"/>
                <a:sym typeface="Calibri"/>
              </a:rPr>
              <a:t>: </a:t>
            </a:r>
            <a:r>
              <a:rPr b="1" i="0" lang="en-US" sz="2000" u="none" cap="none" strike="noStrike">
                <a:solidFill>
                  <a:srgbClr val="002060"/>
                </a:solidFill>
                <a:latin typeface="Calibri"/>
                <a:ea typeface="Calibri"/>
                <a:cs typeface="Calibri"/>
                <a:sym typeface="Calibri"/>
              </a:rPr>
              <a:t>Cálculo indemnización despido sin causa</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pic>
        <p:nvPicPr>
          <p:cNvPr descr="Image result for utn frba" id="426" name="Google Shape;426;p45"/>
          <p:cNvPicPr preferRelativeResize="0"/>
          <p:nvPr/>
        </p:nvPicPr>
        <p:blipFill rotWithShape="1">
          <a:blip r:embed="rId3">
            <a:alphaModFix/>
          </a:blip>
          <a:srcRect b="0" l="0" r="0" t="0"/>
          <a:stretch/>
        </p:blipFill>
        <p:spPr>
          <a:xfrm>
            <a:off x="6846195" y="64396"/>
            <a:ext cx="2611323" cy="952745"/>
          </a:xfrm>
          <a:prstGeom prst="rect">
            <a:avLst/>
          </a:prstGeom>
          <a:noFill/>
          <a:ln>
            <a:noFill/>
          </a:ln>
        </p:spPr>
      </p:pic>
      <p:sp>
        <p:nvSpPr>
          <p:cNvPr id="427" name="Google Shape;427;p45"/>
          <p:cNvSpPr/>
          <p:nvPr/>
        </p:nvSpPr>
        <p:spPr>
          <a:xfrm>
            <a:off x="381554" y="1091668"/>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t/>
            </a:r>
            <a:endParaRPr b="0" i="0" sz="1662" u="none" cap="none" strike="noStrike">
              <a:solidFill>
                <a:schemeClr val="dk1"/>
              </a:solidFill>
              <a:latin typeface="Calibri"/>
              <a:ea typeface="Calibri"/>
              <a:cs typeface="Calibri"/>
              <a:sym typeface="Calibri"/>
            </a:endParaRPr>
          </a:p>
        </p:txBody>
      </p:sp>
      <p:sp>
        <p:nvSpPr>
          <p:cNvPr id="428" name="Google Shape;428;p45"/>
          <p:cNvSpPr txBox="1"/>
          <p:nvPr/>
        </p:nvSpPr>
        <p:spPr>
          <a:xfrm>
            <a:off x="738123" y="2116105"/>
            <a:ext cx="8675100" cy="381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sng" cap="none" strike="noStrike">
                <a:solidFill>
                  <a:schemeClr val="dk1"/>
                </a:solidFill>
                <a:latin typeface="Arial Narrow"/>
                <a:ea typeface="Arial Narrow"/>
                <a:cs typeface="Arial Narrow"/>
                <a:sym typeface="Arial Narrow"/>
              </a:rPr>
              <a:t>Trabajador</a:t>
            </a:r>
            <a:r>
              <a:rPr b="1" lang="en-US" sz="1600" u="sng">
                <a:solidFill>
                  <a:schemeClr val="dk1"/>
                </a:solidFill>
                <a:latin typeface="Arial Narrow"/>
                <a:ea typeface="Arial Narrow"/>
                <a:cs typeface="Arial Narrow"/>
                <a:sym typeface="Arial Narrow"/>
              </a:rPr>
              <a:t> 2:</a:t>
            </a:r>
            <a:endParaRPr b="0" i="0" sz="1400" u="sng"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600" u="none" cap="none" strike="noStrike">
                <a:solidFill>
                  <a:schemeClr val="dk1"/>
                </a:solidFill>
                <a:latin typeface="Arial Narrow"/>
                <a:ea typeface="Arial Narrow"/>
                <a:cs typeface="Arial Narrow"/>
                <a:sym typeface="Arial Narrow"/>
              </a:rPr>
              <a:t>Antigüedad: 2 años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600" u="none" cap="none" strike="noStrike">
                <a:solidFill>
                  <a:schemeClr val="dk1"/>
                </a:solidFill>
                <a:latin typeface="Arial Narrow"/>
                <a:ea typeface="Arial Narrow"/>
                <a:cs typeface="Arial Narrow"/>
                <a:sym typeface="Arial Narrow"/>
              </a:rPr>
              <a:t>Sueldos del 1º semestres (180 días):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600" u="none" cap="none" strike="noStrike">
              <a:solidFill>
                <a:schemeClr val="dk1"/>
              </a:solidFill>
              <a:latin typeface="Arial Narrow"/>
              <a:ea typeface="Arial Narrow"/>
              <a:cs typeface="Arial Narrow"/>
              <a:sym typeface="Arial Narrow"/>
            </a:endParaRPr>
          </a:p>
          <a:p>
            <a:pPr indent="0" lvl="0" marL="0" marR="0" rtl="0" algn="l">
              <a:lnSpc>
                <a:spcPct val="100000"/>
              </a:lnSpc>
              <a:spcBef>
                <a:spcPts val="0"/>
              </a:spcBef>
              <a:spcAft>
                <a:spcPts val="0"/>
              </a:spcAft>
              <a:buNone/>
            </a:pPr>
            <a:r>
              <a:t/>
            </a:r>
            <a:endParaRPr b="1" i="0" sz="1600" u="none" cap="none" strike="noStrike">
              <a:solidFill>
                <a:schemeClr val="dk1"/>
              </a:solidFill>
              <a:latin typeface="Arial Narrow"/>
              <a:ea typeface="Arial Narrow"/>
              <a:cs typeface="Arial Narrow"/>
              <a:sym typeface="Arial Narrow"/>
            </a:endParaRPr>
          </a:p>
          <a:p>
            <a:pPr indent="0" lvl="0" marL="0" marR="0" rtl="0" algn="l">
              <a:lnSpc>
                <a:spcPct val="100000"/>
              </a:lnSpc>
              <a:spcBef>
                <a:spcPts val="0"/>
              </a:spcBef>
              <a:spcAft>
                <a:spcPts val="0"/>
              </a:spcAft>
              <a:buNone/>
            </a:pPr>
            <a:r>
              <a:t/>
            </a:r>
            <a:endParaRPr b="1" i="0" sz="1600" u="none" cap="none" strike="noStrike">
              <a:solidFill>
                <a:schemeClr val="dk1"/>
              </a:solidFill>
              <a:latin typeface="Arial Narrow"/>
              <a:ea typeface="Arial Narrow"/>
              <a:cs typeface="Arial Narrow"/>
              <a:sym typeface="Arial Narrow"/>
            </a:endParaRPr>
          </a:p>
          <a:p>
            <a:pPr indent="0" lvl="0" marL="0" marR="0" rtl="0" algn="l">
              <a:lnSpc>
                <a:spcPct val="100000"/>
              </a:lnSpc>
              <a:spcBef>
                <a:spcPts val="0"/>
              </a:spcBef>
              <a:spcAft>
                <a:spcPts val="0"/>
              </a:spcAft>
              <a:buNone/>
            </a:pPr>
            <a:r>
              <a:t/>
            </a:r>
            <a:endParaRPr b="1" i="0" sz="1600" u="none" cap="none" strike="noStrike">
              <a:solidFill>
                <a:schemeClr val="dk1"/>
              </a:solidFill>
              <a:latin typeface="Arial Narrow"/>
              <a:ea typeface="Arial Narrow"/>
              <a:cs typeface="Arial Narrow"/>
              <a:sym typeface="Arial Narrow"/>
            </a:endParaRPr>
          </a:p>
          <a:p>
            <a:pPr indent="0" lvl="0" marL="0" marR="0" rtl="0" algn="l">
              <a:lnSpc>
                <a:spcPct val="100000"/>
              </a:lnSpc>
              <a:spcBef>
                <a:spcPts val="0"/>
              </a:spcBef>
              <a:spcAft>
                <a:spcPts val="0"/>
              </a:spcAft>
              <a:buNone/>
            </a:pPr>
            <a:r>
              <a:t/>
            </a:r>
            <a:endParaRPr b="1" i="0" sz="1600" u="none" cap="none" strike="noStrike">
              <a:solidFill>
                <a:schemeClr val="dk1"/>
              </a:solidFill>
              <a:latin typeface="Arial Narrow"/>
              <a:ea typeface="Arial Narrow"/>
              <a:cs typeface="Arial Narrow"/>
              <a:sym typeface="Arial Narrow"/>
            </a:endParaRPr>
          </a:p>
          <a:p>
            <a:pPr indent="0" lvl="0" marL="0" marR="0" rtl="0" algn="l">
              <a:lnSpc>
                <a:spcPct val="100000"/>
              </a:lnSpc>
              <a:spcBef>
                <a:spcPts val="0"/>
              </a:spcBef>
              <a:spcAft>
                <a:spcPts val="0"/>
              </a:spcAft>
              <a:buNone/>
            </a:pPr>
            <a:r>
              <a:t/>
            </a:r>
            <a:endParaRPr b="1" i="0" sz="1600" u="none" cap="none" strike="noStrike">
              <a:solidFill>
                <a:schemeClr val="dk1"/>
              </a:solidFill>
              <a:latin typeface="Arial Narrow"/>
              <a:ea typeface="Arial Narrow"/>
              <a:cs typeface="Arial Narrow"/>
              <a:sym typeface="Arial Narrow"/>
            </a:endParaRPr>
          </a:p>
          <a:p>
            <a:pPr indent="0" lvl="0" marL="0" marR="0" rtl="0" algn="l">
              <a:lnSpc>
                <a:spcPct val="100000"/>
              </a:lnSpc>
              <a:spcBef>
                <a:spcPts val="0"/>
              </a:spcBef>
              <a:spcAft>
                <a:spcPts val="0"/>
              </a:spcAft>
              <a:buNone/>
            </a:pPr>
            <a:r>
              <a:t/>
            </a:r>
            <a:endParaRPr b="1" i="0" sz="1600" u="none" cap="none" strike="noStrike">
              <a:solidFill>
                <a:schemeClr val="dk1"/>
              </a:solidFill>
              <a:latin typeface="Arial Narrow"/>
              <a:ea typeface="Arial Narrow"/>
              <a:cs typeface="Arial Narrow"/>
              <a:sym typeface="Arial Narrow"/>
            </a:endParaRPr>
          </a:p>
          <a:p>
            <a:pPr indent="0" lvl="0" marL="0" marR="0" rtl="0" algn="l">
              <a:lnSpc>
                <a:spcPct val="100000"/>
              </a:lnSpc>
              <a:spcBef>
                <a:spcPts val="0"/>
              </a:spcBef>
              <a:spcAft>
                <a:spcPts val="0"/>
              </a:spcAft>
              <a:buNone/>
            </a:pPr>
            <a:r>
              <a:rPr b="1" i="0" lang="en-US" sz="1600" u="none" cap="none" strike="noStrike">
                <a:solidFill>
                  <a:schemeClr val="dk1"/>
                </a:solidFill>
                <a:latin typeface="Arial Narrow"/>
                <a:ea typeface="Arial Narrow"/>
                <a:cs typeface="Arial Narrow"/>
                <a:sym typeface="Arial Narrow"/>
              </a:rPr>
              <a:t>Mejor Sueldo bruto mensual: $44.000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600" u="none" cap="none" strike="noStrike">
              <a:solidFill>
                <a:schemeClr val="dk1"/>
              </a:solidFill>
              <a:latin typeface="Arial Narrow"/>
              <a:ea typeface="Arial Narrow"/>
              <a:cs typeface="Arial Narrow"/>
              <a:sym typeface="Arial Narrow"/>
            </a:endParaRPr>
          </a:p>
          <a:p>
            <a:pPr indent="0" lvl="0" marL="0" marR="0" rtl="0" algn="l">
              <a:lnSpc>
                <a:spcPct val="100000"/>
              </a:lnSpc>
              <a:spcBef>
                <a:spcPts val="0"/>
              </a:spcBef>
              <a:spcAft>
                <a:spcPts val="0"/>
              </a:spcAft>
              <a:buNone/>
            </a:pPr>
            <a:r>
              <a:t/>
            </a:r>
            <a:endParaRPr b="1" i="0" sz="1600" u="none" cap="none" strike="noStrike">
              <a:solidFill>
                <a:schemeClr val="dk1"/>
              </a:solidFill>
              <a:latin typeface="Arial Narrow"/>
              <a:ea typeface="Arial Narrow"/>
              <a:cs typeface="Arial Narrow"/>
              <a:sym typeface="Arial Narrow"/>
            </a:endParaRPr>
          </a:p>
          <a:p>
            <a:pPr indent="0" lvl="0" marL="0" marR="0" rtl="0" algn="l">
              <a:lnSpc>
                <a:spcPct val="100000"/>
              </a:lnSpc>
              <a:spcBef>
                <a:spcPts val="0"/>
              </a:spcBef>
              <a:spcAft>
                <a:spcPts val="0"/>
              </a:spcAft>
              <a:buNone/>
            </a:pPr>
            <a:r>
              <a:t/>
            </a:r>
            <a:endParaRPr b="1" i="0" sz="1600" u="none" cap="none" strike="noStrike">
              <a:solidFill>
                <a:schemeClr val="dk1"/>
              </a:solidFill>
              <a:latin typeface="Arial Narrow"/>
              <a:ea typeface="Arial Narrow"/>
              <a:cs typeface="Arial Narrow"/>
              <a:sym typeface="Arial Narrow"/>
            </a:endParaRPr>
          </a:p>
          <a:p>
            <a:pPr indent="0" lvl="0" marL="0" marR="0" rtl="0" algn="l">
              <a:lnSpc>
                <a:spcPct val="100000"/>
              </a:lnSpc>
              <a:spcBef>
                <a:spcPts val="0"/>
              </a:spcBef>
              <a:spcAft>
                <a:spcPts val="0"/>
              </a:spcAft>
              <a:buNone/>
            </a:pPr>
            <a:r>
              <a:t/>
            </a:r>
            <a:endParaRPr b="0" i="0" sz="1800" u="none" cap="none" strike="noStrike">
              <a:solidFill>
                <a:schemeClr val="dk1"/>
              </a:solidFill>
              <a:latin typeface="Twentieth Century"/>
              <a:ea typeface="Twentieth Century"/>
              <a:cs typeface="Twentieth Century"/>
              <a:sym typeface="Twentieth Century"/>
            </a:endParaRPr>
          </a:p>
        </p:txBody>
      </p:sp>
      <p:pic>
        <p:nvPicPr>
          <p:cNvPr id="429" name="Google Shape;429;p45"/>
          <p:cNvPicPr preferRelativeResize="0"/>
          <p:nvPr/>
        </p:nvPicPr>
        <p:blipFill rotWithShape="1">
          <a:blip r:embed="rId4">
            <a:alphaModFix/>
          </a:blip>
          <a:srcRect b="0" l="0" r="0" t="0"/>
          <a:stretch/>
        </p:blipFill>
        <p:spPr>
          <a:xfrm>
            <a:off x="949325" y="3045387"/>
            <a:ext cx="1652361" cy="1338622"/>
          </a:xfrm>
          <a:prstGeom prst="rect">
            <a:avLst/>
          </a:prstGeom>
          <a:noFill/>
          <a:ln>
            <a:noFill/>
          </a:ln>
        </p:spPr>
      </p:pic>
      <p:sp>
        <p:nvSpPr>
          <p:cNvPr id="430" name="Google Shape;430;p45"/>
          <p:cNvSpPr txBox="1"/>
          <p:nvPr/>
        </p:nvSpPr>
        <p:spPr>
          <a:xfrm>
            <a:off x="3805825" y="3041825"/>
            <a:ext cx="3870900" cy="1231500"/>
          </a:xfrm>
          <a:prstGeom prst="rect">
            <a:avLst/>
          </a:prstGeom>
          <a:solidFill>
            <a:schemeClr val="lt1"/>
          </a:solidFill>
          <a:ln cap="flat" cmpd="sng" w="1587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chemeClr val="dk1"/>
                </a:solidFill>
                <a:latin typeface="Twentieth Century"/>
                <a:ea typeface="Twentieth Century"/>
                <a:cs typeface="Twentieth Century"/>
                <a:sym typeface="Twentieth Century"/>
              </a:rPr>
              <a:t>  MEJOR SUELDO BRUTO   = </a:t>
            </a:r>
            <a:r>
              <a:rPr b="1" i="0" lang="en-US" sz="2000" u="none" cap="none" strike="noStrike">
                <a:solidFill>
                  <a:schemeClr val="dk1"/>
                </a:solidFill>
                <a:latin typeface="Twentieth Century"/>
                <a:ea typeface="Twentieth Century"/>
                <a:cs typeface="Twentieth Century"/>
                <a:sym typeface="Twentieth Century"/>
              </a:rPr>
              <a:t>SAC</a:t>
            </a:r>
            <a:r>
              <a:rPr b="0" i="0" lang="en-US" sz="1800" u="none" cap="none" strike="noStrike">
                <a:solidFill>
                  <a:schemeClr val="dk1"/>
                </a:solidFill>
                <a:latin typeface="Twentieth Century"/>
                <a:ea typeface="Twentieth Century"/>
                <a:cs typeface="Twentieth Century"/>
                <a:sym typeface="Twentieth Century"/>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chemeClr val="dk1"/>
                </a:solidFill>
                <a:latin typeface="Twentieth Century"/>
                <a:ea typeface="Twentieth Century"/>
                <a:cs typeface="Twentieth Century"/>
                <a:sym typeface="Twentieth Century"/>
              </a:rPr>
              <a:t>                  </a:t>
            </a:r>
            <a:endParaRPr b="0" i="0" sz="1800" u="none" cap="none" strike="noStrike">
              <a:solidFill>
                <a:schemeClr val="dk1"/>
              </a:solidFill>
              <a:latin typeface="Twentieth Century"/>
              <a:ea typeface="Twentieth Century"/>
              <a:cs typeface="Twentieth Century"/>
              <a:sym typeface="Twentieth Century"/>
            </a:endParaRPr>
          </a:p>
          <a:p>
            <a:pPr indent="0" lvl="0" marL="0" marR="0" rtl="0" algn="l">
              <a:lnSpc>
                <a:spcPct val="100000"/>
              </a:lnSpc>
              <a:spcBef>
                <a:spcPts val="0"/>
              </a:spcBef>
              <a:spcAft>
                <a:spcPts val="0"/>
              </a:spcAft>
              <a:buNone/>
            </a:pPr>
            <a:r>
              <a:rPr lang="en-US" sz="1800">
                <a:solidFill>
                  <a:schemeClr val="dk1"/>
                </a:solidFill>
                <a:latin typeface="Twentieth Century"/>
                <a:ea typeface="Twentieth Century"/>
                <a:cs typeface="Twentieth Century"/>
                <a:sym typeface="Twentieth Century"/>
              </a:rPr>
              <a:t>                   </a:t>
            </a:r>
            <a:r>
              <a:rPr b="0" i="0" lang="en-US" sz="1800" u="none" cap="none" strike="noStrike">
                <a:solidFill>
                  <a:schemeClr val="dk1"/>
                </a:solidFill>
                <a:latin typeface="Twentieth Century"/>
                <a:ea typeface="Twentieth Century"/>
                <a:cs typeface="Twentieth Century"/>
                <a:sym typeface="Twentieth Century"/>
              </a:rPr>
              <a:t>2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800" u="none" cap="none" strike="noStrike">
              <a:solidFill>
                <a:schemeClr val="dk1"/>
              </a:solidFill>
              <a:latin typeface="Twentieth Century"/>
              <a:ea typeface="Twentieth Century"/>
              <a:cs typeface="Twentieth Century"/>
              <a:sym typeface="Twentieth Century"/>
            </a:endParaRPr>
          </a:p>
        </p:txBody>
      </p:sp>
      <p:cxnSp>
        <p:nvCxnSpPr>
          <p:cNvPr id="431" name="Google Shape;431;p45"/>
          <p:cNvCxnSpPr/>
          <p:nvPr/>
        </p:nvCxnSpPr>
        <p:spPr>
          <a:xfrm>
            <a:off x="3853934" y="3556000"/>
            <a:ext cx="2351314" cy="0"/>
          </a:xfrm>
          <a:prstGeom prst="straightConnector1">
            <a:avLst/>
          </a:prstGeom>
          <a:noFill/>
          <a:ln cap="flat" cmpd="sng" w="9525">
            <a:solidFill>
              <a:srgbClr val="FF0000"/>
            </a:solidFill>
            <a:prstDash val="solid"/>
            <a:round/>
            <a:headEnd len="sm" w="sm" type="none"/>
            <a:tailEnd len="sm" w="sm" type="none"/>
          </a:ln>
        </p:spPr>
      </p:cxnSp>
      <p:sp>
        <p:nvSpPr>
          <p:cNvPr id="432" name="Google Shape;432;p45"/>
          <p:cNvSpPr txBox="1"/>
          <p:nvPr/>
        </p:nvSpPr>
        <p:spPr>
          <a:xfrm>
            <a:off x="5141193" y="4759803"/>
            <a:ext cx="3055787" cy="1231106"/>
          </a:xfrm>
          <a:prstGeom prst="rect">
            <a:avLst/>
          </a:prstGeom>
          <a:solidFill>
            <a:schemeClr val="lt1"/>
          </a:solidFill>
          <a:ln cap="flat" cmpd="sng" w="15875">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chemeClr val="dk1"/>
                </a:solidFill>
                <a:latin typeface="Twentieth Century"/>
                <a:ea typeface="Twentieth Century"/>
                <a:cs typeface="Twentieth Century"/>
                <a:sym typeface="Twentieth Century"/>
              </a:rPr>
              <a:t>       $44.000   = </a:t>
            </a:r>
            <a:r>
              <a:rPr b="1" i="0" lang="en-US" sz="2000" u="none" cap="none" strike="noStrike">
                <a:solidFill>
                  <a:schemeClr val="dk1"/>
                </a:solidFill>
                <a:latin typeface="Twentieth Century"/>
                <a:ea typeface="Twentieth Century"/>
                <a:cs typeface="Twentieth Century"/>
                <a:sym typeface="Twentieth Century"/>
              </a:rPr>
              <a:t>$22.000</a:t>
            </a:r>
            <a:r>
              <a:rPr b="0" i="0" lang="en-US" sz="1800" u="none" cap="none" strike="noStrike">
                <a:solidFill>
                  <a:schemeClr val="dk1"/>
                </a:solidFill>
                <a:latin typeface="Twentieth Century"/>
                <a:ea typeface="Twentieth Century"/>
                <a:cs typeface="Twentieth Century"/>
                <a:sym typeface="Twentieth Century"/>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chemeClr val="dk1"/>
                </a:solidFill>
                <a:latin typeface="Twentieth Century"/>
                <a:ea typeface="Twentieth Century"/>
                <a:cs typeface="Twentieth Century"/>
                <a:sym typeface="Twentieth Century"/>
              </a:rPr>
              <a:t>            2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800" u="none" cap="none" strike="noStrike">
              <a:solidFill>
                <a:schemeClr val="dk1"/>
              </a:solidFill>
              <a:latin typeface="Twentieth Century"/>
              <a:ea typeface="Twentieth Century"/>
              <a:cs typeface="Twentieth Century"/>
              <a:sym typeface="Twentieth Century"/>
            </a:endParaRPr>
          </a:p>
        </p:txBody>
      </p:sp>
      <p:cxnSp>
        <p:nvCxnSpPr>
          <p:cNvPr id="433" name="Google Shape;433;p45"/>
          <p:cNvCxnSpPr/>
          <p:nvPr/>
        </p:nvCxnSpPr>
        <p:spPr>
          <a:xfrm>
            <a:off x="5407682" y="5240217"/>
            <a:ext cx="1219200" cy="0"/>
          </a:xfrm>
          <a:prstGeom prst="straightConnector1">
            <a:avLst/>
          </a:prstGeom>
          <a:noFill/>
          <a:ln cap="flat" cmpd="sng" w="9525">
            <a:solidFill>
              <a:schemeClr val="accent1"/>
            </a:solidFill>
            <a:prstDash val="solid"/>
            <a:round/>
            <a:headEnd len="sm" w="sm" type="none"/>
            <a:tailEnd len="sm" w="sm" type="none"/>
          </a:ln>
        </p:spPr>
      </p:cxnSp>
      <p:sp>
        <p:nvSpPr>
          <p:cNvPr id="434" name="Google Shape;434;p45"/>
          <p:cNvSpPr txBox="1"/>
          <p:nvPr/>
        </p:nvSpPr>
        <p:spPr>
          <a:xfrm>
            <a:off x="0" y="-24"/>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UNIDAD 11: Extinción del contrato de trabajo</a:t>
            </a:r>
            <a:endParaRPr/>
          </a:p>
          <a:p>
            <a:pPr indent="-714375" lvl="0" marL="714375" marR="0" rtl="0" algn="l">
              <a:lnSpc>
                <a:spcPct val="90000"/>
              </a:lnSpc>
              <a:spcBef>
                <a:spcPts val="0"/>
              </a:spcBef>
              <a:spcAft>
                <a:spcPts val="0"/>
              </a:spcAft>
              <a:buClr>
                <a:srgbClr val="000000"/>
              </a:buClr>
              <a:buSzPts val="2400"/>
              <a:buFont typeface="Arial"/>
              <a:buNone/>
            </a:pPr>
            <a:r>
              <a:rPr b="0" i="0" lang="en-US" sz="2400" u="none" cap="none" strike="noStrike">
                <a:solidFill>
                  <a:srgbClr val="002060"/>
                </a:solidFill>
                <a:latin typeface="Calibri"/>
                <a:ea typeface="Calibri"/>
                <a:cs typeface="Calibri"/>
                <a:sym typeface="Calibri"/>
              </a:rPr>
              <a:t>Ejercicio</a:t>
            </a:r>
            <a:r>
              <a:rPr b="1" i="0" lang="en-US" sz="2400" u="none" cap="none" strike="noStrike">
                <a:solidFill>
                  <a:srgbClr val="002060"/>
                </a:solidFill>
                <a:latin typeface="Calibri"/>
                <a:ea typeface="Calibri"/>
                <a:cs typeface="Calibri"/>
                <a:sym typeface="Calibri"/>
              </a:rPr>
              <a:t>: </a:t>
            </a:r>
            <a:r>
              <a:rPr b="1" i="0" lang="en-US" sz="2000" u="none" cap="none" strike="noStrike">
                <a:solidFill>
                  <a:srgbClr val="002060"/>
                </a:solidFill>
                <a:latin typeface="Calibri"/>
                <a:ea typeface="Calibri"/>
                <a:cs typeface="Calibri"/>
                <a:sym typeface="Calibri"/>
              </a:rPr>
              <a:t>Liquidación de SAC</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pic>
        <p:nvPicPr>
          <p:cNvPr descr="Image result for utn frba" id="439" name="Google Shape;439;p14"/>
          <p:cNvPicPr preferRelativeResize="0"/>
          <p:nvPr/>
        </p:nvPicPr>
        <p:blipFill rotWithShape="1">
          <a:blip r:embed="rId3">
            <a:alphaModFix/>
          </a:blip>
          <a:srcRect b="0" l="0" r="0" t="0"/>
          <a:stretch/>
        </p:blipFill>
        <p:spPr>
          <a:xfrm>
            <a:off x="6846195" y="64396"/>
            <a:ext cx="2611323" cy="952745"/>
          </a:xfrm>
          <a:prstGeom prst="rect">
            <a:avLst/>
          </a:prstGeom>
          <a:noFill/>
          <a:ln>
            <a:noFill/>
          </a:ln>
        </p:spPr>
      </p:pic>
      <p:sp>
        <p:nvSpPr>
          <p:cNvPr id="440" name="Google Shape;440;p14"/>
          <p:cNvSpPr/>
          <p:nvPr/>
        </p:nvSpPr>
        <p:spPr>
          <a:xfrm>
            <a:off x="381554" y="1091668"/>
            <a:ext cx="9160833" cy="45719"/>
          </a:xfrm>
          <a:prstGeom prst="rect">
            <a:avLst/>
          </a:prstGeom>
          <a:gradFill>
            <a:gsLst>
              <a:gs pos="0">
                <a:srgbClr val="E5E6E8"/>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662"/>
              <a:buFont typeface="Arial"/>
              <a:buNone/>
            </a:pPr>
            <a:r>
              <a:t/>
            </a:r>
            <a:endParaRPr b="0" i="0" sz="1662" u="none" cap="none" strike="noStrike">
              <a:solidFill>
                <a:schemeClr val="dk1"/>
              </a:solidFill>
              <a:latin typeface="Calibri"/>
              <a:ea typeface="Calibri"/>
              <a:cs typeface="Calibri"/>
              <a:sym typeface="Calibri"/>
            </a:endParaRPr>
          </a:p>
        </p:txBody>
      </p:sp>
      <p:sp>
        <p:nvSpPr>
          <p:cNvPr id="441" name="Google Shape;441;p14"/>
          <p:cNvSpPr txBox="1"/>
          <p:nvPr/>
        </p:nvSpPr>
        <p:spPr>
          <a:xfrm>
            <a:off x="381554" y="1398082"/>
            <a:ext cx="8640421"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En el caso que la persona no trabaje todo el semestre, se deberá sacar el </a:t>
            </a:r>
            <a:r>
              <a:rPr b="1" i="0" lang="en-US" sz="1600" u="none" cap="none" strike="noStrike">
                <a:solidFill>
                  <a:schemeClr val="dk1"/>
                </a:solidFill>
                <a:latin typeface="Calibri"/>
                <a:ea typeface="Calibri"/>
                <a:cs typeface="Calibri"/>
                <a:sym typeface="Calibri"/>
              </a:rPr>
              <a:t>SAC proporcional</a:t>
            </a:r>
            <a:r>
              <a:rPr b="0" i="0" lang="en-US" sz="1600" u="none" cap="none" strike="noStrike">
                <a:solidFill>
                  <a:schemeClr val="dk1"/>
                </a:solidFill>
                <a:latin typeface="Calibri"/>
                <a:ea typeface="Calibri"/>
                <a:cs typeface="Calibri"/>
                <a:sym typeface="Calibri"/>
              </a:rPr>
              <a:t>, en el ejemplo  anterior para calcular el SAC PROPORCIONAL al 30/04 mejor sueldo bruto fue el de </a:t>
            </a:r>
            <a:r>
              <a:rPr b="1" i="0" lang="en-US" sz="1600" u="none" cap="none" strike="noStrike">
                <a:solidFill>
                  <a:schemeClr val="dk1"/>
                </a:solidFill>
                <a:latin typeface="Calibri"/>
                <a:ea typeface="Calibri"/>
                <a:cs typeface="Calibri"/>
                <a:sym typeface="Calibri"/>
              </a:rPr>
              <a:t>febrero $41.500</a:t>
            </a:r>
            <a:endParaRPr b="0" i="0" sz="1400" u="none" cap="none" strike="noStrike">
              <a:solidFill>
                <a:srgbClr val="000000"/>
              </a:solidFill>
              <a:latin typeface="Arial"/>
              <a:ea typeface="Arial"/>
              <a:cs typeface="Arial"/>
              <a:sym typeface="Arial"/>
            </a:endParaRPr>
          </a:p>
        </p:txBody>
      </p:sp>
      <p:sp>
        <p:nvSpPr>
          <p:cNvPr id="442" name="Google Shape;442;p14"/>
          <p:cNvSpPr txBox="1"/>
          <p:nvPr/>
        </p:nvSpPr>
        <p:spPr>
          <a:xfrm>
            <a:off x="0" y="-24"/>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UNIDAD 11: Extinción del contrato de trabajo</a:t>
            </a:r>
            <a:endParaRPr/>
          </a:p>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 </a:t>
            </a:r>
            <a:r>
              <a:rPr b="0" i="0" lang="en-US" sz="2400" u="none" cap="none" strike="noStrike">
                <a:solidFill>
                  <a:srgbClr val="002060"/>
                </a:solidFill>
                <a:latin typeface="Calibri"/>
                <a:ea typeface="Calibri"/>
                <a:cs typeface="Calibri"/>
                <a:sym typeface="Calibri"/>
              </a:rPr>
              <a:t>Ejercicio</a:t>
            </a:r>
            <a:r>
              <a:rPr b="1" i="0" lang="en-US" sz="2400" u="none" cap="none" strike="noStrike">
                <a:solidFill>
                  <a:srgbClr val="002060"/>
                </a:solidFill>
                <a:latin typeface="Calibri"/>
                <a:ea typeface="Calibri"/>
                <a:cs typeface="Calibri"/>
                <a:sym typeface="Calibri"/>
              </a:rPr>
              <a:t>: </a:t>
            </a:r>
            <a:r>
              <a:rPr b="1" i="0" lang="en-US" sz="2000" u="none" cap="none" strike="noStrike">
                <a:solidFill>
                  <a:srgbClr val="002060"/>
                </a:solidFill>
                <a:latin typeface="Calibri"/>
                <a:ea typeface="Calibri"/>
                <a:cs typeface="Calibri"/>
                <a:sym typeface="Calibri"/>
              </a:rPr>
              <a:t>Liquidación de SAC proporcional</a:t>
            </a:r>
            <a:endParaRPr b="0" i="0" sz="2000" u="none" cap="none" strike="noStrike">
              <a:solidFill>
                <a:srgbClr val="000000"/>
              </a:solidFill>
              <a:latin typeface="Arial"/>
              <a:ea typeface="Arial"/>
              <a:cs typeface="Arial"/>
              <a:sym typeface="Arial"/>
            </a:endParaRPr>
          </a:p>
        </p:txBody>
      </p:sp>
      <p:sp>
        <p:nvSpPr>
          <p:cNvPr id="443" name="Google Shape;443;p14"/>
          <p:cNvSpPr txBox="1"/>
          <p:nvPr/>
        </p:nvSpPr>
        <p:spPr>
          <a:xfrm>
            <a:off x="288475" y="2480600"/>
            <a:ext cx="9254100" cy="1477500"/>
          </a:xfrm>
          <a:prstGeom prst="rect">
            <a:avLst/>
          </a:prstGeom>
          <a:solidFill>
            <a:schemeClr val="lt1"/>
          </a:solidFill>
          <a:ln cap="flat" cmpd="sng" w="1587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wentieth Century"/>
                <a:ea typeface="Twentieth Century"/>
                <a:cs typeface="Twentieth Century"/>
                <a:sym typeface="Twentieth Century"/>
              </a:rPr>
              <a:t>   MEJOR SUELDO / 2         *     CANTIDAD DE </a:t>
            </a:r>
            <a:r>
              <a:rPr lang="en-US" sz="1800">
                <a:solidFill>
                  <a:schemeClr val="dk1"/>
                </a:solidFill>
                <a:latin typeface="Twentieth Century"/>
                <a:ea typeface="Twentieth Century"/>
                <a:cs typeface="Twentieth Century"/>
                <a:sym typeface="Twentieth Century"/>
              </a:rPr>
              <a:t>DÍAS</a:t>
            </a:r>
            <a:r>
              <a:rPr b="0" i="0" lang="en-US" sz="1800" u="none" cap="none" strike="noStrike">
                <a:solidFill>
                  <a:schemeClr val="dk1"/>
                </a:solidFill>
                <a:latin typeface="Twentieth Century"/>
                <a:ea typeface="Twentieth Century"/>
                <a:cs typeface="Twentieth Century"/>
                <a:sym typeface="Twentieth Century"/>
              </a:rPr>
              <a:t> TRABAJADOS = </a:t>
            </a:r>
            <a:r>
              <a:rPr b="1" i="0" lang="en-US" sz="1800" u="none" cap="none" strike="noStrike">
                <a:solidFill>
                  <a:schemeClr val="dk1"/>
                </a:solidFill>
                <a:latin typeface="Twentieth Century"/>
                <a:ea typeface="Twentieth Century"/>
                <a:cs typeface="Twentieth Century"/>
                <a:sym typeface="Twentieth Century"/>
              </a:rPr>
              <a:t>SAC PROPORCIONAL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wentieth Century"/>
                <a:ea typeface="Twentieth Century"/>
                <a:cs typeface="Twentieth Century"/>
                <a:sym typeface="Twentieth Century"/>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wentieth Century"/>
                <a:ea typeface="Twentieth Century"/>
                <a:cs typeface="Twentieth Century"/>
                <a:sym typeface="Twentieth Century"/>
              </a:rPr>
              <a:t>   180  </a:t>
            </a:r>
            <a:r>
              <a:rPr b="0" i="0" lang="en-US" sz="1400" u="none" cap="none" strike="noStrike">
                <a:solidFill>
                  <a:schemeClr val="dk1"/>
                </a:solidFill>
                <a:latin typeface="Twentieth Century"/>
                <a:ea typeface="Twentieth Century"/>
                <a:cs typeface="Twentieth Century"/>
                <a:sym typeface="Twentieth Century"/>
              </a:rPr>
              <a:t>(SEMESTRE COMPLETO)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wentieth Century"/>
              <a:ea typeface="Twentieth Century"/>
              <a:cs typeface="Twentieth Century"/>
              <a:sym typeface="Twentieth Century"/>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444" name="Google Shape;444;p14"/>
          <p:cNvSpPr txBox="1"/>
          <p:nvPr/>
        </p:nvSpPr>
        <p:spPr>
          <a:xfrm>
            <a:off x="523279" y="4161134"/>
            <a:ext cx="7092386" cy="2102395"/>
          </a:xfrm>
          <a:prstGeom prst="rect">
            <a:avLst/>
          </a:prstGeom>
          <a:solidFill>
            <a:schemeClr val="lt1"/>
          </a:solidFill>
          <a:ln cap="flat" cmpd="sng" w="15875">
            <a:solidFill>
              <a:srgbClr val="00206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wentieth Century"/>
              <a:ea typeface="Twentieth Century"/>
              <a:cs typeface="Twentieth Century"/>
              <a:sym typeface="Twentieth Century"/>
            </a:endParaRPr>
          </a:p>
        </p:txBody>
      </p:sp>
      <p:sp>
        <p:nvSpPr>
          <p:cNvPr id="445" name="Google Shape;445;p14"/>
          <p:cNvSpPr txBox="1"/>
          <p:nvPr/>
        </p:nvSpPr>
        <p:spPr>
          <a:xfrm>
            <a:off x="579550" y="4455801"/>
            <a:ext cx="7082972" cy="14157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wentieth Century"/>
                <a:ea typeface="Twentieth Century"/>
                <a:cs typeface="Twentieth Century"/>
                <a:sym typeface="Twentieth Century"/>
              </a:rPr>
              <a:t>       (41500/2)           = $115,27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wentieth Century"/>
              <a:ea typeface="Twentieth Century"/>
              <a:cs typeface="Twentieth Century"/>
              <a:sym typeface="Twentieth Century"/>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wentieth Century"/>
                <a:ea typeface="Twentieth Century"/>
                <a:cs typeface="Twentieth Century"/>
                <a:sym typeface="Twentieth Century"/>
              </a:rPr>
              <a:t>             180</a:t>
            </a:r>
            <a:endParaRPr b="0" i="0" sz="1400" u="none" cap="none" strike="noStrike">
              <a:solidFill>
                <a:schemeClr val="dk1"/>
              </a:solidFill>
              <a:latin typeface="Twentieth Century"/>
              <a:ea typeface="Twentieth Century"/>
              <a:cs typeface="Twentieth Century"/>
              <a:sym typeface="Twentieth Century"/>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Twentieth Century"/>
              <a:ea typeface="Twentieth Century"/>
              <a:cs typeface="Twentieth Century"/>
              <a:sym typeface="Twentieth Century"/>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Twentieth Century"/>
                <a:ea typeface="Twentieth Century"/>
                <a:cs typeface="Twentieth Century"/>
                <a:sym typeface="Twentieth Century"/>
              </a:rPr>
              <a:t>SAC PROPORCIONAL </a:t>
            </a:r>
            <a:r>
              <a:rPr b="0" i="0" lang="en-US" sz="1800" u="none" cap="none" strike="noStrike">
                <a:solidFill>
                  <a:schemeClr val="dk1"/>
                </a:solidFill>
                <a:latin typeface="Twentieth Century"/>
                <a:ea typeface="Twentieth Century"/>
                <a:cs typeface="Twentieth Century"/>
                <a:sym typeface="Twentieth Century"/>
              </a:rPr>
              <a:t>= $115.27 * 120 DÍAS TRABAJADOS = </a:t>
            </a:r>
            <a:r>
              <a:rPr b="1" i="0" lang="en-US" sz="1800" u="none" cap="none" strike="noStrike">
                <a:solidFill>
                  <a:schemeClr val="dk1"/>
                </a:solidFill>
                <a:latin typeface="Twentieth Century"/>
                <a:ea typeface="Twentieth Century"/>
                <a:cs typeface="Twentieth Century"/>
                <a:sym typeface="Twentieth Century"/>
              </a:rPr>
              <a:t>$13.832</a:t>
            </a:r>
            <a:endParaRPr b="0" i="0" sz="1400" u="none" cap="none" strike="noStrike">
              <a:solidFill>
                <a:srgbClr val="000000"/>
              </a:solidFill>
              <a:latin typeface="Arial"/>
              <a:ea typeface="Arial"/>
              <a:cs typeface="Arial"/>
              <a:sym typeface="Arial"/>
            </a:endParaRPr>
          </a:p>
        </p:txBody>
      </p:sp>
      <p:cxnSp>
        <p:nvCxnSpPr>
          <p:cNvPr id="446" name="Google Shape;446;p14"/>
          <p:cNvCxnSpPr/>
          <p:nvPr/>
        </p:nvCxnSpPr>
        <p:spPr>
          <a:xfrm>
            <a:off x="472285" y="2913696"/>
            <a:ext cx="2565900" cy="0"/>
          </a:xfrm>
          <a:prstGeom prst="straightConnector1">
            <a:avLst/>
          </a:prstGeom>
          <a:noFill/>
          <a:ln cap="flat" cmpd="sng" w="9525">
            <a:solidFill>
              <a:srgbClr val="FF0000"/>
            </a:solidFill>
            <a:prstDash val="solid"/>
            <a:round/>
            <a:headEnd len="sm" w="sm" type="none"/>
            <a:tailEnd len="sm" w="sm" type="none"/>
          </a:ln>
        </p:spPr>
      </p:cxnSp>
      <p:cxnSp>
        <p:nvCxnSpPr>
          <p:cNvPr id="447" name="Google Shape;447;p14"/>
          <p:cNvCxnSpPr/>
          <p:nvPr/>
        </p:nvCxnSpPr>
        <p:spPr>
          <a:xfrm>
            <a:off x="598659" y="4891983"/>
            <a:ext cx="1864623" cy="0"/>
          </a:xfrm>
          <a:prstGeom prst="straightConnector1">
            <a:avLst/>
          </a:prstGeom>
          <a:noFill/>
          <a:ln cap="flat" cmpd="sng" w="9525">
            <a:solidFill>
              <a:srgbClr val="002060"/>
            </a:solidFill>
            <a:prstDash val="solid"/>
            <a:round/>
            <a:headEnd len="sm" w="sm" type="none"/>
            <a:tailEnd len="sm" w="sm" type="none"/>
          </a:ln>
        </p:spPr>
      </p:cxn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17"/>
          <p:cNvSpPr txBox="1"/>
          <p:nvPr/>
        </p:nvSpPr>
        <p:spPr>
          <a:xfrm>
            <a:off x="238091" y="1747022"/>
            <a:ext cx="9667908" cy="30777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US" sz="2000" u="sng">
                <a:solidFill>
                  <a:srgbClr val="002060"/>
                </a:solidFill>
                <a:latin typeface="Calibri"/>
                <a:ea typeface="Calibri"/>
                <a:cs typeface="Calibri"/>
                <a:sym typeface="Calibri"/>
              </a:rPr>
              <a:t>CÁLCULO</a:t>
            </a:r>
            <a:r>
              <a:rPr b="1" i="0" lang="en-US" sz="2000" u="sng" cap="none" strike="noStrike">
                <a:solidFill>
                  <a:srgbClr val="002060"/>
                </a:solidFill>
                <a:latin typeface="Calibri"/>
                <a:ea typeface="Calibri"/>
                <a:cs typeface="Calibri"/>
                <a:sym typeface="Calibri"/>
              </a:rPr>
              <a:t> DEL COSTO DE </a:t>
            </a:r>
            <a:r>
              <a:rPr b="1" lang="en-US" sz="2000" u="sng">
                <a:solidFill>
                  <a:srgbClr val="002060"/>
                </a:solidFill>
                <a:latin typeface="Calibri"/>
                <a:ea typeface="Calibri"/>
                <a:cs typeface="Calibri"/>
                <a:sym typeface="Calibri"/>
              </a:rPr>
              <a:t>INDEMNIZACIÓN</a:t>
            </a:r>
            <a:r>
              <a:rPr b="1" i="0" lang="en-US" sz="2000" u="sng" cap="none" strike="noStrike">
                <a:solidFill>
                  <a:srgbClr val="002060"/>
                </a:solidFill>
                <a:latin typeface="Calibri"/>
                <a:ea typeface="Calibri"/>
                <a:cs typeface="Calibri"/>
                <a:sym typeface="Calibri"/>
              </a:rPr>
              <a:t> POR DESPIDO</a:t>
            </a:r>
            <a:endParaRPr b="1" i="0" sz="2000" u="sng" cap="none" strike="noStrike">
              <a:solidFill>
                <a:srgbClr val="002060"/>
              </a:solidFill>
              <a:latin typeface="Calibri"/>
              <a:ea typeface="Calibri"/>
              <a:cs typeface="Calibri"/>
              <a:sym typeface="Calibri"/>
            </a:endParaRPr>
          </a:p>
        </p:txBody>
      </p:sp>
      <p:sp>
        <p:nvSpPr>
          <p:cNvPr id="453" name="Google Shape;453;p17"/>
          <p:cNvSpPr txBox="1"/>
          <p:nvPr/>
        </p:nvSpPr>
        <p:spPr>
          <a:xfrm>
            <a:off x="238091" y="2254647"/>
            <a:ext cx="9215502" cy="30469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400"/>
              <a:buFont typeface="Arial"/>
              <a:buNone/>
            </a:pPr>
            <a:r>
              <a:rPr b="0" i="0" lang="en-US" sz="1800" u="none" cap="none" strike="noStrike">
                <a:solidFill>
                  <a:schemeClr val="dk1"/>
                </a:solidFill>
                <a:latin typeface="Calibri"/>
                <a:ea typeface="Calibri"/>
                <a:cs typeface="Calibri"/>
                <a:sym typeface="Calibri"/>
              </a:rPr>
              <a:t>Contexto:</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400"/>
              <a:buFont typeface="Arial"/>
              <a:buNone/>
            </a:pPr>
            <a:r>
              <a:rPr b="0" i="0" lang="en-US" sz="1800" u="none" cap="none" strike="noStrike">
                <a:solidFill>
                  <a:schemeClr val="dk1"/>
                </a:solidFill>
                <a:latin typeface="Calibri"/>
                <a:ea typeface="Calibri"/>
                <a:cs typeface="Calibri"/>
                <a:sym typeface="Calibri"/>
              </a:rPr>
              <a:t>Usted tiene un empleado que </a:t>
            </a:r>
            <a:r>
              <a:rPr lang="en-US" sz="1800">
                <a:solidFill>
                  <a:schemeClr val="dk1"/>
                </a:solidFill>
                <a:latin typeface="Calibri"/>
                <a:ea typeface="Calibri"/>
                <a:cs typeface="Calibri"/>
                <a:sym typeface="Calibri"/>
              </a:rPr>
              <a:t>ingresó</a:t>
            </a:r>
            <a:r>
              <a:rPr b="0" i="0" lang="en-US" sz="1800" u="none" cap="none" strike="noStrike">
                <a:solidFill>
                  <a:schemeClr val="dk1"/>
                </a:solidFill>
                <a:latin typeface="Calibri"/>
                <a:ea typeface="Calibri"/>
                <a:cs typeface="Calibri"/>
                <a:sym typeface="Calibri"/>
              </a:rPr>
              <a:t> a su empresa el 01/06/201</a:t>
            </a:r>
            <a:r>
              <a:rPr lang="en-US" sz="1800">
                <a:solidFill>
                  <a:schemeClr val="dk1"/>
                </a:solidFill>
                <a:latin typeface="Calibri"/>
                <a:ea typeface="Calibri"/>
                <a:cs typeface="Calibri"/>
                <a:sym typeface="Calibri"/>
              </a:rPr>
              <a:t>0</a:t>
            </a:r>
            <a:r>
              <a:rPr b="0" i="0" lang="en-US" sz="1800" u="none" cap="none" strike="noStrike">
                <a:solidFill>
                  <a:schemeClr val="dk1"/>
                </a:solidFill>
                <a:latin typeface="Calibri"/>
                <a:ea typeface="Calibri"/>
                <a:cs typeface="Calibri"/>
                <a:sym typeface="Calibri"/>
              </a:rPr>
              <a:t> </a:t>
            </a:r>
            <a:r>
              <a:rPr lang="en-US" sz="1800">
                <a:solidFill>
                  <a:schemeClr val="dk1"/>
                </a:solidFill>
                <a:latin typeface="Calibri"/>
                <a:ea typeface="Calibri"/>
                <a:cs typeface="Calibri"/>
                <a:sym typeface="Calibri"/>
              </a:rPr>
              <a:t>que</a:t>
            </a:r>
            <a:r>
              <a:rPr b="0" i="0" lang="en-US" sz="1800" u="none" cap="none" strike="noStrike">
                <a:solidFill>
                  <a:schemeClr val="dk1"/>
                </a:solidFill>
                <a:latin typeface="Calibri"/>
                <a:ea typeface="Calibri"/>
                <a:cs typeface="Calibri"/>
                <a:sym typeface="Calibri"/>
              </a:rPr>
              <a:t> cobra </a:t>
            </a:r>
            <a:r>
              <a:rPr lang="en-US" sz="1800">
                <a:solidFill>
                  <a:schemeClr val="dk1"/>
                </a:solidFill>
                <a:latin typeface="Calibri"/>
                <a:ea typeface="Calibri"/>
                <a:cs typeface="Calibri"/>
                <a:sym typeface="Calibri"/>
              </a:rPr>
              <a:t>un</a:t>
            </a:r>
            <a:r>
              <a:rPr b="0" i="0" lang="en-US" sz="1800" u="none" cap="none" strike="noStrike">
                <a:solidFill>
                  <a:schemeClr val="dk1"/>
                </a:solidFill>
                <a:latin typeface="Calibri"/>
                <a:ea typeface="Calibri"/>
                <a:cs typeface="Calibri"/>
                <a:sym typeface="Calibri"/>
              </a:rPr>
              <a:t> salario bruto total de AR$ 40.000 y deja de venir a la empresa por una semana. </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400"/>
              <a:buFont typeface="Arial"/>
              <a:buNone/>
            </a:pPr>
            <a:r>
              <a:rPr b="0" i="0" lang="en-US" sz="1800" u="none" cap="none" strike="noStrike">
                <a:solidFill>
                  <a:schemeClr val="dk1"/>
                </a:solidFill>
                <a:latin typeface="Calibri"/>
                <a:ea typeface="Calibri"/>
                <a:cs typeface="Calibri"/>
                <a:sym typeface="Calibri"/>
              </a:rPr>
              <a:t>Usted lo intima a retornar, pero no recibe respuesta. El 16/06/2012 usted </a:t>
            </a:r>
            <a:r>
              <a:rPr lang="en-US" sz="1800">
                <a:solidFill>
                  <a:schemeClr val="dk1"/>
                </a:solidFill>
                <a:latin typeface="Calibri"/>
                <a:ea typeface="Calibri"/>
                <a:cs typeface="Calibri"/>
                <a:sym typeface="Calibri"/>
              </a:rPr>
              <a:t>envía</a:t>
            </a:r>
            <a:r>
              <a:rPr b="0" i="0" lang="en-US" sz="1800" u="none" cap="none" strike="noStrike">
                <a:solidFill>
                  <a:schemeClr val="dk1"/>
                </a:solidFill>
                <a:latin typeface="Calibri"/>
                <a:ea typeface="Calibri"/>
                <a:cs typeface="Calibri"/>
                <a:sym typeface="Calibri"/>
              </a:rPr>
              <a:t> la 2º carta documento notificando extinción de contrato.</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400"/>
              <a:buFont typeface="Arial"/>
              <a:buNone/>
            </a:pPr>
            <a:r>
              <a:rPr b="0" i="0" lang="en-US" sz="1800" u="none" cap="none" strike="noStrike">
                <a:solidFill>
                  <a:schemeClr val="dk1"/>
                </a:solidFill>
                <a:latin typeface="Calibri"/>
                <a:ea typeface="Calibri"/>
                <a:cs typeface="Calibri"/>
                <a:sym typeface="Calibri"/>
              </a:rPr>
              <a:t>Consigna.</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400"/>
              <a:buFont typeface="Arial"/>
              <a:buNone/>
            </a:pPr>
            <a:r>
              <a:rPr b="0" i="0" lang="en-US" sz="1800" u="none" cap="none" strike="noStrike">
                <a:solidFill>
                  <a:schemeClr val="dk1"/>
                </a:solidFill>
                <a:latin typeface="Calibri"/>
                <a:ea typeface="Calibri"/>
                <a:cs typeface="Calibri"/>
                <a:sym typeface="Calibri"/>
              </a:rPr>
              <a:t>Determine cuál es la forma de extinción del contrato y calcule el costo del cierre de la relación laboral, teniendo este trabajador 2 años de antigüedad.</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454" name="Google Shape;454;p17"/>
          <p:cNvSpPr txBox="1"/>
          <p:nvPr/>
        </p:nvSpPr>
        <p:spPr>
          <a:xfrm>
            <a:off x="0" y="-24"/>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UNIDAD 11: Extinción del contrato de trabajo</a:t>
            </a:r>
            <a:endParaRPr/>
          </a:p>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 </a:t>
            </a:r>
            <a:r>
              <a:rPr b="1" i="0" lang="en-US" sz="2000" u="none" cap="none" strike="noStrike">
                <a:solidFill>
                  <a:srgbClr val="002060"/>
                </a:solidFill>
                <a:latin typeface="Calibri"/>
                <a:ea typeface="Calibri"/>
                <a:cs typeface="Calibri"/>
                <a:sym typeface="Calibri"/>
              </a:rPr>
              <a:t>Caso práctico Nº1</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19"/>
          <p:cNvSpPr txBox="1"/>
          <p:nvPr/>
        </p:nvSpPr>
        <p:spPr>
          <a:xfrm>
            <a:off x="238091" y="1704818"/>
            <a:ext cx="9667908" cy="30777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2000" u="sng" cap="none" strike="noStrike">
                <a:solidFill>
                  <a:srgbClr val="002060"/>
                </a:solidFill>
                <a:latin typeface="Calibri"/>
                <a:ea typeface="Calibri"/>
                <a:cs typeface="Calibri"/>
                <a:sym typeface="Calibri"/>
              </a:rPr>
              <a:t>CALCULO DEL COSTO DE LIQUIDACIÓN FINAL</a:t>
            </a:r>
            <a:endParaRPr b="1" i="0" sz="2000" u="sng" cap="none" strike="noStrike">
              <a:solidFill>
                <a:srgbClr val="002060"/>
              </a:solidFill>
              <a:latin typeface="Calibri"/>
              <a:ea typeface="Calibri"/>
              <a:cs typeface="Calibri"/>
              <a:sym typeface="Calibri"/>
            </a:endParaRPr>
          </a:p>
        </p:txBody>
      </p:sp>
      <p:sp>
        <p:nvSpPr>
          <p:cNvPr id="460" name="Google Shape;460;p19"/>
          <p:cNvSpPr txBox="1"/>
          <p:nvPr/>
        </p:nvSpPr>
        <p:spPr>
          <a:xfrm>
            <a:off x="0" y="-24"/>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UNIDAD 11: Extinción del contrato de trabajo</a:t>
            </a:r>
            <a:endParaRPr/>
          </a:p>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 </a:t>
            </a:r>
            <a:r>
              <a:rPr b="1" i="0" lang="en-US" sz="2000" u="none" cap="none" strike="noStrike">
                <a:solidFill>
                  <a:srgbClr val="002060"/>
                </a:solidFill>
                <a:latin typeface="Calibri"/>
                <a:ea typeface="Calibri"/>
                <a:cs typeface="Calibri"/>
                <a:sym typeface="Calibri"/>
              </a:rPr>
              <a:t>Caso práctico Nº2</a:t>
            </a:r>
            <a:endParaRPr b="0" i="0" sz="2000" u="none" cap="none" strike="noStrike">
              <a:solidFill>
                <a:srgbClr val="000000"/>
              </a:solidFill>
              <a:latin typeface="Arial"/>
              <a:ea typeface="Arial"/>
              <a:cs typeface="Arial"/>
              <a:sym typeface="Arial"/>
            </a:endParaRPr>
          </a:p>
        </p:txBody>
      </p:sp>
      <p:sp>
        <p:nvSpPr>
          <p:cNvPr id="461" name="Google Shape;461;p19"/>
          <p:cNvSpPr txBox="1"/>
          <p:nvPr/>
        </p:nvSpPr>
        <p:spPr>
          <a:xfrm>
            <a:off x="345249" y="2529437"/>
            <a:ext cx="9215502" cy="329320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400"/>
              <a:buFont typeface="Arial"/>
              <a:buNone/>
            </a:pPr>
            <a:r>
              <a:rPr b="0" i="0" lang="en-US" sz="1800" u="none" cap="none" strike="noStrike">
                <a:solidFill>
                  <a:schemeClr val="dk1"/>
                </a:solidFill>
                <a:latin typeface="Calibri"/>
                <a:ea typeface="Calibri"/>
                <a:cs typeface="Calibri"/>
                <a:sym typeface="Calibri"/>
              </a:rPr>
              <a:t>Contexto:</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400"/>
              <a:buFont typeface="Arial"/>
              <a:buNone/>
            </a:pPr>
            <a:r>
              <a:rPr b="0" i="0" lang="en-US" sz="1800" u="none" cap="none" strike="noStrike">
                <a:solidFill>
                  <a:srgbClr val="000000"/>
                </a:solidFill>
                <a:latin typeface="Calibri"/>
                <a:ea typeface="Calibri"/>
                <a:cs typeface="Calibri"/>
                <a:sym typeface="Calibri"/>
              </a:rPr>
              <a:t>Usted decide renunciar el 30/09/2021 a la empresa en la cual trabaja hace 7 años, debido a que recibió una propuesta superadora de otra empresa. Pero antes de finalizar su relación laboral con su actual empleador, negocia una gratificación extraordinaria por el 20% de su sueldo.</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400"/>
              <a:buFont typeface="Arial"/>
              <a:buNone/>
            </a:pPr>
            <a:r>
              <a:rPr b="0" i="0" lang="en-US" sz="1800" u="none" cap="none" strike="noStrike">
                <a:solidFill>
                  <a:schemeClr val="dk1"/>
                </a:solidFill>
                <a:latin typeface="Calibri"/>
                <a:ea typeface="Calibri"/>
                <a:cs typeface="Calibri"/>
                <a:sym typeface="Calibri"/>
              </a:rPr>
              <a:t>Consigna:</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400"/>
              <a:buFont typeface="Arial"/>
              <a:buNone/>
            </a:pPr>
            <a:r>
              <a:rPr b="0" i="0" lang="en-US" sz="1800" u="none" cap="none" strike="noStrike">
                <a:solidFill>
                  <a:schemeClr val="dk1"/>
                </a:solidFill>
                <a:latin typeface="Calibri"/>
                <a:ea typeface="Calibri"/>
                <a:cs typeface="Calibri"/>
                <a:sym typeface="Calibri"/>
              </a:rPr>
              <a:t>Calcule liquidación final correspondiente considerando estos datos: </a:t>
            </a:r>
            <a:endParaRPr/>
          </a:p>
          <a:p>
            <a:pPr indent="0" lvl="0" marL="0" marR="0" rtl="0" algn="l">
              <a:lnSpc>
                <a:spcPct val="100000"/>
              </a:lnSpc>
              <a:spcBef>
                <a:spcPts val="0"/>
              </a:spcBef>
              <a:spcAft>
                <a:spcPts val="0"/>
              </a:spcAft>
              <a:buClr>
                <a:schemeClr val="dk1"/>
              </a:buClr>
              <a:buSzPts val="400"/>
              <a:buFont typeface="Arial"/>
              <a:buNone/>
            </a:pPr>
            <a:r>
              <a:rPr b="0" i="0" lang="en-US" sz="1800" u="none" cap="none" strike="noStrike">
                <a:solidFill>
                  <a:schemeClr val="dk1"/>
                </a:solidFill>
                <a:latin typeface="Calibri"/>
                <a:ea typeface="Calibri"/>
                <a:cs typeface="Calibri"/>
                <a:sym typeface="Calibri"/>
              </a:rPr>
              <a:t>Fecha de ingreso: 01/07/2014, Sueldo Bruto: $120.000</a:t>
            </a:r>
            <a:endParaRPr/>
          </a:p>
          <a:p>
            <a:pPr indent="0" lvl="0" marL="0" marR="0" rtl="0" algn="l">
              <a:lnSpc>
                <a:spcPct val="100000"/>
              </a:lnSpc>
              <a:spcBef>
                <a:spcPts val="0"/>
              </a:spcBef>
              <a:spcAft>
                <a:spcPts val="0"/>
              </a:spcAft>
              <a:buClr>
                <a:schemeClr val="dk1"/>
              </a:buClr>
              <a:buSzPts val="4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20"/>
          <p:cNvSpPr txBox="1"/>
          <p:nvPr/>
        </p:nvSpPr>
        <p:spPr>
          <a:xfrm>
            <a:off x="238091" y="2000240"/>
            <a:ext cx="9667908" cy="30777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50"/>
              <a:buFont typeface="Arial"/>
              <a:buNone/>
            </a:pPr>
            <a:r>
              <a:rPr b="1" lang="en-US" sz="2000" u="sng">
                <a:solidFill>
                  <a:srgbClr val="002060"/>
                </a:solidFill>
                <a:latin typeface="Calibri"/>
                <a:ea typeface="Calibri"/>
                <a:cs typeface="Calibri"/>
                <a:sym typeface="Calibri"/>
              </a:rPr>
              <a:t>CÁLCULO</a:t>
            </a:r>
            <a:r>
              <a:rPr b="1" i="0" lang="en-US" sz="2000" u="sng" cap="none" strike="noStrike">
                <a:solidFill>
                  <a:srgbClr val="002060"/>
                </a:solidFill>
                <a:latin typeface="Calibri"/>
                <a:ea typeface="Calibri"/>
                <a:cs typeface="Calibri"/>
                <a:sym typeface="Calibri"/>
              </a:rPr>
              <a:t> DEL COSTO DE </a:t>
            </a:r>
            <a:r>
              <a:rPr b="1" lang="en-US" sz="2000" u="sng">
                <a:solidFill>
                  <a:srgbClr val="002060"/>
                </a:solidFill>
                <a:latin typeface="Calibri"/>
                <a:ea typeface="Calibri"/>
                <a:cs typeface="Calibri"/>
                <a:sym typeface="Calibri"/>
              </a:rPr>
              <a:t>INDEMNIZACIÓN</a:t>
            </a:r>
            <a:r>
              <a:rPr b="1" i="0" lang="en-US" sz="2000" u="sng" cap="none" strike="noStrike">
                <a:solidFill>
                  <a:srgbClr val="002060"/>
                </a:solidFill>
                <a:latin typeface="Calibri"/>
                <a:ea typeface="Calibri"/>
                <a:cs typeface="Calibri"/>
                <a:sym typeface="Calibri"/>
              </a:rPr>
              <a:t> POR DESPIDO</a:t>
            </a:r>
            <a:endParaRPr b="1" i="0" sz="2000" u="sng" cap="none" strike="noStrike">
              <a:solidFill>
                <a:srgbClr val="002060"/>
              </a:solidFill>
              <a:latin typeface="Calibri"/>
              <a:ea typeface="Calibri"/>
              <a:cs typeface="Calibri"/>
              <a:sym typeface="Calibri"/>
            </a:endParaRPr>
          </a:p>
        </p:txBody>
      </p:sp>
      <p:sp>
        <p:nvSpPr>
          <p:cNvPr id="467" name="Google Shape;467;p20"/>
          <p:cNvSpPr txBox="1"/>
          <p:nvPr/>
        </p:nvSpPr>
        <p:spPr>
          <a:xfrm>
            <a:off x="238091" y="2544500"/>
            <a:ext cx="9215502" cy="329320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400"/>
              <a:buFont typeface="Arial"/>
              <a:buNone/>
            </a:pPr>
            <a:r>
              <a:rPr b="0" i="0" lang="en-US" sz="1800" u="none" cap="none" strike="noStrike">
                <a:solidFill>
                  <a:schemeClr val="dk1"/>
                </a:solidFill>
                <a:latin typeface="Calibri"/>
                <a:ea typeface="Calibri"/>
                <a:cs typeface="Calibri"/>
                <a:sym typeface="Calibri"/>
              </a:rPr>
              <a:t>Contexto:</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400"/>
              <a:buFont typeface="Arial"/>
              <a:buNone/>
            </a:pPr>
            <a:r>
              <a:rPr b="0" i="0" lang="en-US" sz="1800" u="none" cap="none" strike="noStrike">
                <a:solidFill>
                  <a:schemeClr val="dk1"/>
                </a:solidFill>
                <a:latin typeface="Calibri"/>
                <a:ea typeface="Calibri"/>
                <a:cs typeface="Calibri"/>
                <a:sym typeface="Calibri"/>
              </a:rPr>
              <a:t>Usted tiene un empleado que en enero 2017 cobraba de salario AR$50.000, en marzo de ese año </a:t>
            </a:r>
            <a:r>
              <a:rPr lang="en-US" sz="1800">
                <a:solidFill>
                  <a:schemeClr val="dk1"/>
                </a:solidFill>
                <a:latin typeface="Calibri"/>
                <a:ea typeface="Calibri"/>
                <a:cs typeface="Calibri"/>
                <a:sym typeface="Calibri"/>
              </a:rPr>
              <a:t>le correspondió cobrar un </a:t>
            </a:r>
            <a:r>
              <a:rPr b="0" i="0" lang="en-US" sz="1800" u="none" cap="none" strike="noStrike">
                <a:solidFill>
                  <a:schemeClr val="dk1"/>
                </a:solidFill>
                <a:latin typeface="Calibri"/>
                <a:ea typeface="Calibri"/>
                <a:cs typeface="Calibri"/>
                <a:sym typeface="Calibri"/>
              </a:rPr>
              <a:t>bono anual equivalente a AR$100.000 y en abril recib</a:t>
            </a:r>
            <a:r>
              <a:rPr lang="en-US" sz="1800">
                <a:solidFill>
                  <a:schemeClr val="dk1"/>
                </a:solidFill>
                <a:latin typeface="Calibri"/>
                <a:ea typeface="Calibri"/>
                <a:cs typeface="Calibri"/>
                <a:sym typeface="Calibri"/>
              </a:rPr>
              <a:t>ió</a:t>
            </a:r>
            <a:r>
              <a:rPr b="0" i="0" lang="en-US" sz="1800" u="none" cap="none" strike="noStrike">
                <a:solidFill>
                  <a:schemeClr val="dk1"/>
                </a:solidFill>
                <a:latin typeface="Calibri"/>
                <a:ea typeface="Calibri"/>
                <a:cs typeface="Calibri"/>
                <a:sym typeface="Calibri"/>
              </a:rPr>
              <a:t> un incremento salarial del 10%. </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400"/>
              <a:buFont typeface="Arial"/>
              <a:buNone/>
            </a:pPr>
            <a:r>
              <a:rPr b="0" i="0" lang="en-US" sz="1800" u="none" cap="none" strike="noStrike">
                <a:solidFill>
                  <a:schemeClr val="dk1"/>
                </a:solidFill>
                <a:latin typeface="Calibri"/>
                <a:ea typeface="Calibri"/>
                <a:cs typeface="Calibri"/>
                <a:sym typeface="Calibri"/>
              </a:rPr>
              <a:t>Consigna:</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0" i="0" lang="en-US" sz="1800" u="none" cap="none" strike="noStrike">
                <a:solidFill>
                  <a:schemeClr val="dk1"/>
                </a:solidFill>
                <a:latin typeface="Calibri"/>
                <a:ea typeface="Calibri"/>
                <a:cs typeface="Calibri"/>
                <a:sym typeface="Calibri"/>
              </a:rPr>
              <a:t>Por un cierre de la unidad, el </a:t>
            </a:r>
            <a:r>
              <a:rPr lang="en-US" sz="1800">
                <a:solidFill>
                  <a:schemeClr val="dk1"/>
                </a:solidFill>
                <a:latin typeface="Calibri"/>
                <a:ea typeface="Calibri"/>
                <a:cs typeface="Calibri"/>
                <a:sym typeface="Calibri"/>
              </a:rPr>
              <a:t>último</a:t>
            </a:r>
            <a:r>
              <a:rPr b="0" i="0" lang="en-US" sz="1800" u="none" cap="none" strike="noStrike">
                <a:solidFill>
                  <a:schemeClr val="dk1"/>
                </a:solidFill>
                <a:latin typeface="Calibri"/>
                <a:ea typeface="Calibri"/>
                <a:cs typeface="Calibri"/>
                <a:sym typeface="Calibri"/>
              </a:rPr>
              <a:t> día de </a:t>
            </a:r>
            <a:r>
              <a:rPr lang="en-US" sz="1800">
                <a:solidFill>
                  <a:schemeClr val="dk1"/>
                </a:solidFill>
                <a:latin typeface="Calibri"/>
                <a:ea typeface="Calibri"/>
                <a:cs typeface="Calibri"/>
                <a:sym typeface="Calibri"/>
              </a:rPr>
              <a:t>j</a:t>
            </a:r>
            <a:r>
              <a:rPr b="0" i="0" lang="en-US" sz="1800" u="none" cap="none" strike="noStrike">
                <a:solidFill>
                  <a:schemeClr val="dk1"/>
                </a:solidFill>
                <a:latin typeface="Calibri"/>
                <a:ea typeface="Calibri"/>
                <a:cs typeface="Calibri"/>
                <a:sym typeface="Calibri"/>
              </a:rPr>
              <a:t>unio se decid</a:t>
            </a:r>
            <a:r>
              <a:rPr lang="en-US" sz="1800">
                <a:solidFill>
                  <a:schemeClr val="dk1"/>
                </a:solidFill>
                <a:latin typeface="Calibri"/>
                <a:ea typeface="Calibri"/>
                <a:cs typeface="Calibri"/>
                <a:sym typeface="Calibri"/>
              </a:rPr>
              <a:t>ió </a:t>
            </a:r>
            <a:r>
              <a:rPr b="0" i="0" lang="en-US" sz="1800" u="none" cap="none" strike="noStrike">
                <a:solidFill>
                  <a:schemeClr val="dk1"/>
                </a:solidFill>
                <a:latin typeface="Calibri"/>
                <a:ea typeface="Calibri"/>
                <a:cs typeface="Calibri"/>
                <a:sym typeface="Calibri"/>
              </a:rPr>
              <a:t>desvincular a la persona. Calcule su </a:t>
            </a:r>
            <a:r>
              <a:rPr lang="en-US" sz="1800">
                <a:solidFill>
                  <a:schemeClr val="dk1"/>
                </a:solidFill>
                <a:latin typeface="Calibri"/>
                <a:ea typeface="Calibri"/>
                <a:cs typeface="Calibri"/>
                <a:sym typeface="Calibri"/>
              </a:rPr>
              <a:t>indemnización t</a:t>
            </a:r>
            <a:r>
              <a:rPr b="0" i="0" lang="en-US" sz="1800" u="none" cap="none" strike="noStrike">
                <a:solidFill>
                  <a:schemeClr val="dk1"/>
                </a:solidFill>
                <a:latin typeface="Calibri"/>
                <a:ea typeface="Calibri"/>
                <a:cs typeface="Calibri"/>
                <a:sym typeface="Calibri"/>
              </a:rPr>
              <a:t>eniendo en cuenta que tiene 2 años de </a:t>
            </a:r>
            <a:r>
              <a:rPr lang="en-US" sz="1800">
                <a:solidFill>
                  <a:schemeClr val="dk1"/>
                </a:solidFill>
                <a:latin typeface="Calibri"/>
                <a:ea typeface="Calibri"/>
                <a:cs typeface="Calibri"/>
                <a:sym typeface="Calibri"/>
              </a:rPr>
              <a:t>antigüedad</a:t>
            </a:r>
            <a:r>
              <a:rPr b="0" i="0" lang="en-US" sz="1800" u="none" cap="none" strike="noStrike">
                <a:solidFill>
                  <a:schemeClr val="dk1"/>
                </a:solidFill>
                <a:latin typeface="Calibri"/>
                <a:ea typeface="Calibri"/>
                <a:cs typeface="Calibri"/>
                <a:sym typeface="Calibri"/>
              </a:rPr>
              <a:t>.</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468" name="Google Shape;468;p20"/>
          <p:cNvSpPr txBox="1"/>
          <p:nvPr/>
        </p:nvSpPr>
        <p:spPr>
          <a:xfrm>
            <a:off x="0" y="-24"/>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UNIDAD 11: Extinción del contrato de trabajo</a:t>
            </a:r>
            <a:endParaRPr/>
          </a:p>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 </a:t>
            </a:r>
            <a:r>
              <a:rPr b="1" i="0" lang="en-US" sz="2000" u="none" cap="none" strike="noStrike">
                <a:solidFill>
                  <a:srgbClr val="002060"/>
                </a:solidFill>
                <a:latin typeface="Calibri"/>
                <a:ea typeface="Calibri"/>
                <a:cs typeface="Calibri"/>
                <a:sym typeface="Calibri"/>
              </a:rPr>
              <a:t>Caso práctico Nº3</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22"/>
          <p:cNvSpPr txBox="1"/>
          <p:nvPr/>
        </p:nvSpPr>
        <p:spPr>
          <a:xfrm>
            <a:off x="0" y="-24"/>
            <a:ext cx="9906000" cy="1188000"/>
          </a:xfrm>
          <a:prstGeom prst="rect">
            <a:avLst/>
          </a:prstGeom>
          <a:noFill/>
          <a:ln>
            <a:noFill/>
          </a:ln>
        </p:spPr>
        <p:txBody>
          <a:bodyPr anchorCtr="0" anchor="ctr" bIns="36000" lIns="72000" spcFirstLastPara="1" rIns="72000" wrap="square" tIns="252000">
            <a:noAutofit/>
          </a:bodyPr>
          <a:lstStyle/>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UNIDAD 11: Extinción del contrato de trabajo</a:t>
            </a:r>
            <a:endParaRPr/>
          </a:p>
          <a:p>
            <a:pPr indent="-714375" lvl="0" marL="714375" marR="0" rtl="0" algn="l">
              <a:lnSpc>
                <a:spcPct val="90000"/>
              </a:lnSpc>
              <a:spcBef>
                <a:spcPts val="0"/>
              </a:spcBef>
              <a:spcAft>
                <a:spcPts val="0"/>
              </a:spcAft>
              <a:buClr>
                <a:srgbClr val="000000"/>
              </a:buClr>
              <a:buSzPts val="2400"/>
              <a:buFont typeface="Arial"/>
              <a:buNone/>
            </a:pPr>
            <a:r>
              <a:rPr b="1" i="0" lang="en-US" sz="2400" u="none" cap="none" strike="noStrike">
                <a:solidFill>
                  <a:srgbClr val="002060"/>
                </a:solidFill>
                <a:latin typeface="Calibri"/>
                <a:ea typeface="Calibri"/>
                <a:cs typeface="Calibri"/>
                <a:sym typeface="Calibri"/>
              </a:rPr>
              <a:t> </a:t>
            </a:r>
            <a:r>
              <a:rPr b="1" i="0" lang="en-US" sz="2000" u="none" cap="none" strike="noStrike">
                <a:solidFill>
                  <a:srgbClr val="002060"/>
                </a:solidFill>
                <a:latin typeface="Calibri"/>
                <a:ea typeface="Calibri"/>
                <a:cs typeface="Calibri"/>
                <a:sym typeface="Calibri"/>
              </a:rPr>
              <a:t>Caso práctico Nº4</a:t>
            </a:r>
            <a:endParaRPr b="0" i="0" sz="2000" u="none" cap="none" strike="noStrike">
              <a:solidFill>
                <a:srgbClr val="000000"/>
              </a:solidFill>
              <a:latin typeface="Arial"/>
              <a:ea typeface="Arial"/>
              <a:cs typeface="Arial"/>
              <a:sym typeface="Arial"/>
            </a:endParaRPr>
          </a:p>
        </p:txBody>
      </p:sp>
      <p:sp>
        <p:nvSpPr>
          <p:cNvPr id="474" name="Google Shape;474;p22"/>
          <p:cNvSpPr txBox="1"/>
          <p:nvPr/>
        </p:nvSpPr>
        <p:spPr>
          <a:xfrm>
            <a:off x="238091" y="1763990"/>
            <a:ext cx="9667908" cy="30777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50"/>
              <a:buFont typeface="Arial"/>
              <a:buNone/>
            </a:pPr>
            <a:r>
              <a:rPr b="1" lang="en-US" sz="2000" u="sng">
                <a:solidFill>
                  <a:srgbClr val="002060"/>
                </a:solidFill>
                <a:latin typeface="Calibri"/>
                <a:ea typeface="Calibri"/>
                <a:cs typeface="Calibri"/>
                <a:sym typeface="Calibri"/>
              </a:rPr>
              <a:t>CÁLCULO</a:t>
            </a:r>
            <a:r>
              <a:rPr b="1" i="0" lang="en-US" sz="2000" u="sng" cap="none" strike="noStrike">
                <a:solidFill>
                  <a:srgbClr val="002060"/>
                </a:solidFill>
                <a:latin typeface="Calibri"/>
                <a:ea typeface="Calibri"/>
                <a:cs typeface="Calibri"/>
                <a:sym typeface="Calibri"/>
              </a:rPr>
              <a:t> DEL COSTO DE </a:t>
            </a:r>
            <a:r>
              <a:rPr b="1" lang="en-US" sz="2000" u="sng">
                <a:solidFill>
                  <a:srgbClr val="002060"/>
                </a:solidFill>
                <a:latin typeface="Calibri"/>
                <a:ea typeface="Calibri"/>
                <a:cs typeface="Calibri"/>
                <a:sym typeface="Calibri"/>
              </a:rPr>
              <a:t>INDEMNIZACIÓN</a:t>
            </a:r>
            <a:r>
              <a:rPr b="1" i="0" lang="en-US" sz="2000" u="sng" cap="none" strike="noStrike">
                <a:solidFill>
                  <a:srgbClr val="002060"/>
                </a:solidFill>
                <a:latin typeface="Calibri"/>
                <a:ea typeface="Calibri"/>
                <a:cs typeface="Calibri"/>
                <a:sym typeface="Calibri"/>
              </a:rPr>
              <a:t> POR DESPIDO</a:t>
            </a:r>
            <a:endParaRPr b="1" i="0" sz="2000" u="sng" cap="none" strike="noStrike">
              <a:solidFill>
                <a:srgbClr val="002060"/>
              </a:solidFill>
              <a:latin typeface="Calibri"/>
              <a:ea typeface="Calibri"/>
              <a:cs typeface="Calibri"/>
              <a:sym typeface="Calibri"/>
            </a:endParaRPr>
          </a:p>
        </p:txBody>
      </p:sp>
      <p:sp>
        <p:nvSpPr>
          <p:cNvPr id="475" name="Google Shape;475;p22"/>
          <p:cNvSpPr txBox="1"/>
          <p:nvPr/>
        </p:nvSpPr>
        <p:spPr>
          <a:xfrm>
            <a:off x="238091" y="2254647"/>
            <a:ext cx="9429818" cy="378565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400"/>
              <a:buFont typeface="Arial"/>
              <a:buNone/>
            </a:pPr>
            <a:r>
              <a:rPr b="0" i="0" lang="en-US" sz="1800" u="none" cap="none" strike="noStrike">
                <a:solidFill>
                  <a:schemeClr val="dk1"/>
                </a:solidFill>
                <a:latin typeface="Calibri"/>
                <a:ea typeface="Calibri"/>
                <a:cs typeface="Calibri"/>
                <a:sym typeface="Calibri"/>
              </a:rPr>
              <a:t>Contexto:</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400"/>
              <a:buFont typeface="Arial"/>
              <a:buNone/>
            </a:pPr>
            <a:r>
              <a:rPr b="0" i="0" lang="en-US" sz="1800" u="none" cap="none" strike="noStrike">
                <a:solidFill>
                  <a:schemeClr val="dk1"/>
                </a:solidFill>
                <a:latin typeface="Calibri"/>
                <a:ea typeface="Calibri"/>
                <a:cs typeface="Calibri"/>
                <a:sym typeface="Calibri"/>
              </a:rPr>
              <a:t>Usted tiene un empleado que </a:t>
            </a:r>
            <a:r>
              <a:rPr lang="en-US" sz="1800">
                <a:solidFill>
                  <a:schemeClr val="dk1"/>
                </a:solidFill>
                <a:latin typeface="Calibri"/>
                <a:ea typeface="Calibri"/>
                <a:cs typeface="Calibri"/>
                <a:sym typeface="Calibri"/>
              </a:rPr>
              <a:t>ingresó</a:t>
            </a:r>
            <a:r>
              <a:rPr b="0" i="0" lang="en-US" sz="1800" u="none" cap="none" strike="noStrike">
                <a:solidFill>
                  <a:schemeClr val="dk1"/>
                </a:solidFill>
                <a:latin typeface="Calibri"/>
                <a:ea typeface="Calibri"/>
                <a:cs typeface="Calibri"/>
                <a:sym typeface="Calibri"/>
              </a:rPr>
              <a:t> a su empresa el 01/06/2018 y cobra como salario bruto total AR$ 50.000 y usted le asegur</a:t>
            </a:r>
            <a:r>
              <a:rPr lang="en-US" sz="1800">
                <a:solidFill>
                  <a:schemeClr val="dk1"/>
                </a:solidFill>
                <a:latin typeface="Calibri"/>
                <a:ea typeface="Calibri"/>
                <a:cs typeface="Calibri"/>
                <a:sym typeface="Calibri"/>
              </a:rPr>
              <a:t>ó</a:t>
            </a:r>
            <a:r>
              <a:rPr b="0" i="0" lang="en-US" sz="1800" u="none" cap="none" strike="noStrike">
                <a:solidFill>
                  <a:schemeClr val="dk1"/>
                </a:solidFill>
                <a:latin typeface="Calibri"/>
                <a:ea typeface="Calibri"/>
                <a:cs typeface="Calibri"/>
                <a:sym typeface="Calibri"/>
              </a:rPr>
              <a:t> OSDE 210 para </a:t>
            </a:r>
            <a:r>
              <a:rPr lang="en-US" sz="1800">
                <a:solidFill>
                  <a:schemeClr val="dk1"/>
                </a:solidFill>
                <a:latin typeface="Calibri"/>
                <a:ea typeface="Calibri"/>
                <a:cs typeface="Calibri"/>
                <a:sym typeface="Calibri"/>
              </a:rPr>
              <a:t>él como</a:t>
            </a:r>
            <a:r>
              <a:rPr b="0" i="0" lang="en-US" sz="1800" u="none" cap="none" strike="noStrike">
                <a:solidFill>
                  <a:schemeClr val="dk1"/>
                </a:solidFill>
                <a:latin typeface="Calibri"/>
                <a:ea typeface="Calibri"/>
                <a:cs typeface="Calibri"/>
                <a:sym typeface="Calibri"/>
              </a:rPr>
              <a:t> beneficio. </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400"/>
              <a:buFont typeface="Arial"/>
              <a:buNone/>
            </a:pPr>
            <a:r>
              <a:rPr b="0" i="0" lang="en-US" sz="1800" u="none" cap="none" strike="noStrike">
                <a:solidFill>
                  <a:schemeClr val="dk1"/>
                </a:solidFill>
                <a:latin typeface="Calibri"/>
                <a:ea typeface="Calibri"/>
                <a:cs typeface="Calibri"/>
                <a:sym typeface="Calibri"/>
              </a:rPr>
              <a:t>El empleado empezó a tener problemas actitudinales que incluyen el haberle gritado a un cliente.</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400"/>
              <a:buFont typeface="Arial"/>
              <a:buNone/>
            </a:pPr>
            <a:r>
              <a:rPr b="0" i="0" lang="en-US" sz="1800" u="none" cap="none" strike="noStrike">
                <a:solidFill>
                  <a:schemeClr val="dk1"/>
                </a:solidFill>
                <a:latin typeface="Calibri"/>
                <a:ea typeface="Calibri"/>
                <a:cs typeface="Calibri"/>
                <a:sym typeface="Calibri"/>
              </a:rPr>
              <a:t>Usted decide desvincularlo el 15</a:t>
            </a:r>
            <a:r>
              <a:rPr lang="en-US" sz="1800">
                <a:solidFill>
                  <a:schemeClr val="dk1"/>
                </a:solidFill>
                <a:latin typeface="Calibri"/>
                <a:ea typeface="Calibri"/>
                <a:cs typeface="Calibri"/>
                <a:sym typeface="Calibri"/>
              </a:rPr>
              <a:t>/08/</a:t>
            </a:r>
            <a:r>
              <a:rPr b="0" i="0" lang="en-US" sz="1800" u="none" cap="none" strike="noStrike">
                <a:solidFill>
                  <a:schemeClr val="dk1"/>
                </a:solidFill>
                <a:latin typeface="Calibri"/>
                <a:ea typeface="Calibri"/>
                <a:cs typeface="Calibri"/>
                <a:sym typeface="Calibri"/>
              </a:rPr>
              <a:t>2018.</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400"/>
              <a:buFont typeface="Arial"/>
              <a:buNone/>
            </a:pPr>
            <a:r>
              <a:rPr b="0" i="0" lang="en-US" sz="1800" u="none" cap="none" strike="noStrike">
                <a:solidFill>
                  <a:schemeClr val="dk1"/>
                </a:solidFill>
                <a:latin typeface="Calibri"/>
                <a:ea typeface="Calibri"/>
                <a:cs typeface="Calibri"/>
                <a:sym typeface="Calibri"/>
              </a:rPr>
              <a:t>Consigna:</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400"/>
              <a:buFont typeface="Arial"/>
              <a:buNone/>
            </a:pPr>
            <a:r>
              <a:rPr lang="en-US" sz="1800">
                <a:solidFill>
                  <a:schemeClr val="dk1"/>
                </a:solidFill>
                <a:latin typeface="Calibri"/>
                <a:ea typeface="Calibri"/>
                <a:cs typeface="Calibri"/>
                <a:sym typeface="Calibri"/>
              </a:rPr>
              <a:t>¿</a:t>
            </a:r>
            <a:r>
              <a:rPr b="0" i="0" lang="en-US" sz="1800" u="none" cap="none" strike="noStrike">
                <a:solidFill>
                  <a:schemeClr val="dk1"/>
                </a:solidFill>
                <a:latin typeface="Calibri"/>
                <a:ea typeface="Calibri"/>
                <a:cs typeface="Calibri"/>
                <a:sym typeface="Calibri"/>
              </a:rPr>
              <a:t>Cu</a:t>
            </a:r>
            <a:r>
              <a:rPr lang="en-US" sz="1800">
                <a:solidFill>
                  <a:schemeClr val="dk1"/>
                </a:solidFill>
                <a:latin typeface="Calibri"/>
                <a:ea typeface="Calibri"/>
                <a:cs typeface="Calibri"/>
                <a:sym typeface="Calibri"/>
              </a:rPr>
              <a:t>á</a:t>
            </a:r>
            <a:r>
              <a:rPr b="0" i="0" lang="en-US" sz="1800" u="none" cap="none" strike="noStrike">
                <a:solidFill>
                  <a:schemeClr val="dk1"/>
                </a:solidFill>
                <a:latin typeface="Calibri"/>
                <a:ea typeface="Calibri"/>
                <a:cs typeface="Calibri"/>
                <a:sym typeface="Calibri"/>
              </a:rPr>
              <a:t>nto le cuesta la desvinculación y qu</a:t>
            </a:r>
            <a:r>
              <a:rPr lang="en-US" sz="1800">
                <a:solidFill>
                  <a:schemeClr val="dk1"/>
                </a:solidFill>
                <a:latin typeface="Calibri"/>
                <a:ea typeface="Calibri"/>
                <a:cs typeface="Calibri"/>
                <a:sym typeface="Calibri"/>
              </a:rPr>
              <a:t>é</a:t>
            </a:r>
            <a:r>
              <a:rPr b="0" i="0" lang="en-US" sz="1800" u="none" cap="none" strike="noStrike">
                <a:solidFill>
                  <a:schemeClr val="dk1"/>
                </a:solidFill>
                <a:latin typeface="Calibri"/>
                <a:ea typeface="Calibri"/>
                <a:cs typeface="Calibri"/>
                <a:sym typeface="Calibri"/>
              </a:rPr>
              <a:t> ocurre con el plan de OSDE?</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Template_2010_Presentaciones_Internal">
  <a:themeElements>
    <a:clrScheme name="Capgemini Palette">
      <a:dk1>
        <a:srgbClr val="000000"/>
      </a:dk1>
      <a:lt1>
        <a:srgbClr val="FFFFFF"/>
      </a:lt1>
      <a:dk2>
        <a:srgbClr val="009BCC"/>
      </a:dk2>
      <a:lt2>
        <a:srgbClr val="FFFFFF"/>
      </a:lt2>
      <a:accent1>
        <a:srgbClr val="FFBC1D"/>
      </a:accent1>
      <a:accent2>
        <a:srgbClr val="E65A0F"/>
      </a:accent2>
      <a:accent3>
        <a:srgbClr val="C8C500"/>
      </a:accent3>
      <a:accent4>
        <a:srgbClr val="C42F36"/>
      </a:accent4>
      <a:accent5>
        <a:srgbClr val="B4DFEE"/>
      </a:accent5>
      <a:accent6>
        <a:srgbClr val="E65A0F"/>
      </a:accent6>
      <a:hlink>
        <a:srgbClr val="4D740F"/>
      </a:hlink>
      <a:folHlink>
        <a:srgbClr val="C42F3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2010-12-02T12:17:16Z</dcterms:created>
  <dc:creator>PC</dc:creator>
</cp:coreProperties>
</file>