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6858000" cx="9906000"/>
  <p:notesSz cx="6797675" cy="9926625"/>
  <p:embeddedFontLst>
    <p:embeddedFont>
      <p:font typeface="Roboto"/>
      <p:regular r:id="rId38"/>
      <p:bold r:id="rId39"/>
      <p:italic r:id="rId40"/>
      <p:boldItalic r:id="rId41"/>
    </p:embeddedFont>
    <p:embeddedFont>
      <p:font typeface="Arial Narrow"/>
      <p:regular r:id="rId42"/>
      <p:bold r:id="rId43"/>
      <p:italic r:id="rId44"/>
      <p:boldItalic r:id="rId45"/>
    </p:embeddedFont>
    <p:embeddedFont>
      <p:font typeface="La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75">
          <p15:clr>
            <a:srgbClr val="A4A3A4"/>
          </p15:clr>
        </p15:guide>
        <p15:guide id="2" pos="2701">
          <p15:clr>
            <a:srgbClr val="A4A3A4"/>
          </p15:clr>
        </p15:guide>
      </p15:sldGuideLst>
    </p:ext>
    <p:ext uri="{2D200454-40CA-4A62-9FC3-DE9A4176ACB9}">
      <p15:notesGuideLst>
        <p15:guide id="1" orient="horz" pos="3127">
          <p15:clr>
            <a:srgbClr val="A4A3A4"/>
          </p15:clr>
        </p15:guide>
        <p15:guide id="2" pos="2141">
          <p15:clr>
            <a:srgbClr val="A4A3A4"/>
          </p15:clr>
        </p15:guide>
      </p15:notesGuideLst>
    </p:ext>
    <p:ext uri="GoogleSlidesCustomDataVersion2">
      <go:slidesCustomData xmlns:go="http://customooxmlschemas.google.com/" r:id="rId50" roundtripDataSignature="AMtx7mhUAHZ/LhYWBwDDxvrKWyiiLO0H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5AD69B-3591-4148-A08B-85F186E94DB8}">
  <a:tblStyle styleId="{BE5AD69B-3591-4148-A08B-85F186E94D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75" orient="horz"/>
        <p:guide pos="2701"/>
      </p:guideLst>
    </p:cSldViewPr>
  </p:slideViewPr>
  <p:notesViewPr>
    <p:cSldViewPr snapToGrid="0">
      <p:cViewPr varScale="1">
        <p:scale>
          <a:sx n="100" d="100"/>
          <a:sy n="100" d="100"/>
        </p:scale>
        <p:origin x="0" y="0"/>
      </p:cViewPr>
      <p:guideLst>
        <p:guide pos="3127"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42" Type="http://schemas.openxmlformats.org/officeDocument/2006/relationships/font" Target="fonts/ArialNarrow-regular.fntdata"/><Relationship Id="rId41" Type="http://schemas.openxmlformats.org/officeDocument/2006/relationships/font" Target="fonts/Roboto-boldItalic.fntdata"/><Relationship Id="rId44" Type="http://schemas.openxmlformats.org/officeDocument/2006/relationships/font" Target="fonts/ArialNarrow-italic.fntdata"/><Relationship Id="rId43" Type="http://schemas.openxmlformats.org/officeDocument/2006/relationships/font" Target="fonts/ArialNarrow-bold.fntdata"/><Relationship Id="rId46" Type="http://schemas.openxmlformats.org/officeDocument/2006/relationships/font" Target="fonts/Lato-regular.fntdata"/><Relationship Id="rId45" Type="http://schemas.openxmlformats.org/officeDocument/2006/relationships/font" Target="fonts/ArialNarrow-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Roboto-bold.fntdata"/><Relationship Id="rId38" Type="http://schemas.openxmlformats.org/officeDocument/2006/relationships/font" Target="fonts/Roboto-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6797675" cy="496332"/>
          </a:xfrm>
          <a:prstGeom prst="rect">
            <a:avLst/>
          </a:prstGeom>
          <a:noFill/>
          <a:ln>
            <a:noFill/>
          </a:ln>
        </p:spPr>
        <p:txBody>
          <a:bodyPr anchorCtr="0" anchor="t" bIns="35800" lIns="71600" spcFirstLastPara="1" rIns="286450" wrap="square" tIns="179025">
            <a:noAutofit/>
          </a:bodyPr>
          <a:lstStyle>
            <a:lvl1pPr lvl="0" marR="0" rtl="0" algn="r">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p:nvPr>
            <p:ph idx="3"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6" name="Google Shape;6;n"/>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marR="0" rtl="0" algn="r">
              <a:lnSpc>
                <a:spcPct val="100000"/>
              </a:lnSpc>
              <a:spcBef>
                <a:spcPts val="0"/>
              </a:spcBef>
              <a:spcAft>
                <a:spcPts val="0"/>
              </a:spcAft>
              <a:buNone/>
            </a:pPr>
            <a:fld id="{00000000-1234-1234-1234-123412341234}" type="slidenum">
              <a:rPr b="1" i="0" lang="en-US"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profesional.com/management/356399-seleccion-de-personal-suman-valor-las-herramientas-digitale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1: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0" lvl="0" marL="0" rtl="0" algn="l">
              <a:lnSpc>
                <a:spcPct val="100000"/>
              </a:lnSpc>
              <a:spcBef>
                <a:spcPts val="0"/>
              </a:spcBef>
              <a:spcAft>
                <a:spcPts val="0"/>
              </a:spcAft>
              <a:buSzPts val="1400"/>
              <a:buNone/>
            </a:pPr>
            <a:r>
              <a:t/>
            </a:r>
            <a:endParaRPr/>
          </a:p>
        </p:txBody>
      </p:sp>
      <p:sp>
        <p:nvSpPr>
          <p:cNvPr id="118" name="Google Shape;118;p1:notes"/>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p>
            <a:pPr indent="0" lvl="0" marL="0" marR="0" rtl="0" algn="l">
              <a:lnSpc>
                <a:spcPct val="100000"/>
              </a:lnSpc>
              <a:spcBef>
                <a:spcPts val="0"/>
              </a:spcBef>
              <a:spcAft>
                <a:spcPts val="0"/>
              </a:spcAft>
              <a:buSzPts val="1400"/>
              <a:buNone/>
            </a:pPr>
            <a:r>
              <a:rPr lang="en-US"/>
              <a:t>© 2010 Capgemini. All rights reserved.</a:t>
            </a:r>
            <a:endParaRPr/>
          </a:p>
        </p:txBody>
      </p:sp>
      <p:sp>
        <p:nvSpPr>
          <p:cNvPr id="119" name="Google Shape;119;p1: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f4e71bb30_0_129:notes"/>
          <p:cNvSpPr/>
          <p:nvPr>
            <p:ph idx="2" type="sldImg"/>
          </p:nvPr>
        </p:nvSpPr>
        <p:spPr>
          <a:xfrm>
            <a:off x="1189593" y="1240828"/>
            <a:ext cx="4418400" cy="3350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13f4e71bb30_0_129:notes"/>
          <p:cNvSpPr txBox="1"/>
          <p:nvPr>
            <p:ph idx="1" type="body"/>
          </p:nvPr>
        </p:nvSpPr>
        <p:spPr>
          <a:xfrm>
            <a:off x="679768" y="4777188"/>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13f4e71bb30_0_129:notes"/>
          <p:cNvSpPr txBox="1"/>
          <p:nvPr>
            <p:ph idx="12" type="sldNum"/>
          </p:nvPr>
        </p:nvSpPr>
        <p:spPr>
          <a:xfrm>
            <a:off x="3850443" y="9428571"/>
            <a:ext cx="2945700" cy="4980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3f4e71bb30_0_301: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3f4e71bb30_0_301: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lnSpc>
                <a:spcPct val="150000"/>
              </a:lnSpc>
              <a:spcBef>
                <a:spcPts val="0"/>
              </a:spcBef>
              <a:spcAft>
                <a:spcPts val="0"/>
              </a:spcAft>
              <a:buClr>
                <a:schemeClr val="dk1"/>
              </a:buClr>
              <a:buSzPts val="1100"/>
              <a:buFont typeface="Arial"/>
              <a:buNone/>
            </a:pPr>
            <a:r>
              <a:rPr b="1" lang="en-US" sz="1300"/>
              <a:t>Profesiona - L</a:t>
            </a:r>
            <a:r>
              <a:rPr lang="en-US" sz="850">
                <a:solidFill>
                  <a:srgbClr val="6E7780"/>
                </a:solidFill>
              </a:rPr>
              <a:t>lun, 26 de septiembre de 2022, 8:46 a. m.·3  min de lectura</a:t>
            </a:r>
            <a:endParaRPr sz="850">
              <a:solidFill>
                <a:srgbClr val="6E7780"/>
              </a:solidFill>
            </a:endParaRPr>
          </a:p>
          <a:p>
            <a:pPr indent="0" lvl="0" marL="0" rtl="0" algn="l">
              <a:lnSpc>
                <a:spcPct val="150000"/>
              </a:lnSpc>
              <a:spcBef>
                <a:spcPts val="1500"/>
              </a:spcBef>
              <a:spcAft>
                <a:spcPts val="0"/>
              </a:spcAft>
              <a:buClr>
                <a:schemeClr val="dk1"/>
              </a:buClr>
              <a:buSzPts val="1100"/>
              <a:buFont typeface="Arial"/>
              <a:buNone/>
            </a:pPr>
            <a:r>
              <a:rPr lang="en-US" sz="1300">
                <a:solidFill>
                  <a:srgbClr val="1D2228"/>
                </a:solidFill>
                <a:highlight>
                  <a:srgbClr val="FFFFFF"/>
                </a:highlight>
              </a:rPr>
              <a:t>La </a:t>
            </a:r>
            <a:r>
              <a:rPr b="1" lang="en-US" sz="1300">
                <a:solidFill>
                  <a:srgbClr val="1D2228"/>
                </a:solidFill>
                <a:highlight>
                  <a:srgbClr val="FFFFFF"/>
                </a:highlight>
              </a:rPr>
              <a:t>selección y contratación de personal</a:t>
            </a:r>
            <a:r>
              <a:rPr lang="en-US" sz="1300">
                <a:solidFill>
                  <a:srgbClr val="1D2228"/>
                </a:solidFill>
                <a:highlight>
                  <a:srgbClr val="FFFFFF"/>
                </a:highlight>
              </a:rPr>
              <a:t> es una de las tareas más importantes para cualquier empresa, y </a:t>
            </a:r>
            <a:r>
              <a:rPr b="1" lang="en-US" sz="1300">
                <a:solidFill>
                  <a:srgbClr val="188FFF"/>
                </a:solidFill>
                <a:highlight>
                  <a:srgbClr val="FFFFFF"/>
                </a:highlight>
                <a:uFill>
                  <a:noFill/>
                </a:uFill>
                <a:hlinkClick r:id="rId2">
                  <a:extLst>
                    <a:ext uri="{A12FA001-AC4F-418D-AE19-62706E023703}">
                      <ahyp:hlinkClr val="tx"/>
                    </a:ext>
                  </a:extLst>
                </a:hlinkClick>
              </a:rPr>
              <a:t>encontrar a la persona adecuada</a:t>
            </a:r>
            <a:r>
              <a:rPr b="1" lang="en-US" sz="1300">
                <a:solidFill>
                  <a:srgbClr val="1D2228"/>
                </a:solidFill>
                <a:highlight>
                  <a:srgbClr val="FFFFFF"/>
                </a:highlight>
              </a:rPr>
              <a:t> </a:t>
            </a:r>
            <a:r>
              <a:rPr lang="en-US" sz="1300">
                <a:solidFill>
                  <a:srgbClr val="1D2228"/>
                </a:solidFill>
                <a:highlight>
                  <a:srgbClr val="FFFFFF"/>
                </a:highlight>
              </a:rPr>
              <a:t>puede ser un proceso largo y tedioso.</a:t>
            </a:r>
            <a:endParaRPr sz="1300">
              <a:solidFill>
                <a:srgbClr val="1D2228"/>
              </a:solidFill>
              <a:highlight>
                <a:srgbClr val="FFFFFF"/>
              </a:highlight>
            </a:endParaRPr>
          </a:p>
          <a:p>
            <a:pPr indent="0" lvl="0" marL="0" marR="698500" rtl="0" algn="l">
              <a:lnSpc>
                <a:spcPct val="180000"/>
              </a:lnSpc>
              <a:spcBef>
                <a:spcPts val="1500"/>
              </a:spcBef>
              <a:spcAft>
                <a:spcPts val="0"/>
              </a:spcAft>
              <a:buClr>
                <a:schemeClr val="dk1"/>
              </a:buClr>
              <a:buSzPts val="1100"/>
              <a:buFont typeface="Arial"/>
              <a:buNone/>
            </a:pPr>
            <a:r>
              <a:rPr lang="en-US" sz="1300">
                <a:solidFill>
                  <a:srgbClr val="1D2228"/>
                </a:solidFill>
                <a:highlight>
                  <a:srgbClr val="FFFFFF"/>
                </a:highlight>
              </a:rPr>
              <a:t>Una gran contratación puede mejorar la productividad, impulsar la moral de la oficina y tener un impacto positivo en los resultados de la compañía. Pero una mala contratación tiene un altísimo costo para la empresa. De acuerdo con Yeryé Bermúdez, gerente de la División Technology de Adecco Argentina, "establecer una estimación monetaria del costo económico de una mala contratación es una pregunta muy amplia y no siempre es directamente lineal con el dinero porque como explicamos influye en muchos aspectos de una compañía, pero</a:t>
            </a:r>
            <a:r>
              <a:rPr b="1" lang="en-US" sz="1300">
                <a:solidFill>
                  <a:srgbClr val="1D2228"/>
                </a:solidFill>
                <a:highlight>
                  <a:srgbClr val="FFFFFF"/>
                </a:highlight>
              </a:rPr>
              <a:t> puede equivaler a un año de salario</a:t>
            </a:r>
            <a:r>
              <a:rPr lang="en-US" sz="1300">
                <a:solidFill>
                  <a:srgbClr val="1D2228"/>
                </a:solidFill>
                <a:highlight>
                  <a:srgbClr val="FFFFFF"/>
                </a:highlight>
              </a:rPr>
              <a:t>."</a:t>
            </a:r>
            <a:endParaRPr sz="1300">
              <a:solidFill>
                <a:srgbClr val="1D2228"/>
              </a:solidFill>
              <a:highlight>
                <a:srgbClr val="FFFFFF"/>
              </a:highlight>
            </a:endParaRPr>
          </a:p>
          <a:p>
            <a:pPr indent="0" lvl="0" marL="0" marR="698500" rtl="0" algn="l">
              <a:lnSpc>
                <a:spcPct val="180000"/>
              </a:lnSpc>
              <a:spcBef>
                <a:spcPts val="1300"/>
              </a:spcBef>
              <a:spcAft>
                <a:spcPts val="0"/>
              </a:spcAft>
              <a:buClr>
                <a:schemeClr val="dk1"/>
              </a:buClr>
              <a:buSzPts val="1100"/>
              <a:buFont typeface="Arial"/>
              <a:buNone/>
            </a:pPr>
            <a:r>
              <a:rPr lang="en-US" sz="1300">
                <a:solidFill>
                  <a:srgbClr val="1D2228"/>
                </a:solidFill>
                <a:highlight>
                  <a:srgbClr val="FFFFFF"/>
                </a:highlight>
              </a:rPr>
              <a:t>De todas formas, el costo de una mala contratación no es solo financiero, va más allá del salario, es también el costo de oportunidad de lo que se podría haber logrado con ese puesto.</a:t>
            </a:r>
            <a:endParaRPr>
              <a:latin typeface="Calibri"/>
              <a:ea typeface="Calibri"/>
              <a:cs typeface="Calibri"/>
              <a:sym typeface="Calibri"/>
            </a:endParaRPr>
          </a:p>
          <a:p>
            <a:pPr indent="0" lvl="0" marL="0" rtl="0" algn="l">
              <a:spcBef>
                <a:spcPts val="1300"/>
              </a:spcBef>
              <a:spcAft>
                <a:spcPts val="0"/>
              </a:spcAft>
              <a:buNone/>
            </a:pPr>
            <a:r>
              <a:t/>
            </a:r>
            <a:endParaRPr/>
          </a:p>
        </p:txBody>
      </p:sp>
      <p:sp>
        <p:nvSpPr>
          <p:cNvPr id="151" name="Google Shape;151;g13f4e71bb30_0_301: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3f4e71bb30_0_4: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3f4e71bb30_0_4: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lnSpc>
                <a:spcPct val="135000"/>
              </a:lnSpc>
              <a:spcBef>
                <a:spcPts val="0"/>
              </a:spcBef>
              <a:spcAft>
                <a:spcPts val="0"/>
              </a:spcAft>
              <a:buClr>
                <a:schemeClr val="dk1"/>
              </a:buClr>
              <a:buSzPts val="1100"/>
              <a:buFont typeface="Arial"/>
              <a:buNone/>
            </a:pPr>
            <a:r>
              <a:rPr lang="en-US" sz="1350">
                <a:solidFill>
                  <a:srgbClr val="323232"/>
                </a:solidFill>
              </a:rPr>
              <a:t>Los tipos de presupuesto más comunes son: </a:t>
            </a:r>
            <a:endParaRPr sz="1350">
              <a:solidFill>
                <a:srgbClr val="323232"/>
              </a:solidFill>
            </a:endParaRPr>
          </a:p>
          <a:p>
            <a:pPr indent="-314325" lvl="0" marL="457200" rtl="0" algn="l">
              <a:lnSpc>
                <a:spcPct val="135000"/>
              </a:lnSpc>
              <a:spcBef>
                <a:spcPts val="1500"/>
              </a:spcBef>
              <a:spcAft>
                <a:spcPts val="0"/>
              </a:spcAft>
              <a:buClr>
                <a:srgbClr val="323232"/>
              </a:buClr>
              <a:buSzPts val="1350"/>
              <a:buChar char="●"/>
            </a:pPr>
            <a:r>
              <a:rPr lang="en-US" sz="1350">
                <a:solidFill>
                  <a:srgbClr val="323232"/>
                </a:solidFill>
              </a:rPr>
              <a:t>El </a:t>
            </a:r>
            <a:r>
              <a:rPr b="1" lang="en-US" sz="1350">
                <a:solidFill>
                  <a:srgbClr val="323232"/>
                </a:solidFill>
              </a:rPr>
              <a:t>incremental</a:t>
            </a:r>
            <a:r>
              <a:rPr lang="en-US" sz="1350">
                <a:solidFill>
                  <a:srgbClr val="323232"/>
                </a:solidFill>
              </a:rPr>
              <a:t> que se basa en el presupuesto anterior </a:t>
            </a:r>
            <a:endParaRPr sz="1350">
              <a:solidFill>
                <a:srgbClr val="323232"/>
              </a:solidFill>
            </a:endParaRPr>
          </a:p>
          <a:p>
            <a:pPr indent="-314325" lvl="0" marL="457200" rtl="0" algn="l">
              <a:lnSpc>
                <a:spcPct val="135000"/>
              </a:lnSpc>
              <a:spcBef>
                <a:spcPts val="0"/>
              </a:spcBef>
              <a:spcAft>
                <a:spcPts val="0"/>
              </a:spcAft>
              <a:buClr>
                <a:srgbClr val="323232"/>
              </a:buClr>
              <a:buSzPts val="1350"/>
              <a:buChar char="●"/>
            </a:pPr>
            <a:r>
              <a:rPr lang="en-US" sz="1350">
                <a:solidFill>
                  <a:srgbClr val="323232"/>
                </a:solidFill>
              </a:rPr>
              <a:t>El de </a:t>
            </a:r>
            <a:r>
              <a:rPr b="1" lang="en-US" sz="1350">
                <a:solidFill>
                  <a:srgbClr val="323232"/>
                </a:solidFill>
              </a:rPr>
              <a:t>base cero</a:t>
            </a:r>
            <a:r>
              <a:rPr lang="en-US" sz="1350">
                <a:solidFill>
                  <a:srgbClr val="323232"/>
                </a:solidFill>
              </a:rPr>
              <a:t> con el cual las inversiones y costos se calculan teniendo en cuenta los recursos que la empresa necesita para alcanzar sus objetivos </a:t>
            </a:r>
            <a:endParaRPr sz="1350">
              <a:solidFill>
                <a:srgbClr val="323232"/>
              </a:solidFill>
            </a:endParaRPr>
          </a:p>
          <a:p>
            <a:pPr indent="0" lvl="0" marL="0" rtl="0" algn="l">
              <a:lnSpc>
                <a:spcPct val="135000"/>
              </a:lnSpc>
              <a:spcBef>
                <a:spcPts val="3000"/>
              </a:spcBef>
              <a:spcAft>
                <a:spcPts val="0"/>
              </a:spcAft>
              <a:buClr>
                <a:schemeClr val="dk1"/>
              </a:buClr>
              <a:buSzPts val="1100"/>
              <a:buFont typeface="Arial"/>
              <a:buNone/>
            </a:pPr>
            <a:r>
              <a:rPr lang="en-US" sz="1350">
                <a:solidFill>
                  <a:srgbClr val="323232"/>
                </a:solidFill>
              </a:rPr>
              <a:t>Cada uno tiene sus </a:t>
            </a:r>
            <a:r>
              <a:rPr b="1" lang="en-US" sz="1350">
                <a:solidFill>
                  <a:srgbClr val="323232"/>
                </a:solidFill>
              </a:rPr>
              <a:t>ventajas</a:t>
            </a:r>
            <a:r>
              <a:rPr lang="en-US" sz="1350">
                <a:solidFill>
                  <a:srgbClr val="323232"/>
                </a:solidFill>
              </a:rPr>
              <a:t> y</a:t>
            </a:r>
            <a:r>
              <a:rPr b="1" lang="en-US" sz="1350">
                <a:solidFill>
                  <a:srgbClr val="323232"/>
                </a:solidFill>
              </a:rPr>
              <a:t> desventajas</a:t>
            </a:r>
            <a:r>
              <a:rPr lang="en-US" sz="1350">
                <a:solidFill>
                  <a:srgbClr val="323232"/>
                </a:solidFill>
              </a:rPr>
              <a:t>. El incremental es más práctico, ya que tiene unos cimientos establecidos, mientras que con el de base cero debes empezar con la hoja en blanco, donde tienes la oportunidad de innovar y tener en cuenta nuevos factores. </a:t>
            </a:r>
            <a:endParaRPr sz="1350">
              <a:solidFill>
                <a:srgbClr val="323232"/>
              </a:solidFill>
            </a:endParaRPr>
          </a:p>
          <a:p>
            <a:pPr indent="0" lvl="0" marL="0" rtl="0" algn="l">
              <a:spcBef>
                <a:spcPts val="1500"/>
              </a:spcBef>
              <a:spcAft>
                <a:spcPts val="0"/>
              </a:spcAft>
              <a:buNone/>
            </a:pPr>
            <a:r>
              <a:t/>
            </a:r>
            <a:endParaRPr/>
          </a:p>
        </p:txBody>
      </p:sp>
      <p:sp>
        <p:nvSpPr>
          <p:cNvPr id="160" name="Google Shape;160;g13f4e71bb30_0_4: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2d1fb49d5_0_51: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d2d1fb49d5_0_51: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lnSpc>
                <a:spcPct val="135000"/>
              </a:lnSpc>
              <a:spcBef>
                <a:spcPts val="0"/>
              </a:spcBef>
              <a:spcAft>
                <a:spcPts val="0"/>
              </a:spcAft>
              <a:buClr>
                <a:schemeClr val="dk1"/>
              </a:buClr>
              <a:buSzPts val="1100"/>
              <a:buFont typeface="Arial"/>
              <a:buNone/>
            </a:pPr>
            <a:r>
              <a:rPr lang="en-US" sz="1350">
                <a:solidFill>
                  <a:srgbClr val="323232"/>
                </a:solidFill>
              </a:rPr>
              <a:t>Los tipos de presupuesto más comunes son: </a:t>
            </a:r>
            <a:endParaRPr sz="1350">
              <a:solidFill>
                <a:srgbClr val="323232"/>
              </a:solidFill>
            </a:endParaRPr>
          </a:p>
          <a:p>
            <a:pPr indent="-314325" lvl="0" marL="457200" rtl="0" algn="l">
              <a:lnSpc>
                <a:spcPct val="135000"/>
              </a:lnSpc>
              <a:spcBef>
                <a:spcPts val="1500"/>
              </a:spcBef>
              <a:spcAft>
                <a:spcPts val="0"/>
              </a:spcAft>
              <a:buClr>
                <a:srgbClr val="323232"/>
              </a:buClr>
              <a:buSzPts val="1350"/>
              <a:buChar char="●"/>
            </a:pPr>
            <a:r>
              <a:rPr lang="en-US" sz="1350">
                <a:solidFill>
                  <a:srgbClr val="323232"/>
                </a:solidFill>
              </a:rPr>
              <a:t>El </a:t>
            </a:r>
            <a:r>
              <a:rPr b="1" lang="en-US" sz="1350">
                <a:solidFill>
                  <a:srgbClr val="323232"/>
                </a:solidFill>
              </a:rPr>
              <a:t>incremental</a:t>
            </a:r>
            <a:r>
              <a:rPr lang="en-US" sz="1350">
                <a:solidFill>
                  <a:srgbClr val="323232"/>
                </a:solidFill>
              </a:rPr>
              <a:t> que se basa en el presupuesto anterior </a:t>
            </a:r>
            <a:endParaRPr sz="1350">
              <a:solidFill>
                <a:srgbClr val="323232"/>
              </a:solidFill>
            </a:endParaRPr>
          </a:p>
          <a:p>
            <a:pPr indent="-314325" lvl="0" marL="457200" rtl="0" algn="l">
              <a:lnSpc>
                <a:spcPct val="135000"/>
              </a:lnSpc>
              <a:spcBef>
                <a:spcPts val="0"/>
              </a:spcBef>
              <a:spcAft>
                <a:spcPts val="0"/>
              </a:spcAft>
              <a:buClr>
                <a:srgbClr val="323232"/>
              </a:buClr>
              <a:buSzPts val="1350"/>
              <a:buChar char="●"/>
            </a:pPr>
            <a:r>
              <a:rPr lang="en-US" sz="1350">
                <a:solidFill>
                  <a:srgbClr val="323232"/>
                </a:solidFill>
              </a:rPr>
              <a:t>El de </a:t>
            </a:r>
            <a:r>
              <a:rPr b="1" lang="en-US" sz="1350">
                <a:solidFill>
                  <a:srgbClr val="323232"/>
                </a:solidFill>
              </a:rPr>
              <a:t>base cero</a:t>
            </a:r>
            <a:r>
              <a:rPr lang="en-US" sz="1350">
                <a:solidFill>
                  <a:srgbClr val="323232"/>
                </a:solidFill>
              </a:rPr>
              <a:t> con el cual las inversiones y costos se calculan teniendo en cuenta los recursos que la empresa necesita para alcanzar sus objetivos </a:t>
            </a:r>
            <a:endParaRPr sz="1350">
              <a:solidFill>
                <a:srgbClr val="323232"/>
              </a:solidFill>
            </a:endParaRPr>
          </a:p>
          <a:p>
            <a:pPr indent="0" lvl="0" marL="0" rtl="0" algn="l">
              <a:lnSpc>
                <a:spcPct val="135000"/>
              </a:lnSpc>
              <a:spcBef>
                <a:spcPts val="3000"/>
              </a:spcBef>
              <a:spcAft>
                <a:spcPts val="0"/>
              </a:spcAft>
              <a:buClr>
                <a:schemeClr val="dk1"/>
              </a:buClr>
              <a:buSzPts val="1100"/>
              <a:buFont typeface="Arial"/>
              <a:buNone/>
            </a:pPr>
            <a:r>
              <a:rPr lang="en-US" sz="1350">
                <a:solidFill>
                  <a:srgbClr val="323232"/>
                </a:solidFill>
              </a:rPr>
              <a:t>Cada uno tiene sus </a:t>
            </a:r>
            <a:r>
              <a:rPr b="1" lang="en-US" sz="1350">
                <a:solidFill>
                  <a:srgbClr val="323232"/>
                </a:solidFill>
              </a:rPr>
              <a:t>ventajas</a:t>
            </a:r>
            <a:r>
              <a:rPr lang="en-US" sz="1350">
                <a:solidFill>
                  <a:srgbClr val="323232"/>
                </a:solidFill>
              </a:rPr>
              <a:t> y</a:t>
            </a:r>
            <a:r>
              <a:rPr b="1" lang="en-US" sz="1350">
                <a:solidFill>
                  <a:srgbClr val="323232"/>
                </a:solidFill>
              </a:rPr>
              <a:t> desventajas</a:t>
            </a:r>
            <a:r>
              <a:rPr lang="en-US" sz="1350">
                <a:solidFill>
                  <a:srgbClr val="323232"/>
                </a:solidFill>
              </a:rPr>
              <a:t>. El incremental es más práctico, ya que tiene unos cimientos establecidos, mientras que con el de base cero debes empezar con la hoja en blanco, donde tienes la oportunidad de innovar y tener en cuenta nuevos factores. </a:t>
            </a:r>
            <a:endParaRPr sz="1350">
              <a:solidFill>
                <a:srgbClr val="323232"/>
              </a:solidFill>
            </a:endParaRPr>
          </a:p>
          <a:p>
            <a:pPr indent="0" lvl="0" marL="0" rtl="0" algn="l">
              <a:spcBef>
                <a:spcPts val="1500"/>
              </a:spcBef>
              <a:spcAft>
                <a:spcPts val="0"/>
              </a:spcAft>
              <a:buNone/>
            </a:pPr>
            <a:r>
              <a:t/>
            </a:r>
            <a:endParaRPr/>
          </a:p>
        </p:txBody>
      </p:sp>
      <p:sp>
        <p:nvSpPr>
          <p:cNvPr id="175" name="Google Shape;175;g2d2d1fb49d5_0_51: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5e455dc2b9_0_0: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5e455dc2b9_0_0: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Idealmente se puede hacer un menti con una nube de palabras… para ver que ideas aparecen</a:t>
            </a:r>
            <a:endParaRPr/>
          </a:p>
        </p:txBody>
      </p:sp>
      <p:sp>
        <p:nvSpPr>
          <p:cNvPr id="188" name="Google Shape;188;g15e455dc2b9_0_0: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8:notes"/>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28:notes"/>
          <p:cNvSpPr/>
          <p:nvPr>
            <p:ph idx="2" type="sldImg"/>
          </p:nvPr>
        </p:nvSpPr>
        <p:spPr>
          <a:xfrm>
            <a:off x="981075" y="1241425"/>
            <a:ext cx="48354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d2d1fb49d5_0_14:notes"/>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2d2d1fb49d5_0_14:notes"/>
          <p:cNvSpPr/>
          <p:nvPr>
            <p:ph idx="2" type="sldImg"/>
          </p:nvPr>
        </p:nvSpPr>
        <p:spPr>
          <a:xfrm>
            <a:off x="981075" y="1241425"/>
            <a:ext cx="48354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3f4e71bb30_0_0: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3f4e71bb30_0_0: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las areas de negocio exigen mas resultados mas rapido, y mas alla de las cosas que se quieran existen limitaciones operativas, con accesos a Base de Datos y herramientas de reclutamiento, pero muchas veces desde los presupuestos de RH se asignan determinadas partidas para algunas BBDD y alguna cantidad limitada de accesos premium.</a:t>
            </a:r>
            <a:endParaRPr/>
          </a:p>
          <a:p>
            <a:pPr indent="0" lvl="0" marL="0" rtl="0" algn="l">
              <a:spcBef>
                <a:spcPts val="0"/>
              </a:spcBef>
              <a:spcAft>
                <a:spcPts val="0"/>
              </a:spcAft>
              <a:buNone/>
            </a:pPr>
            <a:r>
              <a:rPr lang="en-US"/>
              <a:t>Las licencias de linkedin Recruiter tienen un valor alto.</a:t>
            </a:r>
            <a:endParaRPr/>
          </a:p>
          <a:p>
            <a:pPr indent="0" lvl="0" marL="0" rtl="0" algn="l">
              <a:spcBef>
                <a:spcPts val="0"/>
              </a:spcBef>
              <a:spcAft>
                <a:spcPts val="0"/>
              </a:spcAft>
              <a:buNone/>
            </a:pPr>
            <a:r>
              <a:rPr lang="en-US"/>
              <a:t>Los avisos en otras plataformas tienen distintos costos y funcionalidades.</a:t>
            </a:r>
            <a:endParaRPr/>
          </a:p>
          <a:p>
            <a:pPr indent="0" lvl="0" marL="0" rtl="0" algn="l">
              <a:spcBef>
                <a:spcPts val="0"/>
              </a:spcBef>
              <a:spcAft>
                <a:spcPts val="0"/>
              </a:spcAft>
              <a:buNone/>
            </a:pPr>
            <a:r>
              <a:t/>
            </a:r>
            <a:endParaRPr/>
          </a:p>
        </p:txBody>
      </p:sp>
      <p:sp>
        <p:nvSpPr>
          <p:cNvPr id="226" name="Google Shape;226;g13f4e71bb30_0_0: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d2c246cc59_3_0: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d2c246cc59_3_0: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las areas de negocio exigen mas resultados mas rapido, y mas alla de las cosas que se quieran existen limitaciones operativas, con accesos a Base de Datos y herramientas de reclutamiento, pero muchas veces desde los presupuestos de RH se asignan determinadas partidas para algunas BBDD y alguna cantidad limitada de accesos premium.</a:t>
            </a:r>
            <a:endParaRPr/>
          </a:p>
          <a:p>
            <a:pPr indent="0" lvl="0" marL="0" rtl="0" algn="l">
              <a:spcBef>
                <a:spcPts val="0"/>
              </a:spcBef>
              <a:spcAft>
                <a:spcPts val="0"/>
              </a:spcAft>
              <a:buNone/>
            </a:pPr>
            <a:r>
              <a:rPr lang="en-US"/>
              <a:t>Las licencias de linkedin Recruiter tienen un valor alto.</a:t>
            </a:r>
            <a:endParaRPr/>
          </a:p>
          <a:p>
            <a:pPr indent="0" lvl="0" marL="0" rtl="0" algn="l">
              <a:spcBef>
                <a:spcPts val="0"/>
              </a:spcBef>
              <a:spcAft>
                <a:spcPts val="0"/>
              </a:spcAft>
              <a:buNone/>
            </a:pPr>
            <a:r>
              <a:rPr lang="en-US"/>
              <a:t>Los avisos en otras plataformas tienen distintos costos y funcionalidades.</a:t>
            </a:r>
            <a:endParaRPr/>
          </a:p>
          <a:p>
            <a:pPr indent="0" lvl="0" marL="0" rtl="0" algn="l">
              <a:spcBef>
                <a:spcPts val="0"/>
              </a:spcBef>
              <a:spcAft>
                <a:spcPts val="0"/>
              </a:spcAft>
              <a:buNone/>
            </a:pPr>
            <a:r>
              <a:t/>
            </a:r>
            <a:endParaRPr/>
          </a:p>
        </p:txBody>
      </p:sp>
      <p:sp>
        <p:nvSpPr>
          <p:cNvPr id="239" name="Google Shape;239;g2d2c246cc59_3_0: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d2c246cc59_0_2: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d2c246cc59_0_2: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las areas de negocio exigen mas resultados mas rapido, y mas alla de las cosas que se quieran existen limitaciones operativas, con accesos a Base de Datos y herramientas de reclutamiento, pero muchas veces desde los presupuestos de RH se asignan determinadas partidas para algunas BBDD y alguna cantidad limitada de accesos premium.</a:t>
            </a:r>
            <a:endParaRPr/>
          </a:p>
          <a:p>
            <a:pPr indent="0" lvl="0" marL="0" rtl="0" algn="l">
              <a:spcBef>
                <a:spcPts val="0"/>
              </a:spcBef>
              <a:spcAft>
                <a:spcPts val="0"/>
              </a:spcAft>
              <a:buNone/>
            </a:pPr>
            <a:r>
              <a:rPr lang="en-US"/>
              <a:t>Las licencias de linkedin Recruiter tienen un valor alto.</a:t>
            </a:r>
            <a:endParaRPr/>
          </a:p>
          <a:p>
            <a:pPr indent="0" lvl="0" marL="0" rtl="0" algn="l">
              <a:spcBef>
                <a:spcPts val="0"/>
              </a:spcBef>
              <a:spcAft>
                <a:spcPts val="0"/>
              </a:spcAft>
              <a:buNone/>
            </a:pPr>
            <a:r>
              <a:rPr lang="en-US"/>
              <a:t>Los avisos en otras plataformas tienen distintos costos y funcionalidades.</a:t>
            </a:r>
            <a:endParaRPr/>
          </a:p>
          <a:p>
            <a:pPr indent="0" lvl="0" marL="0" rtl="0" algn="l">
              <a:spcBef>
                <a:spcPts val="0"/>
              </a:spcBef>
              <a:spcAft>
                <a:spcPts val="0"/>
              </a:spcAft>
              <a:buNone/>
            </a:pPr>
            <a:r>
              <a:t/>
            </a:r>
            <a:endParaRPr/>
          </a:p>
        </p:txBody>
      </p:sp>
      <p:sp>
        <p:nvSpPr>
          <p:cNvPr id="252" name="Google Shape;252;g2d2c246cc59_0_2: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2c246cc59_3_13: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d2c246cc59_3_13: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las areas de negocio exigen mas resultados mas rapido, y mas alla de las cosas que se quieran existen limitaciones operativas, con accesos a Base de Datos y herramientas de reclutamiento, pero muchas veces desde los presupuestos de RH se asignan determinadas partidas para algunas BBDD y alguna cantidad limitada de accesos premium.</a:t>
            </a:r>
            <a:endParaRPr/>
          </a:p>
          <a:p>
            <a:pPr indent="0" lvl="0" marL="0" rtl="0" algn="l">
              <a:spcBef>
                <a:spcPts val="0"/>
              </a:spcBef>
              <a:spcAft>
                <a:spcPts val="0"/>
              </a:spcAft>
              <a:buNone/>
            </a:pPr>
            <a:r>
              <a:rPr lang="en-US"/>
              <a:t>Las licencias de linkedin Recruiter tienen un valor alto.</a:t>
            </a:r>
            <a:endParaRPr/>
          </a:p>
          <a:p>
            <a:pPr indent="0" lvl="0" marL="0" rtl="0" algn="l">
              <a:spcBef>
                <a:spcPts val="0"/>
              </a:spcBef>
              <a:spcAft>
                <a:spcPts val="0"/>
              </a:spcAft>
              <a:buNone/>
            </a:pPr>
            <a:r>
              <a:rPr lang="en-US"/>
              <a:t>Los avisos en otras plataformas tienen distintos costos y funcionalidades.</a:t>
            </a:r>
            <a:endParaRPr/>
          </a:p>
          <a:p>
            <a:pPr indent="0" lvl="0" marL="0" rtl="0" algn="l">
              <a:spcBef>
                <a:spcPts val="0"/>
              </a:spcBef>
              <a:spcAft>
                <a:spcPts val="0"/>
              </a:spcAft>
              <a:buNone/>
            </a:pPr>
            <a:r>
              <a:t/>
            </a:r>
            <a:endParaRPr/>
          </a:p>
        </p:txBody>
      </p:sp>
      <p:sp>
        <p:nvSpPr>
          <p:cNvPr id="266" name="Google Shape;266;g2d2c246cc59_3_13: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d2c246cc59_3_41: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d2c246cc59_3_41: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las areas de negocio exigen mas resultados mas rapido, y mas alla de las cosas que se quieran existen limitaciones operativas, con accesos a Base de Datos y herramientas de reclutamiento, pero muchas veces desde los presupuestos de RH se asignan determinadas partidas para algunas BBDD y alguna cantidad limitada de accesos premium.</a:t>
            </a:r>
            <a:endParaRPr/>
          </a:p>
          <a:p>
            <a:pPr indent="0" lvl="0" marL="0" rtl="0" algn="l">
              <a:spcBef>
                <a:spcPts val="0"/>
              </a:spcBef>
              <a:spcAft>
                <a:spcPts val="0"/>
              </a:spcAft>
              <a:buNone/>
            </a:pPr>
            <a:r>
              <a:rPr lang="en-US"/>
              <a:t>Las licencias de linkedin Recruiter tienen un valor alto.</a:t>
            </a:r>
            <a:endParaRPr/>
          </a:p>
          <a:p>
            <a:pPr indent="0" lvl="0" marL="0" rtl="0" algn="l">
              <a:spcBef>
                <a:spcPts val="0"/>
              </a:spcBef>
              <a:spcAft>
                <a:spcPts val="0"/>
              </a:spcAft>
              <a:buNone/>
            </a:pPr>
            <a:r>
              <a:rPr lang="en-US"/>
              <a:t>Los avisos en otras plataformas tienen distintos costos y funcionalidades.</a:t>
            </a:r>
            <a:endParaRPr/>
          </a:p>
          <a:p>
            <a:pPr indent="0" lvl="0" marL="0" rtl="0" algn="l">
              <a:spcBef>
                <a:spcPts val="0"/>
              </a:spcBef>
              <a:spcAft>
                <a:spcPts val="0"/>
              </a:spcAft>
              <a:buNone/>
            </a:pPr>
            <a:r>
              <a:t/>
            </a:r>
            <a:endParaRPr/>
          </a:p>
        </p:txBody>
      </p:sp>
      <p:sp>
        <p:nvSpPr>
          <p:cNvPr id="281" name="Google Shape;281;g2d2c246cc59_3_41: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3f4e71bb30_0_362: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3f4e71bb30_0_362: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los colaboradores sugieren beneficios, o mismo salen en focus groups que se realizan dentro de las organizaciones surgen la idea de plantear nuevos beneficios que escucharon que se hacen en otras organizaciones ( Ejemplo "demos credito en tal o cual aplicacion" "viernes Flex" "dia de cumpleanos"</a:t>
            </a:r>
            <a:endParaRPr/>
          </a:p>
          <a:p>
            <a:pPr indent="0" lvl="0" marL="0" rtl="0" algn="l">
              <a:spcBef>
                <a:spcPts val="0"/>
              </a:spcBef>
              <a:spcAft>
                <a:spcPts val="0"/>
              </a:spcAft>
              <a:buNone/>
            </a:pPr>
            <a:r>
              <a:rPr lang="en-US"/>
              <a:t>Muchas Veces estos beneficios son practica de mercado, y estan buenisimo, pero tienen una incidencia muy alta en costos, que pueden no estar incluidos dentro de la estructura de costos de la companía o bien, el costo es mayor al beneficio que resulta de su aplicación.</a:t>
            </a:r>
            <a:endParaRPr/>
          </a:p>
          <a:p>
            <a:pPr indent="0" lvl="0" marL="0" rtl="0" algn="l">
              <a:spcBef>
                <a:spcPts val="0"/>
              </a:spcBef>
              <a:spcAft>
                <a:spcPts val="0"/>
              </a:spcAft>
              <a:buNone/>
            </a:pPr>
            <a:r>
              <a:rPr lang="en-US"/>
              <a:t>Tenemos que entender que todo puede ser cuantificado.</a:t>
            </a:r>
            <a:endParaRPr/>
          </a:p>
          <a:p>
            <a:pPr indent="0" lvl="0" marL="0" rtl="0" algn="l">
              <a:spcBef>
                <a:spcPts val="0"/>
              </a:spcBef>
              <a:spcAft>
                <a:spcPts val="0"/>
              </a:spcAft>
              <a:buNone/>
            </a:pPr>
            <a:r>
              <a:rPr lang="en-US"/>
              <a:t>El caso arquetipico, puede ser el "dia de cumpleanos libre "en empresas de servicio dar un dia libre por persona representa la perdida de un dia de facturacion por colaborador. Lo que representa en el ano un impacto del 0,04% en la facturacion. En conrtapartida, si analizamos cual seria el beneficio de esto, no va tener un impacto directo, pero si de forma indirecta incrementando el grado de satisfaccion del colaborador con su lugrar de trabajo.</a:t>
            </a:r>
            <a:endParaRPr/>
          </a:p>
        </p:txBody>
      </p:sp>
      <p:sp>
        <p:nvSpPr>
          <p:cNvPr id="295" name="Google Shape;295;g13f4e71bb30_0_362: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d2c246cc59_3_25: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d2c246cc59_3_25: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rPr lang="en-US"/>
              <a:t>Muchas Veces los colaboradores sugieren beneficios, o mismo salen en focus groups que se realizan dentro de las organizaciones surgen la idea de plantear nuevos beneficios que escucharon que se hacen en otras organizaciones ( Ejemplo "demos credito en tal o cual aplicacion" "viernes Flex" "dia de cumpleanos"</a:t>
            </a:r>
            <a:endParaRPr/>
          </a:p>
          <a:p>
            <a:pPr indent="0" lvl="0" marL="0" rtl="0" algn="l">
              <a:spcBef>
                <a:spcPts val="0"/>
              </a:spcBef>
              <a:spcAft>
                <a:spcPts val="0"/>
              </a:spcAft>
              <a:buNone/>
            </a:pPr>
            <a:r>
              <a:rPr lang="en-US"/>
              <a:t>Muchas Veces estos beneficios son practica de mercado, y estan buenisimo, pero tienen una incidencia muy alta en costos, que pueden no estar incluidos dentro de la estructura de costos de la companía o bien, el costo es mayor al beneficio que resulta de su aplicación.</a:t>
            </a:r>
            <a:endParaRPr/>
          </a:p>
          <a:p>
            <a:pPr indent="0" lvl="0" marL="0" rtl="0" algn="l">
              <a:spcBef>
                <a:spcPts val="0"/>
              </a:spcBef>
              <a:spcAft>
                <a:spcPts val="0"/>
              </a:spcAft>
              <a:buNone/>
            </a:pPr>
            <a:r>
              <a:rPr lang="en-US"/>
              <a:t>Tenemos que entender que todo puede ser cuantificado.</a:t>
            </a:r>
            <a:endParaRPr/>
          </a:p>
          <a:p>
            <a:pPr indent="0" lvl="0" marL="0" rtl="0" algn="l">
              <a:spcBef>
                <a:spcPts val="0"/>
              </a:spcBef>
              <a:spcAft>
                <a:spcPts val="0"/>
              </a:spcAft>
              <a:buNone/>
            </a:pPr>
            <a:r>
              <a:rPr lang="en-US"/>
              <a:t>El caso arquetipico, puede ser el "dia de cumpleanos libre "en empresas de servicio dar un dia libre por persona representa la perdida de un dia de facturacion por colaborador. Lo que representa en el ano un impacto del 0,04% en la facturacion. En conrtapartida, si analizamos cual seria el beneficio de esto, no va tener un impacto directo, pero si de forma indirecta incrementando el grado de satisfaccion del colaborador con su lugrar de trabajo.</a:t>
            </a:r>
            <a:endParaRPr/>
          </a:p>
        </p:txBody>
      </p:sp>
      <p:sp>
        <p:nvSpPr>
          <p:cNvPr id="308" name="Google Shape;308;g2d2c246cc59_3_25: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f4e71bb30_0_373: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f4e71bb30_0_373: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Habitualmente las promociones se encuentran </a:t>
            </a:r>
            <a:r>
              <a:rPr lang="en-US"/>
              <a:t>"topeadas" por razones presupuestarias, si bien, se trabajar desde el area de gestion de talento, es normal que se trabaje alineadamente para respetar cierto % de promociones, que se estimaron dentro de los presupuestos</a:t>
            </a:r>
            <a:endParaRPr/>
          </a:p>
        </p:txBody>
      </p:sp>
      <p:sp>
        <p:nvSpPr>
          <p:cNvPr id="322" name="Google Shape;322;g13f4e71bb30_0_373: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d2d1fb49d5_0_65: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d2d1fb49d5_0_65: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Habitualmente las promociones se encuentran "topeadas" por razones presupuestarias, si bien, se trabajar desde el area de gestion de talento, es normal que se trabaje alineadamente para respetar cierto % de promociones, que se estimaron dentro de los presupuestos</a:t>
            </a:r>
            <a:endParaRPr/>
          </a:p>
        </p:txBody>
      </p:sp>
      <p:sp>
        <p:nvSpPr>
          <p:cNvPr id="335" name="Google Shape;335;g2d2d1fb49d5_0_65: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d2c246cc59_3_55: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d2c246cc59_3_55: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p:txBody>
      </p:sp>
      <p:sp>
        <p:nvSpPr>
          <p:cNvPr id="349" name="Google Shape;349;g2d2c246cc59_3_55: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3f4e71bb30_0_333: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3f4e71bb30_0_333: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p:txBody>
      </p:sp>
      <p:sp>
        <p:nvSpPr>
          <p:cNvPr id="362" name="Google Shape;362;g13f4e71bb30_0_333: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3f4e71bb30_0_351: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3f4e71bb30_0_351: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p:txBody>
      </p:sp>
      <p:sp>
        <p:nvSpPr>
          <p:cNvPr id="376" name="Google Shape;376;g13f4e71bb30_0_351: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3f4e71bb30_0_397: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3f4e71bb30_0_397: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p:txBody>
      </p:sp>
      <p:sp>
        <p:nvSpPr>
          <p:cNvPr id="389" name="Google Shape;389;g13f4e71bb30_0_397: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d2c246cc59_0_32: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d2c246cc59_0_32: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p:txBody>
      </p:sp>
      <p:sp>
        <p:nvSpPr>
          <p:cNvPr id="402" name="Google Shape;402;g2d2c246cc59_0_32: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3f4e71bb30_0_409: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3f4e71bb30_0_409: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rPr lang="en-US"/>
              <a:t>Preguntas Disparadoras</a:t>
            </a:r>
            <a:endParaRPr/>
          </a:p>
          <a:p>
            <a:pPr indent="0" lvl="0" marL="0" rtl="0" algn="l">
              <a:spcBef>
                <a:spcPts val="0"/>
              </a:spcBef>
              <a:spcAft>
                <a:spcPts val="0"/>
              </a:spcAft>
              <a:buNone/>
            </a:pPr>
            <a:r>
              <a:t/>
            </a:r>
            <a:endParaRPr/>
          </a:p>
        </p:txBody>
      </p:sp>
      <p:sp>
        <p:nvSpPr>
          <p:cNvPr id="415" name="Google Shape;415;g13f4e71bb30_0_409: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40df5a88bd_0_38: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40df5a88bd_0_38: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t/>
            </a:r>
            <a:endParaRPr/>
          </a:p>
        </p:txBody>
      </p:sp>
      <p:sp>
        <p:nvSpPr>
          <p:cNvPr id="428" name="Google Shape;428;g140df5a88bd_0_38: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d2c3ec267e_0_0:notes"/>
          <p:cNvSpPr/>
          <p:nvPr>
            <p:ph idx="2" type="sldImg"/>
          </p:nvPr>
        </p:nvSpPr>
        <p:spPr>
          <a:xfrm>
            <a:off x="1189593" y="1240828"/>
            <a:ext cx="4418400" cy="3350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2d2c3ec267e_0_0:notes"/>
          <p:cNvSpPr txBox="1"/>
          <p:nvPr>
            <p:ph idx="1" type="body"/>
          </p:nvPr>
        </p:nvSpPr>
        <p:spPr>
          <a:xfrm>
            <a:off x="679768" y="4777188"/>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g2d2c3ec267e_0_0:notes"/>
          <p:cNvSpPr txBox="1"/>
          <p:nvPr>
            <p:ph idx="12" type="sldNum"/>
          </p:nvPr>
        </p:nvSpPr>
        <p:spPr>
          <a:xfrm>
            <a:off x="3850443" y="9428571"/>
            <a:ext cx="2945700" cy="4980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d2c3ec267e_0_1375:notes"/>
          <p:cNvSpPr/>
          <p:nvPr>
            <p:ph idx="2" type="sldImg"/>
          </p:nvPr>
        </p:nvSpPr>
        <p:spPr>
          <a:xfrm>
            <a:off x="1189593" y="1240828"/>
            <a:ext cx="4418400" cy="3350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2d2c3ec267e_0_1375:notes"/>
          <p:cNvSpPr txBox="1"/>
          <p:nvPr>
            <p:ph idx="1" type="body"/>
          </p:nvPr>
        </p:nvSpPr>
        <p:spPr>
          <a:xfrm>
            <a:off x="679768" y="4777188"/>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g2d2c3ec267e_0_1375:notes"/>
          <p:cNvSpPr txBox="1"/>
          <p:nvPr>
            <p:ph idx="12" type="sldNum"/>
          </p:nvPr>
        </p:nvSpPr>
        <p:spPr>
          <a:xfrm>
            <a:off x="3850443" y="9428571"/>
            <a:ext cx="2945700" cy="4980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d2c3ec267e_0_564:notes"/>
          <p:cNvSpPr/>
          <p:nvPr>
            <p:ph idx="2" type="sldImg"/>
          </p:nvPr>
        </p:nvSpPr>
        <p:spPr>
          <a:xfrm>
            <a:off x="1189593" y="1240828"/>
            <a:ext cx="4418400" cy="3350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2d2c3ec267e_0_564:notes"/>
          <p:cNvSpPr txBox="1"/>
          <p:nvPr>
            <p:ph idx="1" type="body"/>
          </p:nvPr>
        </p:nvSpPr>
        <p:spPr>
          <a:xfrm>
            <a:off x="679768" y="4777188"/>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2d2c3ec267e_0_564:notes"/>
          <p:cNvSpPr txBox="1"/>
          <p:nvPr>
            <p:ph idx="12" type="sldNum"/>
          </p:nvPr>
        </p:nvSpPr>
        <p:spPr>
          <a:xfrm>
            <a:off x="3850443" y="9428571"/>
            <a:ext cx="2945700" cy="4980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d2d1fb49d5_0_0: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d2d1fb49d5_0_0: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t/>
            </a:r>
            <a:endParaRPr/>
          </a:p>
        </p:txBody>
      </p:sp>
      <p:sp>
        <p:nvSpPr>
          <p:cNvPr id="481" name="Google Shape;481;g2d2d1fb49d5_0_0: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3f4e71bb30_0_248:notes"/>
          <p:cNvSpPr/>
          <p:nvPr>
            <p:ph idx="2" type="sldImg"/>
          </p:nvPr>
        </p:nvSpPr>
        <p:spPr>
          <a:xfrm>
            <a:off x="1189593" y="1240828"/>
            <a:ext cx="4418400" cy="3350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g13f4e71bb30_0_248:notes"/>
          <p:cNvSpPr txBox="1"/>
          <p:nvPr>
            <p:ph idx="1" type="body"/>
          </p:nvPr>
        </p:nvSpPr>
        <p:spPr>
          <a:xfrm>
            <a:off x="679768" y="4777188"/>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g13f4e71bb30_0_248:notes"/>
          <p:cNvSpPr txBox="1"/>
          <p:nvPr>
            <p:ph idx="12" type="sldNum"/>
          </p:nvPr>
        </p:nvSpPr>
        <p:spPr>
          <a:xfrm>
            <a:off x="3850443" y="9428571"/>
            <a:ext cx="2945700" cy="4980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40df5a88bd_0_11:notes"/>
          <p:cNvSpPr/>
          <p:nvPr>
            <p:ph idx="2" type="sldImg"/>
          </p:nvPr>
        </p:nvSpPr>
        <p:spPr>
          <a:xfrm>
            <a:off x="531813" y="620713"/>
            <a:ext cx="5734200" cy="39702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40df5a88bd_0_11:notes"/>
          <p:cNvSpPr txBox="1"/>
          <p:nvPr>
            <p:ph idx="1" type="body"/>
          </p:nvPr>
        </p:nvSpPr>
        <p:spPr>
          <a:xfrm>
            <a:off x="212405" y="4715153"/>
            <a:ext cx="6372900" cy="4591200"/>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t/>
            </a:r>
            <a:endParaRPr/>
          </a:p>
        </p:txBody>
      </p:sp>
      <p:sp>
        <p:nvSpPr>
          <p:cNvPr id="500" name="Google Shape;500;g140df5a88bd_0_11:notes"/>
          <p:cNvSpPr txBox="1"/>
          <p:nvPr>
            <p:ph idx="12" type="sldNum"/>
          </p:nvPr>
        </p:nvSpPr>
        <p:spPr>
          <a:xfrm>
            <a:off x="3850443" y="9428584"/>
            <a:ext cx="2945700" cy="496200"/>
          </a:xfrm>
          <a:prstGeom prst="rect">
            <a:avLst/>
          </a:prstGeom>
        </p:spPr>
        <p:txBody>
          <a:bodyPr anchorCtr="0" anchor="b" bIns="179025" lIns="71600" spcFirstLastPara="1" rIns="179025" wrap="square" tIns="358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eople" showMasterSp="0">
  <p:cSld name="Cover-People">
    <p:spTree>
      <p:nvGrpSpPr>
        <p:cNvPr id="13" name="Shape 13"/>
        <p:cNvGrpSpPr/>
        <p:nvPr/>
      </p:nvGrpSpPr>
      <p:grpSpPr>
        <a:xfrm>
          <a:off x="0" y="0"/>
          <a:ext cx="0" cy="0"/>
          <a:chOff x="0" y="0"/>
          <a:chExt cx="0" cy="0"/>
        </a:xfrm>
      </p:grpSpPr>
      <p:sp>
        <p:nvSpPr>
          <p:cNvPr id="14" name="Google Shape;14;p24"/>
          <p:cNvSpPr/>
          <p:nvPr/>
        </p:nvSpPr>
        <p:spPr>
          <a:xfrm>
            <a:off x="-7943" y="6286500"/>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24"/>
          <p:cNvSpPr/>
          <p:nvPr/>
        </p:nvSpPr>
        <p:spPr>
          <a:xfrm>
            <a:off x="-24978" y="1196959"/>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7" name="Shape 17"/>
        <p:cNvGrpSpPr/>
        <p:nvPr/>
      </p:nvGrpSpPr>
      <p:grpSpPr>
        <a:xfrm>
          <a:off x="0" y="0"/>
          <a:ext cx="0" cy="0"/>
          <a:chOff x="0" y="0"/>
          <a:chExt cx="0" cy="0"/>
        </a:xfrm>
      </p:grpSpPr>
      <p:sp>
        <p:nvSpPr>
          <p:cNvPr id="18" name="Google Shape;18;p26"/>
          <p:cNvSpPr/>
          <p:nvPr/>
        </p:nvSpPr>
        <p:spPr>
          <a:xfrm>
            <a:off x="-24978" y="1196959"/>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showMasterSp="0">
  <p:cSld name="Carátula">
    <p:spTree>
      <p:nvGrpSpPr>
        <p:cNvPr id="25" name="Shape 25"/>
        <p:cNvGrpSpPr/>
        <p:nvPr/>
      </p:nvGrpSpPr>
      <p:grpSpPr>
        <a:xfrm>
          <a:off x="0" y="0"/>
          <a:ext cx="0" cy="0"/>
          <a:chOff x="0" y="0"/>
          <a:chExt cx="0" cy="0"/>
        </a:xfrm>
      </p:grpSpPr>
      <p:sp>
        <p:nvSpPr>
          <p:cNvPr id="26" name="Google Shape;26;g13f4e71bb30_0_158"/>
          <p:cNvSpPr/>
          <p:nvPr/>
        </p:nvSpPr>
        <p:spPr>
          <a:xfrm>
            <a:off x="-11026" y="6180971"/>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sp>
        <p:nvSpPr>
          <p:cNvPr id="27" name="Google Shape;27;g13f4e71bb30_0_158"/>
          <p:cNvSpPr/>
          <p:nvPr/>
        </p:nvSpPr>
        <p:spPr>
          <a:xfrm>
            <a:off x="599" y="666660"/>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28" name="Shape 28"/>
        <p:cNvGrpSpPr/>
        <p:nvPr/>
      </p:nvGrpSpPr>
      <p:grpSpPr>
        <a:xfrm>
          <a:off x="0" y="0"/>
          <a:ext cx="0" cy="0"/>
          <a:chOff x="0" y="0"/>
          <a:chExt cx="0" cy="0"/>
        </a:xfrm>
      </p:grpSpPr>
      <p:sp>
        <p:nvSpPr>
          <p:cNvPr id="29" name="Google Shape;29;g13f4e71bb30_0_161"/>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pic>
        <p:nvPicPr>
          <p:cNvPr descr="Image result for utn frba" id="30" name="Google Shape;30;g13f4e71bb30_0_161"/>
          <p:cNvPicPr preferRelativeResize="0"/>
          <p:nvPr/>
        </p:nvPicPr>
        <p:blipFill rotWithShape="1">
          <a:blip r:embed="rId2">
            <a:alphaModFix/>
          </a:blip>
          <a:srcRect b="0" l="0" r="0" t="0"/>
          <a:stretch/>
        </p:blipFill>
        <p:spPr>
          <a:xfrm>
            <a:off x="7003960" y="64395"/>
            <a:ext cx="2611323" cy="95274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1" name="Shape 31"/>
        <p:cNvGrpSpPr/>
        <p:nvPr/>
      </p:nvGrpSpPr>
      <p:grpSpPr>
        <a:xfrm>
          <a:off x="0" y="0"/>
          <a:ext cx="0" cy="0"/>
          <a:chOff x="0" y="0"/>
          <a:chExt cx="0" cy="0"/>
        </a:xfrm>
      </p:grpSpPr>
      <p:sp>
        <p:nvSpPr>
          <p:cNvPr id="32" name="Google Shape;32;g13f4e71bb30_0_164"/>
          <p:cNvSpPr txBox="1"/>
          <p:nvPr>
            <p:ph type="ctrTitle"/>
          </p:nvPr>
        </p:nvSpPr>
        <p:spPr>
          <a:xfrm>
            <a:off x="742950" y="1122363"/>
            <a:ext cx="8420100" cy="2387700"/>
          </a:xfrm>
          <a:prstGeom prst="rect">
            <a:avLst/>
          </a:prstGeom>
          <a:noFill/>
          <a:ln>
            <a:noFill/>
          </a:ln>
        </p:spPr>
        <p:txBody>
          <a:bodyPr anchorCtr="0" anchor="b" bIns="45700" lIns="91425" spcFirstLastPara="1" rIns="91425" wrap="square" tIns="45700">
            <a:normAutofit/>
          </a:bodyPr>
          <a:lstStyle>
            <a:lvl1pPr lvl="0" rtl="0" algn="ctr">
              <a:lnSpc>
                <a:spcPct val="90000"/>
              </a:lnSpc>
              <a:spcBef>
                <a:spcPts val="0"/>
              </a:spcBef>
              <a:spcAft>
                <a:spcPts val="0"/>
              </a:spcAft>
              <a:buClr>
                <a:schemeClr val="dk1"/>
              </a:buClr>
              <a:buSzPts val="6000"/>
              <a:buFont typeface="Calibri"/>
              <a:buNone/>
              <a:defRPr sz="6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3" name="Google Shape;33;g13f4e71bb30_0_164"/>
          <p:cNvSpPr txBox="1"/>
          <p:nvPr>
            <p:ph idx="1" type="subTitle"/>
          </p:nvPr>
        </p:nvSpPr>
        <p:spPr>
          <a:xfrm>
            <a:off x="1238250" y="3602038"/>
            <a:ext cx="7429500" cy="1655700"/>
          </a:xfrm>
          <a:prstGeom prst="rect">
            <a:avLst/>
          </a:prstGeom>
          <a:noFill/>
          <a:ln>
            <a:noFill/>
          </a:ln>
        </p:spPr>
        <p:txBody>
          <a:bodyPr anchorCtr="0" anchor="t" bIns="45700" lIns="91425" spcFirstLastPara="1" rIns="91425" wrap="square" tIns="45700">
            <a:normAutofit/>
          </a:bodyPr>
          <a:lstStyle>
            <a:lvl1pPr lvl="0" rtl="0" algn="ctr">
              <a:lnSpc>
                <a:spcPct val="90000"/>
              </a:lnSpc>
              <a:spcBef>
                <a:spcPts val="1000"/>
              </a:spcBef>
              <a:spcAft>
                <a:spcPts val="0"/>
              </a:spcAft>
              <a:buClr>
                <a:schemeClr val="dk1"/>
              </a:buClr>
              <a:buSzPts val="2400"/>
              <a:buNone/>
              <a:defRPr sz="2400"/>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800"/>
              <a:buNone/>
              <a:defRPr sz="18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
        <p:nvSpPr>
          <p:cNvPr id="34" name="Google Shape;34;g13f4e71bb30_0_164"/>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5" name="Google Shape;35;g13f4e71bb30_0_164"/>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6" name="Google Shape;36;g13f4e71bb30_0_164"/>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g13f4e71bb30_0_170"/>
          <p:cNvSpPr txBox="1"/>
          <p:nvPr>
            <p:ph type="title"/>
          </p:nvPr>
        </p:nvSpPr>
        <p:spPr>
          <a:xfrm>
            <a:off x="681038" y="365126"/>
            <a:ext cx="85440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9" name="Google Shape;39;g13f4e71bb30_0_170"/>
          <p:cNvSpPr txBox="1"/>
          <p:nvPr>
            <p:ph idx="1" type="body"/>
          </p:nvPr>
        </p:nvSpPr>
        <p:spPr>
          <a:xfrm>
            <a:off x="681038" y="1825625"/>
            <a:ext cx="85440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40" name="Google Shape;40;g13f4e71bb30_0_170"/>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1" name="Google Shape;41;g13f4e71bb30_0_170"/>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2" name="Google Shape;42;g13f4e71bb30_0_170"/>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3" name="Shape 43"/>
        <p:cNvGrpSpPr/>
        <p:nvPr/>
      </p:nvGrpSpPr>
      <p:grpSpPr>
        <a:xfrm>
          <a:off x="0" y="0"/>
          <a:ext cx="0" cy="0"/>
          <a:chOff x="0" y="0"/>
          <a:chExt cx="0" cy="0"/>
        </a:xfrm>
      </p:grpSpPr>
      <p:sp>
        <p:nvSpPr>
          <p:cNvPr id="44" name="Google Shape;44;g13f4e71bb30_0_176"/>
          <p:cNvSpPr txBox="1"/>
          <p:nvPr>
            <p:ph type="title"/>
          </p:nvPr>
        </p:nvSpPr>
        <p:spPr>
          <a:xfrm>
            <a:off x="675879" y="1709739"/>
            <a:ext cx="8544000" cy="28527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6000"/>
              <a:buFont typeface="Calibri"/>
              <a:buNone/>
              <a:defRPr sz="6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5" name="Google Shape;45;g13f4e71bb30_0_176"/>
          <p:cNvSpPr txBox="1"/>
          <p:nvPr>
            <p:ph idx="1" type="body"/>
          </p:nvPr>
        </p:nvSpPr>
        <p:spPr>
          <a:xfrm>
            <a:off x="675879" y="4589464"/>
            <a:ext cx="8544000" cy="15003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sz="2400">
                <a:solidFill>
                  <a:schemeClr val="dk1"/>
                </a:solidFill>
              </a:defRPr>
            </a:lvl1pPr>
            <a:lvl2pPr indent="-228600" lvl="1" marL="914400" rtl="0" algn="l">
              <a:lnSpc>
                <a:spcPct val="90000"/>
              </a:lnSpc>
              <a:spcBef>
                <a:spcPts val="500"/>
              </a:spcBef>
              <a:spcAft>
                <a:spcPts val="0"/>
              </a:spcAft>
              <a:buClr>
                <a:srgbClr val="888888"/>
              </a:buClr>
              <a:buSzPts val="2000"/>
              <a:buNone/>
              <a:defRPr sz="2000">
                <a:solidFill>
                  <a:srgbClr val="888888"/>
                </a:solidFill>
              </a:defRPr>
            </a:lvl2pPr>
            <a:lvl3pPr indent="-228600" lvl="2" marL="1371600" rtl="0" algn="l">
              <a:lnSpc>
                <a:spcPct val="90000"/>
              </a:lnSpc>
              <a:spcBef>
                <a:spcPts val="500"/>
              </a:spcBef>
              <a:spcAft>
                <a:spcPts val="0"/>
              </a:spcAft>
              <a:buClr>
                <a:srgbClr val="888888"/>
              </a:buClr>
              <a:buSzPts val="1800"/>
              <a:buNone/>
              <a:defRPr sz="1800">
                <a:solidFill>
                  <a:srgbClr val="888888"/>
                </a:solidFill>
              </a:defRPr>
            </a:lvl3pPr>
            <a:lvl4pPr indent="-228600" lvl="3" marL="1828800" rtl="0" algn="l">
              <a:lnSpc>
                <a:spcPct val="90000"/>
              </a:lnSpc>
              <a:spcBef>
                <a:spcPts val="500"/>
              </a:spcBef>
              <a:spcAft>
                <a:spcPts val="0"/>
              </a:spcAft>
              <a:buClr>
                <a:srgbClr val="888888"/>
              </a:buClr>
              <a:buSzPts val="1600"/>
              <a:buNone/>
              <a:defRPr sz="1600">
                <a:solidFill>
                  <a:srgbClr val="888888"/>
                </a:solidFill>
              </a:defRPr>
            </a:lvl4pPr>
            <a:lvl5pPr indent="-228600" lvl="4" marL="2286000" rtl="0" algn="l">
              <a:lnSpc>
                <a:spcPct val="90000"/>
              </a:lnSpc>
              <a:spcBef>
                <a:spcPts val="500"/>
              </a:spcBef>
              <a:spcAft>
                <a:spcPts val="0"/>
              </a:spcAft>
              <a:buClr>
                <a:srgbClr val="888888"/>
              </a:buClr>
              <a:buSzPts val="1600"/>
              <a:buNone/>
              <a:defRPr sz="1600">
                <a:solidFill>
                  <a:srgbClr val="888888"/>
                </a:solidFill>
              </a:defRPr>
            </a:lvl5pPr>
            <a:lvl6pPr indent="-228600" lvl="5" marL="2743200" rtl="0" algn="l">
              <a:lnSpc>
                <a:spcPct val="90000"/>
              </a:lnSpc>
              <a:spcBef>
                <a:spcPts val="500"/>
              </a:spcBef>
              <a:spcAft>
                <a:spcPts val="0"/>
              </a:spcAft>
              <a:buClr>
                <a:srgbClr val="888888"/>
              </a:buClr>
              <a:buSzPts val="1600"/>
              <a:buNone/>
              <a:defRPr sz="1600">
                <a:solidFill>
                  <a:srgbClr val="888888"/>
                </a:solidFill>
              </a:defRPr>
            </a:lvl6pPr>
            <a:lvl7pPr indent="-228600" lvl="6" marL="3200400" rtl="0" algn="l">
              <a:lnSpc>
                <a:spcPct val="90000"/>
              </a:lnSpc>
              <a:spcBef>
                <a:spcPts val="500"/>
              </a:spcBef>
              <a:spcAft>
                <a:spcPts val="0"/>
              </a:spcAft>
              <a:buClr>
                <a:srgbClr val="888888"/>
              </a:buClr>
              <a:buSzPts val="1600"/>
              <a:buNone/>
              <a:defRPr sz="1600">
                <a:solidFill>
                  <a:srgbClr val="888888"/>
                </a:solidFill>
              </a:defRPr>
            </a:lvl7pPr>
            <a:lvl8pPr indent="-228600" lvl="7" marL="3657600" rtl="0" algn="l">
              <a:lnSpc>
                <a:spcPct val="90000"/>
              </a:lnSpc>
              <a:spcBef>
                <a:spcPts val="500"/>
              </a:spcBef>
              <a:spcAft>
                <a:spcPts val="0"/>
              </a:spcAft>
              <a:buClr>
                <a:srgbClr val="888888"/>
              </a:buClr>
              <a:buSzPts val="1600"/>
              <a:buNone/>
              <a:defRPr sz="1600">
                <a:solidFill>
                  <a:srgbClr val="888888"/>
                </a:solidFill>
              </a:defRPr>
            </a:lvl8pPr>
            <a:lvl9pPr indent="-228600" lvl="8" marL="4114800" rtl="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g13f4e71bb30_0_176"/>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7" name="Google Shape;47;g13f4e71bb30_0_176"/>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8" name="Google Shape;48;g13f4e71bb30_0_176"/>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9" name="Shape 49"/>
        <p:cNvGrpSpPr/>
        <p:nvPr/>
      </p:nvGrpSpPr>
      <p:grpSpPr>
        <a:xfrm>
          <a:off x="0" y="0"/>
          <a:ext cx="0" cy="0"/>
          <a:chOff x="0" y="0"/>
          <a:chExt cx="0" cy="0"/>
        </a:xfrm>
      </p:grpSpPr>
      <p:sp>
        <p:nvSpPr>
          <p:cNvPr id="50" name="Google Shape;50;g13f4e71bb30_0_182"/>
          <p:cNvSpPr txBox="1"/>
          <p:nvPr>
            <p:ph type="title"/>
          </p:nvPr>
        </p:nvSpPr>
        <p:spPr>
          <a:xfrm>
            <a:off x="681038" y="365126"/>
            <a:ext cx="85440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1" name="Google Shape;51;g13f4e71bb30_0_182"/>
          <p:cNvSpPr txBox="1"/>
          <p:nvPr>
            <p:ph idx="1" type="body"/>
          </p:nvPr>
        </p:nvSpPr>
        <p:spPr>
          <a:xfrm>
            <a:off x="681038" y="1825625"/>
            <a:ext cx="42102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52" name="Google Shape;52;g13f4e71bb30_0_182"/>
          <p:cNvSpPr txBox="1"/>
          <p:nvPr>
            <p:ph idx="2" type="body"/>
          </p:nvPr>
        </p:nvSpPr>
        <p:spPr>
          <a:xfrm>
            <a:off x="5014913" y="1825625"/>
            <a:ext cx="42102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53" name="Google Shape;53;g13f4e71bb30_0_182"/>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g13f4e71bb30_0_182"/>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5" name="Google Shape;55;g13f4e71bb30_0_182"/>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g13f4e71bb30_0_189"/>
          <p:cNvSpPr txBox="1"/>
          <p:nvPr>
            <p:ph type="title"/>
          </p:nvPr>
        </p:nvSpPr>
        <p:spPr>
          <a:xfrm>
            <a:off x="682328" y="365126"/>
            <a:ext cx="85440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8" name="Google Shape;58;g13f4e71bb30_0_189"/>
          <p:cNvSpPr txBox="1"/>
          <p:nvPr>
            <p:ph idx="1" type="body"/>
          </p:nvPr>
        </p:nvSpPr>
        <p:spPr>
          <a:xfrm>
            <a:off x="682329" y="1681163"/>
            <a:ext cx="4190700" cy="8238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59" name="Google Shape;59;g13f4e71bb30_0_189"/>
          <p:cNvSpPr txBox="1"/>
          <p:nvPr>
            <p:ph idx="2" type="body"/>
          </p:nvPr>
        </p:nvSpPr>
        <p:spPr>
          <a:xfrm>
            <a:off x="682329" y="2505075"/>
            <a:ext cx="4190700" cy="36846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60" name="Google Shape;60;g13f4e71bb30_0_189"/>
          <p:cNvSpPr txBox="1"/>
          <p:nvPr>
            <p:ph idx="3" type="body"/>
          </p:nvPr>
        </p:nvSpPr>
        <p:spPr>
          <a:xfrm>
            <a:off x="5014913" y="1681163"/>
            <a:ext cx="4211400" cy="8238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61" name="Google Shape;61;g13f4e71bb30_0_189"/>
          <p:cNvSpPr txBox="1"/>
          <p:nvPr>
            <p:ph idx="4" type="body"/>
          </p:nvPr>
        </p:nvSpPr>
        <p:spPr>
          <a:xfrm>
            <a:off x="5014913" y="2505075"/>
            <a:ext cx="4211400" cy="36846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62" name="Google Shape;62;g13f4e71bb30_0_189"/>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3" name="Google Shape;63;g13f4e71bb30_0_189"/>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4" name="Google Shape;64;g13f4e71bb30_0_189"/>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5" name="Shape 65"/>
        <p:cNvGrpSpPr/>
        <p:nvPr/>
      </p:nvGrpSpPr>
      <p:grpSpPr>
        <a:xfrm>
          <a:off x="0" y="0"/>
          <a:ext cx="0" cy="0"/>
          <a:chOff x="0" y="0"/>
          <a:chExt cx="0" cy="0"/>
        </a:xfrm>
      </p:grpSpPr>
      <p:sp>
        <p:nvSpPr>
          <p:cNvPr id="66" name="Google Shape;66;g13f4e71bb30_0_198"/>
          <p:cNvSpPr txBox="1"/>
          <p:nvPr>
            <p:ph type="title"/>
          </p:nvPr>
        </p:nvSpPr>
        <p:spPr>
          <a:xfrm>
            <a:off x="681038" y="365126"/>
            <a:ext cx="85440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7" name="Google Shape;67;g13f4e71bb30_0_198"/>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8" name="Google Shape;68;g13f4e71bb30_0_198"/>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9" name="Google Shape;69;g13f4e71bb30_0_198"/>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0" name="Shape 70"/>
        <p:cNvGrpSpPr/>
        <p:nvPr/>
      </p:nvGrpSpPr>
      <p:grpSpPr>
        <a:xfrm>
          <a:off x="0" y="0"/>
          <a:ext cx="0" cy="0"/>
          <a:chOff x="0" y="0"/>
          <a:chExt cx="0" cy="0"/>
        </a:xfrm>
      </p:grpSpPr>
      <p:sp>
        <p:nvSpPr>
          <p:cNvPr id="71" name="Google Shape;71;g13f4e71bb30_0_203"/>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2" name="Google Shape;72;g13f4e71bb30_0_203"/>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g13f4e71bb30_0_203"/>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4" name="Shape 74"/>
        <p:cNvGrpSpPr/>
        <p:nvPr/>
      </p:nvGrpSpPr>
      <p:grpSpPr>
        <a:xfrm>
          <a:off x="0" y="0"/>
          <a:ext cx="0" cy="0"/>
          <a:chOff x="0" y="0"/>
          <a:chExt cx="0" cy="0"/>
        </a:xfrm>
      </p:grpSpPr>
      <p:sp>
        <p:nvSpPr>
          <p:cNvPr id="75" name="Google Shape;75;g13f4e71bb30_0_207"/>
          <p:cNvSpPr txBox="1"/>
          <p:nvPr>
            <p:ph type="title"/>
          </p:nvPr>
        </p:nvSpPr>
        <p:spPr>
          <a:xfrm>
            <a:off x="682328" y="457200"/>
            <a:ext cx="3195000" cy="16002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3200"/>
              <a:buFont typeface="Calibri"/>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6" name="Google Shape;76;g13f4e71bb30_0_207"/>
          <p:cNvSpPr txBox="1"/>
          <p:nvPr>
            <p:ph idx="1" type="body"/>
          </p:nvPr>
        </p:nvSpPr>
        <p:spPr>
          <a:xfrm>
            <a:off x="4211340" y="987426"/>
            <a:ext cx="5015100" cy="4873500"/>
          </a:xfrm>
          <a:prstGeom prst="rect">
            <a:avLst/>
          </a:prstGeom>
          <a:noFill/>
          <a:ln>
            <a:noFill/>
          </a:ln>
        </p:spPr>
        <p:txBody>
          <a:bodyPr anchorCtr="0" anchor="t" bIns="45700" lIns="91425" spcFirstLastPara="1" rIns="91425" wrap="square" tIns="45700">
            <a:normAutofit/>
          </a:bodyPr>
          <a:lstStyle>
            <a:lvl1pPr indent="-431800" lvl="0" marL="457200" rtl="0" algn="l">
              <a:lnSpc>
                <a:spcPct val="90000"/>
              </a:lnSpc>
              <a:spcBef>
                <a:spcPts val="1000"/>
              </a:spcBef>
              <a:spcAft>
                <a:spcPts val="0"/>
              </a:spcAft>
              <a:buClr>
                <a:schemeClr val="dk1"/>
              </a:buClr>
              <a:buSzPts val="3200"/>
              <a:buChar char="•"/>
              <a:defRPr sz="3200"/>
            </a:lvl1pPr>
            <a:lvl2pPr indent="-406400" lvl="1" marL="914400" rtl="0" algn="l">
              <a:lnSpc>
                <a:spcPct val="90000"/>
              </a:lnSpc>
              <a:spcBef>
                <a:spcPts val="500"/>
              </a:spcBef>
              <a:spcAft>
                <a:spcPts val="0"/>
              </a:spcAft>
              <a:buClr>
                <a:schemeClr val="dk1"/>
              </a:buClr>
              <a:buSzPts val="2800"/>
              <a:buChar char="•"/>
              <a:defRPr sz="2800"/>
            </a:lvl2pPr>
            <a:lvl3pPr indent="-381000" lvl="2" marL="1371600" rtl="0" algn="l">
              <a:lnSpc>
                <a:spcPct val="90000"/>
              </a:lnSpc>
              <a:spcBef>
                <a:spcPts val="500"/>
              </a:spcBef>
              <a:spcAft>
                <a:spcPts val="0"/>
              </a:spcAft>
              <a:buClr>
                <a:schemeClr val="dk1"/>
              </a:buClr>
              <a:buSzPts val="2400"/>
              <a:buChar char="•"/>
              <a:defRPr sz="2400"/>
            </a:lvl3pPr>
            <a:lvl4pPr indent="-355600" lvl="3" marL="1828800" rtl="0" algn="l">
              <a:lnSpc>
                <a:spcPct val="90000"/>
              </a:lnSpc>
              <a:spcBef>
                <a:spcPts val="500"/>
              </a:spcBef>
              <a:spcAft>
                <a:spcPts val="0"/>
              </a:spcAft>
              <a:buClr>
                <a:schemeClr val="dk1"/>
              </a:buClr>
              <a:buSzPts val="2000"/>
              <a:buChar char="•"/>
              <a:defRPr sz="2000"/>
            </a:lvl4pPr>
            <a:lvl5pPr indent="-355600" lvl="4" marL="2286000" rtl="0" algn="l">
              <a:lnSpc>
                <a:spcPct val="90000"/>
              </a:lnSpc>
              <a:spcBef>
                <a:spcPts val="500"/>
              </a:spcBef>
              <a:spcAft>
                <a:spcPts val="0"/>
              </a:spcAft>
              <a:buClr>
                <a:schemeClr val="dk1"/>
              </a:buClr>
              <a:buSzPts val="2000"/>
              <a:buChar char="•"/>
              <a:defRPr sz="2000"/>
            </a:lvl5pPr>
            <a:lvl6pPr indent="-355600" lvl="5" marL="2743200" rtl="0" algn="l">
              <a:lnSpc>
                <a:spcPct val="90000"/>
              </a:lnSpc>
              <a:spcBef>
                <a:spcPts val="500"/>
              </a:spcBef>
              <a:spcAft>
                <a:spcPts val="0"/>
              </a:spcAft>
              <a:buClr>
                <a:schemeClr val="dk1"/>
              </a:buClr>
              <a:buSzPts val="2000"/>
              <a:buChar char="•"/>
              <a:defRPr sz="2000"/>
            </a:lvl6pPr>
            <a:lvl7pPr indent="-355600" lvl="6" marL="3200400" rtl="0" algn="l">
              <a:lnSpc>
                <a:spcPct val="90000"/>
              </a:lnSpc>
              <a:spcBef>
                <a:spcPts val="500"/>
              </a:spcBef>
              <a:spcAft>
                <a:spcPts val="0"/>
              </a:spcAft>
              <a:buClr>
                <a:schemeClr val="dk1"/>
              </a:buClr>
              <a:buSzPts val="2000"/>
              <a:buChar char="•"/>
              <a:defRPr sz="2000"/>
            </a:lvl7pPr>
            <a:lvl8pPr indent="-355600" lvl="7" marL="3657600" rtl="0" algn="l">
              <a:lnSpc>
                <a:spcPct val="90000"/>
              </a:lnSpc>
              <a:spcBef>
                <a:spcPts val="500"/>
              </a:spcBef>
              <a:spcAft>
                <a:spcPts val="0"/>
              </a:spcAft>
              <a:buClr>
                <a:schemeClr val="dk1"/>
              </a:buClr>
              <a:buSzPts val="2000"/>
              <a:buChar char="•"/>
              <a:defRPr sz="2000"/>
            </a:lvl8pPr>
            <a:lvl9pPr indent="-355600" lvl="8" marL="4114800" rtl="0" algn="l">
              <a:lnSpc>
                <a:spcPct val="90000"/>
              </a:lnSpc>
              <a:spcBef>
                <a:spcPts val="500"/>
              </a:spcBef>
              <a:spcAft>
                <a:spcPts val="0"/>
              </a:spcAft>
              <a:buClr>
                <a:schemeClr val="dk1"/>
              </a:buClr>
              <a:buSzPts val="2000"/>
              <a:buChar char="•"/>
              <a:defRPr sz="2000"/>
            </a:lvl9pPr>
          </a:lstStyle>
          <a:p/>
        </p:txBody>
      </p:sp>
      <p:sp>
        <p:nvSpPr>
          <p:cNvPr id="77" name="Google Shape;77;g13f4e71bb30_0_207"/>
          <p:cNvSpPr txBox="1"/>
          <p:nvPr>
            <p:ph idx="2" type="body"/>
          </p:nvPr>
        </p:nvSpPr>
        <p:spPr>
          <a:xfrm>
            <a:off x="682328" y="2057400"/>
            <a:ext cx="3195000" cy="38115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78" name="Google Shape;78;g13f4e71bb30_0_207"/>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9" name="Google Shape;79;g13f4e71bb30_0_207"/>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0" name="Google Shape;80;g13f4e71bb30_0_207"/>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81" name="Shape 81"/>
        <p:cNvGrpSpPr/>
        <p:nvPr/>
      </p:nvGrpSpPr>
      <p:grpSpPr>
        <a:xfrm>
          <a:off x="0" y="0"/>
          <a:ext cx="0" cy="0"/>
          <a:chOff x="0" y="0"/>
          <a:chExt cx="0" cy="0"/>
        </a:xfrm>
      </p:grpSpPr>
      <p:sp>
        <p:nvSpPr>
          <p:cNvPr id="82" name="Google Shape;82;g13f4e71bb30_0_214"/>
          <p:cNvSpPr txBox="1"/>
          <p:nvPr>
            <p:ph type="title"/>
          </p:nvPr>
        </p:nvSpPr>
        <p:spPr>
          <a:xfrm>
            <a:off x="682328" y="457200"/>
            <a:ext cx="3195000" cy="16002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3200"/>
              <a:buFont typeface="Calibri"/>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3" name="Google Shape;83;g13f4e71bb30_0_214"/>
          <p:cNvSpPr/>
          <p:nvPr>
            <p:ph idx="2" type="pic"/>
          </p:nvPr>
        </p:nvSpPr>
        <p:spPr>
          <a:xfrm>
            <a:off x="4211340" y="987426"/>
            <a:ext cx="5015100" cy="4873500"/>
          </a:xfrm>
          <a:prstGeom prst="rect">
            <a:avLst/>
          </a:prstGeom>
          <a:noFill/>
          <a:ln>
            <a:noFill/>
          </a:ln>
        </p:spPr>
      </p:sp>
      <p:sp>
        <p:nvSpPr>
          <p:cNvPr id="84" name="Google Shape;84;g13f4e71bb30_0_214"/>
          <p:cNvSpPr txBox="1"/>
          <p:nvPr>
            <p:ph idx="1" type="body"/>
          </p:nvPr>
        </p:nvSpPr>
        <p:spPr>
          <a:xfrm>
            <a:off x="682328" y="2057400"/>
            <a:ext cx="3195000" cy="38115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85" name="Google Shape;85;g13f4e71bb30_0_214"/>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6" name="Google Shape;86;g13f4e71bb30_0_214"/>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7" name="Google Shape;87;g13f4e71bb30_0_214"/>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8" name="Shape 88"/>
        <p:cNvGrpSpPr/>
        <p:nvPr/>
      </p:nvGrpSpPr>
      <p:grpSpPr>
        <a:xfrm>
          <a:off x="0" y="0"/>
          <a:ext cx="0" cy="0"/>
          <a:chOff x="0" y="0"/>
          <a:chExt cx="0" cy="0"/>
        </a:xfrm>
      </p:grpSpPr>
      <p:sp>
        <p:nvSpPr>
          <p:cNvPr id="89" name="Google Shape;89;g13f4e71bb30_0_221"/>
          <p:cNvSpPr txBox="1"/>
          <p:nvPr>
            <p:ph type="title"/>
          </p:nvPr>
        </p:nvSpPr>
        <p:spPr>
          <a:xfrm>
            <a:off x="681038" y="365126"/>
            <a:ext cx="85440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0" name="Google Shape;90;g13f4e71bb30_0_221"/>
          <p:cNvSpPr txBox="1"/>
          <p:nvPr>
            <p:ph idx="1" type="body"/>
          </p:nvPr>
        </p:nvSpPr>
        <p:spPr>
          <a:xfrm rot="5400000">
            <a:off x="2777363" y="-270775"/>
            <a:ext cx="4351200" cy="8544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91" name="Google Shape;91;g13f4e71bb30_0_221"/>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2" name="Google Shape;92;g13f4e71bb30_0_221"/>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3" name="Google Shape;93;g13f4e71bb30_0_221"/>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4" name="Shape 94"/>
        <p:cNvGrpSpPr/>
        <p:nvPr/>
      </p:nvGrpSpPr>
      <p:grpSpPr>
        <a:xfrm>
          <a:off x="0" y="0"/>
          <a:ext cx="0" cy="0"/>
          <a:chOff x="0" y="0"/>
          <a:chExt cx="0" cy="0"/>
        </a:xfrm>
      </p:grpSpPr>
      <p:sp>
        <p:nvSpPr>
          <p:cNvPr id="95" name="Google Shape;95;g13f4e71bb30_0_227"/>
          <p:cNvSpPr txBox="1"/>
          <p:nvPr>
            <p:ph type="title"/>
          </p:nvPr>
        </p:nvSpPr>
        <p:spPr>
          <a:xfrm rot="5400000">
            <a:off x="5251012" y="2203075"/>
            <a:ext cx="5811900" cy="2136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6" name="Google Shape;96;g13f4e71bb30_0_227"/>
          <p:cNvSpPr txBox="1"/>
          <p:nvPr>
            <p:ph idx="1" type="body"/>
          </p:nvPr>
        </p:nvSpPr>
        <p:spPr>
          <a:xfrm rot="5400000">
            <a:off x="917156" y="129024"/>
            <a:ext cx="5811900" cy="62841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97" name="Google Shape;97;g13f4e71bb30_0_227"/>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8" name="Google Shape;98;g13f4e71bb30_0_227"/>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9" name="Google Shape;99;g13f4e71bb30_0_227"/>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Adicional" showMasterSp="0">
  <p:cSld name="Contenido Adicional">
    <p:bg>
      <p:bgPr>
        <a:gradFill>
          <a:gsLst>
            <a:gs pos="0">
              <a:srgbClr val="FAFAFA"/>
            </a:gs>
            <a:gs pos="16000">
              <a:srgbClr val="FAFAFA"/>
            </a:gs>
            <a:gs pos="46000">
              <a:schemeClr val="lt2"/>
            </a:gs>
            <a:gs pos="83000">
              <a:srgbClr val="D6D6D6"/>
            </a:gs>
            <a:gs pos="100000">
              <a:srgbClr val="E3E3E3"/>
            </a:gs>
          </a:gsLst>
          <a:lin ang="5400012" scaled="0"/>
        </a:gradFill>
      </p:bgPr>
    </p:bg>
    <p:spTree>
      <p:nvGrpSpPr>
        <p:cNvPr id="100" name="Shape 100"/>
        <p:cNvGrpSpPr/>
        <p:nvPr/>
      </p:nvGrpSpPr>
      <p:grpSpPr>
        <a:xfrm>
          <a:off x="0" y="0"/>
          <a:ext cx="0" cy="0"/>
          <a:chOff x="0" y="0"/>
          <a:chExt cx="0" cy="0"/>
        </a:xfrm>
      </p:grpSpPr>
      <p:sp>
        <p:nvSpPr>
          <p:cNvPr id="101" name="Google Shape;101;g13f4e71bb30_0_233"/>
          <p:cNvSpPr/>
          <p:nvPr/>
        </p:nvSpPr>
        <p:spPr>
          <a:xfrm>
            <a:off x="599" y="1091667"/>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pic>
        <p:nvPicPr>
          <p:cNvPr descr="Image result for utn frba" id="102" name="Google Shape;102;g13f4e71bb30_0_233"/>
          <p:cNvPicPr preferRelativeResize="0"/>
          <p:nvPr/>
        </p:nvPicPr>
        <p:blipFill rotWithShape="1">
          <a:blip r:embed="rId2">
            <a:alphaModFix/>
          </a:blip>
          <a:srcRect b="0" l="0" r="0" t="0"/>
          <a:stretch/>
        </p:blipFill>
        <p:spPr>
          <a:xfrm>
            <a:off x="7003960" y="64395"/>
            <a:ext cx="2611323" cy="952745"/>
          </a:xfrm>
          <a:prstGeom prst="rect">
            <a:avLst/>
          </a:prstGeom>
          <a:noFill/>
          <a:ln>
            <a:noFill/>
          </a:ln>
        </p:spPr>
      </p:pic>
      <p:sp>
        <p:nvSpPr>
          <p:cNvPr id="103" name="Google Shape;103;g13f4e71bb30_0_233"/>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chemeClr val="dk1"/>
              </a:buClr>
              <a:buSzPts val="600"/>
              <a:buFont typeface="Calibri"/>
              <a:buNone/>
            </a:pPr>
            <a:r>
              <a:t/>
            </a:r>
            <a:endParaRPr b="1" i="0" sz="2400" u="none" cap="none" strike="noStrike">
              <a:solidFill>
                <a:srgbClr val="932328"/>
              </a:solidFill>
              <a:latin typeface="Calibri"/>
              <a:ea typeface="Calibri"/>
              <a:cs typeface="Calibri"/>
              <a:sym typeface="Calibri"/>
            </a:endParaRPr>
          </a:p>
          <a:p>
            <a:pPr indent="-714375" lvl="0" marL="714375" marR="0" rtl="0" algn="l">
              <a:lnSpc>
                <a:spcPct val="90000"/>
              </a:lnSpc>
              <a:spcBef>
                <a:spcPts val="0"/>
              </a:spcBef>
              <a:spcAft>
                <a:spcPts val="0"/>
              </a:spcAft>
              <a:buClr>
                <a:srgbClr val="000000"/>
              </a:buClr>
              <a:buSzPts val="2800"/>
              <a:buFont typeface="Arial"/>
              <a:buNone/>
            </a:pPr>
            <a:r>
              <a:rPr b="1" i="0" lang="en-US" sz="2800" u="none" cap="none" strike="noStrike">
                <a:solidFill>
                  <a:srgbClr val="932328"/>
                </a:solidFill>
                <a:latin typeface="Arial Narrow"/>
                <a:ea typeface="Arial Narrow"/>
                <a:cs typeface="Arial Narrow"/>
                <a:sym typeface="Arial Narrow"/>
              </a:rPr>
              <a:t>Contenido Adicional</a:t>
            </a:r>
            <a:endParaRPr b="0" i="0" sz="1400" u="none" cap="none" strike="noStrike">
              <a:solidFill>
                <a:srgbClr val="000000"/>
              </a:solidFill>
              <a:latin typeface="Arial"/>
              <a:ea typeface="Arial"/>
              <a:cs typeface="Arial"/>
              <a:sym typeface="Arial"/>
            </a:endParaRPr>
          </a:p>
        </p:txBody>
      </p:sp>
      <p:sp>
        <p:nvSpPr>
          <p:cNvPr id="104" name="Google Shape;104;g13f4e71bb30_0_233"/>
          <p:cNvSpPr txBox="1"/>
          <p:nvPr>
            <p:ph idx="1" type="body"/>
          </p:nvPr>
        </p:nvSpPr>
        <p:spPr>
          <a:xfrm>
            <a:off x="251346" y="1211913"/>
            <a:ext cx="9462300" cy="54756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 Text and Images">
  <p:cSld name="2 Columns - Text and Images">
    <p:spTree>
      <p:nvGrpSpPr>
        <p:cNvPr id="105" name="Shape 105"/>
        <p:cNvGrpSpPr/>
        <p:nvPr/>
      </p:nvGrpSpPr>
      <p:grpSpPr>
        <a:xfrm>
          <a:off x="0" y="0"/>
          <a:ext cx="0" cy="0"/>
          <a:chOff x="0" y="0"/>
          <a:chExt cx="0" cy="0"/>
        </a:xfrm>
      </p:grpSpPr>
      <p:sp>
        <p:nvSpPr>
          <p:cNvPr id="106" name="Google Shape;106;g13f4e71bb30_0_238"/>
          <p:cNvSpPr txBox="1"/>
          <p:nvPr>
            <p:ph idx="1" type="body"/>
          </p:nvPr>
        </p:nvSpPr>
        <p:spPr>
          <a:xfrm>
            <a:off x="5168166" y="4770000"/>
            <a:ext cx="4328100" cy="1566000"/>
          </a:xfrm>
          <a:prstGeom prst="rect">
            <a:avLst/>
          </a:prstGeom>
          <a:noFill/>
          <a:ln>
            <a:noFill/>
          </a:ln>
        </p:spPr>
        <p:txBody>
          <a:bodyPr anchorCtr="0" anchor="t" bIns="45700" lIns="91425" spcFirstLastPara="1" rIns="91425" wrap="square" tIns="45700">
            <a:normAutofit/>
          </a:bodyPr>
          <a:lstStyle>
            <a:lvl1pPr indent="-314325" lvl="0" marL="457200" rtl="0" algn="l">
              <a:lnSpc>
                <a:spcPct val="90000"/>
              </a:lnSpc>
              <a:spcBef>
                <a:spcPts val="1215"/>
              </a:spcBef>
              <a:spcAft>
                <a:spcPts val="0"/>
              </a:spcAft>
              <a:buClr>
                <a:schemeClr val="dk1"/>
              </a:buClr>
              <a:buSzPts val="1350"/>
              <a:buChar char="•"/>
              <a:defRPr sz="1350"/>
            </a:lvl1pPr>
            <a:lvl2pPr indent="-304800" lvl="1" marL="914400" rtl="0" algn="l">
              <a:lnSpc>
                <a:spcPct val="90000"/>
              </a:lnSpc>
              <a:spcBef>
                <a:spcPts val="500"/>
              </a:spcBef>
              <a:spcAft>
                <a:spcPts val="0"/>
              </a:spcAft>
              <a:buClr>
                <a:schemeClr val="dk1"/>
              </a:buClr>
              <a:buSzPts val="1200"/>
              <a:buChar char="•"/>
              <a:defRPr sz="1200"/>
            </a:lvl2pPr>
            <a:lvl3pPr indent="-295275" lvl="2" marL="1371600" rtl="0" algn="l">
              <a:lnSpc>
                <a:spcPct val="90000"/>
              </a:lnSpc>
              <a:spcBef>
                <a:spcPts val="500"/>
              </a:spcBef>
              <a:spcAft>
                <a:spcPts val="0"/>
              </a:spcAft>
              <a:buClr>
                <a:schemeClr val="dk1"/>
              </a:buClr>
              <a:buSzPts val="1050"/>
              <a:buChar char="•"/>
              <a:defRPr sz="1050"/>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07" name="Google Shape;107;g13f4e71bb30_0_238"/>
          <p:cNvSpPr/>
          <p:nvPr>
            <p:ph idx="2" type="pic"/>
          </p:nvPr>
        </p:nvSpPr>
        <p:spPr>
          <a:xfrm>
            <a:off x="5168166" y="1620000"/>
            <a:ext cx="4328100" cy="2631000"/>
          </a:xfrm>
          <a:prstGeom prst="rect">
            <a:avLst/>
          </a:prstGeom>
          <a:noFill/>
          <a:ln>
            <a:noFill/>
          </a:ln>
        </p:spPr>
      </p:sp>
      <p:sp>
        <p:nvSpPr>
          <p:cNvPr id="108" name="Google Shape;108;g13f4e71bb30_0_238"/>
          <p:cNvSpPr txBox="1"/>
          <p:nvPr>
            <p:ph idx="3" type="body"/>
          </p:nvPr>
        </p:nvSpPr>
        <p:spPr>
          <a:xfrm>
            <a:off x="409394" y="4770000"/>
            <a:ext cx="4328100" cy="1566000"/>
          </a:xfrm>
          <a:prstGeom prst="rect">
            <a:avLst/>
          </a:prstGeom>
          <a:noFill/>
          <a:ln>
            <a:noFill/>
          </a:ln>
        </p:spPr>
        <p:txBody>
          <a:bodyPr anchorCtr="0" anchor="t" bIns="45700" lIns="91425" spcFirstLastPara="1" rIns="91425" wrap="square" tIns="45700">
            <a:normAutofit/>
          </a:bodyPr>
          <a:lstStyle>
            <a:lvl1pPr indent="-314325" lvl="0" marL="457200" rtl="0" algn="l">
              <a:lnSpc>
                <a:spcPct val="90000"/>
              </a:lnSpc>
              <a:spcBef>
                <a:spcPts val="1215"/>
              </a:spcBef>
              <a:spcAft>
                <a:spcPts val="0"/>
              </a:spcAft>
              <a:buClr>
                <a:schemeClr val="dk1"/>
              </a:buClr>
              <a:buSzPts val="1350"/>
              <a:buChar char="•"/>
              <a:defRPr sz="1350"/>
            </a:lvl1pPr>
            <a:lvl2pPr indent="-304800" lvl="1" marL="914400" rtl="0" algn="l">
              <a:lnSpc>
                <a:spcPct val="90000"/>
              </a:lnSpc>
              <a:spcBef>
                <a:spcPts val="500"/>
              </a:spcBef>
              <a:spcAft>
                <a:spcPts val="0"/>
              </a:spcAft>
              <a:buClr>
                <a:schemeClr val="dk1"/>
              </a:buClr>
              <a:buSzPts val="1200"/>
              <a:buChar char="•"/>
              <a:defRPr sz="1200"/>
            </a:lvl2pPr>
            <a:lvl3pPr indent="-295275" lvl="2" marL="1371600" rtl="0" algn="l">
              <a:lnSpc>
                <a:spcPct val="90000"/>
              </a:lnSpc>
              <a:spcBef>
                <a:spcPts val="500"/>
              </a:spcBef>
              <a:spcAft>
                <a:spcPts val="0"/>
              </a:spcAft>
              <a:buClr>
                <a:schemeClr val="dk1"/>
              </a:buClr>
              <a:buSzPts val="1050"/>
              <a:buChar char="•"/>
              <a:defRPr sz="1050"/>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09" name="Google Shape;109;g13f4e71bb30_0_238"/>
          <p:cNvSpPr/>
          <p:nvPr>
            <p:ph idx="4" type="pic"/>
          </p:nvPr>
        </p:nvSpPr>
        <p:spPr>
          <a:xfrm>
            <a:off x="409394" y="1620000"/>
            <a:ext cx="4328100" cy="2631000"/>
          </a:xfrm>
          <a:prstGeom prst="rect">
            <a:avLst/>
          </a:prstGeom>
          <a:noFill/>
          <a:ln>
            <a:noFill/>
          </a:ln>
        </p:spPr>
      </p:sp>
      <p:sp>
        <p:nvSpPr>
          <p:cNvPr id="110" name="Google Shape;110;g13f4e71bb30_0_238"/>
          <p:cNvSpPr txBox="1"/>
          <p:nvPr>
            <p:ph type="title"/>
          </p:nvPr>
        </p:nvSpPr>
        <p:spPr>
          <a:xfrm>
            <a:off x="409394" y="504000"/>
            <a:ext cx="9086700" cy="3693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1" name="Shape 111"/>
        <p:cNvGrpSpPr/>
        <p:nvPr/>
      </p:nvGrpSpPr>
      <p:grpSpPr>
        <a:xfrm>
          <a:off x="0" y="0"/>
          <a:ext cx="0" cy="0"/>
          <a:chOff x="0" y="0"/>
          <a:chExt cx="0" cy="0"/>
        </a:xfrm>
      </p:grpSpPr>
      <p:sp>
        <p:nvSpPr>
          <p:cNvPr id="112" name="Google Shape;112;g13f4e71bb30_0_244"/>
          <p:cNvSpPr txBox="1"/>
          <p:nvPr>
            <p:ph type="title"/>
          </p:nvPr>
        </p:nvSpPr>
        <p:spPr>
          <a:xfrm>
            <a:off x="495300" y="228601"/>
            <a:ext cx="8915400" cy="838200"/>
          </a:xfrm>
          <a:prstGeom prst="rect">
            <a:avLst/>
          </a:prstGeom>
          <a:noFill/>
          <a:ln>
            <a:noFill/>
          </a:ln>
        </p:spPr>
        <p:txBody>
          <a:bodyPr anchorCtr="0" anchor="ctr" bIns="45700" lIns="91425" spcFirstLastPara="1" rIns="91425" wrap="square" tIns="45700">
            <a:normAutofit/>
          </a:bodyPr>
          <a:lstStyle>
            <a:lvl1pPr indent="0" lvl="0" marL="0" marR="0" rtl="0" algn="l">
              <a:lnSpc>
                <a:spcPct val="100000"/>
              </a:lnSpc>
              <a:spcBef>
                <a:spcPts val="0"/>
              </a:spcBef>
              <a:spcAft>
                <a:spcPts val="0"/>
              </a:spcAft>
              <a:buClr>
                <a:srgbClr val="999999"/>
              </a:buClr>
              <a:buSzPts val="4400"/>
              <a:buFont typeface="Lato"/>
              <a:buNone/>
              <a:defRPr b="1" i="0" sz="3200" u="none" cap="none" strike="noStrike">
                <a:solidFill>
                  <a:srgbClr val="999999"/>
                </a:solidFill>
                <a:latin typeface="Lato"/>
                <a:ea typeface="Lato"/>
                <a:cs typeface="Lato"/>
                <a:sym typeface="Lato"/>
              </a:defRPr>
            </a:lvl1pPr>
            <a:lvl2pPr indent="0" lvl="1" rtl="0">
              <a:spcBef>
                <a:spcPts val="0"/>
              </a:spcBef>
              <a:spcAft>
                <a:spcPts val="0"/>
              </a:spcAft>
              <a:buSzPts val="1400"/>
              <a:buNone/>
              <a:defRPr sz="2100"/>
            </a:lvl2pPr>
            <a:lvl3pPr indent="0" lvl="2" rtl="0">
              <a:spcBef>
                <a:spcPts val="0"/>
              </a:spcBef>
              <a:spcAft>
                <a:spcPts val="0"/>
              </a:spcAft>
              <a:buSzPts val="1400"/>
              <a:buNone/>
              <a:defRPr sz="2100"/>
            </a:lvl3pPr>
            <a:lvl4pPr indent="0" lvl="3" rtl="0">
              <a:spcBef>
                <a:spcPts val="0"/>
              </a:spcBef>
              <a:spcAft>
                <a:spcPts val="0"/>
              </a:spcAft>
              <a:buSzPts val="1400"/>
              <a:buNone/>
              <a:defRPr sz="2100"/>
            </a:lvl4pPr>
            <a:lvl5pPr indent="0" lvl="4" rtl="0">
              <a:spcBef>
                <a:spcPts val="0"/>
              </a:spcBef>
              <a:spcAft>
                <a:spcPts val="0"/>
              </a:spcAft>
              <a:buSzPts val="1400"/>
              <a:buNone/>
              <a:defRPr sz="2100"/>
            </a:lvl5pPr>
            <a:lvl6pPr indent="0" lvl="5" rtl="0">
              <a:spcBef>
                <a:spcPts val="0"/>
              </a:spcBef>
              <a:spcAft>
                <a:spcPts val="0"/>
              </a:spcAft>
              <a:buSzPts val="1400"/>
              <a:buNone/>
              <a:defRPr sz="2100"/>
            </a:lvl6pPr>
            <a:lvl7pPr indent="0" lvl="6" rtl="0">
              <a:spcBef>
                <a:spcPts val="0"/>
              </a:spcBef>
              <a:spcAft>
                <a:spcPts val="0"/>
              </a:spcAft>
              <a:buSzPts val="1400"/>
              <a:buNone/>
              <a:defRPr sz="2100"/>
            </a:lvl7pPr>
            <a:lvl8pPr indent="0" lvl="7" rtl="0">
              <a:spcBef>
                <a:spcPts val="0"/>
              </a:spcBef>
              <a:spcAft>
                <a:spcPts val="0"/>
              </a:spcAft>
              <a:buSzPts val="1400"/>
              <a:buNone/>
              <a:defRPr sz="2100"/>
            </a:lvl8pPr>
            <a:lvl9pPr indent="0" lvl="8" rtl="0">
              <a:spcBef>
                <a:spcPts val="0"/>
              </a:spcBef>
              <a:spcAft>
                <a:spcPts val="0"/>
              </a:spcAft>
              <a:buSzPts val="1400"/>
              <a:buNone/>
              <a:defRPr sz="2100"/>
            </a:lvl9pPr>
          </a:lstStyle>
          <a:p/>
        </p:txBody>
      </p:sp>
      <p:sp>
        <p:nvSpPr>
          <p:cNvPr id="113" name="Google Shape;113;g13f4e71bb30_0_244"/>
          <p:cNvSpPr txBox="1"/>
          <p:nvPr>
            <p:ph idx="11" type="ftr"/>
          </p:nvPr>
        </p:nvSpPr>
        <p:spPr>
          <a:xfrm>
            <a:off x="494987" y="6356351"/>
            <a:ext cx="3136800" cy="365400"/>
          </a:xfrm>
          <a:prstGeom prst="rect">
            <a:avLst/>
          </a:prstGeom>
          <a:noFill/>
          <a:ln>
            <a:noFill/>
          </a:ln>
        </p:spPr>
        <p:txBody>
          <a:bodyPr anchorCtr="0" anchor="ctr" bIns="105550" lIns="105550" spcFirstLastPara="1" rIns="105550" wrap="square" tIns="105550">
            <a:noAutofit/>
          </a:bodyPr>
          <a:lstStyle>
            <a:lvl1pPr indent="0" lvl="0" marL="0" marR="0" rtl="0" algn="l">
              <a:spcBef>
                <a:spcPts val="0"/>
              </a:spcBef>
              <a:spcAft>
                <a:spcPts val="0"/>
              </a:spcAft>
              <a:buSzPts val="1600"/>
              <a:buNone/>
              <a:defRPr b="0" i="0" sz="1000" u="none" cap="none" strike="noStrike">
                <a:solidFill>
                  <a:srgbClr val="888888"/>
                </a:solidFill>
                <a:latin typeface="Lato"/>
                <a:ea typeface="Lato"/>
                <a:cs typeface="Lato"/>
                <a:sym typeface="Lato"/>
              </a:defRPr>
            </a:lvl1pPr>
            <a:lvl2pPr indent="0" lvl="1" marL="5334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2pPr>
            <a:lvl3pPr indent="0" lvl="2" marL="10541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3pPr>
            <a:lvl4pPr indent="0" lvl="3" marL="15875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4pPr>
            <a:lvl5pPr indent="0" lvl="4" marL="21082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5pPr>
            <a:lvl6pPr indent="0" lvl="5" marL="26416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6pPr>
            <a:lvl7pPr indent="0" lvl="6" marL="31623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7pPr>
            <a:lvl8pPr indent="0" lvl="7" marL="36957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8pPr>
            <a:lvl9pPr indent="0" lvl="8" marL="4216400" marR="0" rtl="0" algn="l">
              <a:spcBef>
                <a:spcPts val="0"/>
              </a:spcBef>
              <a:spcAft>
                <a:spcPts val="0"/>
              </a:spcAft>
              <a:buSzPts val="1600"/>
              <a:buNone/>
              <a:defRPr b="0" i="0" sz="2100" u="none" cap="none" strike="noStrike">
                <a:solidFill>
                  <a:schemeClr val="dk1"/>
                </a:solidFill>
                <a:latin typeface="Calibri"/>
                <a:ea typeface="Calibri"/>
                <a:cs typeface="Calibri"/>
                <a:sym typeface="Calibri"/>
              </a:defRPr>
            </a:lvl9pPr>
          </a:lstStyle>
          <a:p/>
        </p:txBody>
      </p:sp>
      <p:sp>
        <p:nvSpPr>
          <p:cNvPr id="114" name="Google Shape;114;g13f4e71bb30_0_244"/>
          <p:cNvSpPr txBox="1"/>
          <p:nvPr>
            <p:ph idx="12" type="sldNum"/>
          </p:nvPr>
        </p:nvSpPr>
        <p:spPr>
          <a:xfrm>
            <a:off x="7099300" y="6356351"/>
            <a:ext cx="2311500" cy="365400"/>
          </a:xfrm>
          <a:prstGeom prst="rect">
            <a:avLst/>
          </a:prstGeom>
          <a:noFill/>
          <a:ln>
            <a:noFill/>
          </a:ln>
        </p:spPr>
        <p:txBody>
          <a:bodyPr anchorCtr="0" anchor="ctr" bIns="52750" lIns="105550" spcFirstLastPara="1" rIns="105550" wrap="square" tIns="52750">
            <a:noAutofit/>
          </a:bodyPr>
          <a:lstStyle>
            <a:lvl1pPr indent="0" lvl="0" marL="0" marR="0" rtl="0" algn="r">
              <a:spcBef>
                <a:spcPts val="0"/>
              </a:spcBef>
              <a:buNone/>
              <a:defRPr b="0" i="0" sz="1400" u="none" cap="none" strike="noStrike">
                <a:solidFill>
                  <a:srgbClr val="888888"/>
                </a:solidFill>
                <a:latin typeface="Lato"/>
                <a:ea typeface="Lato"/>
                <a:cs typeface="Lato"/>
                <a:sym typeface="Lato"/>
              </a:defRPr>
            </a:lvl1pPr>
            <a:lvl2pPr indent="0" lvl="1" marL="0" marR="0" rtl="0" algn="r">
              <a:spcBef>
                <a:spcPts val="0"/>
              </a:spcBef>
              <a:buNone/>
              <a:defRPr b="0" i="0" sz="1400" u="none" cap="none" strike="noStrike">
                <a:solidFill>
                  <a:srgbClr val="888888"/>
                </a:solidFill>
                <a:latin typeface="Lato"/>
                <a:ea typeface="Lato"/>
                <a:cs typeface="Lato"/>
                <a:sym typeface="Lato"/>
              </a:defRPr>
            </a:lvl2pPr>
            <a:lvl3pPr indent="0" lvl="2" marL="0" marR="0" rtl="0" algn="r">
              <a:spcBef>
                <a:spcPts val="0"/>
              </a:spcBef>
              <a:buNone/>
              <a:defRPr b="0" i="0" sz="1400" u="none" cap="none" strike="noStrike">
                <a:solidFill>
                  <a:srgbClr val="888888"/>
                </a:solidFill>
                <a:latin typeface="Lato"/>
                <a:ea typeface="Lato"/>
                <a:cs typeface="Lato"/>
                <a:sym typeface="Lato"/>
              </a:defRPr>
            </a:lvl3pPr>
            <a:lvl4pPr indent="0" lvl="3" marL="0" marR="0" rtl="0" algn="r">
              <a:spcBef>
                <a:spcPts val="0"/>
              </a:spcBef>
              <a:buNone/>
              <a:defRPr b="0" i="0" sz="1400" u="none" cap="none" strike="noStrike">
                <a:solidFill>
                  <a:srgbClr val="888888"/>
                </a:solidFill>
                <a:latin typeface="Lato"/>
                <a:ea typeface="Lato"/>
                <a:cs typeface="Lato"/>
                <a:sym typeface="Lato"/>
              </a:defRPr>
            </a:lvl4pPr>
            <a:lvl5pPr indent="0" lvl="4" marL="0" marR="0" rtl="0" algn="r">
              <a:spcBef>
                <a:spcPts val="0"/>
              </a:spcBef>
              <a:buNone/>
              <a:defRPr b="0" i="0" sz="1400" u="none" cap="none" strike="noStrike">
                <a:solidFill>
                  <a:srgbClr val="888888"/>
                </a:solidFill>
                <a:latin typeface="Lato"/>
                <a:ea typeface="Lato"/>
                <a:cs typeface="Lato"/>
                <a:sym typeface="Lato"/>
              </a:defRPr>
            </a:lvl5pPr>
            <a:lvl6pPr indent="0" lvl="5" marL="0" marR="0" rtl="0" algn="r">
              <a:spcBef>
                <a:spcPts val="0"/>
              </a:spcBef>
              <a:buNone/>
              <a:defRPr b="0" i="0" sz="1400" u="none" cap="none" strike="noStrike">
                <a:solidFill>
                  <a:srgbClr val="888888"/>
                </a:solidFill>
                <a:latin typeface="Lato"/>
                <a:ea typeface="Lato"/>
                <a:cs typeface="Lato"/>
                <a:sym typeface="Lato"/>
              </a:defRPr>
            </a:lvl6pPr>
            <a:lvl7pPr indent="0" lvl="6" marL="0" marR="0" rtl="0" algn="r">
              <a:spcBef>
                <a:spcPts val="0"/>
              </a:spcBef>
              <a:buNone/>
              <a:defRPr b="0" i="0" sz="1400" u="none" cap="none" strike="noStrike">
                <a:solidFill>
                  <a:srgbClr val="888888"/>
                </a:solidFill>
                <a:latin typeface="Lato"/>
                <a:ea typeface="Lato"/>
                <a:cs typeface="Lato"/>
                <a:sym typeface="Lato"/>
              </a:defRPr>
            </a:lvl7pPr>
            <a:lvl8pPr indent="0" lvl="7" marL="0" marR="0" rtl="0" algn="r">
              <a:spcBef>
                <a:spcPts val="0"/>
              </a:spcBef>
              <a:buNone/>
              <a:defRPr b="0" i="0" sz="1400" u="none" cap="none" strike="noStrike">
                <a:solidFill>
                  <a:srgbClr val="888888"/>
                </a:solidFill>
                <a:latin typeface="Lato"/>
                <a:ea typeface="Lato"/>
                <a:cs typeface="Lato"/>
                <a:sym typeface="Lato"/>
              </a:defRPr>
            </a:lvl8pPr>
            <a:lvl9pPr indent="0" lvl="8" marL="0" marR="0" rtl="0" algn="r">
              <a:spcBef>
                <a:spcPts val="0"/>
              </a:spcBef>
              <a:buNone/>
              <a:defRPr b="0" i="0" sz="1400" u="none" cap="none" strike="noStrike">
                <a:solidFill>
                  <a:srgbClr val="888888"/>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4.xml"/><Relationship Id="rId10" Type="http://schemas.openxmlformats.org/officeDocument/2006/relationships/slideLayout" Target="../slideLayouts/slideLayout13.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9" Type="http://schemas.openxmlformats.org/officeDocument/2006/relationships/slideLayout" Target="../slideLayouts/slideLayout12.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7" Type="http://schemas.openxmlformats.org/officeDocument/2006/relationships/theme" Target="../theme/theme1.xml"/><Relationship Id="rId16" Type="http://schemas.openxmlformats.org/officeDocument/2006/relationships/slideLayout" Target="../slideLayouts/slideLayout19.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23"/>
          <p:cNvSpPr txBox="1"/>
          <p:nvPr>
            <p:ph type="title"/>
          </p:nvPr>
        </p:nvSpPr>
        <p:spPr>
          <a:xfrm>
            <a:off x="0" y="0"/>
            <a:ext cx="9906000" cy="1188000"/>
          </a:xfrm>
          <a:prstGeom prst="rect">
            <a:avLst/>
          </a:prstGeom>
          <a:noFill/>
          <a:ln>
            <a:noFill/>
          </a:ln>
        </p:spPr>
        <p:txBody>
          <a:bodyPr anchorCtr="0" anchor="ctr" bIns="36000" lIns="72000" spcFirstLastPara="1" rIns="72000" wrap="square" tIns="252000">
            <a:noAutofit/>
          </a:bodyPr>
          <a:lstStyle>
            <a:lvl1pPr lvl="0" marR="0" rtl="0" algn="ctr">
              <a:lnSpc>
                <a:spcPct val="90000"/>
              </a:lnSpc>
              <a:spcBef>
                <a:spcPts val="0"/>
              </a:spcBef>
              <a:spcAft>
                <a:spcPts val="0"/>
              </a:spcAft>
              <a:buClr>
                <a:schemeClr val="dk2"/>
              </a:buClr>
              <a:buSzPts val="3000"/>
              <a:buFont typeface="Arial Narrow"/>
              <a:buNone/>
              <a:defRPr b="1" i="0" sz="3000" u="none" cap="none" strike="noStrike">
                <a:solidFill>
                  <a:schemeClr val="dk2"/>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3"/>
          <p:cNvSpPr/>
          <p:nvPr/>
        </p:nvSpPr>
        <p:spPr>
          <a:xfrm>
            <a:off x="-7943" y="6286500"/>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23"/>
          <p:cNvSpPr txBox="1"/>
          <p:nvPr>
            <p:ph idx="1" type="body"/>
          </p:nvPr>
        </p:nvSpPr>
        <p:spPr>
          <a:xfrm>
            <a:off x="0" y="1440000"/>
            <a:ext cx="9906000" cy="4680000"/>
          </a:xfrm>
          <a:prstGeom prst="rect">
            <a:avLst/>
          </a:prstGeom>
          <a:noFill/>
          <a:ln>
            <a:noFill/>
          </a:ln>
        </p:spPr>
        <p:txBody>
          <a:bodyPr anchorCtr="0" anchor="t" bIns="36000" lIns="288000" spcFirstLastPara="1" rIns="72000" wrap="square" tIns="36000">
            <a:noAutofit/>
          </a:bodyPr>
          <a:lstStyle>
            <a:lvl1pPr indent="-381000" lvl="0" marL="457200" marR="0" rtl="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images.jpg" id="12" name="Google Shape;12;p23"/>
          <p:cNvPicPr preferRelativeResize="0"/>
          <p:nvPr/>
        </p:nvPicPr>
        <p:blipFill rotWithShape="1">
          <a:blip r:embed="rId1">
            <a:alphaModFix/>
          </a:blip>
          <a:srcRect b="0" l="0" r="0" t="0"/>
          <a:stretch/>
        </p:blipFill>
        <p:spPr>
          <a:xfrm>
            <a:off x="6667512" y="1"/>
            <a:ext cx="3238488" cy="116585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g13f4e71bb30_0_152"/>
          <p:cNvSpPr txBox="1"/>
          <p:nvPr>
            <p:ph type="title"/>
          </p:nvPr>
        </p:nvSpPr>
        <p:spPr>
          <a:xfrm>
            <a:off x="681038" y="365126"/>
            <a:ext cx="85440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g13f4e71bb30_0_152"/>
          <p:cNvSpPr txBox="1"/>
          <p:nvPr>
            <p:ph idx="1" type="body"/>
          </p:nvPr>
        </p:nvSpPr>
        <p:spPr>
          <a:xfrm>
            <a:off x="681038" y="1825625"/>
            <a:ext cx="85440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g13f4e71bb30_0_152"/>
          <p:cNvSpPr txBox="1"/>
          <p:nvPr>
            <p:ph idx="10" type="dt"/>
          </p:nvPr>
        </p:nvSpPr>
        <p:spPr>
          <a:xfrm>
            <a:off x="681038" y="6356351"/>
            <a:ext cx="22287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 name="Google Shape;23;g13f4e71bb30_0_152"/>
          <p:cNvSpPr txBox="1"/>
          <p:nvPr>
            <p:ph idx="11" type="ftr"/>
          </p:nvPr>
        </p:nvSpPr>
        <p:spPr>
          <a:xfrm>
            <a:off x="3281363" y="6356351"/>
            <a:ext cx="33432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 name="Google Shape;24;g13f4e71bb30_0_152"/>
          <p:cNvSpPr txBox="1"/>
          <p:nvPr>
            <p:ph idx="12" type="sldNum"/>
          </p:nvPr>
        </p:nvSpPr>
        <p:spPr>
          <a:xfrm>
            <a:off x="6996113" y="6356351"/>
            <a:ext cx="22287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1" Type="http://schemas.openxmlformats.org/officeDocument/2006/relationships/hyperlink" Target="http://slide5.xml" TargetMode="External"/><Relationship Id="rId10" Type="http://schemas.openxmlformats.org/officeDocument/2006/relationships/hyperlink" Target="http://slide5.xml" TargetMode="External"/><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lide5.xml" TargetMode="External"/><Relationship Id="rId4" Type="http://schemas.openxmlformats.org/officeDocument/2006/relationships/hyperlink" Target="http://slide24.xml" TargetMode="External"/><Relationship Id="rId9" Type="http://schemas.openxmlformats.org/officeDocument/2006/relationships/hyperlink" Target="http://slide38.xml" TargetMode="External"/><Relationship Id="rId5" Type="http://schemas.openxmlformats.org/officeDocument/2006/relationships/hyperlink" Target="http://slide38.xml" TargetMode="External"/><Relationship Id="rId6" Type="http://schemas.openxmlformats.org/officeDocument/2006/relationships/hyperlink" Target="http://slide5.xml" TargetMode="External"/><Relationship Id="rId7" Type="http://schemas.openxmlformats.org/officeDocument/2006/relationships/hyperlink" Target="http://slide5.xml" TargetMode="External"/><Relationship Id="rId8" Type="http://schemas.openxmlformats.org/officeDocument/2006/relationships/hyperlink" Target="http://slide38.x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jpg"/><Relationship Id="rId4" Type="http://schemas.openxmlformats.org/officeDocument/2006/relationships/image" Target="../media/image2.jp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 Id="rId6"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 Id="rId6" Type="http://schemas.openxmlformats.org/officeDocument/2006/relationships/image" Target="../media/image24.png"/><Relationship Id="rId7"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 Id="rId6"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 Id="rId6"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docs.google.com/spreadsheets/d/1V_4oneR1XdJKxDECcNTZRvCXBzC8V4pH/edit?usp=sharing&amp;ouid=117842711860262331556&amp;rtpof=true&amp;sd=true" TargetMode="External"/><Relationship Id="rId4" Type="http://schemas.openxmlformats.org/officeDocument/2006/relationships/image" Target="../media/image26.png"/><Relationship Id="rId5"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descr="https://encrypted-tbn2.gstatic.com/images?q=tbn:ANd9GcRcyGsKQFbNE159vcUw6iMcDisELRoVKzvai6d3iJrA-_BtH5dgBw" id="121" name="Google Shape;121;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images.jpg" id="122" name="Google Shape;122;p1"/>
          <p:cNvPicPr preferRelativeResize="0"/>
          <p:nvPr/>
        </p:nvPicPr>
        <p:blipFill rotWithShape="1">
          <a:blip r:embed="rId3">
            <a:alphaModFix/>
          </a:blip>
          <a:srcRect b="11856" l="11057" r="10335" t="16025"/>
          <a:stretch/>
        </p:blipFill>
        <p:spPr>
          <a:xfrm>
            <a:off x="2381232" y="1968455"/>
            <a:ext cx="4633512" cy="1530335"/>
          </a:xfrm>
          <a:prstGeom prst="rect">
            <a:avLst/>
          </a:prstGeom>
          <a:noFill/>
          <a:ln>
            <a:noFill/>
          </a:ln>
        </p:spPr>
      </p:pic>
      <p:sp>
        <p:nvSpPr>
          <p:cNvPr id="123" name="Google Shape;123;p1"/>
          <p:cNvSpPr txBox="1"/>
          <p:nvPr/>
        </p:nvSpPr>
        <p:spPr>
          <a:xfrm>
            <a:off x="2381232" y="3998856"/>
            <a:ext cx="5310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INGENIERIA INDUSTRIAL</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CÁTEDRA RELACIONES INDUSTRIALES Costos Laborales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13f4e71bb30_0_129"/>
          <p:cNvSpPr/>
          <p:nvPr/>
        </p:nvSpPr>
        <p:spPr>
          <a:xfrm>
            <a:off x="1452537" y="2709776"/>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Costos Asociados a Reclutamiento y Selección </a:t>
            </a:r>
            <a:endParaRPr b="0" i="0" sz="1660" u="none" cap="none" strike="noStrike">
              <a:solidFill>
                <a:schemeClr val="dk1"/>
              </a:solidFill>
              <a:latin typeface="Arial"/>
              <a:ea typeface="Arial"/>
              <a:cs typeface="Arial"/>
              <a:sym typeface="Arial"/>
            </a:endParaRPr>
          </a:p>
        </p:txBody>
      </p:sp>
      <p:sp>
        <p:nvSpPr>
          <p:cNvPr id="130" name="Google Shape;130;g13f4e71bb30_0_129">
            <a:hlinkClick r:id="rId3"/>
          </p:cNvPr>
          <p:cNvSpPr/>
          <p:nvPr/>
        </p:nvSpPr>
        <p:spPr>
          <a:xfrm>
            <a:off x="1238224" y="2709776"/>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31" name="Google Shape;131;g13f4e71bb30_0_129"/>
          <p:cNvSpPr/>
          <p:nvPr/>
        </p:nvSpPr>
        <p:spPr>
          <a:xfrm>
            <a:off x="1452537" y="3896746"/>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Costos Asociados a Compensaciones y Beneficios</a:t>
            </a:r>
            <a:endParaRPr b="0" i="0" sz="1400" u="none" cap="none" strike="noStrike">
              <a:solidFill>
                <a:srgbClr val="000000"/>
              </a:solidFill>
              <a:latin typeface="Arial"/>
              <a:ea typeface="Arial"/>
              <a:cs typeface="Arial"/>
              <a:sym typeface="Arial"/>
            </a:endParaRPr>
          </a:p>
        </p:txBody>
      </p:sp>
      <p:sp>
        <p:nvSpPr>
          <p:cNvPr id="132" name="Google Shape;132;g13f4e71bb30_0_129">
            <a:hlinkClick r:id="rId4"/>
          </p:cNvPr>
          <p:cNvSpPr/>
          <p:nvPr/>
        </p:nvSpPr>
        <p:spPr>
          <a:xfrm>
            <a:off x="1238224" y="3896746"/>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33" name="Google Shape;133;g13f4e71bb30_0_129"/>
          <p:cNvSpPr/>
          <p:nvPr/>
        </p:nvSpPr>
        <p:spPr>
          <a:xfrm>
            <a:off x="1452537" y="4490230"/>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Costos Asociados a Capacitación</a:t>
            </a:r>
            <a:endParaRPr b="0" i="0" sz="1400" u="none" cap="none" strike="noStrike">
              <a:solidFill>
                <a:srgbClr val="000000"/>
              </a:solidFill>
              <a:latin typeface="Arial"/>
              <a:ea typeface="Arial"/>
              <a:cs typeface="Arial"/>
              <a:sym typeface="Arial"/>
            </a:endParaRPr>
          </a:p>
        </p:txBody>
      </p:sp>
      <p:sp>
        <p:nvSpPr>
          <p:cNvPr id="134" name="Google Shape;134;g13f4e71bb30_0_129">
            <a:hlinkClick r:id="rId5"/>
          </p:cNvPr>
          <p:cNvSpPr/>
          <p:nvPr/>
        </p:nvSpPr>
        <p:spPr>
          <a:xfrm>
            <a:off x="1238224" y="4490230"/>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35" name="Google Shape;135;g13f4e71bb30_0_129"/>
          <p:cNvSpPr/>
          <p:nvPr/>
        </p:nvSpPr>
        <p:spPr>
          <a:xfrm>
            <a:off x="1452537" y="3303260"/>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Costos Asociados a Administración de Personal </a:t>
            </a:r>
            <a:endParaRPr b="0" i="0" sz="1400" u="none" cap="none" strike="noStrike">
              <a:solidFill>
                <a:srgbClr val="000000"/>
              </a:solidFill>
              <a:latin typeface="Arial"/>
              <a:ea typeface="Arial"/>
              <a:cs typeface="Arial"/>
              <a:sym typeface="Arial"/>
            </a:endParaRPr>
          </a:p>
        </p:txBody>
      </p:sp>
      <p:sp>
        <p:nvSpPr>
          <p:cNvPr id="136" name="Google Shape;136;g13f4e71bb30_0_129">
            <a:hlinkClick r:id="rId6"/>
          </p:cNvPr>
          <p:cNvSpPr/>
          <p:nvPr/>
        </p:nvSpPr>
        <p:spPr>
          <a:xfrm>
            <a:off x="1238224" y="3303260"/>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37" name="Google Shape;137;g13f4e71bb30_0_129"/>
          <p:cNvSpPr/>
          <p:nvPr/>
        </p:nvSpPr>
        <p:spPr>
          <a:xfrm>
            <a:off x="1452537" y="2147069"/>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Presupuestos en las  Areas de HR</a:t>
            </a:r>
            <a:endParaRPr b="0" i="0" sz="1400" u="none" cap="none" strike="noStrike">
              <a:solidFill>
                <a:srgbClr val="000000"/>
              </a:solidFill>
              <a:latin typeface="Arial"/>
              <a:ea typeface="Arial"/>
              <a:cs typeface="Arial"/>
              <a:sym typeface="Arial"/>
            </a:endParaRPr>
          </a:p>
        </p:txBody>
      </p:sp>
      <p:sp>
        <p:nvSpPr>
          <p:cNvPr id="138" name="Google Shape;138;g13f4e71bb30_0_129">
            <a:hlinkClick r:id="rId7"/>
          </p:cNvPr>
          <p:cNvSpPr/>
          <p:nvPr/>
        </p:nvSpPr>
        <p:spPr>
          <a:xfrm>
            <a:off x="1238224" y="2147069"/>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39" name="Google Shape;139;g13f4e71bb30_0_129"/>
          <p:cNvSpPr/>
          <p:nvPr/>
        </p:nvSpPr>
        <p:spPr>
          <a:xfrm>
            <a:off x="1437297" y="5067005"/>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Costos Asociados a Desarrollo</a:t>
            </a:r>
            <a:endParaRPr b="0" i="0" sz="1400" u="none" cap="none" strike="noStrike">
              <a:solidFill>
                <a:srgbClr val="000000"/>
              </a:solidFill>
              <a:latin typeface="Arial"/>
              <a:ea typeface="Arial"/>
              <a:cs typeface="Arial"/>
              <a:sym typeface="Arial"/>
            </a:endParaRPr>
          </a:p>
        </p:txBody>
      </p:sp>
      <p:sp>
        <p:nvSpPr>
          <p:cNvPr id="140" name="Google Shape;140;g13f4e71bb30_0_129">
            <a:hlinkClick r:id="rId8"/>
          </p:cNvPr>
          <p:cNvSpPr/>
          <p:nvPr/>
        </p:nvSpPr>
        <p:spPr>
          <a:xfrm>
            <a:off x="1222985" y="5067005"/>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1" name="Google Shape;141;g13f4e71bb30_0_129"/>
          <p:cNvSpPr/>
          <p:nvPr/>
        </p:nvSpPr>
        <p:spPr>
          <a:xfrm>
            <a:off x="1456245" y="5639128"/>
            <a:ext cx="7160700" cy="395700"/>
          </a:xfrm>
          <a:prstGeom prst="roundRect">
            <a:avLst>
              <a:gd fmla="val 16667" name="adj"/>
            </a:avLst>
          </a:prstGeom>
          <a:solidFill>
            <a:srgbClr val="D5DCFF"/>
          </a:solidFill>
          <a:ln>
            <a:noFill/>
          </a:ln>
          <a:effectLst>
            <a:outerShdw blurRad="149986" algn="ctr" dir="8460000" dist="250189">
              <a:srgbClr val="000000">
                <a:alpha val="2667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lang="en-US" sz="1660">
                <a:solidFill>
                  <a:schemeClr val="dk1"/>
                </a:solidFill>
              </a:rPr>
              <a:t>El Presupuesto del Area - Matriz Objetivos Multiples</a:t>
            </a:r>
            <a:endParaRPr b="0" i="0" sz="1660" u="none" cap="none" strike="noStrike">
              <a:solidFill>
                <a:schemeClr val="dk1"/>
              </a:solidFill>
              <a:latin typeface="Arial"/>
              <a:ea typeface="Arial"/>
              <a:cs typeface="Arial"/>
              <a:sym typeface="Arial"/>
            </a:endParaRPr>
          </a:p>
        </p:txBody>
      </p:sp>
      <p:sp>
        <p:nvSpPr>
          <p:cNvPr id="142" name="Google Shape;142;g13f4e71bb30_0_129">
            <a:hlinkClick r:id="rId9"/>
          </p:cNvPr>
          <p:cNvSpPr/>
          <p:nvPr/>
        </p:nvSpPr>
        <p:spPr>
          <a:xfrm>
            <a:off x="1241932" y="5639128"/>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3" name="Google Shape;143;g13f4e71bb30_0_129"/>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Índice</a:t>
            </a:r>
            <a:endParaRPr b="1" sz="2600">
              <a:solidFill>
                <a:srgbClr val="932328"/>
              </a:solidFill>
            </a:endParaRPr>
          </a:p>
        </p:txBody>
      </p:sp>
      <p:sp>
        <p:nvSpPr>
          <p:cNvPr id="144" name="Google Shape;144;g13f4e71bb30_0_129"/>
          <p:cNvSpPr/>
          <p:nvPr/>
        </p:nvSpPr>
        <p:spPr>
          <a:xfrm>
            <a:off x="1452537" y="1613669"/>
            <a:ext cx="7160700" cy="395700"/>
          </a:xfrm>
          <a:prstGeom prst="roundRect">
            <a:avLst>
              <a:gd fmla="val 16667" name="adj"/>
            </a:avLst>
          </a:prstGeom>
          <a:solidFill>
            <a:srgbClr val="D5DCFF"/>
          </a:solidFill>
          <a:ln>
            <a:noFill/>
          </a:ln>
          <a:effectLst>
            <a:outerShdw blurRad="149986" algn="ctr" dir="8460000" dist="250189">
              <a:srgbClr val="000000">
                <a:alpha val="2706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n-US" sz="1660" u="none" cap="none" strike="noStrike">
                <a:solidFill>
                  <a:schemeClr val="dk1"/>
                </a:solidFill>
                <a:latin typeface="Arial"/>
                <a:ea typeface="Arial"/>
                <a:cs typeface="Arial"/>
                <a:sym typeface="Arial"/>
              </a:rPr>
              <a:t>Caso</a:t>
            </a:r>
            <a:endParaRPr b="0" i="0" sz="1400" u="none" cap="none" strike="noStrike">
              <a:solidFill>
                <a:srgbClr val="000000"/>
              </a:solidFill>
              <a:latin typeface="Arial"/>
              <a:ea typeface="Arial"/>
              <a:cs typeface="Arial"/>
              <a:sym typeface="Arial"/>
            </a:endParaRPr>
          </a:p>
        </p:txBody>
      </p:sp>
      <p:sp>
        <p:nvSpPr>
          <p:cNvPr id="145" name="Google Shape;145;g13f4e71bb30_0_129">
            <a:hlinkClick r:id="rId10"/>
          </p:cNvPr>
          <p:cNvSpPr/>
          <p:nvPr/>
        </p:nvSpPr>
        <p:spPr>
          <a:xfrm>
            <a:off x="1238224" y="1613669"/>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6" name="Google Shape;146;g13f4e71bb30_0_129"/>
          <p:cNvSpPr/>
          <p:nvPr/>
        </p:nvSpPr>
        <p:spPr>
          <a:xfrm>
            <a:off x="1452537" y="6109469"/>
            <a:ext cx="7160700" cy="395700"/>
          </a:xfrm>
          <a:prstGeom prst="roundRect">
            <a:avLst>
              <a:gd fmla="val 16667" name="adj"/>
            </a:avLst>
          </a:prstGeom>
          <a:solidFill>
            <a:srgbClr val="D5DCFF"/>
          </a:solidFill>
          <a:ln>
            <a:noFill/>
          </a:ln>
          <a:effectLst>
            <a:outerShdw blurRad="149986" algn="ctr" dir="8460000" dist="250189">
              <a:srgbClr val="000000">
                <a:alpha val="27060"/>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n-US" sz="1660" u="none" cap="none" strike="noStrike">
                <a:solidFill>
                  <a:schemeClr val="dk1"/>
                </a:solidFill>
                <a:latin typeface="Arial"/>
                <a:ea typeface="Arial"/>
                <a:cs typeface="Arial"/>
                <a:sym typeface="Arial"/>
              </a:rPr>
              <a:t>Impactos </a:t>
            </a:r>
            <a:endParaRPr b="0" i="0" sz="1400" u="none" cap="none" strike="noStrike">
              <a:solidFill>
                <a:srgbClr val="000000"/>
              </a:solidFill>
              <a:latin typeface="Arial"/>
              <a:ea typeface="Arial"/>
              <a:cs typeface="Arial"/>
              <a:sym typeface="Arial"/>
            </a:endParaRPr>
          </a:p>
        </p:txBody>
      </p:sp>
      <p:sp>
        <p:nvSpPr>
          <p:cNvPr id="147" name="Google Shape;147;g13f4e71bb30_0_129">
            <a:hlinkClick r:id="rId11"/>
          </p:cNvPr>
          <p:cNvSpPr/>
          <p:nvPr/>
        </p:nvSpPr>
        <p:spPr>
          <a:xfrm>
            <a:off x="1238224" y="6109469"/>
            <a:ext cx="5715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3f4e71bb30_0_301"/>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CASO </a:t>
            </a:r>
            <a:endParaRPr b="1" sz="2600">
              <a:solidFill>
                <a:srgbClr val="932328"/>
              </a:solidFill>
            </a:endParaRPr>
          </a:p>
        </p:txBody>
      </p:sp>
      <p:pic>
        <p:nvPicPr>
          <p:cNvPr id="154" name="Google Shape;154;g13f4e71bb30_0_301"/>
          <p:cNvPicPr preferRelativeResize="0"/>
          <p:nvPr/>
        </p:nvPicPr>
        <p:blipFill rotWithShape="1">
          <a:blip r:embed="rId3">
            <a:alphaModFix/>
          </a:blip>
          <a:srcRect b="45187" l="0" r="0" t="0"/>
          <a:stretch/>
        </p:blipFill>
        <p:spPr>
          <a:xfrm>
            <a:off x="260625" y="1370670"/>
            <a:ext cx="8845701" cy="880700"/>
          </a:xfrm>
          <a:prstGeom prst="rect">
            <a:avLst/>
          </a:prstGeom>
          <a:noFill/>
          <a:ln>
            <a:noFill/>
          </a:ln>
        </p:spPr>
      </p:pic>
      <p:sp>
        <p:nvSpPr>
          <p:cNvPr id="155" name="Google Shape;155;g13f4e71bb30_0_301"/>
          <p:cNvSpPr txBox="1"/>
          <p:nvPr/>
        </p:nvSpPr>
        <p:spPr>
          <a:xfrm>
            <a:off x="327975" y="3250700"/>
            <a:ext cx="4325100" cy="2758200"/>
          </a:xfrm>
          <a:prstGeom prst="rect">
            <a:avLst/>
          </a:prstGeom>
          <a:noFill/>
          <a:ln>
            <a:noFill/>
          </a:ln>
        </p:spPr>
        <p:txBody>
          <a:bodyPr anchorCtr="0" anchor="t" bIns="91425" lIns="91425" spcFirstLastPara="1" rIns="91425" wrap="square" tIns="91425">
            <a:spAutoFit/>
          </a:bodyPr>
          <a:lstStyle/>
          <a:p>
            <a:pPr indent="0" lvl="0" marL="0" marR="698500" rtl="0" algn="ctr">
              <a:lnSpc>
                <a:spcPct val="180000"/>
              </a:lnSpc>
              <a:spcBef>
                <a:spcPts val="0"/>
              </a:spcBef>
              <a:spcAft>
                <a:spcPts val="1300"/>
              </a:spcAft>
              <a:buClr>
                <a:schemeClr val="dk1"/>
              </a:buClr>
              <a:buSzPts val="1100"/>
              <a:buFont typeface="Arial"/>
              <a:buNone/>
            </a:pPr>
            <a:r>
              <a:rPr lang="en-US">
                <a:solidFill>
                  <a:srgbClr val="1D2228"/>
                </a:solidFill>
                <a:highlight>
                  <a:srgbClr val="FFFFFF"/>
                </a:highlight>
              </a:rPr>
              <a:t>"establecer una estimación monetaria del costo económico de una mala contratación es una pregunta muy amplia y no siempre es directamente lineal con el dinero porque como explicamos influye en muchos aspectos de una compañía, pero</a:t>
            </a:r>
            <a:r>
              <a:rPr b="1" lang="en-US">
                <a:solidFill>
                  <a:srgbClr val="1D2228"/>
                </a:solidFill>
                <a:highlight>
                  <a:srgbClr val="FFFFFF"/>
                </a:highlight>
              </a:rPr>
              <a:t> puede equivaler a un año de salario</a:t>
            </a:r>
            <a:r>
              <a:rPr lang="en-US" sz="1600">
                <a:solidFill>
                  <a:srgbClr val="1D2228"/>
                </a:solidFill>
                <a:highlight>
                  <a:srgbClr val="FFFFFF"/>
                </a:highlight>
              </a:rPr>
              <a:t>."</a:t>
            </a:r>
            <a:endParaRPr sz="1700">
              <a:latin typeface="Calibri"/>
              <a:ea typeface="Calibri"/>
              <a:cs typeface="Calibri"/>
              <a:sym typeface="Calibri"/>
            </a:endParaRPr>
          </a:p>
        </p:txBody>
      </p:sp>
      <p:pic>
        <p:nvPicPr>
          <p:cNvPr id="156" name="Google Shape;156;g13f4e71bb30_0_301"/>
          <p:cNvPicPr preferRelativeResize="0"/>
          <p:nvPr/>
        </p:nvPicPr>
        <p:blipFill>
          <a:blip r:embed="rId4">
            <a:alphaModFix/>
          </a:blip>
          <a:stretch>
            <a:fillRect/>
          </a:stretch>
        </p:blipFill>
        <p:spPr>
          <a:xfrm>
            <a:off x="4118473" y="2387975"/>
            <a:ext cx="5513325" cy="3101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3f4e71bb30_0_4"/>
          <p:cNvSpPr txBox="1"/>
          <p:nvPr/>
        </p:nvSpPr>
        <p:spPr>
          <a:xfrm>
            <a:off x="3077300" y="597875"/>
            <a:ext cx="31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3" name="Google Shape;163;g13f4e71bb30_0_4"/>
          <p:cNvSpPr txBox="1"/>
          <p:nvPr/>
        </p:nvSpPr>
        <p:spPr>
          <a:xfrm>
            <a:off x="2855225" y="1556175"/>
            <a:ext cx="3270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932328"/>
                </a:solidFill>
              </a:rPr>
              <a:t>Qué es? </a:t>
            </a:r>
            <a:endParaRPr b="1" sz="2700">
              <a:solidFill>
                <a:srgbClr val="932328"/>
              </a:solidFill>
            </a:endParaRPr>
          </a:p>
        </p:txBody>
      </p:sp>
      <p:sp>
        <p:nvSpPr>
          <p:cNvPr id="164" name="Google Shape;164;g13f4e71bb30_0_4"/>
          <p:cNvSpPr txBox="1"/>
          <p:nvPr/>
        </p:nvSpPr>
        <p:spPr>
          <a:xfrm>
            <a:off x="2971800" y="2101275"/>
            <a:ext cx="6886500" cy="1569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500">
                <a:solidFill>
                  <a:srgbClr val="333333"/>
                </a:solidFill>
                <a:highlight>
                  <a:srgbClr val="FFFFFF"/>
                </a:highlight>
              </a:rPr>
              <a:t>Son todos los fondos que se asignan a todos los procesos de Recursos Humanos en toda la empresa. Como area que contribuye al logro de la estrategia de la compañía sus gastos deben ser planificados, justificados y ejecutados</a:t>
            </a:r>
            <a:endParaRPr sz="1500">
              <a:solidFill>
                <a:srgbClr val="333333"/>
              </a:solidFill>
              <a:highlight>
                <a:srgbClr val="FFFFFF"/>
              </a:highlight>
            </a:endParaRPr>
          </a:p>
          <a:p>
            <a:pPr indent="0" lvl="0" marL="0" rtl="0" algn="just">
              <a:spcBef>
                <a:spcPts val="0"/>
              </a:spcBef>
              <a:spcAft>
                <a:spcPts val="0"/>
              </a:spcAft>
              <a:buClr>
                <a:schemeClr val="dk1"/>
              </a:buClr>
              <a:buSzPts val="1100"/>
              <a:buFont typeface="Arial"/>
              <a:buNone/>
            </a:pPr>
            <a:r>
              <a:rPr lang="en-US" sz="1500">
                <a:solidFill>
                  <a:srgbClr val="2A3248"/>
                </a:solidFill>
                <a:highlight>
                  <a:srgbClr val="FFFFFF"/>
                </a:highlight>
              </a:rPr>
              <a:t>Es </a:t>
            </a:r>
            <a:r>
              <a:rPr b="1" lang="en-US" sz="1500">
                <a:solidFill>
                  <a:srgbClr val="2A3248"/>
                </a:solidFill>
                <a:highlight>
                  <a:srgbClr val="FFFFFF"/>
                </a:highlight>
              </a:rPr>
              <a:t>un proceso</a:t>
            </a:r>
            <a:r>
              <a:rPr lang="en-US" sz="1500">
                <a:solidFill>
                  <a:srgbClr val="2A3248"/>
                </a:solidFill>
                <a:highlight>
                  <a:srgbClr val="FFFFFF"/>
                </a:highlight>
              </a:rPr>
              <a:t> que implica </a:t>
            </a:r>
            <a:r>
              <a:rPr b="1" lang="en-US" sz="1500">
                <a:solidFill>
                  <a:srgbClr val="2A3248"/>
                </a:solidFill>
                <a:highlight>
                  <a:srgbClr val="FFFFFF"/>
                </a:highlight>
              </a:rPr>
              <a:t>analizar, identificar y pronosticar escenarios</a:t>
            </a:r>
            <a:r>
              <a:rPr lang="en-US" sz="1500">
                <a:solidFill>
                  <a:srgbClr val="2A3248"/>
                </a:solidFill>
                <a:highlight>
                  <a:srgbClr val="FFFFFF"/>
                </a:highlight>
              </a:rPr>
              <a:t>, eventualidades, necesidades y cambios dentro y fuera de la empresa.</a:t>
            </a:r>
            <a:endParaRPr sz="1500">
              <a:solidFill>
                <a:srgbClr val="333333"/>
              </a:solidFill>
              <a:highlight>
                <a:srgbClr val="FFFFFF"/>
              </a:highlight>
            </a:endParaRPr>
          </a:p>
        </p:txBody>
      </p:sp>
      <p:sp>
        <p:nvSpPr>
          <p:cNvPr id="165" name="Google Shape;165;g13f4e71bb30_0_4"/>
          <p:cNvSpPr txBox="1"/>
          <p:nvPr/>
        </p:nvSpPr>
        <p:spPr>
          <a:xfrm>
            <a:off x="2916875" y="3518975"/>
            <a:ext cx="6774000" cy="2194800"/>
          </a:xfrm>
          <a:prstGeom prst="rect">
            <a:avLst/>
          </a:prstGeom>
          <a:noFill/>
          <a:ln>
            <a:noFill/>
          </a:ln>
        </p:spPr>
        <p:txBody>
          <a:bodyPr anchorCtr="0" anchor="t" bIns="91425" lIns="91425" spcFirstLastPara="1" rIns="91425" wrap="square" tIns="91425">
            <a:spAutoFit/>
          </a:bodyPr>
          <a:lstStyle/>
          <a:p>
            <a:pPr indent="0" lvl="0" marL="0" rtl="0" algn="l">
              <a:lnSpc>
                <a:spcPct val="161111"/>
              </a:lnSpc>
              <a:spcBef>
                <a:spcPts val="1500"/>
              </a:spcBef>
              <a:spcAft>
                <a:spcPts val="0"/>
              </a:spcAft>
              <a:buClr>
                <a:schemeClr val="dk1"/>
              </a:buClr>
              <a:buSzPts val="1100"/>
              <a:buFont typeface="Arial"/>
              <a:buNone/>
            </a:pPr>
            <a:r>
              <a:t/>
            </a:r>
            <a:endParaRPr sz="1350">
              <a:solidFill>
                <a:srgbClr val="333333"/>
              </a:solidFill>
              <a:highlight>
                <a:srgbClr val="FFFFFF"/>
              </a:highlight>
            </a:endParaRPr>
          </a:p>
          <a:p>
            <a:pPr indent="-323850" lvl="0" marL="457200" rtl="0" algn="l">
              <a:lnSpc>
                <a:spcPct val="115000"/>
              </a:lnSpc>
              <a:spcBef>
                <a:spcPts val="1500"/>
              </a:spcBef>
              <a:spcAft>
                <a:spcPts val="0"/>
              </a:spcAft>
              <a:buClr>
                <a:srgbClr val="333333"/>
              </a:buClr>
              <a:buSzPts val="1500"/>
              <a:buChar char="➔"/>
            </a:pPr>
            <a:r>
              <a:rPr lang="en-US" sz="1500">
                <a:solidFill>
                  <a:srgbClr val="333333"/>
                </a:solidFill>
                <a:highlight>
                  <a:srgbClr val="FFFFFF"/>
                </a:highlight>
              </a:rPr>
              <a:t>Previene el exceso o la falta de contratación.</a:t>
            </a:r>
            <a:endParaRPr sz="1500">
              <a:solidFill>
                <a:srgbClr val="333333"/>
              </a:solidFill>
              <a:highlight>
                <a:srgbClr val="FFFFFF"/>
              </a:highlight>
            </a:endParaRPr>
          </a:p>
          <a:p>
            <a:pPr indent="-323850" lvl="0" marL="457200" rtl="0" algn="l">
              <a:lnSpc>
                <a:spcPct val="115000"/>
              </a:lnSpc>
              <a:spcBef>
                <a:spcPts val="0"/>
              </a:spcBef>
              <a:spcAft>
                <a:spcPts val="0"/>
              </a:spcAft>
              <a:buClr>
                <a:srgbClr val="333333"/>
              </a:buClr>
              <a:buSzPts val="1500"/>
              <a:buChar char="➔"/>
            </a:pPr>
            <a:r>
              <a:rPr lang="en-US" sz="1500">
                <a:solidFill>
                  <a:srgbClr val="333333"/>
                </a:solidFill>
                <a:highlight>
                  <a:srgbClr val="FFFFFF"/>
                </a:highlight>
              </a:rPr>
              <a:t>Ayuda a las organizaciones a comprender sus necesidades de personal.</a:t>
            </a:r>
            <a:endParaRPr sz="1500">
              <a:solidFill>
                <a:srgbClr val="333333"/>
              </a:solidFill>
              <a:highlight>
                <a:srgbClr val="FFFFFF"/>
              </a:highlight>
            </a:endParaRPr>
          </a:p>
          <a:p>
            <a:pPr indent="-323850" lvl="0" marL="457200" rtl="0" algn="l">
              <a:lnSpc>
                <a:spcPct val="115000"/>
              </a:lnSpc>
              <a:spcBef>
                <a:spcPts val="0"/>
              </a:spcBef>
              <a:spcAft>
                <a:spcPts val="0"/>
              </a:spcAft>
              <a:buClr>
                <a:srgbClr val="333333"/>
              </a:buClr>
              <a:buSzPts val="1500"/>
              <a:buChar char="➔"/>
            </a:pPr>
            <a:r>
              <a:rPr lang="en-US" sz="1500">
                <a:solidFill>
                  <a:srgbClr val="333333"/>
                </a:solidFill>
                <a:highlight>
                  <a:srgbClr val="FFFFFF"/>
                </a:highlight>
              </a:rPr>
              <a:t>Ayuda a atraer a los mejores talentos y a crear un plan para satisfacer al talento y, por lo tanto, reduce la rotación</a:t>
            </a:r>
            <a:endParaRPr sz="1500">
              <a:solidFill>
                <a:srgbClr val="333333"/>
              </a:solidFill>
              <a:highlight>
                <a:srgbClr val="FFFFFF"/>
              </a:highlight>
            </a:endParaRPr>
          </a:p>
          <a:p>
            <a:pPr indent="0" lvl="0" marL="0" rtl="0" algn="l">
              <a:spcBef>
                <a:spcPts val="1600"/>
              </a:spcBef>
              <a:spcAft>
                <a:spcPts val="0"/>
              </a:spcAft>
              <a:buNone/>
            </a:pPr>
            <a:r>
              <a:t/>
            </a:r>
            <a:endParaRPr/>
          </a:p>
        </p:txBody>
      </p:sp>
      <p:sp>
        <p:nvSpPr>
          <p:cNvPr id="166" name="Google Shape;166;g13f4e71bb30_0_4"/>
          <p:cNvSpPr txBox="1"/>
          <p:nvPr/>
        </p:nvSpPr>
        <p:spPr>
          <a:xfrm>
            <a:off x="2971800" y="3518975"/>
            <a:ext cx="76431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932328"/>
                </a:solidFill>
              </a:rPr>
              <a:t>Por Qué y Para qué</a:t>
            </a:r>
            <a:r>
              <a:rPr b="1" lang="en-US" sz="2700">
                <a:solidFill>
                  <a:srgbClr val="932328"/>
                </a:solidFill>
              </a:rPr>
              <a:t> presupuestar? </a:t>
            </a:r>
            <a:endParaRPr b="1" sz="2700">
              <a:solidFill>
                <a:srgbClr val="932328"/>
              </a:solidFill>
            </a:endParaRPr>
          </a:p>
        </p:txBody>
      </p:sp>
      <p:pic>
        <p:nvPicPr>
          <p:cNvPr id="167" name="Google Shape;167;g13f4e71bb30_0_4"/>
          <p:cNvPicPr preferRelativeResize="0"/>
          <p:nvPr/>
        </p:nvPicPr>
        <p:blipFill rotWithShape="1">
          <a:blip r:embed="rId3">
            <a:alphaModFix/>
          </a:blip>
          <a:srcRect b="0" l="16371" r="15243" t="0"/>
          <a:stretch/>
        </p:blipFill>
        <p:spPr>
          <a:xfrm>
            <a:off x="281525" y="2024075"/>
            <a:ext cx="2387700" cy="4112700"/>
          </a:xfrm>
          <a:prstGeom prst="roundRect">
            <a:avLst>
              <a:gd fmla="val 16667" name="adj"/>
            </a:avLst>
          </a:prstGeom>
          <a:noFill/>
          <a:ln>
            <a:noFill/>
          </a:ln>
        </p:spPr>
      </p:pic>
      <p:sp>
        <p:nvSpPr>
          <p:cNvPr id="168" name="Google Shape;168;g13f4e71bb30_0_4"/>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Definición - Presupuesto</a:t>
            </a:r>
            <a:endParaRPr b="1" sz="2600">
              <a:solidFill>
                <a:srgbClr val="932328"/>
              </a:solidFill>
            </a:endParaRPr>
          </a:p>
        </p:txBody>
      </p:sp>
      <p:pic>
        <p:nvPicPr>
          <p:cNvPr descr="Image result for utn frba" id="169" name="Google Shape;169;g13f4e71bb30_0_4"/>
          <p:cNvPicPr preferRelativeResize="0"/>
          <p:nvPr/>
        </p:nvPicPr>
        <p:blipFill rotWithShape="1">
          <a:blip r:embed="rId4">
            <a:alphaModFix/>
          </a:blip>
          <a:srcRect b="0" l="0" r="0" t="0"/>
          <a:stretch/>
        </p:blipFill>
        <p:spPr>
          <a:xfrm>
            <a:off x="7294677" y="37279"/>
            <a:ext cx="2611323" cy="952745"/>
          </a:xfrm>
          <a:prstGeom prst="rect">
            <a:avLst/>
          </a:prstGeom>
          <a:noFill/>
          <a:ln>
            <a:noFill/>
          </a:ln>
        </p:spPr>
      </p:pic>
      <p:sp>
        <p:nvSpPr>
          <p:cNvPr id="170" name="Google Shape;170;g13f4e71bb30_0_4"/>
          <p:cNvSpPr txBox="1"/>
          <p:nvPr/>
        </p:nvSpPr>
        <p:spPr>
          <a:xfrm>
            <a:off x="2855225" y="5180750"/>
            <a:ext cx="4427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932328"/>
                </a:solidFill>
              </a:rPr>
              <a:t>Cuando? </a:t>
            </a:r>
            <a:endParaRPr b="1" sz="2700">
              <a:solidFill>
                <a:srgbClr val="932328"/>
              </a:solidFill>
            </a:endParaRPr>
          </a:p>
        </p:txBody>
      </p:sp>
      <p:sp>
        <p:nvSpPr>
          <p:cNvPr id="171" name="Google Shape;171;g13f4e71bb30_0_4"/>
          <p:cNvSpPr txBox="1"/>
          <p:nvPr/>
        </p:nvSpPr>
        <p:spPr>
          <a:xfrm>
            <a:off x="2855225" y="5713775"/>
            <a:ext cx="6774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Tradicionalmente se presupuesta entre los meses de</a:t>
            </a:r>
            <a:r>
              <a:rPr b="1" lang="en-US" sz="1500"/>
              <a:t> septiembre y octubre</a:t>
            </a:r>
            <a:endParaRPr b="1"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d2d1fb49d5_0_51"/>
          <p:cNvSpPr txBox="1"/>
          <p:nvPr/>
        </p:nvSpPr>
        <p:spPr>
          <a:xfrm>
            <a:off x="3077300" y="597875"/>
            <a:ext cx="31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78" name="Google Shape;178;g2d2d1fb49d5_0_51"/>
          <p:cNvSpPr txBox="1"/>
          <p:nvPr/>
        </p:nvSpPr>
        <p:spPr>
          <a:xfrm>
            <a:off x="2855225" y="1556175"/>
            <a:ext cx="6299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932328"/>
                </a:solidFill>
              </a:rPr>
              <a:t>Cómo se hace en la </a:t>
            </a:r>
            <a:r>
              <a:rPr b="1" lang="en-US" sz="2700">
                <a:solidFill>
                  <a:srgbClr val="932328"/>
                </a:solidFill>
              </a:rPr>
              <a:t>práctica</a:t>
            </a:r>
            <a:r>
              <a:rPr b="1" lang="en-US" sz="2700">
                <a:solidFill>
                  <a:srgbClr val="932328"/>
                </a:solidFill>
              </a:rPr>
              <a:t>?</a:t>
            </a:r>
            <a:endParaRPr b="1" sz="2700">
              <a:solidFill>
                <a:srgbClr val="932328"/>
              </a:solidFill>
            </a:endParaRPr>
          </a:p>
        </p:txBody>
      </p:sp>
      <p:pic>
        <p:nvPicPr>
          <p:cNvPr id="179" name="Google Shape;179;g2d2d1fb49d5_0_51"/>
          <p:cNvPicPr preferRelativeResize="0"/>
          <p:nvPr/>
        </p:nvPicPr>
        <p:blipFill rotWithShape="1">
          <a:blip r:embed="rId3">
            <a:alphaModFix/>
          </a:blip>
          <a:srcRect b="0" l="16371" r="15243" t="0"/>
          <a:stretch/>
        </p:blipFill>
        <p:spPr>
          <a:xfrm>
            <a:off x="281525" y="2024075"/>
            <a:ext cx="2387700" cy="4112700"/>
          </a:xfrm>
          <a:prstGeom prst="roundRect">
            <a:avLst>
              <a:gd fmla="val 16667" name="adj"/>
            </a:avLst>
          </a:prstGeom>
          <a:noFill/>
          <a:ln>
            <a:noFill/>
          </a:ln>
        </p:spPr>
      </p:pic>
      <p:sp>
        <p:nvSpPr>
          <p:cNvPr id="180" name="Google Shape;180;g2d2d1fb49d5_0_51"/>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Definición - Presupuesto</a:t>
            </a:r>
            <a:endParaRPr b="1" sz="2600">
              <a:solidFill>
                <a:srgbClr val="932328"/>
              </a:solidFill>
            </a:endParaRPr>
          </a:p>
        </p:txBody>
      </p:sp>
      <p:pic>
        <p:nvPicPr>
          <p:cNvPr descr="Image result for utn frba" id="181" name="Google Shape;181;g2d2d1fb49d5_0_51"/>
          <p:cNvPicPr preferRelativeResize="0"/>
          <p:nvPr/>
        </p:nvPicPr>
        <p:blipFill rotWithShape="1">
          <a:blip r:embed="rId4">
            <a:alphaModFix/>
          </a:blip>
          <a:srcRect b="0" l="0" r="0" t="0"/>
          <a:stretch/>
        </p:blipFill>
        <p:spPr>
          <a:xfrm>
            <a:off x="7294677" y="37279"/>
            <a:ext cx="2611323" cy="952745"/>
          </a:xfrm>
          <a:prstGeom prst="rect">
            <a:avLst/>
          </a:prstGeom>
          <a:noFill/>
          <a:ln>
            <a:noFill/>
          </a:ln>
        </p:spPr>
      </p:pic>
      <p:sp>
        <p:nvSpPr>
          <p:cNvPr id="182" name="Google Shape;182;g2d2d1fb49d5_0_51"/>
          <p:cNvSpPr txBox="1"/>
          <p:nvPr/>
        </p:nvSpPr>
        <p:spPr>
          <a:xfrm>
            <a:off x="2855225" y="2476625"/>
            <a:ext cx="4427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932328"/>
                </a:solidFill>
              </a:rPr>
              <a:t>Cuando? </a:t>
            </a:r>
            <a:endParaRPr b="1" sz="2700">
              <a:solidFill>
                <a:srgbClr val="932328"/>
              </a:solidFill>
            </a:endParaRPr>
          </a:p>
        </p:txBody>
      </p:sp>
      <p:pic>
        <p:nvPicPr>
          <p:cNvPr id="183" name="Google Shape;183;g2d2d1fb49d5_0_51"/>
          <p:cNvPicPr preferRelativeResize="0"/>
          <p:nvPr/>
        </p:nvPicPr>
        <p:blipFill>
          <a:blip r:embed="rId5">
            <a:alphaModFix/>
          </a:blip>
          <a:stretch>
            <a:fillRect/>
          </a:stretch>
        </p:blipFill>
        <p:spPr>
          <a:xfrm>
            <a:off x="3393800" y="2984250"/>
            <a:ext cx="5531526" cy="1386425"/>
          </a:xfrm>
          <a:prstGeom prst="rect">
            <a:avLst/>
          </a:prstGeom>
          <a:noFill/>
          <a:ln>
            <a:noFill/>
          </a:ln>
        </p:spPr>
      </p:pic>
      <p:sp>
        <p:nvSpPr>
          <p:cNvPr id="184" name="Google Shape;184;g2d2d1fb49d5_0_51"/>
          <p:cNvSpPr txBox="1"/>
          <p:nvPr/>
        </p:nvSpPr>
        <p:spPr>
          <a:xfrm>
            <a:off x="2787563" y="4456175"/>
            <a:ext cx="6744000" cy="9240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lt1"/>
                </a:solidFill>
              </a:rPr>
              <a:t>Estimativamente - </a:t>
            </a:r>
            <a:r>
              <a:rPr b="1" lang="en-US" sz="2400">
                <a:solidFill>
                  <a:schemeClr val="lt1"/>
                </a:solidFill>
              </a:rPr>
              <a:t>Están</a:t>
            </a:r>
            <a:r>
              <a:rPr b="1" lang="en-US" sz="2400">
                <a:solidFill>
                  <a:schemeClr val="lt1"/>
                </a:solidFill>
              </a:rPr>
              <a:t> evaluando un 3.65% mensual para el 2025.</a:t>
            </a:r>
            <a:endParaRPr b="1" sz="24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15e455dc2b9_0_0"/>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Presupuesto</a:t>
            </a:r>
            <a:endParaRPr b="1" sz="2600">
              <a:solidFill>
                <a:srgbClr val="932328"/>
              </a:solidFill>
            </a:endParaRPr>
          </a:p>
        </p:txBody>
      </p:sp>
      <p:sp>
        <p:nvSpPr>
          <p:cNvPr id="191" name="Google Shape;191;g15e455dc2b9_0_0"/>
          <p:cNvSpPr txBox="1"/>
          <p:nvPr/>
        </p:nvSpPr>
        <p:spPr>
          <a:xfrm>
            <a:off x="582000" y="1521950"/>
            <a:ext cx="8438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932328"/>
                </a:solidFill>
              </a:rPr>
              <a:t>Cúal creen que es el costo de un empleado?</a:t>
            </a:r>
            <a:endParaRPr b="1" sz="2700">
              <a:solidFill>
                <a:srgbClr val="932328"/>
              </a:solidFill>
            </a:endParaRPr>
          </a:p>
        </p:txBody>
      </p:sp>
      <p:sp>
        <p:nvSpPr>
          <p:cNvPr id="192" name="Google Shape;192;g15e455dc2b9_0_0"/>
          <p:cNvSpPr txBox="1"/>
          <p:nvPr/>
        </p:nvSpPr>
        <p:spPr>
          <a:xfrm>
            <a:off x="5717650" y="2274650"/>
            <a:ext cx="4106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El sueldo </a:t>
            </a:r>
            <a:r>
              <a:rPr b="1" lang="en-US" sz="1600"/>
              <a:t>no es lo único que se paga…</a:t>
            </a:r>
            <a:endParaRPr b="1" sz="1600"/>
          </a:p>
          <a:p>
            <a:pPr indent="0" lvl="0" marL="0" rtl="0" algn="l">
              <a:spcBef>
                <a:spcPts val="0"/>
              </a:spcBef>
              <a:spcAft>
                <a:spcPts val="0"/>
              </a:spcAft>
              <a:buNone/>
            </a:pPr>
            <a:r>
              <a:t/>
            </a:r>
            <a:endParaRPr b="1" sz="1600"/>
          </a:p>
          <a:p>
            <a:pPr indent="0" lvl="0" marL="0" rtl="0" algn="l">
              <a:spcBef>
                <a:spcPts val="0"/>
              </a:spcBef>
              <a:spcAft>
                <a:spcPts val="0"/>
              </a:spcAft>
              <a:buNone/>
            </a:pPr>
            <a:r>
              <a:rPr lang="en-US" sz="1600"/>
              <a:t>Siempre tenemos que considerar que existen:</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US" sz="1600"/>
              <a:t>Cargas Sociales</a:t>
            </a:r>
            <a:endParaRPr sz="1600"/>
          </a:p>
          <a:p>
            <a:pPr indent="-330200" lvl="0" marL="457200" rtl="0" algn="l">
              <a:spcBef>
                <a:spcPts val="0"/>
              </a:spcBef>
              <a:spcAft>
                <a:spcPts val="0"/>
              </a:spcAft>
              <a:buSzPts val="1600"/>
              <a:buChar char="➔"/>
            </a:pPr>
            <a:r>
              <a:rPr lang="en-US" sz="1600"/>
              <a:t>Provisiones</a:t>
            </a:r>
            <a:endParaRPr sz="1600"/>
          </a:p>
          <a:p>
            <a:pPr indent="-330200" lvl="0" marL="457200" rtl="0" algn="l">
              <a:spcBef>
                <a:spcPts val="0"/>
              </a:spcBef>
              <a:spcAft>
                <a:spcPts val="0"/>
              </a:spcAft>
              <a:buSzPts val="1600"/>
              <a:buChar char="➔"/>
            </a:pPr>
            <a:r>
              <a:rPr lang="en-US" sz="1600"/>
              <a:t>Beneficios</a:t>
            </a:r>
            <a:endParaRPr sz="1600"/>
          </a:p>
          <a:p>
            <a:pPr indent="-330200" lvl="0" marL="457200" rtl="0" algn="l">
              <a:spcBef>
                <a:spcPts val="0"/>
              </a:spcBef>
              <a:spcAft>
                <a:spcPts val="0"/>
              </a:spcAft>
              <a:buSzPts val="1600"/>
              <a:buChar char="➔"/>
            </a:pPr>
            <a:r>
              <a:rPr lang="en-US" sz="1600"/>
              <a:t>Costos Operativos </a:t>
            </a:r>
            <a:endParaRPr sz="1600"/>
          </a:p>
        </p:txBody>
      </p:sp>
      <p:sp>
        <p:nvSpPr>
          <p:cNvPr id="193" name="Google Shape;193;g15e455dc2b9_0_0"/>
          <p:cNvSpPr txBox="1"/>
          <p:nvPr/>
        </p:nvSpPr>
        <p:spPr>
          <a:xfrm>
            <a:off x="178025" y="5853125"/>
            <a:ext cx="55233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900">
                <a:solidFill>
                  <a:schemeClr val="dk2"/>
                </a:solidFill>
              </a:rPr>
              <a:t>Veamos que ideas surgen…</a:t>
            </a:r>
            <a:endParaRPr b="1" sz="1900">
              <a:solidFill>
                <a:schemeClr val="dk2"/>
              </a:solidFill>
            </a:endParaRPr>
          </a:p>
        </p:txBody>
      </p:sp>
      <p:pic>
        <p:nvPicPr>
          <p:cNvPr id="194" name="Google Shape;194;g15e455dc2b9_0_0"/>
          <p:cNvPicPr preferRelativeResize="0"/>
          <p:nvPr/>
        </p:nvPicPr>
        <p:blipFill>
          <a:blip r:embed="rId3">
            <a:alphaModFix/>
          </a:blip>
          <a:stretch>
            <a:fillRect/>
          </a:stretch>
        </p:blipFill>
        <p:spPr>
          <a:xfrm>
            <a:off x="152400" y="2274650"/>
            <a:ext cx="5574539" cy="3694524"/>
          </a:xfrm>
          <a:prstGeom prst="rect">
            <a:avLst/>
          </a:prstGeom>
          <a:noFill/>
          <a:ln>
            <a:noFill/>
          </a:ln>
        </p:spPr>
      </p:pic>
      <p:sp>
        <p:nvSpPr>
          <p:cNvPr id="195" name="Google Shape;195;g15e455dc2b9_0_0"/>
          <p:cNvSpPr txBox="1"/>
          <p:nvPr/>
        </p:nvSpPr>
        <p:spPr>
          <a:xfrm>
            <a:off x="6213700" y="4828238"/>
            <a:ext cx="36054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chemeClr val="accent4"/>
                </a:solidFill>
              </a:rPr>
              <a:t>Sabemos como calcular?  y cuanto es el costo de tus colaboradores y los procesos impactados? </a:t>
            </a:r>
            <a:endParaRPr b="1" sz="150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Image result for utn frba" id="200" name="Google Shape;200;p28"/>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201" name="Google Shape;201;p28"/>
          <p:cNvSpPr/>
          <p:nvPr/>
        </p:nvSpPr>
        <p:spPr>
          <a:xfrm>
            <a:off x="381554" y="1091668"/>
            <a:ext cx="91608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sp>
        <p:nvSpPr>
          <p:cNvPr id="202" name="Google Shape;202;p28"/>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Presupuesto</a:t>
            </a:r>
            <a:endParaRPr b="1" sz="2600">
              <a:solidFill>
                <a:srgbClr val="932328"/>
              </a:solidFill>
            </a:endParaRPr>
          </a:p>
        </p:txBody>
      </p:sp>
      <p:pic>
        <p:nvPicPr>
          <p:cNvPr id="203" name="Google Shape;203;p28"/>
          <p:cNvPicPr preferRelativeResize="0"/>
          <p:nvPr/>
        </p:nvPicPr>
        <p:blipFill>
          <a:blip r:embed="rId4">
            <a:alphaModFix/>
          </a:blip>
          <a:stretch>
            <a:fillRect/>
          </a:stretch>
        </p:blipFill>
        <p:spPr>
          <a:xfrm>
            <a:off x="2480325" y="1568418"/>
            <a:ext cx="3990975" cy="4381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Image result for utn frba" id="208" name="Google Shape;208;g2d2d1fb49d5_0_14"/>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209" name="Google Shape;209;g2d2d1fb49d5_0_14"/>
          <p:cNvSpPr/>
          <p:nvPr/>
        </p:nvSpPr>
        <p:spPr>
          <a:xfrm>
            <a:off x="381554" y="1091668"/>
            <a:ext cx="91608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pic>
        <p:nvPicPr>
          <p:cNvPr id="210" name="Google Shape;210;g2d2d1fb49d5_0_14"/>
          <p:cNvPicPr preferRelativeResize="0"/>
          <p:nvPr/>
        </p:nvPicPr>
        <p:blipFill rotWithShape="1">
          <a:blip r:embed="rId4">
            <a:alphaModFix/>
          </a:blip>
          <a:srcRect b="0" l="0" r="57732" t="27097"/>
          <a:stretch/>
        </p:blipFill>
        <p:spPr>
          <a:xfrm>
            <a:off x="597311" y="1847665"/>
            <a:ext cx="3017957" cy="2139999"/>
          </a:xfrm>
          <a:prstGeom prst="rect">
            <a:avLst/>
          </a:prstGeom>
          <a:noFill/>
          <a:ln>
            <a:noFill/>
          </a:ln>
        </p:spPr>
      </p:pic>
      <p:sp>
        <p:nvSpPr>
          <p:cNvPr id="211" name="Google Shape;211;g2d2d1fb49d5_0_14"/>
          <p:cNvSpPr/>
          <p:nvPr/>
        </p:nvSpPr>
        <p:spPr>
          <a:xfrm>
            <a:off x="699052" y="1226207"/>
            <a:ext cx="4986600" cy="469500"/>
          </a:xfrm>
          <a:prstGeom prst="roundRect">
            <a:avLst>
              <a:gd fmla="val 16667" name="adj"/>
            </a:avLst>
          </a:prstGeom>
          <a:solidFill>
            <a:schemeClr val="accent4"/>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COSTOS DE LA SEGURIDAD SOCIAL</a:t>
            </a:r>
            <a:endParaRPr b="0" i="0" sz="1800" u="none" cap="none" strike="noStrike">
              <a:solidFill>
                <a:schemeClr val="lt1"/>
              </a:solidFill>
              <a:latin typeface="Twentieth Century"/>
              <a:ea typeface="Twentieth Century"/>
              <a:cs typeface="Twentieth Century"/>
              <a:sym typeface="Twentieth Century"/>
            </a:endParaRPr>
          </a:p>
        </p:txBody>
      </p:sp>
      <p:sp>
        <p:nvSpPr>
          <p:cNvPr id="212" name="Google Shape;212;g2d2d1fb49d5_0_14"/>
          <p:cNvSpPr/>
          <p:nvPr/>
        </p:nvSpPr>
        <p:spPr>
          <a:xfrm>
            <a:off x="5880369" y="1234212"/>
            <a:ext cx="3577200" cy="469500"/>
          </a:xfrm>
          <a:prstGeom prst="roundRect">
            <a:avLst>
              <a:gd fmla="val 16667" name="adj"/>
            </a:avLst>
          </a:prstGeom>
          <a:solidFill>
            <a:schemeClr val="accent4"/>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SEGUROS Y SINDICATOS</a:t>
            </a:r>
            <a:endParaRPr b="0" i="0" sz="1800" u="none" cap="none" strike="noStrike">
              <a:solidFill>
                <a:schemeClr val="lt1"/>
              </a:solidFill>
              <a:latin typeface="Twentieth Century"/>
              <a:ea typeface="Twentieth Century"/>
              <a:cs typeface="Twentieth Century"/>
              <a:sym typeface="Twentieth Century"/>
            </a:endParaRPr>
          </a:p>
        </p:txBody>
      </p:sp>
      <p:graphicFrame>
        <p:nvGraphicFramePr>
          <p:cNvPr id="213" name="Google Shape;213;g2d2d1fb49d5_0_14"/>
          <p:cNvGraphicFramePr/>
          <p:nvPr/>
        </p:nvGraphicFramePr>
        <p:xfrm>
          <a:off x="5880370" y="1800607"/>
          <a:ext cx="3000000" cy="3000000"/>
        </p:xfrm>
        <a:graphic>
          <a:graphicData uri="http://schemas.openxmlformats.org/drawingml/2006/table">
            <a:tbl>
              <a:tblPr>
                <a:noFill/>
                <a:tableStyleId>{BE5AD69B-3591-4148-A08B-85F186E94DB8}</a:tableStyleId>
              </a:tblPr>
              <a:tblGrid>
                <a:gridCol w="2637175"/>
                <a:gridCol w="791150"/>
              </a:tblGrid>
              <a:tr h="348650">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accent4"/>
                          </a:solidFill>
                          <a:latin typeface="Arial"/>
                          <a:ea typeface="Arial"/>
                          <a:cs typeface="Arial"/>
                          <a:sym typeface="Arial"/>
                        </a:rPr>
                        <a:t>SEGUROS</a:t>
                      </a:r>
                      <a:endParaRPr sz="1400" u="none" cap="none" strike="noStrike"/>
                    </a:p>
                  </a:txBody>
                  <a:tcPr marT="145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t> </a:t>
                      </a:r>
                      <a:endParaRPr sz="1000" u="none" cap="none" strike="noStrike">
                        <a:latin typeface="Verdana"/>
                        <a:ea typeface="Verdana"/>
                        <a:cs typeface="Verdana"/>
                        <a:sym typeface="Verdana"/>
                      </a:endParaRPr>
                    </a:p>
                  </a:txBody>
                  <a:tcPr marT="145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2"/>
                      </a:solidFill>
                      <a:prstDash val="solid"/>
                      <a:round/>
                      <a:headEnd len="sm" w="sm" type="none"/>
                      <a:tailEnd len="sm" w="sm" type="none"/>
                    </a:lnB>
                  </a:tcPr>
                </a:tc>
              </a:tr>
              <a:tr h="251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Seguro de Vida obligatorio</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t>$100 </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3512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ART (trabajo de oficina – aporte mínimo)</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t>0,5%</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251650">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t>TOTAL </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t>+0,5 % </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14" name="Google Shape;214;g2d2d1fb49d5_0_14"/>
          <p:cNvPicPr preferRelativeResize="0"/>
          <p:nvPr/>
        </p:nvPicPr>
        <p:blipFill rotWithShape="1">
          <a:blip r:embed="rId4">
            <a:alphaModFix/>
          </a:blip>
          <a:srcRect b="0" l="79479" r="0" t="27097"/>
          <a:stretch/>
        </p:blipFill>
        <p:spPr>
          <a:xfrm>
            <a:off x="4220382" y="1847665"/>
            <a:ext cx="1465237" cy="2139999"/>
          </a:xfrm>
          <a:prstGeom prst="rect">
            <a:avLst/>
          </a:prstGeom>
          <a:noFill/>
          <a:ln>
            <a:noFill/>
          </a:ln>
        </p:spPr>
      </p:pic>
      <p:graphicFrame>
        <p:nvGraphicFramePr>
          <p:cNvPr id="215" name="Google Shape;215;g2d2d1fb49d5_0_14"/>
          <p:cNvGraphicFramePr/>
          <p:nvPr/>
        </p:nvGraphicFramePr>
        <p:xfrm>
          <a:off x="930493" y="4586415"/>
          <a:ext cx="3000000" cy="3000000"/>
        </p:xfrm>
        <a:graphic>
          <a:graphicData uri="http://schemas.openxmlformats.org/drawingml/2006/table">
            <a:tbl>
              <a:tblPr>
                <a:noFill/>
                <a:tableStyleId>{BE5AD69B-3591-4148-A08B-85F186E94DB8}</a:tableStyleId>
              </a:tblPr>
              <a:tblGrid>
                <a:gridCol w="2840600"/>
                <a:gridCol w="852175"/>
              </a:tblGrid>
              <a:tr h="251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Impacto del SAC</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8,33%</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1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Impacto de las vacaciones (14 días)</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4,2%</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1650">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TOTAL</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12,53%</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216" name="Google Shape;216;g2d2d1fb49d5_0_14"/>
          <p:cNvSpPr/>
          <p:nvPr/>
        </p:nvSpPr>
        <p:spPr>
          <a:xfrm>
            <a:off x="1472875" y="5712325"/>
            <a:ext cx="7836000" cy="527400"/>
          </a:xfrm>
          <a:prstGeom prst="rect">
            <a:avLst/>
          </a:prstGeom>
          <a:solidFill>
            <a:schemeClr val="accent4"/>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215" u="none" cap="none" strike="noStrike">
                <a:solidFill>
                  <a:schemeClr val="lt1"/>
                </a:solidFill>
                <a:latin typeface="Twentieth Century"/>
                <a:ea typeface="Twentieth Century"/>
                <a:cs typeface="Twentieth Century"/>
                <a:sym typeface="Twentieth Century"/>
              </a:rPr>
              <a:t>COSTO DE UN EMPLEADO: 37.03% como PISO !! </a:t>
            </a:r>
            <a:endParaRPr b="0" i="0" sz="1400" u="none" cap="none" strike="noStrike">
              <a:solidFill>
                <a:srgbClr val="000000"/>
              </a:solidFill>
              <a:latin typeface="Arial"/>
              <a:ea typeface="Arial"/>
              <a:cs typeface="Arial"/>
              <a:sym typeface="Arial"/>
            </a:endParaRPr>
          </a:p>
        </p:txBody>
      </p:sp>
      <p:sp>
        <p:nvSpPr>
          <p:cNvPr id="217" name="Google Shape;217;g2d2d1fb49d5_0_14"/>
          <p:cNvSpPr/>
          <p:nvPr/>
        </p:nvSpPr>
        <p:spPr>
          <a:xfrm>
            <a:off x="801914" y="4026092"/>
            <a:ext cx="4883700" cy="469500"/>
          </a:xfrm>
          <a:prstGeom prst="roundRect">
            <a:avLst>
              <a:gd fmla="val 16667" name="adj"/>
            </a:avLst>
          </a:prstGeom>
          <a:solidFill>
            <a:schemeClr val="accent4"/>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PROVISIONES CONTABLES STANDAR </a:t>
            </a:r>
            <a:endParaRPr b="0" i="0" sz="1800" u="none" cap="none" strike="noStrike">
              <a:solidFill>
                <a:schemeClr val="lt1"/>
              </a:solidFill>
              <a:latin typeface="Twentieth Century"/>
              <a:ea typeface="Twentieth Century"/>
              <a:cs typeface="Twentieth Century"/>
              <a:sym typeface="Twentieth Century"/>
            </a:endParaRPr>
          </a:p>
        </p:txBody>
      </p:sp>
      <p:sp>
        <p:nvSpPr>
          <p:cNvPr id="218" name="Google Shape;218;g2d2d1fb49d5_0_14"/>
          <p:cNvSpPr/>
          <p:nvPr/>
        </p:nvSpPr>
        <p:spPr>
          <a:xfrm>
            <a:off x="5880370" y="4020838"/>
            <a:ext cx="3407700" cy="469500"/>
          </a:xfrm>
          <a:prstGeom prst="roundRect">
            <a:avLst>
              <a:gd fmla="val 16667" name="adj"/>
            </a:avLst>
          </a:prstGeom>
          <a:solidFill>
            <a:schemeClr val="accent4"/>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OTROS</a:t>
            </a:r>
            <a:endParaRPr b="0" i="0" sz="1800" u="none" cap="none" strike="noStrike">
              <a:solidFill>
                <a:schemeClr val="lt1"/>
              </a:solidFill>
              <a:latin typeface="Twentieth Century"/>
              <a:ea typeface="Twentieth Century"/>
              <a:cs typeface="Twentieth Century"/>
              <a:sym typeface="Twentieth Century"/>
            </a:endParaRPr>
          </a:p>
        </p:txBody>
      </p:sp>
      <p:graphicFrame>
        <p:nvGraphicFramePr>
          <p:cNvPr id="219" name="Google Shape;219;g2d2d1fb49d5_0_14"/>
          <p:cNvGraphicFramePr/>
          <p:nvPr/>
        </p:nvGraphicFramePr>
        <p:xfrm>
          <a:off x="5880370" y="3045663"/>
          <a:ext cx="3000000" cy="3000000"/>
        </p:xfrm>
        <a:graphic>
          <a:graphicData uri="http://schemas.openxmlformats.org/drawingml/2006/table">
            <a:tbl>
              <a:tblPr>
                <a:noFill/>
                <a:tableStyleId>{BE5AD69B-3591-4148-A08B-85F186E94DB8}</a:tableStyleId>
              </a:tblPr>
              <a:tblGrid>
                <a:gridCol w="2544700"/>
                <a:gridCol w="883625"/>
              </a:tblGrid>
              <a:tr h="348650">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accent4"/>
                          </a:solidFill>
                          <a:latin typeface="Arial"/>
                          <a:ea typeface="Arial"/>
                          <a:cs typeface="Arial"/>
                          <a:sym typeface="Arial"/>
                        </a:rPr>
                        <a:t>SINDICALES</a:t>
                      </a:r>
                      <a:endParaRPr sz="1000" u="none" cap="none" strike="noStrike">
                        <a:solidFill>
                          <a:schemeClr val="accent4"/>
                        </a:solidFill>
                        <a:latin typeface="Arial"/>
                        <a:ea typeface="Arial"/>
                        <a:cs typeface="Arial"/>
                        <a:sym typeface="Arial"/>
                      </a:endParaRPr>
                    </a:p>
                  </a:txBody>
                  <a:tcPr marT="145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B cap="flat" cmpd="sng" w="12700">
                      <a:solidFill>
                        <a:schemeClr val="lt2"/>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 </a:t>
                      </a:r>
                      <a:endParaRPr sz="1400" u="none" cap="none" strike="noStrike"/>
                    </a:p>
                  </a:txBody>
                  <a:tcPr marT="145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B cap="flat" cmpd="sng" w="12700">
                      <a:solidFill>
                        <a:schemeClr val="lt2"/>
                      </a:solidFill>
                      <a:prstDash val="solid"/>
                      <a:round/>
                      <a:headEnd len="sm" w="sm" type="none"/>
                      <a:tailEnd len="sm" w="sm" type="none"/>
                    </a:lnB>
                    <a:solidFill>
                      <a:srgbClr val="FFFFFF"/>
                    </a:solidFill>
                  </a:tcPr>
                </a:tc>
              </a:tr>
              <a:tr h="251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Variable según el convenio colectivo</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278925">
                <a:tc>
                  <a:txBody>
                    <a:bodyPr/>
                    <a:lstStyle/>
                    <a:p>
                      <a:pPr indent="0" lvl="0" marL="0" marR="0" rtl="0" algn="r">
                        <a:lnSpc>
                          <a:spcPct val="100000"/>
                        </a:lnSpc>
                        <a:spcBef>
                          <a:spcPts val="0"/>
                        </a:spcBef>
                        <a:spcAft>
                          <a:spcPts val="0"/>
                        </a:spcAft>
                        <a:buClr>
                          <a:srgbClr val="000000"/>
                        </a:buClr>
                        <a:buSzPts val="1000"/>
                        <a:buFont typeface="Arial"/>
                        <a:buNone/>
                      </a:pPr>
                      <a:r>
                        <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TOTAL</a:t>
                      </a:r>
                      <a:endParaRPr sz="1000" u="none" cap="none" strike="noStrike">
                        <a:latin typeface="Arial"/>
                        <a:ea typeface="Arial"/>
                        <a:cs typeface="Arial"/>
                        <a:sym typeface="Arial"/>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aphicFrame>
        <p:nvGraphicFramePr>
          <p:cNvPr id="220" name="Google Shape;220;g2d2d1fb49d5_0_14"/>
          <p:cNvGraphicFramePr/>
          <p:nvPr/>
        </p:nvGraphicFramePr>
        <p:xfrm>
          <a:off x="5880370" y="4568370"/>
          <a:ext cx="3000000" cy="3000000"/>
        </p:xfrm>
        <a:graphic>
          <a:graphicData uri="http://schemas.openxmlformats.org/drawingml/2006/table">
            <a:tbl>
              <a:tblPr>
                <a:noFill/>
                <a:tableStyleId>{BE5AD69B-3591-4148-A08B-85F186E94DB8}</a:tableStyleId>
              </a:tblPr>
              <a:tblGrid>
                <a:gridCol w="2637175"/>
                <a:gridCol w="791150"/>
              </a:tblGrid>
              <a:tr h="251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Ajustes de SAC</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t/>
                      </a:r>
                      <a:endParaRPr sz="1000" u="none" cap="none" strike="noStrike">
                        <a:latin typeface="Verdana"/>
                        <a:ea typeface="Verdana"/>
                        <a:cs typeface="Verdana"/>
                        <a:sym typeface="Verdana"/>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28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Verdana"/>
                          <a:ea typeface="Verdana"/>
                          <a:cs typeface="Verdana"/>
                          <a:sym typeface="Verdana"/>
                        </a:rPr>
                        <a:t>Ajuste de vacaciones no gozadas o por mayor licencia</a:t>
                      </a:r>
                      <a:endParaRPr sz="1400" u="none" cap="none" strike="noStrike"/>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t/>
                      </a:r>
                      <a:endParaRPr sz="1000" u="none" cap="none" strike="noStrike">
                        <a:latin typeface="Verdana"/>
                        <a:ea typeface="Verdana"/>
                        <a:cs typeface="Verdana"/>
                        <a:sym typeface="Verdana"/>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282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Verdana"/>
                        <a:ea typeface="Verdana"/>
                        <a:cs typeface="Verdana"/>
                        <a:sym typeface="Verdana"/>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000"/>
                        <a:buFont typeface="Arial"/>
                        <a:buNone/>
                      </a:pPr>
                      <a:r>
                        <a:t/>
                      </a:r>
                      <a:endParaRPr sz="1000" u="none" cap="none" strike="noStrike">
                        <a:latin typeface="Verdana"/>
                        <a:ea typeface="Verdana"/>
                        <a:cs typeface="Verdana"/>
                        <a:sym typeface="Verdana"/>
                      </a:endParaRPr>
                    </a:p>
                  </a:txBody>
                  <a:tcPr marT="48450" marB="48450" marR="48450" marL="48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221" name="Google Shape;221;g2d2d1fb49d5_0_14"/>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Presupuesto</a:t>
            </a:r>
            <a:endParaRPr b="1" sz="2600">
              <a:solidFill>
                <a:srgbClr val="932328"/>
              </a:solidFill>
            </a:endParaRPr>
          </a:p>
        </p:txBody>
      </p:sp>
      <p:pic>
        <p:nvPicPr>
          <p:cNvPr id="222" name="Google Shape;222;g2d2d1fb49d5_0_14"/>
          <p:cNvPicPr preferRelativeResize="0"/>
          <p:nvPr/>
        </p:nvPicPr>
        <p:blipFill rotWithShape="1">
          <a:blip r:embed="rId5">
            <a:alphaModFix/>
          </a:blip>
          <a:srcRect b="9159" l="7192" r="0" t="6345"/>
          <a:stretch/>
        </p:blipFill>
        <p:spPr>
          <a:xfrm>
            <a:off x="203575" y="5432200"/>
            <a:ext cx="1269300" cy="129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g13f4e71bb30_0_0"/>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229" name="Google Shape;229;g13f4e71bb30_0_0"/>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230" name="Google Shape;230;g13f4e71bb30_0_0"/>
          <p:cNvSpPr txBox="1"/>
          <p:nvPr/>
        </p:nvSpPr>
        <p:spPr>
          <a:xfrm>
            <a:off x="4257675" y="1466438"/>
            <a:ext cx="4427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Reclutamiento y Selección</a:t>
            </a:r>
            <a:endParaRPr b="1" sz="2600">
              <a:solidFill>
                <a:srgbClr val="932328"/>
              </a:solidFill>
            </a:endParaRPr>
          </a:p>
        </p:txBody>
      </p:sp>
      <p:sp>
        <p:nvSpPr>
          <p:cNvPr id="231" name="Google Shape;231;g13f4e71bb30_0_0"/>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232" name="Google Shape;232;g13f4e71bb30_0_0"/>
          <p:cNvSpPr txBox="1"/>
          <p:nvPr/>
        </p:nvSpPr>
        <p:spPr>
          <a:xfrm>
            <a:off x="4343400" y="2301575"/>
            <a:ext cx="5316000" cy="3240900"/>
          </a:xfrm>
          <a:prstGeom prst="rect">
            <a:avLst/>
          </a:prstGeom>
          <a:noFill/>
          <a:ln>
            <a:noFill/>
          </a:ln>
        </p:spPr>
        <p:txBody>
          <a:bodyPr anchorCtr="0" anchor="t" bIns="91425" lIns="91425" spcFirstLastPara="1" rIns="91425" wrap="square" tIns="91425">
            <a:spAutoFit/>
          </a:bodyPr>
          <a:lstStyle/>
          <a:p>
            <a:pPr indent="-349250" lvl="0" marL="457200" rtl="0" algn="just">
              <a:lnSpc>
                <a:spcPct val="135000"/>
              </a:lnSpc>
              <a:spcBef>
                <a:spcPts val="0"/>
              </a:spcBef>
              <a:spcAft>
                <a:spcPts val="0"/>
              </a:spcAft>
              <a:buClr>
                <a:srgbClr val="323232"/>
              </a:buClr>
              <a:buSzPts val="1900"/>
              <a:buChar char="➔"/>
            </a:pPr>
            <a:r>
              <a:rPr lang="en-US" sz="1900">
                <a:solidFill>
                  <a:srgbClr val="323232"/>
                </a:solidFill>
              </a:rPr>
              <a:t>Acceso a Bases de Candidatos y/o Accesos Premium. Ej:Linkedin-Recruiter, Computrabajo, etc. </a:t>
            </a:r>
            <a:endParaRPr sz="1900">
              <a:solidFill>
                <a:srgbClr val="323232"/>
              </a:solidFill>
            </a:endParaRPr>
          </a:p>
          <a:p>
            <a:pPr indent="-349250" lvl="0" marL="457200" rtl="0" algn="just">
              <a:lnSpc>
                <a:spcPct val="135000"/>
              </a:lnSpc>
              <a:spcBef>
                <a:spcPts val="0"/>
              </a:spcBef>
              <a:spcAft>
                <a:spcPts val="0"/>
              </a:spcAft>
              <a:buClr>
                <a:srgbClr val="323232"/>
              </a:buClr>
              <a:buSzPts val="1900"/>
              <a:buChar char="➔"/>
            </a:pPr>
            <a:r>
              <a:rPr lang="en-US" sz="1900">
                <a:solidFill>
                  <a:srgbClr val="323232"/>
                </a:solidFill>
              </a:rPr>
              <a:t>Costos de Exámenes Médicos y psicotécnicos</a:t>
            </a:r>
            <a:endParaRPr sz="1900">
              <a:solidFill>
                <a:srgbClr val="323232"/>
              </a:solidFill>
            </a:endParaRPr>
          </a:p>
          <a:p>
            <a:pPr indent="-349250" lvl="0" marL="457200" rtl="0" algn="just">
              <a:lnSpc>
                <a:spcPct val="135000"/>
              </a:lnSpc>
              <a:spcBef>
                <a:spcPts val="0"/>
              </a:spcBef>
              <a:spcAft>
                <a:spcPts val="0"/>
              </a:spcAft>
              <a:buClr>
                <a:srgbClr val="323232"/>
              </a:buClr>
              <a:buSzPts val="1900"/>
              <a:buChar char="➔"/>
            </a:pPr>
            <a:r>
              <a:rPr lang="en-US" sz="1900">
                <a:solidFill>
                  <a:srgbClr val="323232"/>
                </a:solidFill>
              </a:rPr>
              <a:t>Costos de Consultores Externos.</a:t>
            </a:r>
            <a:endParaRPr sz="1900">
              <a:solidFill>
                <a:srgbClr val="323232"/>
              </a:solidFill>
            </a:endParaRPr>
          </a:p>
          <a:p>
            <a:pPr indent="-349250" lvl="0" marL="457200" rtl="0" algn="just">
              <a:lnSpc>
                <a:spcPct val="135000"/>
              </a:lnSpc>
              <a:spcBef>
                <a:spcPts val="0"/>
              </a:spcBef>
              <a:spcAft>
                <a:spcPts val="0"/>
              </a:spcAft>
              <a:buClr>
                <a:srgbClr val="323232"/>
              </a:buClr>
              <a:buSzPts val="1900"/>
              <a:buChar char="➔"/>
            </a:pPr>
            <a:r>
              <a:rPr lang="en-US" sz="1900">
                <a:solidFill>
                  <a:srgbClr val="323232"/>
                </a:solidFill>
              </a:rPr>
              <a:t>Eventos Marca Empleadora,Ferias de Empleo, Merchandising, Kits de Bienvenida</a:t>
            </a:r>
            <a:endParaRPr/>
          </a:p>
        </p:txBody>
      </p:sp>
      <p:sp>
        <p:nvSpPr>
          <p:cNvPr id="233" name="Google Shape;233;g13f4e71bb30_0_0"/>
          <p:cNvSpPr/>
          <p:nvPr/>
        </p:nvSpPr>
        <p:spPr>
          <a:xfrm>
            <a:off x="1399950" y="16835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age result for utn frba" id="234" name="Google Shape;234;g13f4e71bb30_0_0"/>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235" name="Google Shape;235;g13f4e71bb30_0_0"/>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g2d2c246cc59_3_0"/>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242" name="Google Shape;242;g2d2c246cc59_3_0"/>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243" name="Google Shape;243;g2d2c246cc59_3_0"/>
          <p:cNvSpPr txBox="1"/>
          <p:nvPr/>
        </p:nvSpPr>
        <p:spPr>
          <a:xfrm>
            <a:off x="4257675" y="1466450"/>
            <a:ext cx="5401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Reclutamiento y Selección - Ejemplo de </a:t>
            </a:r>
            <a:r>
              <a:rPr b="1" lang="en-US" sz="2600">
                <a:solidFill>
                  <a:srgbClr val="932328"/>
                </a:solidFill>
              </a:rPr>
              <a:t>Psicotécnico</a:t>
            </a:r>
            <a:r>
              <a:rPr b="1" lang="en-US" sz="2600">
                <a:solidFill>
                  <a:srgbClr val="932328"/>
                </a:solidFill>
              </a:rPr>
              <a:t>  </a:t>
            </a:r>
            <a:endParaRPr b="1" sz="2600">
              <a:solidFill>
                <a:srgbClr val="932328"/>
              </a:solidFill>
            </a:endParaRPr>
          </a:p>
        </p:txBody>
      </p:sp>
      <p:sp>
        <p:nvSpPr>
          <p:cNvPr id="244" name="Google Shape;244;g2d2c246cc59_3_0"/>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245" name="Google Shape;245;g2d2c246cc59_3_0"/>
          <p:cNvSpPr/>
          <p:nvPr/>
        </p:nvSpPr>
        <p:spPr>
          <a:xfrm>
            <a:off x="1399950" y="16835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age result for utn frba" id="246" name="Google Shape;246;g2d2c246cc59_3_0"/>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247" name="Google Shape;247;g2d2c246cc59_3_0"/>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248" name="Google Shape;248;g2d2c246cc59_3_0"/>
          <p:cNvSpPr/>
          <p:nvPr/>
        </p:nvSpPr>
        <p:spPr>
          <a:xfrm>
            <a:off x="4851150" y="3370125"/>
            <a:ext cx="4481400" cy="1223100"/>
          </a:xfrm>
          <a:prstGeom prst="roundRect">
            <a:avLst>
              <a:gd fmla="val 16667" name="adj"/>
            </a:avLst>
          </a:prstGeom>
          <a:solidFill>
            <a:schemeClr val="lt2"/>
          </a:solidFill>
          <a:ln cap="flat" cmpd="sng" w="28575">
            <a:solidFill>
              <a:srgbClr val="4A86E8"/>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a:p>
            <a:pPr indent="0" lvl="0" marL="0" rtl="0" algn="ctr">
              <a:spcBef>
                <a:spcPts val="0"/>
              </a:spcBef>
              <a:spcAft>
                <a:spcPts val="0"/>
              </a:spcAft>
              <a:buNone/>
            </a:pPr>
            <a:r>
              <a:rPr lang="en-US" sz="2200"/>
              <a:t>Valor por unidad: </a:t>
            </a:r>
            <a:r>
              <a:rPr b="1" lang="en-US" sz="2200"/>
              <a:t>$</a:t>
            </a:r>
            <a:r>
              <a:rPr b="1" lang="en-US" sz="2200"/>
              <a:t>31.608 + iva</a:t>
            </a:r>
            <a:endParaRPr b="1" sz="2200"/>
          </a:p>
          <a:p>
            <a:pPr indent="0" lvl="0" marL="0" rtl="0" algn="ctr">
              <a:spcBef>
                <a:spcPts val="0"/>
              </a:spcBef>
              <a:spcAft>
                <a:spcPts val="0"/>
              </a:spcAft>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g2d2c246cc59_0_2"/>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255" name="Google Shape;255;g2d2c246cc59_0_2"/>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256" name="Google Shape;256;g2d2c246cc59_0_2"/>
          <p:cNvSpPr txBox="1"/>
          <p:nvPr/>
        </p:nvSpPr>
        <p:spPr>
          <a:xfrm>
            <a:off x="4257675" y="1466450"/>
            <a:ext cx="5401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Reclutamiento y Selección - Ejemplo de Preocupacional </a:t>
            </a:r>
            <a:endParaRPr b="1" sz="2600">
              <a:solidFill>
                <a:srgbClr val="932328"/>
              </a:solidFill>
            </a:endParaRPr>
          </a:p>
        </p:txBody>
      </p:sp>
      <p:sp>
        <p:nvSpPr>
          <p:cNvPr id="257" name="Google Shape;257;g2d2c246cc59_0_2"/>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258" name="Google Shape;258;g2d2c246cc59_0_2"/>
          <p:cNvSpPr/>
          <p:nvPr/>
        </p:nvSpPr>
        <p:spPr>
          <a:xfrm>
            <a:off x="1399950" y="16835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age result for utn frba" id="259" name="Google Shape;259;g2d2c246cc59_0_2"/>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260" name="Google Shape;260;g2d2c246cc59_0_2"/>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pic>
        <p:nvPicPr>
          <p:cNvPr id="261" name="Google Shape;261;g2d2c246cc59_0_2"/>
          <p:cNvPicPr preferRelativeResize="0"/>
          <p:nvPr/>
        </p:nvPicPr>
        <p:blipFill>
          <a:blip r:embed="rId6">
            <a:alphaModFix/>
          </a:blip>
          <a:stretch>
            <a:fillRect/>
          </a:stretch>
        </p:blipFill>
        <p:spPr>
          <a:xfrm>
            <a:off x="4823576" y="2552038"/>
            <a:ext cx="3757175" cy="2859265"/>
          </a:xfrm>
          <a:prstGeom prst="rect">
            <a:avLst/>
          </a:prstGeom>
          <a:noFill/>
          <a:ln>
            <a:noFill/>
          </a:ln>
        </p:spPr>
      </p:pic>
      <p:sp>
        <p:nvSpPr>
          <p:cNvPr id="262" name="Google Shape;262;g2d2c246cc59_0_2"/>
          <p:cNvSpPr/>
          <p:nvPr/>
        </p:nvSpPr>
        <p:spPr>
          <a:xfrm>
            <a:off x="6787447" y="3172100"/>
            <a:ext cx="2611200" cy="792600"/>
          </a:xfrm>
          <a:prstGeom prst="roundRect">
            <a:avLst>
              <a:gd fmla="val 16667" name="adj"/>
            </a:avLst>
          </a:prstGeom>
          <a:solidFill>
            <a:schemeClr val="lt2"/>
          </a:solidFill>
          <a:ln cap="flat" cmpd="sng" w="28575">
            <a:solidFill>
              <a:srgbClr val="4A86E8"/>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a:p>
            <a:pPr indent="0" lvl="0" marL="0" rtl="0" algn="ctr">
              <a:spcBef>
                <a:spcPts val="0"/>
              </a:spcBef>
              <a:spcAft>
                <a:spcPts val="0"/>
              </a:spcAft>
              <a:buNone/>
            </a:pPr>
            <a:r>
              <a:rPr lang="en-US" sz="1800"/>
              <a:t>Valor por Examen Médico $39.948+ IVA </a:t>
            </a:r>
            <a:endParaRPr b="1" sz="1800"/>
          </a:p>
          <a:p>
            <a:pPr indent="0" lvl="0" marL="0" rtl="0" algn="ctr">
              <a:spcBef>
                <a:spcPts val="0"/>
              </a:spcBef>
              <a:spcAft>
                <a:spcPts val="0"/>
              </a:spcAft>
              <a:buNone/>
            </a:pPr>
            <a:r>
              <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g2d2c246cc59_3_13"/>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269" name="Google Shape;269;g2d2c246cc59_3_13"/>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270" name="Google Shape;270;g2d2c246cc59_3_13"/>
          <p:cNvSpPr txBox="1"/>
          <p:nvPr/>
        </p:nvSpPr>
        <p:spPr>
          <a:xfrm>
            <a:off x="4257675" y="1466450"/>
            <a:ext cx="5401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Reclutamiento y Selección - Ejemplo de Avisos</a:t>
            </a:r>
            <a:endParaRPr b="1" sz="2600">
              <a:solidFill>
                <a:srgbClr val="932328"/>
              </a:solidFill>
            </a:endParaRPr>
          </a:p>
        </p:txBody>
      </p:sp>
      <p:sp>
        <p:nvSpPr>
          <p:cNvPr id="271" name="Google Shape;271;g2d2c246cc59_3_13"/>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272" name="Google Shape;272;g2d2c246cc59_3_13"/>
          <p:cNvSpPr/>
          <p:nvPr/>
        </p:nvSpPr>
        <p:spPr>
          <a:xfrm>
            <a:off x="1399950" y="16835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age result for utn frba" id="273" name="Google Shape;273;g2d2c246cc59_3_13"/>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274" name="Google Shape;274;g2d2c246cc59_3_13"/>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275" name="Google Shape;275;g2d2c246cc59_3_13"/>
          <p:cNvSpPr txBox="1"/>
          <p:nvPr/>
        </p:nvSpPr>
        <p:spPr>
          <a:xfrm>
            <a:off x="6159375" y="2559675"/>
            <a:ext cx="1598400" cy="48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rPr>
              <a:t>Bumeran</a:t>
            </a:r>
            <a:endParaRPr b="1" sz="2400">
              <a:solidFill>
                <a:schemeClr val="dk1"/>
              </a:solidFill>
            </a:endParaRPr>
          </a:p>
        </p:txBody>
      </p:sp>
      <p:pic>
        <p:nvPicPr>
          <p:cNvPr id="276" name="Google Shape;276;g2d2c246cc59_3_13"/>
          <p:cNvPicPr preferRelativeResize="0"/>
          <p:nvPr/>
        </p:nvPicPr>
        <p:blipFill rotWithShape="1">
          <a:blip r:embed="rId6">
            <a:alphaModFix/>
          </a:blip>
          <a:srcRect b="22504" l="0" r="0" t="0"/>
          <a:stretch/>
        </p:blipFill>
        <p:spPr>
          <a:xfrm>
            <a:off x="4588288" y="2989950"/>
            <a:ext cx="3404624" cy="2716400"/>
          </a:xfrm>
          <a:prstGeom prst="rect">
            <a:avLst/>
          </a:prstGeom>
          <a:noFill/>
          <a:ln>
            <a:noFill/>
          </a:ln>
        </p:spPr>
      </p:pic>
      <p:pic>
        <p:nvPicPr>
          <p:cNvPr id="277" name="Google Shape;277;g2d2c246cc59_3_13"/>
          <p:cNvPicPr preferRelativeResize="0"/>
          <p:nvPr/>
        </p:nvPicPr>
        <p:blipFill>
          <a:blip r:embed="rId7">
            <a:alphaModFix/>
          </a:blip>
          <a:stretch>
            <a:fillRect/>
          </a:stretch>
        </p:blipFill>
        <p:spPr>
          <a:xfrm>
            <a:off x="6325100" y="4751848"/>
            <a:ext cx="3189724" cy="1631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g2d2c246cc59_3_41"/>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284" name="Google Shape;284;g2d2c246cc59_3_41"/>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285" name="Google Shape;285;g2d2c246cc59_3_41"/>
          <p:cNvSpPr txBox="1"/>
          <p:nvPr/>
        </p:nvSpPr>
        <p:spPr>
          <a:xfrm>
            <a:off x="4257675" y="1466450"/>
            <a:ext cx="5401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Reclutamiento y Selección - Ejemplo de Avisos</a:t>
            </a:r>
            <a:endParaRPr b="1" sz="2600">
              <a:solidFill>
                <a:srgbClr val="932328"/>
              </a:solidFill>
            </a:endParaRPr>
          </a:p>
        </p:txBody>
      </p:sp>
      <p:sp>
        <p:nvSpPr>
          <p:cNvPr id="286" name="Google Shape;286;g2d2c246cc59_3_41"/>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287" name="Google Shape;287;g2d2c246cc59_3_41"/>
          <p:cNvSpPr/>
          <p:nvPr/>
        </p:nvSpPr>
        <p:spPr>
          <a:xfrm>
            <a:off x="1399950" y="16835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age result for utn frba" id="288" name="Google Shape;288;g2d2c246cc59_3_41"/>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289" name="Google Shape;289;g2d2c246cc59_3_41"/>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290" name="Google Shape;290;g2d2c246cc59_3_41"/>
          <p:cNvSpPr txBox="1"/>
          <p:nvPr/>
        </p:nvSpPr>
        <p:spPr>
          <a:xfrm>
            <a:off x="5719563" y="2592125"/>
            <a:ext cx="2478000" cy="48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rPr>
              <a:t>Computrabajo</a:t>
            </a:r>
            <a:endParaRPr b="1" sz="2400">
              <a:solidFill>
                <a:schemeClr val="dk1"/>
              </a:solidFill>
            </a:endParaRPr>
          </a:p>
        </p:txBody>
      </p:sp>
      <p:pic>
        <p:nvPicPr>
          <p:cNvPr id="291" name="Google Shape;291;g2d2c246cc59_3_41"/>
          <p:cNvPicPr preferRelativeResize="0"/>
          <p:nvPr/>
        </p:nvPicPr>
        <p:blipFill>
          <a:blip r:embed="rId6">
            <a:alphaModFix/>
          </a:blip>
          <a:stretch>
            <a:fillRect/>
          </a:stretch>
        </p:blipFill>
        <p:spPr>
          <a:xfrm>
            <a:off x="4516475" y="3234187"/>
            <a:ext cx="4884198" cy="2239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g13f4e71bb30_0_362"/>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298" name="Google Shape;298;g13f4e71bb30_0_362"/>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299" name="Google Shape;299;g13f4e71bb30_0_362"/>
          <p:cNvSpPr txBox="1"/>
          <p:nvPr/>
        </p:nvSpPr>
        <p:spPr>
          <a:xfrm>
            <a:off x="4246125" y="1439075"/>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 Beneficios</a:t>
            </a:r>
            <a:endParaRPr b="1" sz="2600">
              <a:solidFill>
                <a:srgbClr val="932328"/>
              </a:solidFill>
            </a:endParaRPr>
          </a:p>
        </p:txBody>
      </p:sp>
      <p:sp>
        <p:nvSpPr>
          <p:cNvPr id="300" name="Google Shape;300;g13f4e71bb30_0_362"/>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301" name="Google Shape;301;g13f4e71bb30_0_362"/>
          <p:cNvSpPr txBox="1"/>
          <p:nvPr/>
        </p:nvSpPr>
        <p:spPr>
          <a:xfrm>
            <a:off x="4246125" y="2013375"/>
            <a:ext cx="5617500" cy="3692700"/>
          </a:xfrm>
          <a:prstGeom prst="rect">
            <a:avLst/>
          </a:prstGeom>
          <a:noFill/>
          <a:ln>
            <a:noFill/>
          </a:ln>
        </p:spPr>
        <p:txBody>
          <a:bodyPr anchorCtr="0" anchor="t" bIns="91425" lIns="91425" spcFirstLastPara="1" rIns="91425" wrap="square" tIns="91425">
            <a:spAutoFit/>
          </a:bodyPr>
          <a:lstStyle/>
          <a:p>
            <a:pPr indent="0" lvl="0" marL="0" rtl="0" algn="l">
              <a:lnSpc>
                <a:spcPct val="135000"/>
              </a:lnSpc>
              <a:spcBef>
                <a:spcPts val="0"/>
              </a:spcBef>
              <a:spcAft>
                <a:spcPts val="0"/>
              </a:spcAft>
              <a:buNone/>
            </a:pPr>
            <a:r>
              <a:rPr lang="en-US" sz="1500">
                <a:solidFill>
                  <a:srgbClr val="707679"/>
                </a:solidFill>
                <a:highlight>
                  <a:srgbClr val="FFFFFF"/>
                </a:highlight>
              </a:rPr>
              <a:t>Cada Beneficio que se ofrece a los empleados  debe estar costeado y considerado dentro de los presupuestos de cada área o de RH, según lo definido por la organización. </a:t>
            </a:r>
            <a:r>
              <a:rPr b="1" lang="en-US" sz="1500">
                <a:solidFill>
                  <a:srgbClr val="707679"/>
                </a:solidFill>
                <a:highlight>
                  <a:srgbClr val="FFFFFF"/>
                </a:highlight>
              </a:rPr>
              <a:t>Ejemplos:</a:t>
            </a:r>
            <a:endParaRPr b="1" sz="1500">
              <a:solidFill>
                <a:srgbClr val="707679"/>
              </a:solidFill>
              <a:highlight>
                <a:srgbClr val="FFFFFF"/>
              </a:highlight>
            </a:endParaRPr>
          </a:p>
          <a:p>
            <a:pPr indent="-361950" lvl="1" marL="914400" rtl="0" algn="l">
              <a:lnSpc>
                <a:spcPct val="135000"/>
              </a:lnSpc>
              <a:spcBef>
                <a:spcPts val="1500"/>
              </a:spcBef>
              <a:spcAft>
                <a:spcPts val="0"/>
              </a:spcAft>
              <a:buClr>
                <a:srgbClr val="323232"/>
              </a:buClr>
              <a:buSzPts val="2100"/>
              <a:buChar char="◆"/>
            </a:pPr>
            <a:r>
              <a:rPr lang="en-US" sz="1500">
                <a:solidFill>
                  <a:srgbClr val="707679"/>
                </a:solidFill>
                <a:highlight>
                  <a:srgbClr val="FFFFFF"/>
                </a:highlight>
              </a:rPr>
              <a:t>Gimnasio </a:t>
            </a:r>
            <a:endParaRPr sz="1500">
              <a:solidFill>
                <a:srgbClr val="707679"/>
              </a:solidFill>
              <a:highlight>
                <a:srgbClr val="FFFFFF"/>
              </a:highlight>
            </a:endParaRPr>
          </a:p>
          <a:p>
            <a:pPr indent="-361950" lvl="1" marL="914400" rtl="0" algn="l">
              <a:lnSpc>
                <a:spcPct val="135000"/>
              </a:lnSpc>
              <a:spcBef>
                <a:spcPts val="0"/>
              </a:spcBef>
              <a:spcAft>
                <a:spcPts val="0"/>
              </a:spcAft>
              <a:buClr>
                <a:srgbClr val="323232"/>
              </a:buClr>
              <a:buSzPts val="2100"/>
              <a:buChar char="◆"/>
            </a:pPr>
            <a:r>
              <a:rPr lang="en-US" sz="1500">
                <a:solidFill>
                  <a:srgbClr val="707679"/>
                </a:solidFill>
                <a:highlight>
                  <a:srgbClr val="FFFFFF"/>
                </a:highlight>
              </a:rPr>
              <a:t>Medicina Prepaga</a:t>
            </a:r>
            <a:endParaRPr sz="1500">
              <a:solidFill>
                <a:srgbClr val="707679"/>
              </a:solidFill>
              <a:highlight>
                <a:srgbClr val="FFFFFF"/>
              </a:highlight>
            </a:endParaRPr>
          </a:p>
          <a:p>
            <a:pPr indent="-361950" lvl="1" marL="914400" rtl="0" algn="l">
              <a:lnSpc>
                <a:spcPct val="135000"/>
              </a:lnSpc>
              <a:spcBef>
                <a:spcPts val="0"/>
              </a:spcBef>
              <a:spcAft>
                <a:spcPts val="0"/>
              </a:spcAft>
              <a:buClr>
                <a:srgbClr val="323232"/>
              </a:buClr>
              <a:buSzPts val="2100"/>
              <a:buChar char="◆"/>
            </a:pPr>
            <a:r>
              <a:rPr lang="en-US" sz="1500">
                <a:solidFill>
                  <a:srgbClr val="707679"/>
                </a:solidFill>
                <a:highlight>
                  <a:srgbClr val="FFFFFF"/>
                </a:highlight>
              </a:rPr>
              <a:t>Plataforma de Beneficios </a:t>
            </a:r>
            <a:endParaRPr sz="1500">
              <a:solidFill>
                <a:srgbClr val="707679"/>
              </a:solidFill>
              <a:highlight>
                <a:srgbClr val="FFFFFF"/>
              </a:highlight>
            </a:endParaRPr>
          </a:p>
          <a:p>
            <a:pPr indent="-361950" lvl="1" marL="914400" rtl="0" algn="l">
              <a:lnSpc>
                <a:spcPct val="135000"/>
              </a:lnSpc>
              <a:spcBef>
                <a:spcPts val="0"/>
              </a:spcBef>
              <a:spcAft>
                <a:spcPts val="0"/>
              </a:spcAft>
              <a:buClr>
                <a:srgbClr val="323232"/>
              </a:buClr>
              <a:buSzPts val="2100"/>
              <a:buChar char="◆"/>
            </a:pPr>
            <a:r>
              <a:rPr lang="en-US" sz="1500">
                <a:solidFill>
                  <a:srgbClr val="707679"/>
                </a:solidFill>
                <a:highlight>
                  <a:srgbClr val="FFFFFF"/>
                </a:highlight>
              </a:rPr>
              <a:t>Licencias Adicionales (Dias Extras de Vacaciones Días Extras)</a:t>
            </a:r>
            <a:endParaRPr sz="1500">
              <a:solidFill>
                <a:srgbClr val="707679"/>
              </a:solidFill>
              <a:highlight>
                <a:srgbClr val="FFFFFF"/>
              </a:highlight>
            </a:endParaRPr>
          </a:p>
          <a:p>
            <a:pPr indent="-361950" lvl="1" marL="914400" rtl="0" algn="l">
              <a:lnSpc>
                <a:spcPct val="135000"/>
              </a:lnSpc>
              <a:spcBef>
                <a:spcPts val="0"/>
              </a:spcBef>
              <a:spcAft>
                <a:spcPts val="0"/>
              </a:spcAft>
              <a:buClr>
                <a:srgbClr val="323232"/>
              </a:buClr>
              <a:buSzPts val="2100"/>
              <a:buChar char="◆"/>
            </a:pPr>
            <a:r>
              <a:rPr lang="en-US" sz="1500">
                <a:solidFill>
                  <a:srgbClr val="707679"/>
                </a:solidFill>
                <a:highlight>
                  <a:srgbClr val="FFFFFF"/>
                </a:highlight>
              </a:rPr>
              <a:t> Almuerzo/Comedor</a:t>
            </a:r>
            <a:endParaRPr sz="1600"/>
          </a:p>
        </p:txBody>
      </p:sp>
      <p:pic>
        <p:nvPicPr>
          <p:cNvPr descr="Image result for utn frba" id="302" name="Google Shape;302;g13f4e71bb30_0_362"/>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03" name="Google Shape;303;g13f4e71bb30_0_362"/>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04" name="Google Shape;304;g13f4e71bb30_0_362"/>
          <p:cNvSpPr/>
          <p:nvPr/>
        </p:nvSpPr>
        <p:spPr>
          <a:xfrm>
            <a:off x="2642675" y="39388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g2d2c246cc59_3_25"/>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11" name="Google Shape;311;g2d2c246cc59_3_25"/>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12" name="Google Shape;312;g2d2c246cc59_3_25"/>
          <p:cNvSpPr txBox="1"/>
          <p:nvPr/>
        </p:nvSpPr>
        <p:spPr>
          <a:xfrm>
            <a:off x="4246125" y="1439075"/>
            <a:ext cx="53022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 Beneficios - Ejemplo de prepaga</a:t>
            </a:r>
            <a:endParaRPr b="1" sz="2600">
              <a:solidFill>
                <a:srgbClr val="932328"/>
              </a:solidFill>
            </a:endParaRPr>
          </a:p>
        </p:txBody>
      </p:sp>
      <p:sp>
        <p:nvSpPr>
          <p:cNvPr id="313" name="Google Shape;313;g2d2c246cc59_3_25"/>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pic>
        <p:nvPicPr>
          <p:cNvPr descr="Image result for utn frba" id="314" name="Google Shape;314;g2d2c246cc59_3_25"/>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15" name="Google Shape;315;g2d2c246cc59_3_25"/>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16" name="Google Shape;316;g2d2c246cc59_3_25"/>
          <p:cNvSpPr/>
          <p:nvPr/>
        </p:nvSpPr>
        <p:spPr>
          <a:xfrm>
            <a:off x="2642675" y="393880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7" name="Google Shape;317;g2d2c246cc59_3_25"/>
          <p:cNvPicPr preferRelativeResize="0"/>
          <p:nvPr/>
        </p:nvPicPr>
        <p:blipFill>
          <a:blip r:embed="rId6">
            <a:alphaModFix/>
          </a:blip>
          <a:stretch>
            <a:fillRect/>
          </a:stretch>
        </p:blipFill>
        <p:spPr>
          <a:xfrm>
            <a:off x="4288475" y="3311944"/>
            <a:ext cx="5550325" cy="1955531"/>
          </a:xfrm>
          <a:prstGeom prst="rect">
            <a:avLst/>
          </a:prstGeom>
          <a:noFill/>
          <a:ln>
            <a:noFill/>
          </a:ln>
        </p:spPr>
      </p:pic>
      <p:sp>
        <p:nvSpPr>
          <p:cNvPr id="318" name="Google Shape;318;g2d2c246cc59_3_25"/>
          <p:cNvSpPr txBox="1"/>
          <p:nvPr/>
        </p:nvSpPr>
        <p:spPr>
          <a:xfrm>
            <a:off x="5719563" y="2592125"/>
            <a:ext cx="2478000" cy="48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rPr>
              <a:t>OSDE</a:t>
            </a:r>
            <a:endParaRPr b="1" sz="2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g13f4e71bb30_0_373"/>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25" name="Google Shape;325;g13f4e71bb30_0_373"/>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26" name="Google Shape;326;g13f4e71bb30_0_373"/>
          <p:cNvSpPr txBox="1"/>
          <p:nvPr/>
        </p:nvSpPr>
        <p:spPr>
          <a:xfrm>
            <a:off x="4403775" y="1439075"/>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Compensaciones </a:t>
            </a:r>
            <a:endParaRPr b="1" sz="2600">
              <a:solidFill>
                <a:srgbClr val="932328"/>
              </a:solidFill>
            </a:endParaRPr>
          </a:p>
        </p:txBody>
      </p:sp>
      <p:sp>
        <p:nvSpPr>
          <p:cNvPr id="327" name="Google Shape;327;g13f4e71bb30_0_373"/>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328" name="Google Shape;328;g13f4e71bb30_0_373"/>
          <p:cNvSpPr txBox="1"/>
          <p:nvPr/>
        </p:nvSpPr>
        <p:spPr>
          <a:xfrm>
            <a:off x="3825975" y="1500425"/>
            <a:ext cx="5991900" cy="4659900"/>
          </a:xfrm>
          <a:prstGeom prst="rect">
            <a:avLst/>
          </a:prstGeom>
          <a:noFill/>
          <a:ln>
            <a:noFill/>
          </a:ln>
        </p:spPr>
        <p:txBody>
          <a:bodyPr anchorCtr="0" anchor="t" bIns="91425" lIns="91425" spcFirstLastPara="1" rIns="91425" wrap="square" tIns="91425">
            <a:spAutoFit/>
          </a:bodyPr>
          <a:lstStyle/>
          <a:p>
            <a:pPr indent="0" lvl="0" marL="0" rtl="0" algn="l">
              <a:lnSpc>
                <a:spcPct val="135000"/>
              </a:lnSpc>
              <a:spcBef>
                <a:spcPts val="0"/>
              </a:spcBef>
              <a:spcAft>
                <a:spcPts val="0"/>
              </a:spcAft>
              <a:buNone/>
            </a:pPr>
            <a:r>
              <a:t/>
            </a:r>
            <a:endParaRPr b="1" sz="1500">
              <a:solidFill>
                <a:srgbClr val="707679"/>
              </a:solidFill>
              <a:highlight>
                <a:srgbClr val="FFFFFF"/>
              </a:highlight>
            </a:endParaRPr>
          </a:p>
          <a:p>
            <a:pPr indent="-323850" lvl="1" marL="914400" rtl="0" algn="l">
              <a:lnSpc>
                <a:spcPct val="135000"/>
              </a:lnSpc>
              <a:spcBef>
                <a:spcPts val="1500"/>
              </a:spcBef>
              <a:spcAft>
                <a:spcPts val="0"/>
              </a:spcAft>
              <a:buSzPts val="1500"/>
              <a:buChar char="◆"/>
            </a:pPr>
            <a:r>
              <a:rPr b="1" lang="en-US" sz="1500"/>
              <a:t>Promociones:</a:t>
            </a:r>
            <a:r>
              <a:rPr lang="en-US" sz="1500"/>
              <a:t> Durante el periodo de presupuestos se realizan estimaciones de las personas a promocionar, muchas veces con el resultado de las mesas de calibración.Es común estimar un % de Masa salarial para su costeo (3% de Masa Salarial)</a:t>
            </a:r>
            <a:endParaRPr sz="1500"/>
          </a:p>
          <a:p>
            <a:pPr indent="-323850" lvl="1" marL="914400" rtl="0" algn="l">
              <a:lnSpc>
                <a:spcPct val="135000"/>
              </a:lnSpc>
              <a:spcBef>
                <a:spcPts val="0"/>
              </a:spcBef>
              <a:spcAft>
                <a:spcPts val="0"/>
              </a:spcAft>
              <a:buSzPts val="1500"/>
              <a:buChar char="◆"/>
            </a:pPr>
            <a:r>
              <a:rPr b="1" lang="en-US" sz="1500"/>
              <a:t>Bonos por Desempeño -</a:t>
            </a:r>
            <a:r>
              <a:rPr lang="en-US" sz="1500"/>
              <a:t> Según la política, debe ser provisionado para cada empleado, según la tasa de incidencia ( 4%, 8% , 16% de sueldo del colaborador)</a:t>
            </a:r>
            <a:endParaRPr sz="1500"/>
          </a:p>
          <a:p>
            <a:pPr indent="-323850" lvl="1" marL="914400" rtl="0" algn="l">
              <a:lnSpc>
                <a:spcPct val="135000"/>
              </a:lnSpc>
              <a:spcBef>
                <a:spcPts val="0"/>
              </a:spcBef>
              <a:spcAft>
                <a:spcPts val="0"/>
              </a:spcAft>
              <a:buSzPts val="1500"/>
              <a:buChar char="◆"/>
            </a:pPr>
            <a:r>
              <a:rPr b="1" lang="en-US" sz="1500"/>
              <a:t>Ajustes por Inflación</a:t>
            </a:r>
            <a:r>
              <a:rPr lang="en-US" sz="1500"/>
              <a:t> - Según IPC + REM para estimar escenarios futuros. </a:t>
            </a:r>
            <a:endParaRPr sz="1500"/>
          </a:p>
          <a:p>
            <a:pPr indent="-323850" lvl="1" marL="914400" rtl="0" algn="l">
              <a:lnSpc>
                <a:spcPct val="135000"/>
              </a:lnSpc>
              <a:spcBef>
                <a:spcPts val="0"/>
              </a:spcBef>
              <a:spcAft>
                <a:spcPts val="0"/>
              </a:spcAft>
              <a:buSzPts val="1500"/>
              <a:buChar char="◆"/>
            </a:pPr>
            <a:r>
              <a:rPr b="1" lang="en-US" sz="1500"/>
              <a:t>Ajustes por Merito</a:t>
            </a:r>
            <a:r>
              <a:rPr lang="en-US" sz="1500"/>
              <a:t> - Se estima dentro de los presupuestos el monto destinado al ajuste por mérito, segun TW o Mercer habla entre 1% y 3% Masa Salarial</a:t>
            </a:r>
            <a:endParaRPr sz="1500"/>
          </a:p>
        </p:txBody>
      </p:sp>
      <p:pic>
        <p:nvPicPr>
          <p:cNvPr descr="Image result for utn frba" id="329" name="Google Shape;329;g13f4e71bb30_0_373"/>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30" name="Google Shape;330;g13f4e71bb30_0_373"/>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31" name="Google Shape;331;g13f4e71bb30_0_373"/>
          <p:cNvSpPr/>
          <p:nvPr/>
        </p:nvSpPr>
        <p:spPr>
          <a:xfrm>
            <a:off x="2651475" y="398485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g2d2d1fb49d5_0_65"/>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38" name="Google Shape;338;g2d2d1fb49d5_0_65"/>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39" name="Google Shape;339;g2d2d1fb49d5_0_65"/>
          <p:cNvSpPr txBox="1"/>
          <p:nvPr/>
        </p:nvSpPr>
        <p:spPr>
          <a:xfrm>
            <a:off x="4403775" y="1439075"/>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Compensaciones </a:t>
            </a:r>
            <a:endParaRPr b="1" sz="2600">
              <a:solidFill>
                <a:srgbClr val="932328"/>
              </a:solidFill>
            </a:endParaRPr>
          </a:p>
        </p:txBody>
      </p:sp>
      <p:sp>
        <p:nvSpPr>
          <p:cNvPr id="340" name="Google Shape;340;g2d2d1fb49d5_0_65"/>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341" name="Google Shape;341;g2d2d1fb49d5_0_65"/>
          <p:cNvSpPr txBox="1"/>
          <p:nvPr/>
        </p:nvSpPr>
        <p:spPr>
          <a:xfrm>
            <a:off x="3825975" y="1500425"/>
            <a:ext cx="5991900" cy="3678900"/>
          </a:xfrm>
          <a:prstGeom prst="rect">
            <a:avLst/>
          </a:prstGeom>
          <a:noFill/>
          <a:ln>
            <a:noFill/>
          </a:ln>
        </p:spPr>
        <p:txBody>
          <a:bodyPr anchorCtr="0" anchor="t" bIns="91425" lIns="91425" spcFirstLastPara="1" rIns="91425" wrap="square" tIns="91425">
            <a:spAutoFit/>
          </a:bodyPr>
          <a:lstStyle/>
          <a:p>
            <a:pPr indent="0" lvl="0" marL="0" rtl="0" algn="l">
              <a:lnSpc>
                <a:spcPct val="135000"/>
              </a:lnSpc>
              <a:spcBef>
                <a:spcPts val="0"/>
              </a:spcBef>
              <a:spcAft>
                <a:spcPts val="0"/>
              </a:spcAft>
              <a:buNone/>
            </a:pPr>
            <a:r>
              <a:t/>
            </a:r>
            <a:endParaRPr b="1" sz="1500">
              <a:solidFill>
                <a:srgbClr val="707679"/>
              </a:solidFill>
              <a:highlight>
                <a:srgbClr val="FFFFFF"/>
              </a:highlight>
            </a:endParaRPr>
          </a:p>
          <a:p>
            <a:pPr indent="-323850" lvl="1" marL="914400" rtl="0" algn="l">
              <a:lnSpc>
                <a:spcPct val="135000"/>
              </a:lnSpc>
              <a:spcBef>
                <a:spcPts val="1500"/>
              </a:spcBef>
              <a:spcAft>
                <a:spcPts val="0"/>
              </a:spcAft>
              <a:buSzPts val="1500"/>
              <a:buChar char="◆"/>
            </a:pPr>
            <a:r>
              <a:rPr lang="en-US" sz="1500"/>
              <a:t>MERCER -  Mercer: Select a specific group of companies by name or compare yourself to a specific industry Perform analysis by company type, shared turnover or staffing ranges Combine the selection and analysis criteria of the sample as you wish</a:t>
            </a:r>
            <a:endParaRPr sz="1500"/>
          </a:p>
          <a:p>
            <a:pPr indent="0" lvl="0" marL="914400" rtl="0" algn="l">
              <a:lnSpc>
                <a:spcPct val="135000"/>
              </a:lnSpc>
              <a:spcBef>
                <a:spcPts val="1500"/>
              </a:spcBef>
              <a:spcAft>
                <a:spcPts val="0"/>
              </a:spcAft>
              <a:buNone/>
            </a:pPr>
            <a:r>
              <a:rPr b="1" lang="en-US" sz="1500"/>
              <a:t>Cost of the report:USD 500</a:t>
            </a:r>
            <a:endParaRPr b="1" sz="1500"/>
          </a:p>
          <a:p>
            <a:pPr indent="0" lvl="0" marL="914400" rtl="0" algn="l">
              <a:lnSpc>
                <a:spcPct val="135000"/>
              </a:lnSpc>
              <a:spcBef>
                <a:spcPts val="1500"/>
              </a:spcBef>
              <a:spcAft>
                <a:spcPts val="0"/>
              </a:spcAft>
              <a:buNone/>
            </a:pPr>
            <a:r>
              <a:t/>
            </a:r>
            <a:endParaRPr sz="1500"/>
          </a:p>
          <a:p>
            <a:pPr indent="0" lvl="0" marL="0" rtl="0" algn="l">
              <a:lnSpc>
                <a:spcPct val="135000"/>
              </a:lnSpc>
              <a:spcBef>
                <a:spcPts val="1500"/>
              </a:spcBef>
              <a:spcAft>
                <a:spcPts val="1500"/>
              </a:spcAft>
              <a:buNone/>
            </a:pPr>
            <a:r>
              <a:t/>
            </a:r>
            <a:endParaRPr sz="1500"/>
          </a:p>
        </p:txBody>
      </p:sp>
      <p:pic>
        <p:nvPicPr>
          <p:cNvPr descr="Image result for utn frba" id="342" name="Google Shape;342;g2d2d1fb49d5_0_65"/>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43" name="Google Shape;343;g2d2d1fb49d5_0_65"/>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44" name="Google Shape;344;g2d2d1fb49d5_0_65"/>
          <p:cNvSpPr/>
          <p:nvPr/>
        </p:nvSpPr>
        <p:spPr>
          <a:xfrm>
            <a:off x="2651475" y="398485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5" name="Google Shape;345;g2d2d1fb49d5_0_65"/>
          <p:cNvPicPr preferRelativeResize="0"/>
          <p:nvPr/>
        </p:nvPicPr>
        <p:blipFill>
          <a:blip r:embed="rId6">
            <a:alphaModFix/>
          </a:blip>
          <a:stretch>
            <a:fillRect/>
          </a:stretch>
        </p:blipFill>
        <p:spPr>
          <a:xfrm>
            <a:off x="4905026" y="4305475"/>
            <a:ext cx="3295650" cy="1257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g2d2c246cc59_3_55"/>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52" name="Google Shape;352;g2d2c246cc59_3_55"/>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53" name="Google Shape;353;g2d2c246cc59_3_55"/>
          <p:cNvSpPr txBox="1"/>
          <p:nvPr/>
        </p:nvSpPr>
        <p:spPr>
          <a:xfrm>
            <a:off x="4288475" y="1439075"/>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Capacitación </a:t>
            </a:r>
            <a:endParaRPr b="1" sz="2600">
              <a:solidFill>
                <a:srgbClr val="932328"/>
              </a:solidFill>
            </a:endParaRPr>
          </a:p>
        </p:txBody>
      </p:sp>
      <p:sp>
        <p:nvSpPr>
          <p:cNvPr id="354" name="Google Shape;354;g2d2c246cc59_3_55"/>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355" name="Google Shape;355;g2d2c246cc59_3_55"/>
          <p:cNvSpPr txBox="1"/>
          <p:nvPr/>
        </p:nvSpPr>
        <p:spPr>
          <a:xfrm>
            <a:off x="4212275" y="1871675"/>
            <a:ext cx="5617500" cy="4473000"/>
          </a:xfrm>
          <a:prstGeom prst="rect">
            <a:avLst/>
          </a:prstGeom>
          <a:noFill/>
          <a:ln>
            <a:noFill/>
          </a:ln>
        </p:spPr>
        <p:txBody>
          <a:bodyPr anchorCtr="0" anchor="t" bIns="91425" lIns="91425" spcFirstLastPara="1" rIns="91425" wrap="square" tIns="91425">
            <a:spAutoFit/>
          </a:bodyPr>
          <a:lstStyle/>
          <a:p>
            <a:pPr indent="-317500" lvl="0" marL="457200" rtl="0" algn="l">
              <a:lnSpc>
                <a:spcPct val="135000"/>
              </a:lnSpc>
              <a:spcBef>
                <a:spcPts val="0"/>
              </a:spcBef>
              <a:spcAft>
                <a:spcPts val="0"/>
              </a:spcAft>
              <a:buClr>
                <a:srgbClr val="323232"/>
              </a:buClr>
              <a:buSzPts val="1400"/>
              <a:buChar char="➔"/>
            </a:pPr>
            <a:r>
              <a:rPr lang="en-US">
                <a:solidFill>
                  <a:srgbClr val="323232"/>
                </a:solidFill>
              </a:rPr>
              <a:t>Se deben provisionar los costos de las necesidades de capacitación en las diferentes áreas de la empresa. Ej:</a:t>
            </a:r>
            <a:endParaRPr>
              <a:solidFill>
                <a:srgbClr val="323232"/>
              </a:solidFill>
            </a:endParaRPr>
          </a:p>
          <a:p>
            <a:pPr indent="-317500" lvl="1" marL="914400" rtl="0" algn="l">
              <a:lnSpc>
                <a:spcPct val="135000"/>
              </a:lnSpc>
              <a:spcBef>
                <a:spcPts val="0"/>
              </a:spcBef>
              <a:spcAft>
                <a:spcPts val="0"/>
              </a:spcAft>
              <a:buClr>
                <a:srgbClr val="323232"/>
              </a:buClr>
              <a:buSzPts val="1400"/>
              <a:buChar char="◆"/>
            </a:pPr>
            <a:r>
              <a:rPr lang="en-US">
                <a:solidFill>
                  <a:srgbClr val="323232"/>
                </a:solidFill>
              </a:rPr>
              <a:t>Costos Cursos o Capacitadores</a:t>
            </a:r>
            <a:endParaRPr>
              <a:solidFill>
                <a:srgbClr val="323232"/>
              </a:solidFill>
            </a:endParaRPr>
          </a:p>
          <a:p>
            <a:pPr indent="-317500" lvl="1" marL="914400" rtl="0" algn="l">
              <a:lnSpc>
                <a:spcPct val="135000"/>
              </a:lnSpc>
              <a:spcBef>
                <a:spcPts val="0"/>
              </a:spcBef>
              <a:spcAft>
                <a:spcPts val="0"/>
              </a:spcAft>
              <a:buClr>
                <a:srgbClr val="323232"/>
              </a:buClr>
              <a:buSzPts val="1400"/>
              <a:buChar char="◆"/>
            </a:pPr>
            <a:r>
              <a:rPr lang="en-US">
                <a:solidFill>
                  <a:srgbClr val="323232"/>
                </a:solidFill>
              </a:rPr>
              <a:t>Plataformas de E-Learning</a:t>
            </a:r>
            <a:endParaRPr>
              <a:solidFill>
                <a:srgbClr val="323232"/>
              </a:solidFill>
            </a:endParaRPr>
          </a:p>
          <a:p>
            <a:pPr indent="-317500" lvl="1" marL="914400" rtl="0" algn="l">
              <a:lnSpc>
                <a:spcPct val="135000"/>
              </a:lnSpc>
              <a:spcBef>
                <a:spcPts val="0"/>
              </a:spcBef>
              <a:spcAft>
                <a:spcPts val="0"/>
              </a:spcAft>
              <a:buClr>
                <a:srgbClr val="323232"/>
              </a:buClr>
              <a:buSzPts val="1400"/>
              <a:buChar char="◆"/>
            </a:pPr>
            <a:r>
              <a:rPr lang="en-US">
                <a:solidFill>
                  <a:srgbClr val="323232"/>
                </a:solidFill>
              </a:rPr>
              <a:t>Materiales y Gastos Logisticos (Salas, Medialunas, materiales, impresiones).</a:t>
            </a:r>
            <a:endParaRPr>
              <a:solidFill>
                <a:srgbClr val="323232"/>
              </a:solidFill>
            </a:endParaRPr>
          </a:p>
          <a:p>
            <a:pPr indent="-317500" lvl="0" marL="457200" rtl="0" algn="l">
              <a:lnSpc>
                <a:spcPct val="135000"/>
              </a:lnSpc>
              <a:spcBef>
                <a:spcPts val="0"/>
              </a:spcBef>
              <a:spcAft>
                <a:spcPts val="0"/>
              </a:spcAft>
              <a:buClr>
                <a:srgbClr val="323232"/>
              </a:buClr>
              <a:buSzPts val="1400"/>
              <a:buChar char="➔"/>
            </a:pPr>
            <a:r>
              <a:rPr lang="en-US">
                <a:solidFill>
                  <a:srgbClr val="323232"/>
                </a:solidFill>
              </a:rPr>
              <a:t>Muchas Organizaciones, dentro de su plan de capacitación estiman una X cantidad de horas de capacitación por colaborador, y este tiempo puede ser costeado para las proyecciones, no solo por los costos de la participación en cursos o certificaciones sino el tiempo que deja de estar en su puesto de trabajo (costo de oportunidad).</a:t>
            </a:r>
            <a:endParaRPr>
              <a:solidFill>
                <a:srgbClr val="323232"/>
              </a:solidFill>
            </a:endParaRPr>
          </a:p>
          <a:p>
            <a:pPr indent="-317500" lvl="0" marL="457200" rtl="0" algn="l">
              <a:lnSpc>
                <a:spcPct val="135000"/>
              </a:lnSpc>
              <a:spcBef>
                <a:spcPts val="0"/>
              </a:spcBef>
              <a:spcAft>
                <a:spcPts val="0"/>
              </a:spcAft>
              <a:buClr>
                <a:srgbClr val="323232"/>
              </a:buClr>
              <a:buSzPts val="1400"/>
              <a:buChar char="➔"/>
            </a:pPr>
            <a:r>
              <a:rPr lang="en-US">
                <a:solidFill>
                  <a:srgbClr val="323232"/>
                </a:solidFill>
              </a:rPr>
              <a:t>En muchas compañías se otorga como beneficio un Monto Fijo de Plata al año para ser usado en capacitaciones ( Según política pueden ser relevantes  a la tarea o no)</a:t>
            </a:r>
            <a:endParaRPr>
              <a:solidFill>
                <a:srgbClr val="323232"/>
              </a:solidFill>
            </a:endParaRPr>
          </a:p>
        </p:txBody>
      </p:sp>
      <p:pic>
        <p:nvPicPr>
          <p:cNvPr descr="Image result for utn frba" id="356" name="Google Shape;356;g2d2c246cc59_3_55"/>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57" name="Google Shape;357;g2d2c246cc59_3_55"/>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58" name="Google Shape;358;g2d2c246cc59_3_55"/>
          <p:cNvSpPr/>
          <p:nvPr/>
        </p:nvSpPr>
        <p:spPr>
          <a:xfrm>
            <a:off x="1393200" y="4736625"/>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g13f4e71bb30_0_333"/>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65" name="Google Shape;365;g13f4e71bb30_0_333"/>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66" name="Google Shape;366;g13f4e71bb30_0_333"/>
          <p:cNvSpPr txBox="1"/>
          <p:nvPr/>
        </p:nvSpPr>
        <p:spPr>
          <a:xfrm>
            <a:off x="4288475" y="1439075"/>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Capacitación - Ejemplo </a:t>
            </a:r>
            <a:endParaRPr b="1" sz="2600">
              <a:solidFill>
                <a:srgbClr val="932328"/>
              </a:solidFill>
            </a:endParaRPr>
          </a:p>
        </p:txBody>
      </p:sp>
      <p:sp>
        <p:nvSpPr>
          <p:cNvPr id="367" name="Google Shape;367;g13f4e71bb30_0_333"/>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pic>
        <p:nvPicPr>
          <p:cNvPr descr="Image result for utn frba" id="368" name="Google Shape;368;g13f4e71bb30_0_333"/>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69" name="Google Shape;369;g13f4e71bb30_0_333"/>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70" name="Google Shape;370;g13f4e71bb30_0_333"/>
          <p:cNvSpPr/>
          <p:nvPr/>
        </p:nvSpPr>
        <p:spPr>
          <a:xfrm>
            <a:off x="1393200" y="4736625"/>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13f4e71bb30_0_333"/>
          <p:cNvSpPr/>
          <p:nvPr/>
        </p:nvSpPr>
        <p:spPr>
          <a:xfrm>
            <a:off x="4993025" y="3287950"/>
            <a:ext cx="4407600" cy="1627200"/>
          </a:xfrm>
          <a:prstGeom prst="roundRect">
            <a:avLst>
              <a:gd fmla="val 16667" name="adj"/>
            </a:avLst>
          </a:prstGeom>
          <a:solidFill>
            <a:schemeClr val="lt2"/>
          </a:solidFill>
          <a:ln cap="flat" cmpd="sng" w="28575">
            <a:solidFill>
              <a:srgbClr val="4A86E8"/>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a:p>
            <a:pPr indent="0" lvl="0" marL="0" rtl="0" algn="ctr">
              <a:spcBef>
                <a:spcPts val="0"/>
              </a:spcBef>
              <a:spcAft>
                <a:spcPts val="0"/>
              </a:spcAft>
              <a:buNone/>
            </a:pPr>
            <a:r>
              <a:rPr lang="en-US" sz="2000"/>
              <a:t>Valor total por seis encuentros presenciales de 2 horas c/u </a:t>
            </a:r>
            <a:endParaRPr sz="2000"/>
          </a:p>
          <a:p>
            <a:pPr indent="0" lvl="0" marL="0" rtl="0" algn="ctr">
              <a:spcBef>
                <a:spcPts val="0"/>
              </a:spcBef>
              <a:spcAft>
                <a:spcPts val="0"/>
              </a:spcAft>
              <a:buClr>
                <a:schemeClr val="dk1"/>
              </a:buClr>
              <a:buSzPts val="1100"/>
              <a:buFont typeface="Arial"/>
              <a:buNone/>
            </a:pPr>
            <a:r>
              <a:rPr lang="en-US" sz="2000"/>
              <a:t>(12 horas total):</a:t>
            </a:r>
            <a:endParaRPr sz="2000"/>
          </a:p>
          <a:p>
            <a:pPr indent="0" lvl="0" marL="0" rtl="0" algn="ctr">
              <a:spcBef>
                <a:spcPts val="0"/>
              </a:spcBef>
              <a:spcAft>
                <a:spcPts val="0"/>
              </a:spcAft>
              <a:buClr>
                <a:schemeClr val="dk1"/>
              </a:buClr>
              <a:buSzPts val="1100"/>
              <a:buFont typeface="Arial"/>
              <a:buNone/>
            </a:pPr>
            <a:r>
              <a:rPr b="1" lang="en-US" sz="2000"/>
              <a:t>$1.200.000 + iva</a:t>
            </a:r>
            <a:endParaRPr b="1" sz="2000"/>
          </a:p>
          <a:p>
            <a:pPr indent="0" lvl="0" marL="0" rtl="0" algn="ctr">
              <a:spcBef>
                <a:spcPts val="0"/>
              </a:spcBef>
              <a:spcAft>
                <a:spcPts val="0"/>
              </a:spcAft>
              <a:buNone/>
            </a:pPr>
            <a:r>
              <a:t/>
            </a:r>
            <a:endParaRPr sz="2000"/>
          </a:p>
        </p:txBody>
      </p:sp>
      <p:sp>
        <p:nvSpPr>
          <p:cNvPr id="372" name="Google Shape;372;g13f4e71bb30_0_333"/>
          <p:cNvSpPr txBox="1"/>
          <p:nvPr/>
        </p:nvSpPr>
        <p:spPr>
          <a:xfrm>
            <a:off x="5424280" y="2473125"/>
            <a:ext cx="3545100" cy="48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rPr>
              <a:t>Taller de Redacción</a:t>
            </a:r>
            <a:endParaRPr b="1" sz="24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g13f4e71bb30_0_351"/>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79" name="Google Shape;379;g13f4e71bb30_0_351"/>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80" name="Google Shape;380;g13f4e71bb30_0_351"/>
          <p:cNvSpPr txBox="1"/>
          <p:nvPr/>
        </p:nvSpPr>
        <p:spPr>
          <a:xfrm>
            <a:off x="4198050" y="1518350"/>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Desarrollo</a:t>
            </a:r>
            <a:r>
              <a:rPr b="1" lang="en-US" sz="2600">
                <a:solidFill>
                  <a:srgbClr val="932328"/>
                </a:solidFill>
              </a:rPr>
              <a:t> </a:t>
            </a:r>
            <a:endParaRPr b="1" sz="2600">
              <a:solidFill>
                <a:srgbClr val="932328"/>
              </a:solidFill>
            </a:endParaRPr>
          </a:p>
        </p:txBody>
      </p:sp>
      <p:sp>
        <p:nvSpPr>
          <p:cNvPr id="381" name="Google Shape;381;g13f4e71bb30_0_351"/>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382" name="Google Shape;382;g13f4e71bb30_0_351"/>
          <p:cNvSpPr txBox="1"/>
          <p:nvPr/>
        </p:nvSpPr>
        <p:spPr>
          <a:xfrm>
            <a:off x="4288475" y="2215125"/>
            <a:ext cx="5617500" cy="3889500"/>
          </a:xfrm>
          <a:prstGeom prst="rect">
            <a:avLst/>
          </a:prstGeom>
          <a:noFill/>
          <a:ln>
            <a:noFill/>
          </a:ln>
        </p:spPr>
        <p:txBody>
          <a:bodyPr anchorCtr="0" anchor="t" bIns="91425" lIns="91425" spcFirstLastPara="1" rIns="91425" wrap="square" tIns="91425">
            <a:spAutoFit/>
          </a:bodyPr>
          <a:lstStyle/>
          <a:p>
            <a:pPr indent="0" lvl="0" marL="0" rtl="0" algn="l">
              <a:lnSpc>
                <a:spcPct val="135000"/>
              </a:lnSpc>
              <a:spcBef>
                <a:spcPts val="0"/>
              </a:spcBef>
              <a:spcAft>
                <a:spcPts val="0"/>
              </a:spcAft>
              <a:buNone/>
            </a:pPr>
            <a:r>
              <a:rPr lang="en-US" sz="1500">
                <a:solidFill>
                  <a:srgbClr val="707679"/>
                </a:solidFill>
                <a:highlight>
                  <a:srgbClr val="FFFFFF"/>
                </a:highlight>
              </a:rPr>
              <a:t>Dentro de los costos incurridos en los procesos - area de Talento, para ejecutar las acciones de desarrollo debemos considerar:</a:t>
            </a:r>
            <a:endParaRPr sz="1500">
              <a:solidFill>
                <a:srgbClr val="707679"/>
              </a:solidFill>
              <a:highlight>
                <a:srgbClr val="FFFFFF"/>
              </a:highlight>
            </a:endParaRPr>
          </a:p>
          <a:p>
            <a:pPr indent="-374650" lvl="1" marL="914400" rtl="0" algn="l">
              <a:lnSpc>
                <a:spcPct val="135000"/>
              </a:lnSpc>
              <a:spcBef>
                <a:spcPts val="1500"/>
              </a:spcBef>
              <a:spcAft>
                <a:spcPts val="0"/>
              </a:spcAft>
              <a:buClr>
                <a:srgbClr val="323232"/>
              </a:buClr>
              <a:buSzPts val="2300"/>
              <a:buChar char="◆"/>
            </a:pPr>
            <a:r>
              <a:rPr lang="en-US" sz="1500">
                <a:solidFill>
                  <a:srgbClr val="707679"/>
                </a:solidFill>
                <a:highlight>
                  <a:srgbClr val="FFFFFF"/>
                </a:highlight>
              </a:rPr>
              <a:t>Logística para la realización de las Evaluaciones</a:t>
            </a:r>
            <a:endParaRPr sz="1500">
              <a:solidFill>
                <a:srgbClr val="707679"/>
              </a:solidFill>
              <a:highlight>
                <a:srgbClr val="FFFFFF"/>
              </a:highlight>
            </a:endParaRPr>
          </a:p>
          <a:p>
            <a:pPr indent="-374650" lvl="1" marL="914400" rtl="0" algn="l">
              <a:lnSpc>
                <a:spcPct val="135000"/>
              </a:lnSpc>
              <a:spcBef>
                <a:spcPts val="0"/>
              </a:spcBef>
              <a:spcAft>
                <a:spcPts val="0"/>
              </a:spcAft>
              <a:buClr>
                <a:srgbClr val="323232"/>
              </a:buClr>
              <a:buSzPts val="2300"/>
              <a:buChar char="◆"/>
            </a:pPr>
            <a:r>
              <a:rPr lang="en-US" sz="1500">
                <a:solidFill>
                  <a:srgbClr val="707679"/>
                </a:solidFill>
                <a:highlight>
                  <a:srgbClr val="FFFFFF"/>
                </a:highlight>
              </a:rPr>
              <a:t>Encuestas  </a:t>
            </a:r>
            <a:endParaRPr sz="1500">
              <a:solidFill>
                <a:srgbClr val="707679"/>
              </a:solidFill>
              <a:highlight>
                <a:srgbClr val="FFFFFF"/>
              </a:highlight>
            </a:endParaRPr>
          </a:p>
          <a:p>
            <a:pPr indent="-374650" lvl="1" marL="914400" rtl="0" algn="l">
              <a:lnSpc>
                <a:spcPct val="135000"/>
              </a:lnSpc>
              <a:spcBef>
                <a:spcPts val="0"/>
              </a:spcBef>
              <a:spcAft>
                <a:spcPts val="0"/>
              </a:spcAft>
              <a:buClr>
                <a:srgbClr val="323232"/>
              </a:buClr>
              <a:buSzPts val="2300"/>
              <a:buChar char="◆"/>
            </a:pPr>
            <a:r>
              <a:rPr lang="en-US" sz="1500">
                <a:solidFill>
                  <a:srgbClr val="707679"/>
                </a:solidFill>
                <a:highlight>
                  <a:srgbClr val="FFFFFF"/>
                </a:highlight>
              </a:rPr>
              <a:t>Programas de Recompensa </a:t>
            </a:r>
            <a:endParaRPr sz="1500">
              <a:solidFill>
                <a:srgbClr val="707679"/>
              </a:solidFill>
              <a:highlight>
                <a:srgbClr val="FFFFFF"/>
              </a:highlight>
            </a:endParaRPr>
          </a:p>
          <a:p>
            <a:pPr indent="-374650" lvl="1" marL="914400" rtl="0" algn="l">
              <a:lnSpc>
                <a:spcPct val="135000"/>
              </a:lnSpc>
              <a:spcBef>
                <a:spcPts val="0"/>
              </a:spcBef>
              <a:spcAft>
                <a:spcPts val="0"/>
              </a:spcAft>
              <a:buClr>
                <a:srgbClr val="323232"/>
              </a:buClr>
              <a:buSzPts val="2300"/>
              <a:buChar char="◆"/>
            </a:pPr>
            <a:r>
              <a:rPr lang="en-US" sz="1500">
                <a:solidFill>
                  <a:srgbClr val="707679"/>
                </a:solidFill>
                <a:highlight>
                  <a:srgbClr val="FFFFFF"/>
                </a:highlight>
              </a:rPr>
              <a:t>Herramientas de Gestión ( Softwares de Evaluación y o de Encuestas)</a:t>
            </a:r>
            <a:endParaRPr sz="1500">
              <a:solidFill>
                <a:srgbClr val="707679"/>
              </a:solidFill>
              <a:highlight>
                <a:srgbClr val="FFFFFF"/>
              </a:highlight>
            </a:endParaRPr>
          </a:p>
          <a:p>
            <a:pPr indent="-374650" lvl="1" marL="914400" rtl="0" algn="l">
              <a:lnSpc>
                <a:spcPct val="135000"/>
              </a:lnSpc>
              <a:spcBef>
                <a:spcPts val="0"/>
              </a:spcBef>
              <a:spcAft>
                <a:spcPts val="0"/>
              </a:spcAft>
              <a:buClr>
                <a:srgbClr val="323232"/>
              </a:buClr>
              <a:buSzPts val="2300"/>
              <a:buChar char="◆"/>
            </a:pPr>
            <a:r>
              <a:rPr lang="en-US" sz="1500">
                <a:solidFill>
                  <a:srgbClr val="707679"/>
                </a:solidFill>
                <a:highlight>
                  <a:srgbClr val="FFFFFF"/>
                </a:highlight>
              </a:rPr>
              <a:t>Gastos Operativos</a:t>
            </a:r>
            <a:endParaRPr sz="1500">
              <a:solidFill>
                <a:srgbClr val="707679"/>
              </a:solidFill>
              <a:highlight>
                <a:srgbClr val="FFFFFF"/>
              </a:highlight>
            </a:endParaRPr>
          </a:p>
        </p:txBody>
      </p:sp>
      <p:pic>
        <p:nvPicPr>
          <p:cNvPr descr="Image result for utn frba" id="383" name="Google Shape;383;g13f4e71bb30_0_351"/>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84" name="Google Shape;384;g13f4e71bb30_0_351"/>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85" name="Google Shape;385;g13f4e71bb30_0_351"/>
          <p:cNvSpPr/>
          <p:nvPr/>
        </p:nvSpPr>
        <p:spPr>
          <a:xfrm>
            <a:off x="76200" y="3923475"/>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g13f4e71bb30_0_397"/>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392" name="Google Shape;392;g13f4e71bb30_0_397"/>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393" name="Google Shape;393;g13f4e71bb30_0_397"/>
          <p:cNvSpPr txBox="1"/>
          <p:nvPr/>
        </p:nvSpPr>
        <p:spPr>
          <a:xfrm>
            <a:off x="4288475" y="1498288"/>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Administración de Personal</a:t>
            </a:r>
            <a:r>
              <a:rPr b="1" lang="en-US" sz="2600">
                <a:solidFill>
                  <a:srgbClr val="932328"/>
                </a:solidFill>
              </a:rPr>
              <a:t> </a:t>
            </a:r>
            <a:endParaRPr b="1" sz="2600">
              <a:solidFill>
                <a:srgbClr val="932328"/>
              </a:solidFill>
            </a:endParaRPr>
          </a:p>
        </p:txBody>
      </p:sp>
      <p:sp>
        <p:nvSpPr>
          <p:cNvPr id="394" name="Google Shape;394;g13f4e71bb30_0_397"/>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395" name="Google Shape;395;g13f4e71bb30_0_397"/>
          <p:cNvSpPr txBox="1"/>
          <p:nvPr/>
        </p:nvSpPr>
        <p:spPr>
          <a:xfrm>
            <a:off x="4288475" y="2215125"/>
            <a:ext cx="5302200" cy="3090900"/>
          </a:xfrm>
          <a:prstGeom prst="rect">
            <a:avLst/>
          </a:prstGeom>
          <a:noFill/>
          <a:ln>
            <a:noFill/>
          </a:ln>
        </p:spPr>
        <p:txBody>
          <a:bodyPr anchorCtr="0" anchor="t" bIns="91425" lIns="91425" spcFirstLastPara="1" rIns="91425" wrap="square" tIns="91425">
            <a:spAutoFit/>
          </a:bodyPr>
          <a:lstStyle/>
          <a:p>
            <a:pPr indent="-381000" lvl="0" marL="457200" rtl="0" algn="l">
              <a:lnSpc>
                <a:spcPct val="135000"/>
              </a:lnSpc>
              <a:spcBef>
                <a:spcPts val="0"/>
              </a:spcBef>
              <a:spcAft>
                <a:spcPts val="0"/>
              </a:spcAft>
              <a:buClr>
                <a:srgbClr val="323232"/>
              </a:buClr>
              <a:buSzPts val="2400"/>
              <a:buChar char="➔"/>
            </a:pPr>
            <a:r>
              <a:rPr lang="en-US" sz="1600">
                <a:solidFill>
                  <a:srgbClr val="62666F"/>
                </a:solidFill>
                <a:highlight>
                  <a:srgbClr val="FFFFFF"/>
                </a:highlight>
              </a:rPr>
              <a:t>Se deben costear todos los gastos asociados al cumplimiento de las Leyes y, las normas de higiene y seguridad. </a:t>
            </a:r>
            <a:endParaRPr sz="1600">
              <a:solidFill>
                <a:srgbClr val="62666F"/>
              </a:solidFill>
              <a:highlight>
                <a:srgbClr val="FFFFFF"/>
              </a:highlight>
            </a:endParaRPr>
          </a:p>
          <a:p>
            <a:pPr indent="-381000" lvl="0" marL="457200" rtl="0" algn="l">
              <a:lnSpc>
                <a:spcPct val="135000"/>
              </a:lnSpc>
              <a:spcBef>
                <a:spcPts val="0"/>
              </a:spcBef>
              <a:spcAft>
                <a:spcPts val="0"/>
              </a:spcAft>
              <a:buClr>
                <a:srgbClr val="323232"/>
              </a:buClr>
              <a:buSzPts val="2400"/>
              <a:buChar char="➔"/>
            </a:pPr>
            <a:r>
              <a:rPr lang="en-US" sz="1600"/>
              <a:t>Ejemplos</a:t>
            </a:r>
            <a:endParaRPr sz="1600"/>
          </a:p>
          <a:p>
            <a:pPr indent="-330200" lvl="1" marL="914400" rtl="0" algn="l">
              <a:lnSpc>
                <a:spcPct val="135000"/>
              </a:lnSpc>
              <a:spcBef>
                <a:spcPts val="0"/>
              </a:spcBef>
              <a:spcAft>
                <a:spcPts val="0"/>
              </a:spcAft>
              <a:buSzPts val="1600"/>
              <a:buChar char="◆"/>
            </a:pPr>
            <a:r>
              <a:rPr lang="en-US" sz="1600"/>
              <a:t>Elementos de Protección Personal</a:t>
            </a:r>
            <a:endParaRPr sz="1600"/>
          </a:p>
          <a:p>
            <a:pPr indent="-330200" lvl="1" marL="914400" rtl="0" algn="l">
              <a:lnSpc>
                <a:spcPct val="135000"/>
              </a:lnSpc>
              <a:spcBef>
                <a:spcPts val="0"/>
              </a:spcBef>
              <a:spcAft>
                <a:spcPts val="0"/>
              </a:spcAft>
              <a:buSzPts val="1600"/>
              <a:buChar char="◆"/>
            </a:pPr>
            <a:r>
              <a:rPr lang="en-US" sz="1600"/>
              <a:t>Dependiendo de Negocio las inspecciones asociadas a los distintos factores de riesgos.</a:t>
            </a:r>
            <a:endParaRPr sz="1600"/>
          </a:p>
          <a:p>
            <a:pPr indent="-330200" lvl="1" marL="914400" rtl="0" algn="l">
              <a:lnSpc>
                <a:spcPct val="135000"/>
              </a:lnSpc>
              <a:spcBef>
                <a:spcPts val="0"/>
              </a:spcBef>
              <a:spcAft>
                <a:spcPts val="0"/>
              </a:spcAft>
              <a:buSzPts val="1600"/>
              <a:buChar char="◆"/>
            </a:pPr>
            <a:r>
              <a:rPr lang="en-US" sz="1600"/>
              <a:t>Abogados y Asesores externos</a:t>
            </a:r>
            <a:endParaRPr sz="1600"/>
          </a:p>
        </p:txBody>
      </p:sp>
      <p:pic>
        <p:nvPicPr>
          <p:cNvPr descr="Image result for utn frba" id="396" name="Google Shape;396;g13f4e71bb30_0_397"/>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397" name="Google Shape;397;g13f4e71bb30_0_397"/>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398" name="Google Shape;398;g13f4e71bb30_0_397"/>
          <p:cNvSpPr/>
          <p:nvPr/>
        </p:nvSpPr>
        <p:spPr>
          <a:xfrm>
            <a:off x="2666825" y="2484225"/>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g2d2c246cc59_0_32"/>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405" name="Google Shape;405;g2d2c246cc59_0_32"/>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406" name="Google Shape;406;g2d2c246cc59_0_32"/>
          <p:cNvSpPr txBox="1"/>
          <p:nvPr/>
        </p:nvSpPr>
        <p:spPr>
          <a:xfrm>
            <a:off x="4288475" y="1498288"/>
            <a:ext cx="53022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Administración de Personal - Ejemplo EPP</a:t>
            </a:r>
            <a:endParaRPr b="1" sz="2600">
              <a:solidFill>
                <a:srgbClr val="932328"/>
              </a:solidFill>
            </a:endParaRPr>
          </a:p>
        </p:txBody>
      </p:sp>
      <p:sp>
        <p:nvSpPr>
          <p:cNvPr id="407" name="Google Shape;407;g2d2c246cc59_0_32"/>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pic>
        <p:nvPicPr>
          <p:cNvPr descr="Image result for utn frba" id="408" name="Google Shape;408;g2d2c246cc59_0_32"/>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409" name="Google Shape;409;g2d2c246cc59_0_32"/>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410" name="Google Shape;410;g2d2c246cc59_0_32"/>
          <p:cNvSpPr/>
          <p:nvPr/>
        </p:nvSpPr>
        <p:spPr>
          <a:xfrm>
            <a:off x="2666825" y="2484225"/>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2d2c246cc59_0_32"/>
          <p:cNvSpPr/>
          <p:nvPr/>
        </p:nvSpPr>
        <p:spPr>
          <a:xfrm>
            <a:off x="4993025" y="3287950"/>
            <a:ext cx="4407600" cy="1627200"/>
          </a:xfrm>
          <a:prstGeom prst="roundRect">
            <a:avLst>
              <a:gd fmla="val 16667" name="adj"/>
            </a:avLst>
          </a:prstGeom>
          <a:solidFill>
            <a:schemeClr val="lt2"/>
          </a:solidFill>
          <a:ln cap="flat" cmpd="sng" w="28575">
            <a:solidFill>
              <a:srgbClr val="4A86E8"/>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a:p>
            <a:pPr indent="0" lvl="0" marL="0" rtl="0" algn="ctr">
              <a:spcBef>
                <a:spcPts val="0"/>
              </a:spcBef>
              <a:spcAft>
                <a:spcPts val="0"/>
              </a:spcAft>
              <a:buNone/>
            </a:pPr>
            <a:r>
              <a:rPr lang="en-US" sz="2200"/>
              <a:t>Calzado e indumentaria</a:t>
            </a:r>
            <a:endParaRPr sz="2200"/>
          </a:p>
          <a:p>
            <a:pPr indent="0" lvl="0" marL="0" rtl="0" algn="ctr">
              <a:spcBef>
                <a:spcPts val="0"/>
              </a:spcBef>
              <a:spcAft>
                <a:spcPts val="0"/>
              </a:spcAft>
              <a:buNone/>
            </a:pPr>
            <a:r>
              <a:rPr b="1" lang="en-US" sz="2200"/>
              <a:t>$150.000 x persona</a:t>
            </a:r>
            <a:endParaRPr b="1" sz="2200"/>
          </a:p>
          <a:p>
            <a:pPr indent="0" lvl="0" marL="0" rtl="0" algn="ctr">
              <a:spcBef>
                <a:spcPts val="0"/>
              </a:spcBef>
              <a:spcAft>
                <a:spcPts val="0"/>
              </a:spcAft>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g13f4e71bb30_0_409"/>
          <p:cNvPicPr preferRelativeResize="0"/>
          <p:nvPr/>
        </p:nvPicPr>
        <p:blipFill rotWithShape="1">
          <a:blip r:embed="rId3">
            <a:alphaModFix/>
          </a:blip>
          <a:srcRect b="-11209" l="-14596" r="-7042" t="0"/>
          <a:stretch/>
        </p:blipFill>
        <p:spPr>
          <a:xfrm>
            <a:off x="-1785775" y="1833975"/>
            <a:ext cx="7629800" cy="4693900"/>
          </a:xfrm>
          <a:prstGeom prst="rect">
            <a:avLst/>
          </a:prstGeom>
          <a:noFill/>
          <a:ln>
            <a:noFill/>
          </a:ln>
        </p:spPr>
      </p:pic>
      <p:pic>
        <p:nvPicPr>
          <p:cNvPr id="418" name="Google Shape;418;g13f4e71bb30_0_409"/>
          <p:cNvPicPr preferRelativeResize="0"/>
          <p:nvPr/>
        </p:nvPicPr>
        <p:blipFill rotWithShape="1">
          <a:blip r:embed="rId4">
            <a:alphaModFix/>
          </a:blip>
          <a:srcRect b="7901" l="21336" r="27138" t="24912"/>
          <a:stretch/>
        </p:blipFill>
        <p:spPr>
          <a:xfrm>
            <a:off x="1313550" y="3048075"/>
            <a:ext cx="1911600" cy="1867200"/>
          </a:xfrm>
          <a:prstGeom prst="ellipse">
            <a:avLst/>
          </a:prstGeom>
          <a:noFill/>
          <a:ln>
            <a:noFill/>
          </a:ln>
        </p:spPr>
      </p:pic>
      <p:sp>
        <p:nvSpPr>
          <p:cNvPr id="419" name="Google Shape;419;g13f4e71bb30_0_409"/>
          <p:cNvSpPr txBox="1"/>
          <p:nvPr/>
        </p:nvSpPr>
        <p:spPr>
          <a:xfrm>
            <a:off x="4403775" y="1439075"/>
            <a:ext cx="5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rgbClr val="932328"/>
                </a:solidFill>
              </a:rPr>
              <a:t>Eventos y Gastos Operativos</a:t>
            </a:r>
            <a:endParaRPr b="1" sz="2600">
              <a:solidFill>
                <a:srgbClr val="932328"/>
              </a:solidFill>
            </a:endParaRPr>
          </a:p>
        </p:txBody>
      </p:sp>
      <p:sp>
        <p:nvSpPr>
          <p:cNvPr id="420" name="Google Shape;420;g13f4e71bb30_0_409"/>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por Procesos</a:t>
            </a:r>
            <a:endParaRPr b="1" sz="2600">
              <a:solidFill>
                <a:srgbClr val="932328"/>
              </a:solidFill>
            </a:endParaRPr>
          </a:p>
        </p:txBody>
      </p:sp>
      <p:sp>
        <p:nvSpPr>
          <p:cNvPr id="421" name="Google Shape;421;g13f4e71bb30_0_409"/>
          <p:cNvSpPr txBox="1"/>
          <p:nvPr/>
        </p:nvSpPr>
        <p:spPr>
          <a:xfrm>
            <a:off x="4288475" y="2215125"/>
            <a:ext cx="5617500" cy="4198200"/>
          </a:xfrm>
          <a:prstGeom prst="rect">
            <a:avLst/>
          </a:prstGeom>
          <a:noFill/>
          <a:ln>
            <a:noFill/>
          </a:ln>
        </p:spPr>
        <p:txBody>
          <a:bodyPr anchorCtr="0" anchor="t" bIns="91425" lIns="91425" spcFirstLastPara="1" rIns="91425" wrap="square" tIns="91425">
            <a:spAutoFit/>
          </a:bodyPr>
          <a:lstStyle/>
          <a:p>
            <a:pPr indent="0" lvl="0" marL="0" rtl="0" algn="just">
              <a:lnSpc>
                <a:spcPct val="135000"/>
              </a:lnSpc>
              <a:spcBef>
                <a:spcPts val="0"/>
              </a:spcBef>
              <a:spcAft>
                <a:spcPts val="0"/>
              </a:spcAft>
              <a:buNone/>
            </a:pPr>
            <a:r>
              <a:rPr b="1" lang="en-US" sz="1500">
                <a:solidFill>
                  <a:srgbClr val="323232"/>
                </a:solidFill>
              </a:rPr>
              <a:t>Eventos</a:t>
            </a:r>
            <a:endParaRPr b="1" sz="1500">
              <a:solidFill>
                <a:srgbClr val="323232"/>
              </a:solidFill>
            </a:endParaRPr>
          </a:p>
          <a:p>
            <a:pPr indent="0" lvl="0" marL="0" rtl="0" algn="just">
              <a:lnSpc>
                <a:spcPct val="135000"/>
              </a:lnSpc>
              <a:spcBef>
                <a:spcPts val="1500"/>
              </a:spcBef>
              <a:spcAft>
                <a:spcPts val="0"/>
              </a:spcAft>
              <a:buNone/>
            </a:pPr>
            <a:r>
              <a:rPr lang="en-US" sz="1500">
                <a:solidFill>
                  <a:srgbClr val="323232"/>
                </a:solidFill>
              </a:rPr>
              <a:t>Todos los Eventos ( Dia de la Familia, Del Gremio, Fiesta de Fin de Año, y celebraciones) en general son costeadas directamente desde el área de RH.</a:t>
            </a:r>
            <a:endParaRPr sz="1500">
              <a:solidFill>
                <a:srgbClr val="323232"/>
              </a:solidFill>
            </a:endParaRPr>
          </a:p>
          <a:p>
            <a:pPr indent="0" lvl="0" marL="0" rtl="0" algn="just">
              <a:lnSpc>
                <a:spcPct val="135000"/>
              </a:lnSpc>
              <a:spcBef>
                <a:spcPts val="1500"/>
              </a:spcBef>
              <a:spcAft>
                <a:spcPts val="0"/>
              </a:spcAft>
              <a:buNone/>
            </a:pPr>
            <a:r>
              <a:rPr lang="en-US" sz="1500">
                <a:solidFill>
                  <a:srgbClr val="323232"/>
                </a:solidFill>
              </a:rPr>
              <a:t>Estos gastos tienden a costearse y planificarse en forma anticipada y tienen un valor de estimación por persona.</a:t>
            </a:r>
            <a:endParaRPr sz="1500">
              <a:solidFill>
                <a:srgbClr val="323232"/>
              </a:solidFill>
            </a:endParaRPr>
          </a:p>
          <a:p>
            <a:pPr indent="0" lvl="0" marL="0" rtl="0" algn="just">
              <a:lnSpc>
                <a:spcPct val="135000"/>
              </a:lnSpc>
              <a:spcBef>
                <a:spcPts val="1500"/>
              </a:spcBef>
              <a:spcAft>
                <a:spcPts val="0"/>
              </a:spcAft>
              <a:buNone/>
            </a:pPr>
            <a:r>
              <a:rPr lang="en-US" sz="1500">
                <a:solidFill>
                  <a:srgbClr val="323232"/>
                </a:solidFill>
              </a:rPr>
              <a:t>Materiales utilizados en los procesos, en las actividades, onboarding, offboarding, regalos, celebraciones.</a:t>
            </a:r>
            <a:endParaRPr sz="1500">
              <a:solidFill>
                <a:srgbClr val="323232"/>
              </a:solidFill>
            </a:endParaRPr>
          </a:p>
          <a:p>
            <a:pPr indent="0" lvl="0" marL="0" rtl="0" algn="just">
              <a:lnSpc>
                <a:spcPct val="135000"/>
              </a:lnSpc>
              <a:spcBef>
                <a:spcPts val="1500"/>
              </a:spcBef>
              <a:spcAft>
                <a:spcPts val="0"/>
              </a:spcAft>
              <a:buNone/>
            </a:pPr>
            <a:r>
              <a:t/>
            </a:r>
            <a:endParaRPr sz="1500">
              <a:solidFill>
                <a:srgbClr val="323232"/>
              </a:solidFill>
            </a:endParaRPr>
          </a:p>
          <a:p>
            <a:pPr indent="0" lvl="0" marL="457200" rtl="0" algn="l">
              <a:lnSpc>
                <a:spcPct val="135000"/>
              </a:lnSpc>
              <a:spcBef>
                <a:spcPts val="1500"/>
              </a:spcBef>
              <a:spcAft>
                <a:spcPts val="1500"/>
              </a:spcAft>
              <a:buNone/>
            </a:pPr>
            <a:r>
              <a:t/>
            </a:r>
            <a:endParaRPr sz="1600"/>
          </a:p>
        </p:txBody>
      </p:sp>
      <p:pic>
        <p:nvPicPr>
          <p:cNvPr descr="Image result for utn frba" id="422" name="Google Shape;422;g13f4e71bb30_0_409"/>
          <p:cNvPicPr preferRelativeResize="0"/>
          <p:nvPr/>
        </p:nvPicPr>
        <p:blipFill rotWithShape="1">
          <a:blip r:embed="rId5">
            <a:alphaModFix/>
          </a:blip>
          <a:srcRect b="0" l="0" r="0" t="0"/>
          <a:stretch/>
        </p:blipFill>
        <p:spPr>
          <a:xfrm>
            <a:off x="7294677" y="37279"/>
            <a:ext cx="2611323" cy="952745"/>
          </a:xfrm>
          <a:prstGeom prst="rect">
            <a:avLst/>
          </a:prstGeom>
          <a:noFill/>
          <a:ln>
            <a:noFill/>
          </a:ln>
        </p:spPr>
      </p:pic>
      <p:sp>
        <p:nvSpPr>
          <p:cNvPr id="423" name="Google Shape;423;g13f4e71bb30_0_409"/>
          <p:cNvSpPr/>
          <p:nvPr/>
        </p:nvSpPr>
        <p:spPr>
          <a:xfrm>
            <a:off x="482075" y="2989950"/>
            <a:ext cx="993000" cy="488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Eventos  Y Gastos operativo</a:t>
            </a:r>
            <a:endParaRPr b="1"/>
          </a:p>
          <a:p>
            <a:pPr indent="0" lvl="0" marL="0" rtl="0" algn="l">
              <a:spcBef>
                <a:spcPts val="0"/>
              </a:spcBef>
              <a:spcAft>
                <a:spcPts val="0"/>
              </a:spcAft>
              <a:buNone/>
            </a:pPr>
            <a:r>
              <a:t/>
            </a:r>
            <a:endParaRPr/>
          </a:p>
        </p:txBody>
      </p:sp>
      <p:sp>
        <p:nvSpPr>
          <p:cNvPr id="424" name="Google Shape;424;g13f4e71bb30_0_409"/>
          <p:cNvSpPr/>
          <p:nvPr/>
        </p:nvSpPr>
        <p:spPr>
          <a:xfrm>
            <a:off x="102425" y="2419950"/>
            <a:ext cx="1752300" cy="1488600"/>
          </a:xfrm>
          <a:prstGeom prst="ellipse">
            <a:avLst/>
          </a:prstGeom>
          <a:solidFill>
            <a:srgbClr val="000000">
              <a:alpha val="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140df5a88bd_0_38"/>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Visión Negocio </a:t>
            </a:r>
            <a:endParaRPr b="1" sz="2600">
              <a:solidFill>
                <a:srgbClr val="932328"/>
              </a:solidFill>
            </a:endParaRPr>
          </a:p>
        </p:txBody>
      </p:sp>
      <p:sp>
        <p:nvSpPr>
          <p:cNvPr id="431" name="Google Shape;431;g140df5a88bd_0_38"/>
          <p:cNvSpPr txBox="1"/>
          <p:nvPr/>
        </p:nvSpPr>
        <p:spPr>
          <a:xfrm>
            <a:off x="782450" y="1779700"/>
            <a:ext cx="28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432" name="Google Shape;432;g140df5a88bd_0_38"/>
          <p:cNvPicPr preferRelativeResize="0"/>
          <p:nvPr/>
        </p:nvPicPr>
        <p:blipFill rotWithShape="1">
          <a:blip r:embed="rId3">
            <a:alphaModFix/>
          </a:blip>
          <a:srcRect b="9159" l="7192" r="0" t="6345"/>
          <a:stretch/>
        </p:blipFill>
        <p:spPr>
          <a:xfrm>
            <a:off x="951225" y="2395300"/>
            <a:ext cx="2393400" cy="2436900"/>
          </a:xfrm>
          <a:prstGeom prst="rect">
            <a:avLst/>
          </a:prstGeom>
          <a:noFill/>
          <a:ln>
            <a:noFill/>
          </a:ln>
        </p:spPr>
      </p:pic>
      <p:sp>
        <p:nvSpPr>
          <p:cNvPr id="433" name="Google Shape;433;g140df5a88bd_0_38"/>
          <p:cNvSpPr/>
          <p:nvPr/>
        </p:nvSpPr>
        <p:spPr>
          <a:xfrm>
            <a:off x="3344625" y="3175850"/>
            <a:ext cx="1473000" cy="736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140df5a88bd_0_38"/>
          <p:cNvSpPr txBox="1"/>
          <p:nvPr/>
        </p:nvSpPr>
        <p:spPr>
          <a:xfrm>
            <a:off x="5147575" y="2946400"/>
            <a:ext cx="4121400" cy="7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Cómo</a:t>
            </a:r>
            <a:r>
              <a:rPr lang="en-US" sz="2800">
                <a:solidFill>
                  <a:schemeClr val="dk1"/>
                </a:solidFill>
                <a:latin typeface="Calibri"/>
                <a:ea typeface="Calibri"/>
                <a:cs typeface="Calibri"/>
                <a:sym typeface="Calibri"/>
              </a:rPr>
              <a:t> analizar el global?</a:t>
            </a:r>
            <a:endParaRPr sz="2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2d2c3ec267e_0_0"/>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Ejercicio</a:t>
            </a:r>
            <a:endParaRPr b="1" sz="2600">
              <a:solidFill>
                <a:srgbClr val="932328"/>
              </a:solidFill>
            </a:endParaRPr>
          </a:p>
        </p:txBody>
      </p:sp>
      <p:grpSp>
        <p:nvGrpSpPr>
          <p:cNvPr id="441" name="Google Shape;441;g2d2c3ec267e_0_0"/>
          <p:cNvGrpSpPr/>
          <p:nvPr/>
        </p:nvGrpSpPr>
        <p:grpSpPr>
          <a:xfrm>
            <a:off x="1086878" y="2448919"/>
            <a:ext cx="3617139" cy="3617139"/>
            <a:chOff x="2902488" y="902232"/>
            <a:chExt cx="3339000" cy="3339000"/>
          </a:xfrm>
        </p:grpSpPr>
        <p:sp>
          <p:nvSpPr>
            <p:cNvPr id="442" name="Google Shape;442;g2d2c3ec267e_0_0"/>
            <p:cNvSpPr/>
            <p:nvPr/>
          </p:nvSpPr>
          <p:spPr>
            <a:xfrm rot="-5400000">
              <a:off x="2902488" y="902232"/>
              <a:ext cx="3339000" cy="3339000"/>
            </a:xfrm>
            <a:prstGeom prst="ellipse">
              <a:avLst/>
            </a:prstGeom>
            <a:noFill/>
            <a:ln cap="flat" cmpd="sng" w="19050">
              <a:solidFill>
                <a:srgbClr val="1D7E75"/>
              </a:solidFill>
              <a:prstDash val="dash"/>
              <a:round/>
              <a:headEnd len="sm" w="sm" type="none"/>
              <a:tailEnd len="sm" w="sm" type="none"/>
            </a:ln>
          </p:spPr>
          <p:txBody>
            <a:bodyPr anchorCtr="0" anchor="ctr" bIns="99050" lIns="99050" spcFirstLastPara="1" rIns="99050" wrap="square" tIns="99050">
              <a:noAutofit/>
            </a:bodyPr>
            <a:lstStyle/>
            <a:p>
              <a:pPr indent="0" lvl="0" marL="0" rtl="0" algn="l">
                <a:spcBef>
                  <a:spcPts val="0"/>
                </a:spcBef>
                <a:spcAft>
                  <a:spcPts val="0"/>
                </a:spcAft>
                <a:buNone/>
              </a:pPr>
              <a:r>
                <a:t/>
              </a:r>
              <a:endParaRPr/>
            </a:p>
          </p:txBody>
        </p:sp>
        <p:sp>
          <p:nvSpPr>
            <p:cNvPr id="443" name="Google Shape;443;g2d2c3ec267e_0_0"/>
            <p:cNvSpPr/>
            <p:nvPr/>
          </p:nvSpPr>
          <p:spPr>
            <a:xfrm>
              <a:off x="3123738" y="1123632"/>
              <a:ext cx="2896500" cy="2896200"/>
            </a:xfrm>
            <a:prstGeom prst="pie">
              <a:avLst>
                <a:gd fmla="val 1811602" name="adj1"/>
                <a:gd fmla="val 16214886" name="adj2"/>
              </a:avLst>
            </a:prstGeom>
            <a:solidFill>
              <a:srgbClr val="83E3DA"/>
            </a:solidFill>
            <a:ln>
              <a:noFill/>
            </a:ln>
          </p:spPr>
          <p:txBody>
            <a:bodyPr anchorCtr="0" anchor="ctr" bIns="99050" lIns="99050" spcFirstLastPara="1" rIns="99050" wrap="square" tIns="99050">
              <a:noAutofit/>
            </a:bodyPr>
            <a:lstStyle/>
            <a:p>
              <a:pPr indent="0" lvl="0" marL="0" rtl="0" algn="l">
                <a:spcBef>
                  <a:spcPts val="0"/>
                </a:spcBef>
                <a:spcAft>
                  <a:spcPts val="0"/>
                </a:spcAft>
                <a:buNone/>
              </a:pPr>
              <a:r>
                <a:t/>
              </a:r>
              <a:endParaRPr/>
            </a:p>
          </p:txBody>
        </p:sp>
      </p:grpSp>
      <p:grpSp>
        <p:nvGrpSpPr>
          <p:cNvPr id="444" name="Google Shape;444;g2d2c3ec267e_0_0"/>
          <p:cNvGrpSpPr/>
          <p:nvPr/>
        </p:nvGrpSpPr>
        <p:grpSpPr>
          <a:xfrm>
            <a:off x="1875997" y="3336451"/>
            <a:ext cx="2038893" cy="2041072"/>
            <a:chOff x="3632120" y="1785268"/>
            <a:chExt cx="1815900" cy="1815900"/>
          </a:xfrm>
        </p:grpSpPr>
        <p:sp>
          <p:nvSpPr>
            <p:cNvPr id="445" name="Google Shape;445;g2d2c3ec267e_0_0"/>
            <p:cNvSpPr/>
            <p:nvPr/>
          </p:nvSpPr>
          <p:spPr>
            <a:xfrm>
              <a:off x="3632120" y="1785268"/>
              <a:ext cx="1815900" cy="1815900"/>
            </a:xfrm>
            <a:prstGeom prst="ellipse">
              <a:avLst/>
            </a:prstGeom>
            <a:solidFill>
              <a:srgbClr val="1B786F"/>
            </a:solidFill>
            <a:ln>
              <a:noFill/>
            </a:ln>
            <a:effectLst>
              <a:outerShdw blurRad="228600" rotWithShape="0" algn="tl" dir="5400000" dist="50800">
                <a:srgbClr val="000000">
                  <a:alpha val="54900"/>
                </a:srgbClr>
              </a:outerShdw>
            </a:effectLst>
          </p:spPr>
          <p:txBody>
            <a:bodyPr anchorCtr="0" anchor="ctr" bIns="99050" lIns="99050" spcFirstLastPara="1" rIns="99050" wrap="square" tIns="99050">
              <a:noAutofit/>
            </a:bodyPr>
            <a:lstStyle/>
            <a:p>
              <a:pPr indent="0" lvl="0" marL="0" rtl="0" algn="l">
                <a:spcBef>
                  <a:spcPts val="0"/>
                </a:spcBef>
                <a:spcAft>
                  <a:spcPts val="0"/>
                </a:spcAft>
                <a:buNone/>
              </a:pPr>
              <a:r>
                <a:t/>
              </a:r>
              <a:endParaRPr/>
            </a:p>
          </p:txBody>
        </p:sp>
        <p:sp>
          <p:nvSpPr>
            <p:cNvPr id="446" name="Google Shape;446;g2d2c3ec267e_0_0"/>
            <p:cNvSpPr txBox="1"/>
            <p:nvPr/>
          </p:nvSpPr>
          <p:spPr>
            <a:xfrm>
              <a:off x="3899988" y="2158482"/>
              <a:ext cx="1344000" cy="826500"/>
            </a:xfrm>
            <a:prstGeom prst="rect">
              <a:avLst/>
            </a:prstGeom>
            <a:noFill/>
            <a:ln>
              <a:noFill/>
            </a:ln>
          </p:spPr>
          <p:txBody>
            <a:bodyPr anchorCtr="0" anchor="ctr" bIns="99050" lIns="99050" spcFirstLastPara="1" rIns="99050" wrap="square" tIns="99050">
              <a:noAutofit/>
            </a:bodyPr>
            <a:lstStyle/>
            <a:p>
              <a:pPr indent="0" lvl="0" marL="0" rtl="0" algn="ctr">
                <a:lnSpc>
                  <a:spcPct val="115000"/>
                </a:lnSpc>
                <a:spcBef>
                  <a:spcPts val="0"/>
                </a:spcBef>
                <a:spcAft>
                  <a:spcPts val="0"/>
                </a:spcAft>
                <a:buNone/>
              </a:pPr>
              <a:r>
                <a:t/>
              </a:r>
              <a:endParaRPr b="1" sz="1700">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rPr b="1" lang="en-US" sz="1700">
                  <a:solidFill>
                    <a:srgbClr val="FFFFFF"/>
                  </a:solidFill>
                  <a:latin typeface="Roboto"/>
                  <a:ea typeface="Roboto"/>
                  <a:cs typeface="Roboto"/>
                  <a:sym typeface="Roboto"/>
                </a:rPr>
                <a:t>Organización</a:t>
              </a:r>
              <a:endParaRPr b="1" sz="1700">
                <a:solidFill>
                  <a:srgbClr val="FFFFFF"/>
                </a:solidFill>
                <a:latin typeface="Roboto"/>
                <a:ea typeface="Roboto"/>
                <a:cs typeface="Roboto"/>
                <a:sym typeface="Roboto"/>
              </a:endParaRPr>
            </a:p>
          </p:txBody>
        </p:sp>
      </p:grpSp>
      <p:grpSp>
        <p:nvGrpSpPr>
          <p:cNvPr id="447" name="Google Shape;447;g2d2c3ec267e_0_0"/>
          <p:cNvGrpSpPr/>
          <p:nvPr/>
        </p:nvGrpSpPr>
        <p:grpSpPr>
          <a:xfrm>
            <a:off x="2254711" y="1871687"/>
            <a:ext cx="1281786" cy="1328270"/>
            <a:chOff x="2859873" y="853971"/>
            <a:chExt cx="1068600" cy="1068600"/>
          </a:xfrm>
        </p:grpSpPr>
        <p:sp>
          <p:nvSpPr>
            <p:cNvPr id="448" name="Google Shape;448;g2d2c3ec267e_0_0"/>
            <p:cNvSpPr/>
            <p:nvPr/>
          </p:nvSpPr>
          <p:spPr>
            <a:xfrm>
              <a:off x="2859873" y="853971"/>
              <a:ext cx="1068600" cy="1068600"/>
            </a:xfrm>
            <a:prstGeom prst="ellipse">
              <a:avLst/>
            </a:prstGeom>
            <a:solidFill>
              <a:srgbClr val="155B55"/>
            </a:solidFill>
            <a:ln>
              <a:noFill/>
            </a:ln>
          </p:spPr>
          <p:txBody>
            <a:bodyPr anchorCtr="0" anchor="ctr" bIns="99050" lIns="99050" spcFirstLastPara="1" rIns="99050" wrap="square" tIns="99050">
              <a:noAutofit/>
            </a:bodyPr>
            <a:lstStyle/>
            <a:p>
              <a:pPr indent="0" lvl="0" marL="0" rtl="0" algn="l">
                <a:spcBef>
                  <a:spcPts val="0"/>
                </a:spcBef>
                <a:spcAft>
                  <a:spcPts val="0"/>
                </a:spcAft>
                <a:buNone/>
              </a:pPr>
              <a:r>
                <a:t/>
              </a:r>
              <a:endParaRPr/>
            </a:p>
          </p:txBody>
        </p:sp>
        <p:sp>
          <p:nvSpPr>
            <p:cNvPr id="449" name="Google Shape;449;g2d2c3ec267e_0_0"/>
            <p:cNvSpPr txBox="1"/>
            <p:nvPr/>
          </p:nvSpPr>
          <p:spPr>
            <a:xfrm>
              <a:off x="3012800" y="1022197"/>
              <a:ext cx="762600" cy="732300"/>
            </a:xfrm>
            <a:prstGeom prst="rect">
              <a:avLst/>
            </a:prstGeom>
            <a:noFill/>
            <a:ln>
              <a:noFill/>
            </a:ln>
          </p:spPr>
          <p:txBody>
            <a:bodyPr anchorCtr="0" anchor="ctr" bIns="99050" lIns="99050" spcFirstLastPara="1" rIns="99050" wrap="square" tIns="99050">
              <a:noAutofit/>
            </a:bodyPr>
            <a:lstStyle/>
            <a:p>
              <a:pPr indent="0" lvl="0" marL="0" rtl="0" algn="ctr">
                <a:lnSpc>
                  <a:spcPct val="115000"/>
                </a:lnSpc>
                <a:spcBef>
                  <a:spcPts val="0"/>
                </a:spcBef>
                <a:spcAft>
                  <a:spcPts val="0"/>
                </a:spcAft>
                <a:buNone/>
              </a:pPr>
              <a:r>
                <a:rPr lang="en-US" sz="1200">
                  <a:solidFill>
                    <a:srgbClr val="FFFFFF"/>
                  </a:solidFill>
                  <a:latin typeface="Roboto"/>
                  <a:ea typeface="Roboto"/>
                  <a:cs typeface="Roboto"/>
                  <a:sym typeface="Roboto"/>
                </a:rPr>
                <a:t>Unidad de negocio / Centro de costos</a:t>
              </a:r>
              <a:endParaRPr sz="1200">
                <a:solidFill>
                  <a:srgbClr val="FFFFFF"/>
                </a:solidFill>
                <a:latin typeface="Roboto"/>
                <a:ea typeface="Roboto"/>
                <a:cs typeface="Roboto"/>
                <a:sym typeface="Roboto"/>
              </a:endParaRPr>
            </a:p>
          </p:txBody>
        </p:sp>
      </p:grpSp>
      <p:grpSp>
        <p:nvGrpSpPr>
          <p:cNvPr id="450" name="Google Shape;450;g2d2c3ec267e_0_0"/>
          <p:cNvGrpSpPr/>
          <p:nvPr/>
        </p:nvGrpSpPr>
        <p:grpSpPr>
          <a:xfrm>
            <a:off x="416957" y="4199445"/>
            <a:ext cx="1337353" cy="1328270"/>
            <a:chOff x="2859873" y="853971"/>
            <a:chExt cx="1068600" cy="1068600"/>
          </a:xfrm>
        </p:grpSpPr>
        <p:sp>
          <p:nvSpPr>
            <p:cNvPr id="451" name="Google Shape;451;g2d2c3ec267e_0_0"/>
            <p:cNvSpPr/>
            <p:nvPr/>
          </p:nvSpPr>
          <p:spPr>
            <a:xfrm>
              <a:off x="2859873" y="853971"/>
              <a:ext cx="1068600" cy="1068600"/>
            </a:xfrm>
            <a:prstGeom prst="ellipse">
              <a:avLst/>
            </a:prstGeom>
            <a:solidFill>
              <a:srgbClr val="155B55"/>
            </a:solidFill>
            <a:ln>
              <a:noFill/>
            </a:ln>
          </p:spPr>
          <p:txBody>
            <a:bodyPr anchorCtr="0" anchor="ctr" bIns="99050" lIns="99050" spcFirstLastPara="1" rIns="99050" wrap="square" tIns="99050">
              <a:noAutofit/>
            </a:bodyPr>
            <a:lstStyle/>
            <a:p>
              <a:pPr indent="0" lvl="0" marL="0" rtl="0" algn="l">
                <a:spcBef>
                  <a:spcPts val="0"/>
                </a:spcBef>
                <a:spcAft>
                  <a:spcPts val="0"/>
                </a:spcAft>
                <a:buNone/>
              </a:pPr>
              <a:r>
                <a:t/>
              </a:r>
              <a:endParaRPr/>
            </a:p>
          </p:txBody>
        </p:sp>
        <p:sp>
          <p:nvSpPr>
            <p:cNvPr id="452" name="Google Shape;452;g2d2c3ec267e_0_0"/>
            <p:cNvSpPr txBox="1"/>
            <p:nvPr/>
          </p:nvSpPr>
          <p:spPr>
            <a:xfrm>
              <a:off x="3012800" y="1022197"/>
              <a:ext cx="762600" cy="732300"/>
            </a:xfrm>
            <a:prstGeom prst="rect">
              <a:avLst/>
            </a:prstGeom>
            <a:noFill/>
            <a:ln>
              <a:noFill/>
            </a:ln>
          </p:spPr>
          <p:txBody>
            <a:bodyPr anchorCtr="0" anchor="ctr" bIns="99050" lIns="99050" spcFirstLastPara="1" rIns="99050" wrap="square" tIns="99050">
              <a:noAutofit/>
            </a:bodyPr>
            <a:lstStyle/>
            <a:p>
              <a:pPr indent="0" lvl="0" marL="0" rtl="0" algn="ctr">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lang="en-US" sz="1200">
                  <a:solidFill>
                    <a:schemeClr val="lt1"/>
                  </a:solidFill>
                  <a:latin typeface="Roboto"/>
                  <a:ea typeface="Roboto"/>
                  <a:cs typeface="Roboto"/>
                  <a:sym typeface="Roboto"/>
                </a:rPr>
                <a:t>Unidad de negocio / Centro de costos</a:t>
              </a:r>
              <a:endParaRPr sz="12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00">
                <a:solidFill>
                  <a:srgbClr val="FFFFFF"/>
                </a:solidFill>
                <a:latin typeface="Roboto"/>
                <a:ea typeface="Roboto"/>
                <a:cs typeface="Roboto"/>
                <a:sym typeface="Roboto"/>
              </a:endParaRPr>
            </a:p>
          </p:txBody>
        </p:sp>
      </p:grpSp>
      <p:grpSp>
        <p:nvGrpSpPr>
          <p:cNvPr id="453" name="Google Shape;453;g2d2c3ec267e_0_0"/>
          <p:cNvGrpSpPr/>
          <p:nvPr/>
        </p:nvGrpSpPr>
        <p:grpSpPr>
          <a:xfrm>
            <a:off x="4031884" y="4191059"/>
            <a:ext cx="1337353" cy="1328270"/>
            <a:chOff x="5214448" y="3234278"/>
            <a:chExt cx="1068600" cy="1068600"/>
          </a:xfrm>
        </p:grpSpPr>
        <p:sp>
          <p:nvSpPr>
            <p:cNvPr id="454" name="Google Shape;454;g2d2c3ec267e_0_0"/>
            <p:cNvSpPr/>
            <p:nvPr/>
          </p:nvSpPr>
          <p:spPr>
            <a:xfrm>
              <a:off x="5214448" y="3234278"/>
              <a:ext cx="1068600" cy="1068600"/>
            </a:xfrm>
            <a:prstGeom prst="ellipse">
              <a:avLst/>
            </a:prstGeom>
            <a:solidFill>
              <a:srgbClr val="155B55"/>
            </a:solidFill>
            <a:ln>
              <a:noFill/>
            </a:ln>
          </p:spPr>
          <p:txBody>
            <a:bodyPr anchorCtr="0" anchor="ctr" bIns="99050" lIns="99050" spcFirstLastPara="1" rIns="99050" wrap="square" tIns="99050">
              <a:noAutofit/>
            </a:bodyPr>
            <a:lstStyle/>
            <a:p>
              <a:pPr indent="0" lvl="0" marL="0" rtl="0" algn="l">
                <a:spcBef>
                  <a:spcPts val="0"/>
                </a:spcBef>
                <a:spcAft>
                  <a:spcPts val="0"/>
                </a:spcAft>
                <a:buNone/>
              </a:pPr>
              <a:r>
                <a:t/>
              </a:r>
              <a:endParaRPr/>
            </a:p>
          </p:txBody>
        </p:sp>
        <p:sp>
          <p:nvSpPr>
            <p:cNvPr id="455" name="Google Shape;455;g2d2c3ec267e_0_0"/>
            <p:cNvSpPr txBox="1"/>
            <p:nvPr/>
          </p:nvSpPr>
          <p:spPr>
            <a:xfrm>
              <a:off x="5367375" y="3402503"/>
              <a:ext cx="762600" cy="732300"/>
            </a:xfrm>
            <a:prstGeom prst="rect">
              <a:avLst/>
            </a:prstGeom>
            <a:noFill/>
            <a:ln>
              <a:noFill/>
            </a:ln>
          </p:spPr>
          <p:txBody>
            <a:bodyPr anchorCtr="0" anchor="ctr" bIns="99050" lIns="99050" spcFirstLastPara="1" rIns="99050" wrap="square" tIns="99050">
              <a:noAutofit/>
            </a:bodyPr>
            <a:lstStyle/>
            <a:p>
              <a:pPr indent="0" lvl="0" marL="0" rtl="0" algn="ctr">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lang="en-US" sz="1200">
                  <a:solidFill>
                    <a:schemeClr val="lt1"/>
                  </a:solidFill>
                  <a:latin typeface="Roboto"/>
                  <a:ea typeface="Roboto"/>
                  <a:cs typeface="Roboto"/>
                  <a:sym typeface="Roboto"/>
                </a:rPr>
                <a:t>Unidad de negocio / Centro de costos</a:t>
              </a:r>
              <a:endParaRPr sz="12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00">
                <a:solidFill>
                  <a:srgbClr val="FFFFFF"/>
                </a:solidFill>
                <a:latin typeface="Roboto"/>
                <a:ea typeface="Roboto"/>
                <a:cs typeface="Roboto"/>
                <a:sym typeface="Roboto"/>
              </a:endParaRPr>
            </a:p>
          </p:txBody>
        </p:sp>
      </p:grpSp>
      <p:sp>
        <p:nvSpPr>
          <p:cNvPr id="456" name="Google Shape;456;g2d2c3ec267e_0_0"/>
          <p:cNvSpPr txBox="1"/>
          <p:nvPr/>
        </p:nvSpPr>
        <p:spPr>
          <a:xfrm>
            <a:off x="5552400" y="1758513"/>
            <a:ext cx="4353600" cy="136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932328"/>
                </a:solidFill>
              </a:rPr>
              <a:t>Centro de costos:</a:t>
            </a:r>
            <a:endParaRPr b="1" sz="2000">
              <a:solidFill>
                <a:srgbClr val="932328"/>
              </a:solidFill>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Se utilizan diferentes centros de costos contables </a:t>
            </a:r>
            <a:r>
              <a:rPr lang="en-US" sz="1800">
                <a:solidFill>
                  <a:schemeClr val="dk1"/>
                </a:solidFill>
                <a:latin typeface="Calibri"/>
                <a:ea typeface="Calibri"/>
                <a:cs typeface="Calibri"/>
                <a:sym typeface="Calibri"/>
              </a:rPr>
              <a:t>según</a:t>
            </a:r>
            <a:r>
              <a:rPr lang="en-US" sz="1800">
                <a:solidFill>
                  <a:schemeClr val="dk1"/>
                </a:solidFill>
                <a:latin typeface="Calibri"/>
                <a:ea typeface="Calibri"/>
                <a:cs typeface="Calibri"/>
                <a:sym typeface="Calibri"/>
              </a:rPr>
              <a:t> la unidad de negocios de la </a:t>
            </a:r>
            <a:r>
              <a:rPr lang="en-US" sz="1800">
                <a:solidFill>
                  <a:schemeClr val="dk1"/>
                </a:solidFill>
                <a:latin typeface="Calibri"/>
                <a:ea typeface="Calibri"/>
                <a:cs typeface="Calibri"/>
                <a:sym typeface="Calibri"/>
              </a:rPr>
              <a:t>organización.</a:t>
            </a:r>
            <a:r>
              <a:rPr lang="en-US" sz="1200">
                <a:solidFill>
                  <a:schemeClr val="lt1"/>
                </a:solidFill>
                <a:latin typeface="Roboto"/>
                <a:ea typeface="Roboto"/>
                <a:cs typeface="Roboto"/>
                <a:sym typeface="Roboto"/>
              </a:rPr>
              <a:t>de costos</a:t>
            </a:r>
            <a:endParaRPr sz="1200">
              <a:solidFill>
                <a:schemeClr val="lt1"/>
              </a:solidFill>
              <a:latin typeface="Roboto"/>
              <a:ea typeface="Roboto"/>
              <a:cs typeface="Roboto"/>
              <a:sym typeface="Roboto"/>
            </a:endParaRPr>
          </a:p>
        </p:txBody>
      </p:sp>
      <p:sp>
        <p:nvSpPr>
          <p:cNvPr id="457" name="Google Shape;457;g2d2c3ec267e_0_0"/>
          <p:cNvSpPr txBox="1"/>
          <p:nvPr/>
        </p:nvSpPr>
        <p:spPr>
          <a:xfrm>
            <a:off x="5562400" y="3499838"/>
            <a:ext cx="4353600" cy="136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932328"/>
                </a:solidFill>
              </a:rPr>
              <a:t>Objetivo:</a:t>
            </a:r>
            <a:endParaRPr b="1" sz="2000">
              <a:solidFill>
                <a:srgbClr val="932328"/>
              </a:solidFill>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Sincerar los gastos por segmento, para conocer la salud real de cada unidad de negocios.</a:t>
            </a:r>
            <a:r>
              <a:rPr lang="en-US" sz="1200">
                <a:solidFill>
                  <a:schemeClr val="lt1"/>
                </a:solidFill>
                <a:latin typeface="Roboto"/>
                <a:ea typeface="Roboto"/>
                <a:cs typeface="Roboto"/>
                <a:sym typeface="Roboto"/>
              </a:rPr>
              <a:t>, paa</a:t>
            </a:r>
            <a:r>
              <a:rPr lang="en-US" sz="1200">
                <a:solidFill>
                  <a:schemeClr val="lt1"/>
                </a:solidFill>
                <a:latin typeface="Roboto"/>
                <a:ea typeface="Roboto"/>
                <a:cs typeface="Roboto"/>
                <a:sym typeface="Roboto"/>
              </a:rPr>
              <a:t>costos</a:t>
            </a:r>
            <a:endParaRPr sz="1200">
              <a:solidFill>
                <a:schemeClr val="lt1"/>
              </a:solidFill>
              <a:latin typeface="Roboto"/>
              <a:ea typeface="Roboto"/>
              <a:cs typeface="Roboto"/>
              <a:sym typeface="Roboto"/>
            </a:endParaRPr>
          </a:p>
        </p:txBody>
      </p:sp>
      <p:sp>
        <p:nvSpPr>
          <p:cNvPr id="458" name="Google Shape;458;g2d2c3ec267e_0_0"/>
          <p:cNvSpPr txBox="1"/>
          <p:nvPr/>
        </p:nvSpPr>
        <p:spPr>
          <a:xfrm>
            <a:off x="5562400" y="5241163"/>
            <a:ext cx="4353600" cy="109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932328"/>
                </a:solidFill>
              </a:rPr>
              <a:t>Nota</a:t>
            </a:r>
            <a:r>
              <a:rPr b="1" lang="en-US" sz="2000">
                <a:solidFill>
                  <a:srgbClr val="932328"/>
                </a:solidFill>
              </a:rPr>
              <a:t>:</a:t>
            </a:r>
            <a:endParaRPr b="1" sz="2000">
              <a:solidFill>
                <a:srgbClr val="932328"/>
              </a:solidFill>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No hay un marco legal, cada empresa costea según un criterio interno.</a:t>
            </a:r>
            <a:endParaRPr sz="1200">
              <a:solidFill>
                <a:schemeClr val="lt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2d2c3ec267e_0_1375"/>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Ejercicio</a:t>
            </a:r>
            <a:endParaRPr b="1" sz="2600">
              <a:solidFill>
                <a:srgbClr val="932328"/>
              </a:solidFill>
            </a:endParaRPr>
          </a:p>
        </p:txBody>
      </p:sp>
      <p:sp>
        <p:nvSpPr>
          <p:cNvPr id="465" name="Google Shape;465;g2d2c3ec267e_0_1375"/>
          <p:cNvSpPr txBox="1"/>
          <p:nvPr/>
        </p:nvSpPr>
        <p:spPr>
          <a:xfrm>
            <a:off x="789175" y="2526774"/>
            <a:ext cx="4353600" cy="27822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0"/>
              </a:spcBef>
              <a:spcAft>
                <a:spcPts val="0"/>
              </a:spcAft>
              <a:buClr>
                <a:srgbClr val="932328"/>
              </a:buClr>
              <a:buSzPts val="2500"/>
              <a:buChar char="●"/>
            </a:pPr>
            <a:r>
              <a:rPr lang="en-US" sz="2300">
                <a:solidFill>
                  <a:schemeClr val="dk1"/>
                </a:solidFill>
                <a:latin typeface="Calibri"/>
                <a:ea typeface="Calibri"/>
                <a:cs typeface="Calibri"/>
                <a:sym typeface="Calibri"/>
              </a:rPr>
              <a:t>Provisión/Previsión</a:t>
            </a:r>
            <a:r>
              <a:rPr lang="en-US" sz="2300">
                <a:solidFill>
                  <a:schemeClr val="dk1"/>
                </a:solidFill>
                <a:latin typeface="Calibri"/>
                <a:ea typeface="Calibri"/>
                <a:cs typeface="Calibri"/>
                <a:sym typeface="Calibri"/>
              </a:rPr>
              <a:t>:</a:t>
            </a:r>
            <a:endParaRPr sz="23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rgbClr val="932328"/>
              </a:buClr>
              <a:buSzPts val="2500"/>
              <a:buChar char="●"/>
            </a:pPr>
            <a:r>
              <a:rPr lang="en-US" sz="2300">
                <a:solidFill>
                  <a:schemeClr val="dk1"/>
                </a:solidFill>
                <a:latin typeface="Calibri"/>
                <a:ea typeface="Calibri"/>
                <a:cs typeface="Calibri"/>
                <a:sym typeface="Calibri"/>
              </a:rPr>
              <a:t>Costos/Gastos</a:t>
            </a:r>
            <a:endParaRPr sz="23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rgbClr val="932328"/>
              </a:buClr>
              <a:buSzPts val="2500"/>
              <a:buChar char="●"/>
            </a:pPr>
            <a:r>
              <a:rPr lang="en-US" sz="2300">
                <a:solidFill>
                  <a:schemeClr val="dk1"/>
                </a:solidFill>
                <a:latin typeface="Calibri"/>
                <a:ea typeface="Calibri"/>
                <a:cs typeface="Calibri"/>
                <a:sym typeface="Calibri"/>
              </a:rPr>
              <a:t>Costos/ Gastos erogables</a:t>
            </a:r>
            <a:endParaRPr sz="23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rgbClr val="932328"/>
              </a:buClr>
              <a:buSzPts val="2500"/>
              <a:buChar char="●"/>
            </a:pPr>
            <a:r>
              <a:rPr lang="en-US" sz="2300">
                <a:solidFill>
                  <a:schemeClr val="dk1"/>
                </a:solidFill>
                <a:latin typeface="Calibri"/>
                <a:ea typeface="Calibri"/>
                <a:cs typeface="Calibri"/>
                <a:sym typeface="Calibri"/>
              </a:rPr>
              <a:t>EBIT</a:t>
            </a:r>
            <a:endParaRPr sz="23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rgbClr val="932328"/>
              </a:buClr>
              <a:buSzPts val="2500"/>
              <a:buChar char="●"/>
            </a:pPr>
            <a:r>
              <a:rPr lang="en-US" sz="2300">
                <a:solidFill>
                  <a:schemeClr val="dk1"/>
                </a:solidFill>
                <a:latin typeface="Calibri"/>
                <a:ea typeface="Calibri"/>
                <a:cs typeface="Calibri"/>
                <a:sym typeface="Calibri"/>
              </a:rPr>
              <a:t>EBITDA</a:t>
            </a:r>
            <a:endParaRPr sz="23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rgbClr val="932328"/>
              </a:buClr>
              <a:buSzPts val="2000"/>
              <a:buChar char="●"/>
            </a:pPr>
            <a:r>
              <a:rPr lang="en-US" sz="2300">
                <a:solidFill>
                  <a:schemeClr val="dk1"/>
                </a:solidFill>
                <a:latin typeface="Calibri"/>
                <a:ea typeface="Calibri"/>
                <a:cs typeface="Calibri"/>
                <a:sym typeface="Calibri"/>
              </a:rPr>
              <a:t>Free-cash flow</a:t>
            </a:r>
            <a:r>
              <a:rPr b="1" lang="en-US" sz="2500">
                <a:solidFill>
                  <a:srgbClr val="932328"/>
                </a:solidFill>
              </a:rPr>
              <a:t>.</a:t>
            </a:r>
            <a:r>
              <a:rPr lang="en-US" sz="1200">
                <a:solidFill>
                  <a:schemeClr val="lt1"/>
                </a:solidFill>
                <a:latin typeface="Roboto"/>
                <a:ea typeface="Roboto"/>
                <a:cs typeface="Roboto"/>
                <a:sym typeface="Roboto"/>
              </a:rPr>
              <a:t>de cos</a:t>
            </a:r>
            <a:endParaRPr sz="1200">
              <a:solidFill>
                <a:schemeClr val="lt1"/>
              </a:solidFill>
              <a:latin typeface="Roboto"/>
              <a:ea typeface="Roboto"/>
              <a:cs typeface="Roboto"/>
              <a:sym typeface="Roboto"/>
            </a:endParaRPr>
          </a:p>
        </p:txBody>
      </p:sp>
      <p:sp>
        <p:nvSpPr>
          <p:cNvPr id="466" name="Google Shape;466;g2d2c3ec267e_0_1375"/>
          <p:cNvSpPr txBox="1"/>
          <p:nvPr/>
        </p:nvSpPr>
        <p:spPr>
          <a:xfrm>
            <a:off x="853575" y="1777775"/>
            <a:ext cx="3816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200">
                <a:solidFill>
                  <a:srgbClr val="932328"/>
                </a:solidFill>
              </a:rPr>
              <a:t>Repaso de conceptos</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2d2c3ec267e_0_564"/>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Ejercicio</a:t>
            </a:r>
            <a:endParaRPr b="1" sz="2600">
              <a:solidFill>
                <a:srgbClr val="932328"/>
              </a:solidFill>
            </a:endParaRPr>
          </a:p>
        </p:txBody>
      </p:sp>
      <p:graphicFrame>
        <p:nvGraphicFramePr>
          <p:cNvPr id="473" name="Google Shape;473;g2d2c3ec267e_0_564"/>
          <p:cNvGraphicFramePr/>
          <p:nvPr/>
        </p:nvGraphicFramePr>
        <p:xfrm>
          <a:off x="1785500" y="1282575"/>
          <a:ext cx="3000000" cy="3000000"/>
        </p:xfrm>
        <a:graphic>
          <a:graphicData uri="http://schemas.openxmlformats.org/drawingml/2006/table">
            <a:tbl>
              <a:tblPr>
                <a:noFill/>
                <a:tableStyleId>{BE5AD69B-3591-4148-A08B-85F186E94DB8}</a:tableStyleId>
              </a:tblPr>
              <a:tblGrid>
                <a:gridCol w="2719775"/>
                <a:gridCol w="1711325"/>
                <a:gridCol w="865850"/>
              </a:tblGrid>
              <a:tr h="286350">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FORECAST Ventas</a:t>
                      </a:r>
                      <a:endParaRPr sz="1600">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Ar$</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5275">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CMV</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B4C6E7"/>
                    </a:solidFill>
                  </a:tcPr>
                </a:tc>
                <a:tc>
                  <a:txBody>
                    <a:bodyPr/>
                    <a:lstStyle/>
                    <a:p>
                      <a:pPr indent="0" lvl="0" marL="457200" rtl="0" algn="l">
                        <a:lnSpc>
                          <a:spcPct val="115000"/>
                        </a:lnSpc>
                        <a:spcBef>
                          <a:spcPts val="0"/>
                        </a:spcBef>
                        <a:spcAft>
                          <a:spcPts val="0"/>
                        </a:spcAft>
                        <a:buNone/>
                      </a:pPr>
                      <a:r>
                        <a:rPr lang="en-US" sz="1600">
                          <a:latin typeface="Calibri"/>
                          <a:ea typeface="Calibri"/>
                          <a:cs typeface="Calibri"/>
                          <a:sym typeface="Calibri"/>
                        </a:rPr>
                        <a:t>    -Ar$</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5275">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UB</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B4C6E7"/>
                    </a:solidFill>
                  </a:tcPr>
                </a:tc>
                <a:tc>
                  <a:txBody>
                    <a:bodyPr/>
                    <a:lstStyle/>
                    <a:p>
                      <a:pPr indent="0" lvl="0" marL="0" rtl="0" algn="l">
                        <a:spcBef>
                          <a:spcPts val="0"/>
                        </a:spcBef>
                        <a:spcAft>
                          <a:spcPts val="0"/>
                        </a:spcAft>
                        <a:buNone/>
                      </a:pPr>
                      <a:r>
                        <a:rPr lang="en-US"/>
                        <a:t>              Ar$ </a:t>
                      </a:r>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Gastos Comerciales</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-Ar$</a:t>
                      </a:r>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Gastos de Operación</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-Ar$</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5275">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EBITDA</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B4C6E7"/>
                    </a:solidFill>
                  </a:tcPr>
                </a:tc>
                <a:tc>
                  <a:txBody>
                    <a:bodyPr/>
                    <a:lstStyle/>
                    <a:p>
                      <a:pPr indent="0" lvl="0" marL="0" rtl="0" algn="l">
                        <a:spcBef>
                          <a:spcPts val="0"/>
                        </a:spcBef>
                        <a:spcAft>
                          <a:spcPts val="0"/>
                        </a:spcAft>
                        <a:buNone/>
                      </a:pPr>
                      <a:r>
                        <a:rPr lang="en-US"/>
                        <a:t>              Ar$</a:t>
                      </a:r>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rgbClr val="FF0000"/>
                          </a:solidFill>
                          <a:latin typeface="Calibri"/>
                          <a:ea typeface="Calibri"/>
                          <a:cs typeface="Calibri"/>
                          <a:sym typeface="Calibri"/>
                        </a:rPr>
                        <a:t>%</a:t>
                      </a:r>
                      <a:endParaRPr b="1" sz="1800">
                        <a:solidFill>
                          <a:srgbClr val="FF0000"/>
                        </a:solidFill>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00"/>
                    </a:solidFill>
                  </a:tcPr>
                </a:tc>
              </a:tr>
              <a:tr h="286350">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Amortizaciones</a:t>
                      </a:r>
                      <a:endParaRPr sz="1600">
                        <a:latin typeface="Calibri"/>
                        <a:ea typeface="Calibri"/>
                        <a:cs typeface="Calibri"/>
                        <a:sym typeface="Calibri"/>
                      </a:endParaRPr>
                    </a:p>
                  </a:txBody>
                  <a:tcPr marT="9525" marB="91425" marR="9525" marL="9525" anchor="b">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US"/>
                        <a:t>             -Ar$</a:t>
                      </a:r>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Depreciaciones</a:t>
                      </a:r>
                      <a:endParaRPr sz="1600">
                        <a:latin typeface="Calibri"/>
                        <a:ea typeface="Calibri"/>
                        <a:cs typeface="Calibri"/>
                        <a:sym typeface="Calibri"/>
                      </a:endParaRPr>
                    </a:p>
                  </a:txBody>
                  <a:tcPr marT="9525" marB="91425" marR="9525" marL="9525" anchor="b">
                    <a:lnR cap="flat" cmpd="sng" w="6350">
                      <a:solidFill>
                        <a:srgbClr val="000000"/>
                      </a:solidFill>
                      <a:prstDash val="solid"/>
                      <a:round/>
                      <a:headEnd len="sm" w="sm" type="none"/>
                      <a:tailEnd len="sm" w="sm" type="none"/>
                    </a:lnR>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-Ar$</a:t>
                      </a:r>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5275">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EBIT</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B4C6E7"/>
                    </a:solidFill>
                  </a:tcPr>
                </a:tc>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AR$</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a:t>
                      </a:r>
                      <a:r>
                        <a:rPr b="1" lang="en-US" sz="1800">
                          <a:solidFill>
                            <a:schemeClr val="dk1"/>
                          </a:solidFill>
                          <a:latin typeface="Calibri"/>
                          <a:ea typeface="Calibri"/>
                          <a:cs typeface="Calibri"/>
                          <a:sym typeface="Calibri"/>
                        </a:rPr>
                        <a:t>%</a:t>
                      </a:r>
                      <a:r>
                        <a:rPr lang="en-US"/>
                        <a:t> </a:t>
                      </a:r>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Dif Inv</a:t>
                      </a:r>
                      <a:endParaRPr b="1"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0</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Dif ctas x pagar</a:t>
                      </a:r>
                      <a:endParaRPr b="1"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0</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Dif ctas x cobrar</a:t>
                      </a:r>
                      <a:endParaRPr b="1"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0</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350">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Compra bienes de capital</a:t>
                      </a:r>
                      <a:endParaRPr b="1"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0</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 </a:t>
                      </a:r>
                      <a:endParaRPr sz="16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5275">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free Cashflow</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B4C6E7"/>
                    </a:solidFill>
                  </a:tcPr>
                </a:tc>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AR$</a:t>
                      </a:r>
                      <a:endParaRPr b="1" sz="18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rgbClr val="FF0000"/>
                          </a:solidFill>
                          <a:latin typeface="Calibri"/>
                          <a:ea typeface="Calibri"/>
                          <a:cs typeface="Calibri"/>
                          <a:sym typeface="Calibri"/>
                        </a:rPr>
                        <a:t>%</a:t>
                      </a:r>
                      <a:endParaRPr b="1" sz="1800">
                        <a:solidFill>
                          <a:srgbClr val="FF0000"/>
                        </a:solidFill>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00"/>
                    </a:solidFill>
                  </a:tcPr>
                </a:tc>
              </a:tr>
            </a:tbl>
          </a:graphicData>
        </a:graphic>
      </p:graphicFrame>
      <p:sp>
        <p:nvSpPr>
          <p:cNvPr id="474" name="Google Shape;474;g2d2c3ec267e_0_564"/>
          <p:cNvSpPr/>
          <p:nvPr/>
        </p:nvSpPr>
        <p:spPr>
          <a:xfrm>
            <a:off x="7355425" y="2950100"/>
            <a:ext cx="1706700" cy="29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5" name="Google Shape;475;g2d2c3ec267e_0_564"/>
          <p:cNvSpPr/>
          <p:nvPr/>
        </p:nvSpPr>
        <p:spPr>
          <a:xfrm>
            <a:off x="7355425" y="6338250"/>
            <a:ext cx="1706700" cy="29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6" name="Google Shape;476;g2d2c3ec267e_0_564"/>
          <p:cNvSpPr txBox="1"/>
          <p:nvPr/>
        </p:nvSpPr>
        <p:spPr>
          <a:xfrm>
            <a:off x="7532150" y="2543700"/>
            <a:ext cx="1550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932328"/>
                </a:solidFill>
              </a:rPr>
              <a:t>Budget RH</a:t>
            </a:r>
            <a:endParaRPr/>
          </a:p>
        </p:txBody>
      </p:sp>
      <p:sp>
        <p:nvSpPr>
          <p:cNvPr id="477" name="Google Shape;477;g2d2c3ec267e_0_564"/>
          <p:cNvSpPr txBox="1"/>
          <p:nvPr/>
        </p:nvSpPr>
        <p:spPr>
          <a:xfrm>
            <a:off x="7366000" y="5968075"/>
            <a:ext cx="22155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932328"/>
                </a:solidFill>
              </a:rPr>
              <a:t>Erogación RH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2d2d1fb49d5_0_0"/>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Caso Ejemplo</a:t>
            </a:r>
            <a:endParaRPr b="1" sz="2600">
              <a:solidFill>
                <a:srgbClr val="932328"/>
              </a:solidFill>
            </a:endParaRPr>
          </a:p>
        </p:txBody>
      </p:sp>
      <p:sp>
        <p:nvSpPr>
          <p:cNvPr id="484" name="Google Shape;484;g2d2d1fb49d5_0_0"/>
          <p:cNvSpPr txBox="1"/>
          <p:nvPr/>
        </p:nvSpPr>
        <p:spPr>
          <a:xfrm>
            <a:off x="782450" y="1779700"/>
            <a:ext cx="28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485" name="Google Shape;485;g2d2d1fb49d5_0_0">
            <a:hlinkClick r:id="rId3"/>
          </p:cNvPr>
          <p:cNvPicPr preferRelativeResize="0"/>
          <p:nvPr/>
        </p:nvPicPr>
        <p:blipFill>
          <a:blip r:embed="rId4">
            <a:alphaModFix/>
          </a:blip>
          <a:stretch>
            <a:fillRect/>
          </a:stretch>
        </p:blipFill>
        <p:spPr>
          <a:xfrm>
            <a:off x="5184775" y="2447750"/>
            <a:ext cx="2507300" cy="2332023"/>
          </a:xfrm>
          <a:prstGeom prst="rect">
            <a:avLst/>
          </a:prstGeom>
          <a:noFill/>
          <a:ln>
            <a:noFill/>
          </a:ln>
        </p:spPr>
      </p:pic>
      <p:pic>
        <p:nvPicPr>
          <p:cNvPr id="486" name="Google Shape;486;g2d2d1fb49d5_0_0"/>
          <p:cNvPicPr preferRelativeResize="0"/>
          <p:nvPr/>
        </p:nvPicPr>
        <p:blipFill rotWithShape="1">
          <a:blip r:embed="rId5">
            <a:alphaModFix/>
          </a:blip>
          <a:srcRect b="9159" l="7192" r="0" t="6345"/>
          <a:stretch/>
        </p:blipFill>
        <p:spPr>
          <a:xfrm>
            <a:off x="951225" y="2395300"/>
            <a:ext cx="2393400" cy="2436900"/>
          </a:xfrm>
          <a:prstGeom prst="rect">
            <a:avLst/>
          </a:prstGeom>
          <a:noFill/>
          <a:ln>
            <a:noFill/>
          </a:ln>
        </p:spPr>
      </p:pic>
      <p:sp>
        <p:nvSpPr>
          <p:cNvPr id="487" name="Google Shape;487;g2d2d1fb49d5_0_0"/>
          <p:cNvSpPr/>
          <p:nvPr/>
        </p:nvSpPr>
        <p:spPr>
          <a:xfrm>
            <a:off x="3344625" y="3175850"/>
            <a:ext cx="1473000" cy="736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13f4e71bb30_0_248"/>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Ejercicio</a:t>
            </a:r>
            <a:endParaRPr b="1" sz="2600">
              <a:solidFill>
                <a:srgbClr val="932328"/>
              </a:solidFill>
            </a:endParaRPr>
          </a:p>
        </p:txBody>
      </p:sp>
      <p:sp>
        <p:nvSpPr>
          <p:cNvPr id="494" name="Google Shape;494;g13f4e71bb30_0_248"/>
          <p:cNvSpPr txBox="1"/>
          <p:nvPr/>
        </p:nvSpPr>
        <p:spPr>
          <a:xfrm>
            <a:off x="502925" y="1489125"/>
            <a:ext cx="8971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latin typeface="Calibri"/>
                <a:ea typeface="Calibri"/>
                <a:cs typeface="Calibri"/>
                <a:sym typeface="Calibri"/>
              </a:rPr>
              <a:t>CALCULAR el COSTO LABORAL TOTAL</a:t>
            </a:r>
            <a:endParaRPr b="1" sz="1800">
              <a:latin typeface="Calibri"/>
              <a:ea typeface="Calibri"/>
              <a:cs typeface="Calibri"/>
              <a:sym typeface="Calibri"/>
            </a:endParaRPr>
          </a:p>
          <a:p>
            <a:pPr indent="0" lvl="0" marL="0" rtl="0" algn="l">
              <a:spcBef>
                <a:spcPts val="0"/>
              </a:spcBef>
              <a:spcAft>
                <a:spcPts val="0"/>
              </a:spcAft>
              <a:buNone/>
            </a:pPr>
            <a:r>
              <a:rPr lang="en-US" sz="1800">
                <a:latin typeface="Calibri"/>
                <a:ea typeface="Calibri"/>
                <a:cs typeface="Calibri"/>
                <a:sym typeface="Calibri"/>
              </a:rPr>
              <a:t> Ailen Perez, se incorpora al  equipo de Desarrollo Comercial de UTN, con un salario de ARS $100.000, al momento del ingreso le </a:t>
            </a:r>
            <a:r>
              <a:rPr lang="en-US" sz="1800">
                <a:latin typeface="Calibri"/>
                <a:ea typeface="Calibri"/>
                <a:cs typeface="Calibri"/>
                <a:sym typeface="Calibri"/>
              </a:rPr>
              <a:t>asignan  como prepaga Salutis y tiene un costo total de $8.000 Ars para ella y su grupo familiar. </a:t>
            </a:r>
            <a:r>
              <a:rPr b="1" lang="en-US" sz="1800">
                <a:latin typeface="Calibri"/>
                <a:ea typeface="Calibri"/>
                <a:cs typeface="Calibri"/>
                <a:sym typeface="Calibri"/>
              </a:rPr>
              <a:t>Calcule el costo laboral total de Ailen?</a:t>
            </a:r>
            <a:endParaRPr b="1" sz="1800">
              <a:latin typeface="Calibri"/>
              <a:ea typeface="Calibri"/>
              <a:cs typeface="Calibri"/>
              <a:sym typeface="Calibri"/>
            </a:endParaRPr>
          </a:p>
          <a:p>
            <a:pPr indent="0" lvl="0" marL="0" rtl="0" algn="l">
              <a:spcBef>
                <a:spcPts val="0"/>
              </a:spcBef>
              <a:spcAft>
                <a:spcPts val="0"/>
              </a:spcAft>
              <a:buNone/>
            </a:pPr>
            <a:r>
              <a:rPr lang="en-US" sz="1800">
                <a:latin typeface="Calibri"/>
                <a:ea typeface="Calibri"/>
                <a:cs typeface="Calibri"/>
                <a:sym typeface="Calibri"/>
              </a:rPr>
              <a:t>Ella dispone del siguiente de plan de Beneficios:</a:t>
            </a:r>
            <a:endParaRPr sz="1800">
              <a:latin typeface="Calibri"/>
              <a:ea typeface="Calibri"/>
              <a:cs typeface="Calibri"/>
              <a:sym typeface="Calibri"/>
            </a:endParaRPr>
          </a:p>
          <a:p>
            <a:pPr indent="0" lvl="0" marL="0" rtl="0" algn="l">
              <a:spcBef>
                <a:spcPts val="0"/>
              </a:spcBef>
              <a:spcAft>
                <a:spcPts val="0"/>
              </a:spcAft>
              <a:buNone/>
            </a:pPr>
            <a:r>
              <a:rPr lang="en-US" sz="1800">
                <a:latin typeface="Calibri"/>
                <a:ea typeface="Calibri"/>
                <a:cs typeface="Calibri"/>
                <a:sym typeface="Calibri"/>
              </a:rPr>
              <a:t> </a:t>
            </a:r>
            <a:endParaRPr sz="1800">
              <a:latin typeface="Calibri"/>
              <a:ea typeface="Calibri"/>
              <a:cs typeface="Calibri"/>
              <a:sym typeface="Calibri"/>
            </a:endParaRPr>
          </a:p>
        </p:txBody>
      </p:sp>
      <p:sp>
        <p:nvSpPr>
          <p:cNvPr id="495" name="Google Shape;495;g13f4e71bb30_0_248"/>
          <p:cNvSpPr txBox="1"/>
          <p:nvPr/>
        </p:nvSpPr>
        <p:spPr>
          <a:xfrm>
            <a:off x="662675" y="3278700"/>
            <a:ext cx="6512400" cy="3401100"/>
          </a:xfrm>
          <a:prstGeom prst="rect">
            <a:avLst/>
          </a:prstGeom>
          <a:solidFill>
            <a:srgbClr val="D5DC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50">
                <a:solidFill>
                  <a:schemeClr val="dk1"/>
                </a:solidFill>
                <a:highlight>
                  <a:srgbClr val="FFFFFF"/>
                </a:highlight>
                <a:latin typeface="Roboto"/>
                <a:ea typeface="Roboto"/>
                <a:cs typeface="Roboto"/>
                <a:sym typeface="Roboto"/>
              </a:rPr>
              <a:t>Que te ofrecemos?</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110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Una organización dinámica, donde trabajamos de forma colaborativa y una gran proyección de carrera. Crecer con un equipo que se propone estar en beta continua.</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Un espacio donde todas las voces son escuchadas, como principal motor de cambio y mejora dentro de la tribu.</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Servicio de medicina prepaga de primer nivel.</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Flexibilidad horaria.</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Bono de Desempeno con un target de un sueldo al ano.</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Clases de inglés.( Costo por Grupo de 3 empleados $1600 la semana)</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Semana extra de vacaciones.</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Capacitación( Budget ARS 2000 mensual)</a:t>
            </a:r>
            <a:endParaRPr sz="1350">
              <a:solidFill>
                <a:schemeClr val="dk1"/>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chemeClr val="dk1"/>
              </a:buClr>
              <a:buSzPts val="1350"/>
              <a:buFont typeface="Roboto"/>
              <a:buChar char="●"/>
            </a:pPr>
            <a:r>
              <a:rPr lang="en-US" sz="1350">
                <a:solidFill>
                  <a:schemeClr val="dk1"/>
                </a:solidFill>
                <a:highlight>
                  <a:srgbClr val="FFFFFF"/>
                </a:highlight>
                <a:latin typeface="Roboto"/>
                <a:ea typeface="Roboto"/>
                <a:cs typeface="Roboto"/>
                <a:sym typeface="Roboto"/>
              </a:rPr>
              <a:t>Reintegros por conectividad.(4500$)</a:t>
            </a:r>
            <a:endParaRPr sz="1350">
              <a:solidFill>
                <a:schemeClr val="dk1"/>
              </a:solidFill>
              <a:highlight>
                <a:srgbClr val="FFFFFF"/>
              </a:highlight>
              <a:latin typeface="Roboto"/>
              <a:ea typeface="Roboto"/>
              <a:cs typeface="Roboto"/>
              <a:sym typeface="Roboto"/>
            </a:endParaRPr>
          </a:p>
        </p:txBody>
      </p:sp>
      <p:sp>
        <p:nvSpPr>
          <p:cNvPr id="496" name="Google Shape;496;g13f4e71bb30_0_248"/>
          <p:cNvSpPr txBox="1"/>
          <p:nvPr/>
        </p:nvSpPr>
        <p:spPr>
          <a:xfrm>
            <a:off x="7690475" y="3765950"/>
            <a:ext cx="14535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900">
                <a:latin typeface="Calibri"/>
                <a:ea typeface="Calibri"/>
                <a:cs typeface="Calibri"/>
                <a:sym typeface="Calibri"/>
              </a:rPr>
              <a:t>Cual es el costo </a:t>
            </a:r>
            <a:r>
              <a:rPr b="1" lang="en-US" sz="1900">
                <a:latin typeface="Calibri"/>
                <a:ea typeface="Calibri"/>
                <a:cs typeface="Calibri"/>
                <a:sym typeface="Calibri"/>
              </a:rPr>
              <a:t>compañia</a:t>
            </a:r>
            <a:r>
              <a:rPr b="1" lang="en-US" sz="1900">
                <a:latin typeface="Calibri"/>
                <a:ea typeface="Calibri"/>
                <a:cs typeface="Calibri"/>
                <a:sym typeface="Calibri"/>
              </a:rPr>
              <a:t> de Ailen?</a:t>
            </a:r>
            <a:endParaRPr b="1" sz="19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140df5a88bd_0_11"/>
          <p:cNvSpPr txBox="1"/>
          <p:nvPr/>
        </p:nvSpPr>
        <p:spPr>
          <a:xfrm>
            <a:off x="113213" y="-23"/>
            <a:ext cx="71607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Costos en RH </a:t>
            </a:r>
            <a:endParaRPr b="1" sz="2600">
              <a:solidFill>
                <a:srgbClr val="932328"/>
              </a:solidFill>
            </a:endParaRPr>
          </a:p>
          <a:p>
            <a:pPr indent="-714375" lvl="0" marL="714375" marR="0" rtl="0" algn="l">
              <a:lnSpc>
                <a:spcPct val="90000"/>
              </a:lnSpc>
              <a:spcBef>
                <a:spcPts val="0"/>
              </a:spcBef>
              <a:spcAft>
                <a:spcPts val="0"/>
              </a:spcAft>
              <a:buClr>
                <a:srgbClr val="000000"/>
              </a:buClr>
              <a:buFont typeface="Arial"/>
              <a:buNone/>
            </a:pPr>
            <a:r>
              <a:rPr b="1" lang="en-US" sz="2600">
                <a:solidFill>
                  <a:srgbClr val="932328"/>
                </a:solidFill>
              </a:rPr>
              <a:t>Impactos</a:t>
            </a:r>
            <a:endParaRPr b="1" sz="2600">
              <a:solidFill>
                <a:srgbClr val="932328"/>
              </a:solidFill>
            </a:endParaRPr>
          </a:p>
        </p:txBody>
      </p:sp>
      <p:pic>
        <p:nvPicPr>
          <p:cNvPr id="503" name="Google Shape;503;g140df5a88bd_0_11"/>
          <p:cNvPicPr preferRelativeResize="0"/>
          <p:nvPr/>
        </p:nvPicPr>
        <p:blipFill>
          <a:blip r:embed="rId3">
            <a:alphaModFix/>
          </a:blip>
          <a:stretch>
            <a:fillRect/>
          </a:stretch>
        </p:blipFill>
        <p:spPr>
          <a:xfrm>
            <a:off x="0" y="191177"/>
            <a:ext cx="9601198" cy="3820595"/>
          </a:xfrm>
          <a:prstGeom prst="rect">
            <a:avLst/>
          </a:prstGeom>
          <a:noFill/>
          <a:ln>
            <a:noFill/>
          </a:ln>
        </p:spPr>
      </p:pic>
      <p:pic>
        <p:nvPicPr>
          <p:cNvPr id="504" name="Google Shape;504;g140df5a88bd_0_11"/>
          <p:cNvPicPr preferRelativeResize="0"/>
          <p:nvPr/>
        </p:nvPicPr>
        <p:blipFill>
          <a:blip r:embed="rId4">
            <a:alphaModFix/>
          </a:blip>
          <a:stretch>
            <a:fillRect/>
          </a:stretch>
        </p:blipFill>
        <p:spPr>
          <a:xfrm>
            <a:off x="0" y="2369147"/>
            <a:ext cx="9601200" cy="1289207"/>
          </a:xfrm>
          <a:prstGeom prst="rect">
            <a:avLst/>
          </a:prstGeom>
          <a:noFill/>
          <a:ln>
            <a:noFill/>
          </a:ln>
        </p:spPr>
      </p:pic>
      <p:sp>
        <p:nvSpPr>
          <p:cNvPr id="505" name="Google Shape;505;g140df5a88bd_0_11"/>
          <p:cNvSpPr txBox="1"/>
          <p:nvPr/>
        </p:nvSpPr>
        <p:spPr>
          <a:xfrm>
            <a:off x="0" y="3835575"/>
            <a:ext cx="3000000" cy="18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600">
                <a:solidFill>
                  <a:schemeClr val="dk1"/>
                </a:solidFill>
                <a:latin typeface="Calibri"/>
                <a:ea typeface="Calibri"/>
                <a:cs typeface="Calibri"/>
                <a:sym typeface="Calibri"/>
              </a:rPr>
              <a:t>La clase de hoy impacta indirectamente en los temas de Personas, pero si no se estiman los costos a incurrir no se dispondra de presupuesto para operar sobre estos</a:t>
            </a:r>
            <a:endParaRPr sz="1600">
              <a:solidFill>
                <a:schemeClr val="dk1"/>
              </a:solidFill>
              <a:latin typeface="Calibri"/>
              <a:ea typeface="Calibri"/>
              <a:cs typeface="Calibri"/>
              <a:sym typeface="Calibri"/>
            </a:endParaRPr>
          </a:p>
        </p:txBody>
      </p:sp>
      <p:sp>
        <p:nvSpPr>
          <p:cNvPr id="506" name="Google Shape;506;g140df5a88bd_0_11"/>
          <p:cNvSpPr txBox="1"/>
          <p:nvPr/>
        </p:nvSpPr>
        <p:spPr>
          <a:xfrm>
            <a:off x="2822975" y="2454775"/>
            <a:ext cx="49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7" name="Google Shape;507;g140df5a88bd_0_11"/>
          <p:cNvSpPr txBox="1"/>
          <p:nvPr/>
        </p:nvSpPr>
        <p:spPr>
          <a:xfrm>
            <a:off x="3486512" y="3921125"/>
            <a:ext cx="2769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t>
            </a:r>
            <a:r>
              <a:rPr b="0" i="0" lang="en-US" sz="1600" u="none" cap="none" strike="noStrike">
                <a:solidFill>
                  <a:srgbClr val="000000"/>
                </a:solidFill>
                <a:latin typeface="Calibri"/>
                <a:ea typeface="Calibri"/>
                <a:cs typeface="Calibri"/>
                <a:sym typeface="Calibri"/>
              </a:rPr>
              <a:t>De los temas de hoy impactan en los siguientes procesos:</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Reclutamiento y Selección</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Gestión del talento</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 Gestión del desempeño</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Compensaciones y Beneficios</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Capacitación</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Administración de Personal</a:t>
            </a:r>
            <a:endParaRPr b="0" i="0" sz="1600" u="none" cap="none" strike="noStrike">
              <a:solidFill>
                <a:srgbClr val="000000"/>
              </a:solidFill>
              <a:latin typeface="Calibri"/>
              <a:ea typeface="Calibri"/>
              <a:cs typeface="Calibri"/>
              <a:sym typeface="Calibri"/>
            </a:endParaRPr>
          </a:p>
        </p:txBody>
      </p:sp>
      <p:sp>
        <p:nvSpPr>
          <p:cNvPr id="508" name="Google Shape;508;g140df5a88bd_0_11"/>
          <p:cNvSpPr txBox="1"/>
          <p:nvPr/>
        </p:nvSpPr>
        <p:spPr>
          <a:xfrm>
            <a:off x="6742292" y="3921125"/>
            <a:ext cx="2769300" cy="220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Pymes  vs. Corporativo</a:t>
            </a:r>
            <a:endParaRPr b="1" i="0" sz="14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lang="en-US"/>
              <a:t>con mayor o menor grado de profesionalizacio o herramientas estos ejercicios deben realizarse en todas las organizaciones. No se puede operar sin entender el impacto en costos de la accion de HR propuesta.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2010-12-02T12:17:16Z</dcterms:created>
  <dc:creator>PC</dc:creator>
</cp:coreProperties>
</file>