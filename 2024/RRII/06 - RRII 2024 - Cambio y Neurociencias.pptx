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906000"/>
  <p:notesSz cx="6834175" cy="9979025"/>
  <p:embeddedFontLst>
    <p:embeddedFont>
      <p:font typeface="Roboto"/>
      <p:regular r:id="rId34"/>
      <p:bold r:id="rId35"/>
      <p:italic r:id="rId36"/>
      <p:boldItalic r:id="rId37"/>
    </p:embeddedFont>
    <p:embeddedFont>
      <p:font typeface="Arial Narrow"/>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53">
          <p15:clr>
            <a:srgbClr val="A4A3A4"/>
          </p15:clr>
        </p15:guide>
      </p15:sldGuideLst>
    </p:ext>
    <p:ext uri="GoogleSlidesCustomDataVersion2">
      <go:slidesCustomData xmlns:go="http://customooxmlschemas.google.com/" r:id="rId46" roundtripDataSignature="AMtx7mgRRI8fapO3MbK6rNwDd939Purv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5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Narrow-italic.fntdata"/><Relationship Id="rId20" Type="http://schemas.openxmlformats.org/officeDocument/2006/relationships/slide" Target="slides/slide15.xml"/><Relationship Id="rId42" Type="http://schemas.openxmlformats.org/officeDocument/2006/relationships/font" Target="fonts/OpenSans-regular.fntdata"/><Relationship Id="rId41" Type="http://schemas.openxmlformats.org/officeDocument/2006/relationships/font" Target="fonts/ArialNarrow-boldItalic.fntdata"/><Relationship Id="rId22" Type="http://schemas.openxmlformats.org/officeDocument/2006/relationships/slide" Target="slides/slide17.xml"/><Relationship Id="rId44" Type="http://schemas.openxmlformats.org/officeDocument/2006/relationships/font" Target="fonts/OpenSans-italic.fntdata"/><Relationship Id="rId21" Type="http://schemas.openxmlformats.org/officeDocument/2006/relationships/slide" Target="slides/slide16.xml"/><Relationship Id="rId43" Type="http://schemas.openxmlformats.org/officeDocument/2006/relationships/font" Target="fonts/OpenSans-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ArialNarrow-bold.fntdata"/><Relationship Id="rId16" Type="http://schemas.openxmlformats.org/officeDocument/2006/relationships/slide" Target="slides/slide11.xml"/><Relationship Id="rId38" Type="http://schemas.openxmlformats.org/officeDocument/2006/relationships/font" Target="fonts/ArialNarrow-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834187" cy="498951"/>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3" type="sldImg"/>
          </p:nvPr>
        </p:nvSpPr>
        <p:spPr>
          <a:xfrm>
            <a:off x="534987" y="623887"/>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1pPr>
            <a:lvl2pPr indent="-304800" lvl="1" marL="9144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1" type="ftr"/>
          </p:nvPr>
        </p:nvSpPr>
        <p:spPr>
          <a:xfrm>
            <a:off x="0" y="9478342"/>
            <a:ext cx="2961480" cy="498951"/>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epXqgrm2hs4"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qlSHg8OoKL4"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arol_Dweck"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cNj02huj1K0" TargetMode="External"/><Relationship Id="rId3" Type="http://schemas.openxmlformats.org/officeDocument/2006/relationships/hyperlink" Target="https://es.wikipedia.org/wiki/Carol_Dweck"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9" name="Google Shape;39;p1: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125cd87e9e5_0_125: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46" name="Google Shape;46;g125cd87e9e5_0_125: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9: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200"/>
              <a:buNone/>
            </a:pPr>
            <a:br>
              <a:rPr lang="es-AR"/>
            </a:br>
            <a:r>
              <a:rPr lang="es-AR">
                <a:highlight>
                  <a:schemeClr val="lt1"/>
                </a:highlight>
              </a:rPr>
              <a:t>El </a:t>
            </a:r>
            <a:r>
              <a:rPr b="1" lang="es-AR">
                <a:highlight>
                  <a:schemeClr val="lt1"/>
                </a:highlight>
              </a:rPr>
              <a:t>mundo</a:t>
            </a:r>
            <a:r>
              <a:rPr lang="es-AR">
                <a:highlight>
                  <a:schemeClr val="lt1"/>
                </a:highlight>
              </a:rPr>
              <a:t> exterior cambia, con frecuencia de manera acelerada; los vectores que parecen fijos o constantes un día son distintos al siguiente: la multiplicidad de factores y variables que interactúan en el </a:t>
            </a:r>
            <a:r>
              <a:rPr b="1" lang="es-AR">
                <a:highlight>
                  <a:schemeClr val="lt1"/>
                </a:highlight>
              </a:rPr>
              <a:t>mundo</a:t>
            </a:r>
            <a:r>
              <a:rPr lang="es-AR">
                <a:highlight>
                  <a:schemeClr val="lt1"/>
                </a:highlight>
              </a:rPr>
              <a:t> alteran el entorno de manera inesperada.</a:t>
            </a:r>
            <a:endParaRPr>
              <a:highlight>
                <a:schemeClr val="lt1"/>
              </a:highlight>
            </a:endParaRPr>
          </a:p>
          <a:p>
            <a:pPr indent="0" lvl="0" marL="0" marR="0" rtl="0" algn="l">
              <a:lnSpc>
                <a:spcPct val="100000"/>
              </a:lnSpc>
              <a:spcBef>
                <a:spcPts val="0"/>
              </a:spcBef>
              <a:spcAft>
                <a:spcPts val="0"/>
              </a:spcAft>
              <a:buSzPts val="1200"/>
              <a:buNone/>
            </a:pPr>
            <a:r>
              <a:rPr lang="es-AR">
                <a:highlight>
                  <a:schemeClr val="lt1"/>
                </a:highlight>
              </a:rPr>
              <a:t>Ejemplo de agente de cambio extremo:</a:t>
            </a:r>
            <a:r>
              <a:rPr b="0" i="0" lang="es-AR" sz="1200" u="none" cap="none" strike="noStrike">
                <a:solidFill>
                  <a:schemeClr val="dk1"/>
                </a:solidFill>
                <a:latin typeface="Arial"/>
                <a:ea typeface="Arial"/>
                <a:cs typeface="Arial"/>
                <a:sym typeface="Arial"/>
              </a:rPr>
              <a:t> la Pandemia</a:t>
            </a:r>
            <a:r>
              <a:rPr lang="es-AR"/>
              <a:t>.</a:t>
            </a:r>
            <a:br>
              <a:rPr lang="es-AR"/>
            </a:br>
            <a:endParaRPr/>
          </a:p>
        </p:txBody>
      </p:sp>
      <p:sp>
        <p:nvSpPr>
          <p:cNvPr id="53" name="Google Shape;53;p9: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25afe6fff8_0_27: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chemeClr val="dk1"/>
              </a:buClr>
              <a:buSzPts val="1200"/>
              <a:buFont typeface="Arial"/>
              <a:buNone/>
            </a:pPr>
            <a:r>
              <a:rPr lang="es-AR"/>
              <a:t>Consultar cuadernillo</a:t>
            </a:r>
            <a:endParaRPr/>
          </a:p>
        </p:txBody>
      </p:sp>
      <p:sp>
        <p:nvSpPr>
          <p:cNvPr id="60" name="Google Shape;60;g125afe6fff8_0_27: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25afe6fff8_0_54: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s-AR" sz="1100">
                <a:highlight>
                  <a:srgbClr val="FFFFFF"/>
                </a:highlight>
              </a:rPr>
              <a:t>BANI:</a:t>
            </a:r>
            <a:endParaRPr b="1" sz="1100">
              <a:highlight>
                <a:srgbClr val="FFFFFF"/>
              </a:highlight>
            </a:endParaRPr>
          </a:p>
          <a:p>
            <a:pPr indent="-304800" lvl="1" marL="914400" rtl="0" algn="l">
              <a:lnSpc>
                <a:spcPct val="100000"/>
              </a:lnSpc>
              <a:spcBef>
                <a:spcPts val="1200"/>
              </a:spcBef>
              <a:spcAft>
                <a:spcPts val="0"/>
              </a:spcAft>
              <a:buClr>
                <a:srgbClr val="212529"/>
              </a:buClr>
              <a:buSzPts val="1200"/>
              <a:buFont typeface="Roboto"/>
              <a:buChar char="○"/>
            </a:pPr>
            <a:r>
              <a:rPr b="1" lang="es-AR" sz="1100">
                <a:highlight>
                  <a:srgbClr val="FFFFFF"/>
                </a:highlight>
              </a:rPr>
              <a:t>Brittle</a:t>
            </a:r>
            <a:br>
              <a:rPr lang="es-AR" sz="1100">
                <a:highlight>
                  <a:srgbClr val="FFFFFF"/>
                </a:highlight>
              </a:rPr>
            </a:br>
            <a:r>
              <a:rPr lang="es-AR" sz="1100">
                <a:highlight>
                  <a:srgbClr val="FFFFFF"/>
                </a:highlight>
              </a:rPr>
              <a:t>Quebradizo, frágil. Hace referencia a que las cosas frágiles y quebradizas suelen verse fuertes, pero no son elásticas y resilientes.</a:t>
            </a:r>
            <a:endParaRPr sz="1100">
              <a:highlight>
                <a:srgbClr val="FFFFFF"/>
              </a:highlight>
            </a:endParaRPr>
          </a:p>
          <a:p>
            <a:pPr indent="-304800" lvl="1" marL="914400" rtl="0" algn="l">
              <a:lnSpc>
                <a:spcPct val="100000"/>
              </a:lnSpc>
              <a:spcBef>
                <a:spcPts val="0"/>
              </a:spcBef>
              <a:spcAft>
                <a:spcPts val="0"/>
              </a:spcAft>
              <a:buClr>
                <a:srgbClr val="212529"/>
              </a:buClr>
              <a:buSzPts val="1200"/>
              <a:buFont typeface="Roboto"/>
              <a:buChar char="○"/>
            </a:pPr>
            <a:r>
              <a:rPr b="1" lang="es-AR" sz="1100">
                <a:highlight>
                  <a:srgbClr val="FFFFFF"/>
                </a:highlight>
              </a:rPr>
              <a:t>Anxious</a:t>
            </a:r>
            <a:br>
              <a:rPr lang="es-AR" sz="1100">
                <a:highlight>
                  <a:srgbClr val="FFFFFF"/>
                </a:highlight>
              </a:rPr>
            </a:br>
            <a:r>
              <a:rPr lang="es-AR" sz="1100">
                <a:highlight>
                  <a:srgbClr val="FFFFFF"/>
                </a:highlight>
              </a:rPr>
              <a:t>Ansioso. El miedo trae consigo una sensación de impotencia que a su vez puede impulsar la pasividad.</a:t>
            </a:r>
            <a:endParaRPr sz="1100">
              <a:highlight>
                <a:srgbClr val="FFFFFF"/>
              </a:highlight>
            </a:endParaRPr>
          </a:p>
          <a:p>
            <a:pPr indent="-304800" lvl="1" marL="914400" rtl="0" algn="l">
              <a:lnSpc>
                <a:spcPct val="100000"/>
              </a:lnSpc>
              <a:spcBef>
                <a:spcPts val="0"/>
              </a:spcBef>
              <a:spcAft>
                <a:spcPts val="0"/>
              </a:spcAft>
              <a:buClr>
                <a:srgbClr val="212529"/>
              </a:buClr>
              <a:buSzPts val="1200"/>
              <a:buFont typeface="Roboto"/>
              <a:buChar char="○"/>
            </a:pPr>
            <a:r>
              <a:rPr b="1" lang="es-AR" sz="1100">
                <a:highlight>
                  <a:srgbClr val="FFFFFF"/>
                </a:highlight>
              </a:rPr>
              <a:t>Non-linear</a:t>
            </a:r>
            <a:br>
              <a:rPr lang="es-AR" sz="1100">
                <a:highlight>
                  <a:srgbClr val="FFFFFF"/>
                </a:highlight>
              </a:rPr>
            </a:br>
            <a:r>
              <a:rPr lang="es-AR" sz="1100">
                <a:highlight>
                  <a:srgbClr val="FFFFFF"/>
                </a:highlight>
              </a:rPr>
              <a:t>No lineal. En un mundo no lineal, la causa y el efecto son aparentemente incoherentes y no proporcionados, y sus resultados pueden terminar completamente desequilibrados.</a:t>
            </a:r>
            <a:endParaRPr sz="1100">
              <a:highlight>
                <a:srgbClr val="FFFFFF"/>
              </a:highlight>
            </a:endParaRPr>
          </a:p>
          <a:p>
            <a:pPr indent="-304800" lvl="1" marL="914400" rtl="0" algn="l">
              <a:lnSpc>
                <a:spcPct val="100000"/>
              </a:lnSpc>
              <a:spcBef>
                <a:spcPts val="0"/>
              </a:spcBef>
              <a:spcAft>
                <a:spcPts val="0"/>
              </a:spcAft>
              <a:buClr>
                <a:srgbClr val="212529"/>
              </a:buClr>
              <a:buSzPts val="1200"/>
              <a:buFont typeface="Roboto"/>
              <a:buChar char="○"/>
            </a:pPr>
            <a:r>
              <a:rPr b="1" lang="es-AR" sz="1100">
                <a:highlight>
                  <a:srgbClr val="FFFFFF"/>
                </a:highlight>
              </a:rPr>
              <a:t>Incomprensible</a:t>
            </a:r>
            <a:br>
              <a:rPr lang="es-AR" sz="1100">
                <a:highlight>
                  <a:srgbClr val="FFFFFF"/>
                </a:highlight>
              </a:rPr>
            </a:br>
            <a:r>
              <a:rPr lang="es-AR" sz="1100">
                <a:highlight>
                  <a:srgbClr val="FFFFFF"/>
                </a:highlight>
              </a:rPr>
              <a:t>Incomprensible. Estamos presenciando acontecimientos que parecen ilógicos o inútiles, ya sea por extensos, indescriptibles o simplemente absurdos</a:t>
            </a:r>
            <a:endParaRPr/>
          </a:p>
          <a:p>
            <a:pPr indent="-228600" lvl="0" marL="457200" marR="0" rtl="0" algn="l">
              <a:lnSpc>
                <a:spcPct val="100000"/>
              </a:lnSpc>
              <a:spcBef>
                <a:spcPts val="1200"/>
              </a:spcBef>
              <a:spcAft>
                <a:spcPts val="0"/>
              </a:spcAft>
              <a:buClr>
                <a:schemeClr val="dk1"/>
              </a:buClr>
              <a:buSzPts val="1200"/>
              <a:buFont typeface="Arial"/>
              <a:buNone/>
            </a:pPr>
            <a:r>
              <a:t/>
            </a:r>
            <a:endParaRPr/>
          </a:p>
        </p:txBody>
      </p:sp>
      <p:sp>
        <p:nvSpPr>
          <p:cNvPr id="70" name="Google Shape;70;g125afe6fff8_0_5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25afe6fff8_0_3: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rPr b="1" lang="es-AR" u="sng"/>
              <a:t>Recomendación</a:t>
            </a:r>
            <a:r>
              <a:rPr lang="es-AR"/>
              <a:t>: Que el video y el artículo lo vean antes de la clase.</a:t>
            </a:r>
            <a:endParaRPr/>
          </a:p>
          <a:p>
            <a:pPr indent="-228600" lvl="0" marL="457200" rtl="0" algn="l">
              <a:lnSpc>
                <a:spcPct val="100000"/>
              </a:lnSpc>
              <a:spcBef>
                <a:spcPts val="0"/>
              </a:spcBef>
              <a:spcAft>
                <a:spcPts val="0"/>
              </a:spcAft>
              <a:buClr>
                <a:schemeClr val="dk1"/>
              </a:buClr>
              <a:buSzPts val="1200"/>
              <a:buFont typeface="Arial"/>
              <a:buNone/>
            </a:pPr>
            <a:r>
              <a:rPr lang="es-AR"/>
              <a:t>Video: </a:t>
            </a:r>
            <a:r>
              <a:rPr lang="es-AR" u="sng">
                <a:solidFill>
                  <a:schemeClr val="hlink"/>
                </a:solidFill>
                <a:hlinkClick r:id="rId2"/>
              </a:rPr>
              <a:t>https://www.youtube.com/watch?v=epXqgrm2hs4</a:t>
            </a:r>
            <a:endParaRPr/>
          </a:p>
          <a:p>
            <a:pPr indent="-228600" lvl="0" marL="457200" marR="0" rtl="0" algn="l">
              <a:lnSpc>
                <a:spcPct val="100000"/>
              </a:lnSpc>
              <a:spcBef>
                <a:spcPts val="0"/>
              </a:spcBef>
              <a:spcAft>
                <a:spcPts val="0"/>
              </a:spcAft>
              <a:buClr>
                <a:schemeClr val="dk1"/>
              </a:buClr>
              <a:buSzPts val="1200"/>
              <a:buFont typeface="Arial"/>
              <a:buNone/>
            </a:pPr>
            <a:r>
              <a:rPr lang="es-AR"/>
              <a:t> </a:t>
            </a:r>
            <a:br>
              <a:rPr lang="es-AR"/>
            </a:br>
            <a:r>
              <a:rPr lang="es-AR"/>
              <a:t>Entender en qué tipo de contexto estamos gestionando, los ayuda a comprender cómo abordarlo.</a:t>
            </a:r>
            <a:endParaRPr/>
          </a:p>
          <a:p>
            <a:pPr indent="-228600" lvl="0" marL="457200" marR="0" rtl="0" algn="l">
              <a:lnSpc>
                <a:spcPct val="100000"/>
              </a:lnSpc>
              <a:spcBef>
                <a:spcPts val="0"/>
              </a:spcBef>
              <a:spcAft>
                <a:spcPts val="0"/>
              </a:spcAft>
              <a:buClr>
                <a:schemeClr val="dk1"/>
              </a:buClr>
              <a:buSzPts val="1200"/>
              <a:buFont typeface="Arial"/>
              <a:buNone/>
            </a:pPr>
            <a:r>
              <a:rPr lang="es-AR"/>
              <a:t>La </a:t>
            </a:r>
            <a:r>
              <a:rPr b="1" lang="es-AR"/>
              <a:t>complejidad</a:t>
            </a:r>
            <a:r>
              <a:rPr lang="es-AR"/>
              <a:t> tiene la capacidad para ayudar a los líderes actuales y futuros a comprender la tecnología avanzada, la globalización, los mercados intrincados, el cambio cultural y mucho más. En resumen, la ciencia de la complejidad puede ayudarnos a abordar los desafíos y oportunidades en una nueva época en la historia de la humanidad. Los líderes eficaces aprenden a alternar sus estilos de toma de decisiones para adaptarse a los cambiantes entornos de negocios. Cada uno de los contextos simples, complicados, complejos y caóticos requiere distintas respuestas de gestión.</a:t>
            </a:r>
            <a:br>
              <a:rPr lang="es-AR"/>
            </a:br>
            <a:br>
              <a:rPr lang="es-AR"/>
            </a:br>
            <a:r>
              <a:rPr b="1" lang="es-AR"/>
              <a:t>Claro:</a:t>
            </a:r>
            <a:r>
              <a:rPr lang="es-AR"/>
              <a:t> causa efecto es claro. Hay una </a:t>
            </a:r>
            <a:r>
              <a:rPr lang="es-AR"/>
              <a:t>fórmula</a:t>
            </a:r>
            <a:r>
              <a:rPr lang="es-AR"/>
              <a:t> para seguir los procesos.</a:t>
            </a:r>
            <a:br>
              <a:rPr lang="es-AR"/>
            </a:br>
            <a:r>
              <a:rPr b="1" lang="es-AR"/>
              <a:t>Complicado</a:t>
            </a:r>
            <a:r>
              <a:rPr lang="es-AR"/>
              <a:t>: hay una relación entre causa y efecto pero se necesitan expertos para entenderlo y saber qué enfoque tomar para solucionar la situación.</a:t>
            </a:r>
            <a:br>
              <a:rPr lang="es-AR"/>
            </a:br>
            <a:r>
              <a:rPr lang="es-AR"/>
              <a:t>Complejo y Caótico son </a:t>
            </a:r>
            <a:r>
              <a:rPr lang="es-AR"/>
              <a:t>impredecibles y nunca pasaron antes. En</a:t>
            </a:r>
            <a:r>
              <a:rPr b="1" lang="es-AR"/>
              <a:t> Complejo</a:t>
            </a:r>
            <a:r>
              <a:rPr lang="es-AR"/>
              <a:t>, hay que experimentar. Porque pasaron una vez de una forma, no significa que vuelvan a suceder así la próxima.</a:t>
            </a:r>
            <a:br>
              <a:rPr lang="es-AR"/>
            </a:br>
            <a:r>
              <a:rPr lang="es-AR"/>
              <a:t>En el </a:t>
            </a:r>
            <a:r>
              <a:rPr b="1" lang="es-AR"/>
              <a:t>Caótico</a:t>
            </a:r>
            <a:r>
              <a:rPr lang="es-AR"/>
              <a:t>, hay que estabilizar el sistema.</a:t>
            </a:r>
            <a:endParaRPr/>
          </a:p>
        </p:txBody>
      </p:sp>
      <p:sp>
        <p:nvSpPr>
          <p:cNvPr id="77" name="Google Shape;77;g125afe6fff8_0_3: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ca49d5bfcc_0_49: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rPr b="1" lang="es-AR" u="sng"/>
              <a:t>Respuestas:</a:t>
            </a:r>
            <a:endParaRPr b="1" u="sng"/>
          </a:p>
          <a:p>
            <a:pPr indent="-228600" lvl="0" marL="457200" marR="0" rtl="0" algn="l">
              <a:lnSpc>
                <a:spcPct val="100000"/>
              </a:lnSpc>
              <a:spcBef>
                <a:spcPts val="0"/>
              </a:spcBef>
              <a:spcAft>
                <a:spcPts val="0"/>
              </a:spcAft>
              <a:buClr>
                <a:schemeClr val="dk1"/>
              </a:buClr>
              <a:buSzPts val="1200"/>
              <a:buFont typeface="Arial"/>
              <a:buNone/>
            </a:pPr>
            <a:r>
              <a:rPr lang="es-AR"/>
              <a:t>Incendio: Caótico</a:t>
            </a:r>
            <a:endParaRPr/>
          </a:p>
          <a:p>
            <a:pPr indent="-228600" lvl="0" marL="457200" marR="0" rtl="0" algn="l">
              <a:lnSpc>
                <a:spcPct val="100000"/>
              </a:lnSpc>
              <a:spcBef>
                <a:spcPts val="0"/>
              </a:spcBef>
              <a:spcAft>
                <a:spcPts val="0"/>
              </a:spcAft>
              <a:buClr>
                <a:schemeClr val="dk1"/>
              </a:buClr>
              <a:buSzPts val="1200"/>
              <a:buFont typeface="Arial"/>
              <a:buNone/>
            </a:pPr>
            <a:r>
              <a:rPr lang="es-AR"/>
              <a:t>Feedback: Complejo</a:t>
            </a:r>
            <a:endParaRPr/>
          </a:p>
          <a:p>
            <a:pPr indent="-228600" lvl="0" marL="457200" marR="0" rtl="0" algn="l">
              <a:lnSpc>
                <a:spcPct val="100000"/>
              </a:lnSpc>
              <a:spcBef>
                <a:spcPts val="0"/>
              </a:spcBef>
              <a:spcAft>
                <a:spcPts val="0"/>
              </a:spcAft>
              <a:buClr>
                <a:schemeClr val="dk1"/>
              </a:buClr>
              <a:buSzPts val="1200"/>
              <a:buFont typeface="Arial"/>
              <a:buNone/>
            </a:pPr>
            <a:r>
              <a:rPr lang="es-AR"/>
              <a:t>Programación en Roblox: Complicado</a:t>
            </a:r>
            <a:endParaRPr/>
          </a:p>
          <a:p>
            <a:pPr indent="-228600" lvl="0" marL="457200" marR="0" rtl="0" algn="l">
              <a:lnSpc>
                <a:spcPct val="100000"/>
              </a:lnSpc>
              <a:spcBef>
                <a:spcPts val="0"/>
              </a:spcBef>
              <a:spcAft>
                <a:spcPts val="0"/>
              </a:spcAft>
              <a:buClr>
                <a:schemeClr val="dk1"/>
              </a:buClr>
              <a:buSzPts val="1200"/>
              <a:buFont typeface="Arial"/>
              <a:buNone/>
            </a:pPr>
            <a:r>
              <a:rPr lang="es-AR"/>
              <a:t>Mantenimiento de bomba: Complicado</a:t>
            </a:r>
            <a:endParaRPr/>
          </a:p>
          <a:p>
            <a:pPr indent="-228600" lvl="0" marL="457200" marR="0" rtl="0" algn="l">
              <a:lnSpc>
                <a:spcPct val="100000"/>
              </a:lnSpc>
              <a:spcBef>
                <a:spcPts val="0"/>
              </a:spcBef>
              <a:spcAft>
                <a:spcPts val="0"/>
              </a:spcAft>
              <a:buClr>
                <a:schemeClr val="dk1"/>
              </a:buClr>
              <a:buSzPts val="1200"/>
              <a:buFont typeface="Arial"/>
              <a:buNone/>
            </a:pPr>
            <a:r>
              <a:rPr lang="es-AR"/>
              <a:t>Modalidad híbrida: Complejo</a:t>
            </a:r>
            <a:endParaRPr/>
          </a:p>
          <a:p>
            <a:pPr indent="-228600" lvl="0" marL="457200" marR="0" rtl="0" algn="l">
              <a:lnSpc>
                <a:spcPct val="100000"/>
              </a:lnSpc>
              <a:spcBef>
                <a:spcPts val="0"/>
              </a:spcBef>
              <a:spcAft>
                <a:spcPts val="0"/>
              </a:spcAft>
              <a:buClr>
                <a:schemeClr val="dk1"/>
              </a:buClr>
              <a:buSzPts val="1200"/>
              <a:buFont typeface="Arial"/>
              <a:buNone/>
            </a:pPr>
            <a:r>
              <a:rPr lang="es-AR"/>
              <a:t>Conflicto Internet: Simple</a:t>
            </a:r>
            <a:endParaRPr/>
          </a:p>
          <a:p>
            <a:pPr indent="-228600" lvl="0" marL="457200" marR="0" rtl="0" algn="l">
              <a:lnSpc>
                <a:spcPct val="100000"/>
              </a:lnSpc>
              <a:spcBef>
                <a:spcPts val="0"/>
              </a:spcBef>
              <a:spcAft>
                <a:spcPts val="0"/>
              </a:spcAft>
              <a:buClr>
                <a:schemeClr val="dk1"/>
              </a:buClr>
              <a:buSzPts val="1200"/>
              <a:buFont typeface="Arial"/>
              <a:buNone/>
            </a:pPr>
            <a:r>
              <a:rPr lang="es-AR"/>
              <a:t>Abastecimiento de combustible: Simple</a:t>
            </a:r>
            <a:endParaRPr/>
          </a:p>
        </p:txBody>
      </p:sp>
      <p:sp>
        <p:nvSpPr>
          <p:cNvPr id="91" name="Google Shape;91;g2ca49d5bfcc_0_49: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3: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3: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SzPts val="1200"/>
              <a:buNone/>
            </a:pPr>
            <a:r>
              <a:rPr lang="es-AR"/>
              <a:t>Video de “La bicicleta al revés”: </a:t>
            </a:r>
            <a:r>
              <a:rPr lang="es-AR" u="sng">
                <a:solidFill>
                  <a:schemeClr val="hlink"/>
                </a:solidFill>
                <a:hlinkClick r:id="rId2"/>
              </a:rPr>
              <a:t>https://www.youtube.com/watch?v=qlSHg8OoKL4</a:t>
            </a:r>
            <a:endParaRPr/>
          </a:p>
          <a:p>
            <a:pPr indent="0" lvl="0" marL="0" marR="0" rtl="0" algn="l">
              <a:lnSpc>
                <a:spcPct val="100000"/>
              </a:lnSpc>
              <a:spcBef>
                <a:spcPts val="0"/>
              </a:spcBef>
              <a:spcAft>
                <a:spcPts val="0"/>
              </a:spcAft>
              <a:buSzPts val="1200"/>
              <a:buNone/>
            </a:pPr>
            <a:r>
              <a:rPr b="1" lang="es-AR" u="sng"/>
              <a:t>Recomendación</a:t>
            </a:r>
            <a:r>
              <a:rPr lang="es-AR"/>
              <a:t>: ver el video en la clase.</a:t>
            </a:r>
            <a:endParaRPr/>
          </a:p>
          <a:p>
            <a:pPr indent="0" lvl="0" marL="457200" marR="0" rtl="0" algn="l">
              <a:lnSpc>
                <a:spcPct val="100000"/>
              </a:lnSpc>
              <a:spcBef>
                <a:spcPts val="0"/>
              </a:spcBef>
              <a:spcAft>
                <a:spcPts val="0"/>
              </a:spcAft>
              <a:buSzPts val="1200"/>
              <a:buNone/>
            </a:pPr>
            <a:r>
              <a:t/>
            </a:r>
            <a:endParaRPr/>
          </a:p>
          <a:p>
            <a:pPr indent="0" lvl="0" marL="0" marR="0" rtl="0" algn="l">
              <a:lnSpc>
                <a:spcPct val="100000"/>
              </a:lnSpc>
              <a:spcBef>
                <a:spcPts val="0"/>
              </a:spcBef>
              <a:spcAft>
                <a:spcPts val="0"/>
              </a:spcAft>
              <a:buSzPts val="1200"/>
              <a:buNone/>
            </a:pPr>
            <a:r>
              <a:rPr b="1" lang="es-AR"/>
              <a:t>RESCATE</a:t>
            </a:r>
            <a:r>
              <a:rPr lang="es-AR"/>
              <a:t>: Qué nos mostró el video? Es fácil cambiar? Nos muestra cómo funciona el cerebro. Los aprendizajes/experiencias/conocimientos que tenemos, generan surcos neuronales en nuestro cerebro. Es el camino que el cerebro recorre sin gastar energía de más, el camino fácil. Para aprender algo diferente (manejar la bici al revés) el cerebro tiene que hacer una enorme cantidad de esfuerzo y practicarlo muchas veces, para poder generar diferentes caminos neuronales (redes) que lleven a ese cambio.</a:t>
            </a:r>
            <a:endParaRPr/>
          </a:p>
          <a:p>
            <a:pPr indent="0" lvl="0" marL="0" marR="0" rtl="0" algn="l">
              <a:lnSpc>
                <a:spcPct val="100000"/>
              </a:lnSpc>
              <a:spcBef>
                <a:spcPts val="0"/>
              </a:spcBef>
              <a:spcAft>
                <a:spcPts val="0"/>
              </a:spcAft>
              <a:buSzPts val="1200"/>
              <a:buNone/>
            </a:pPr>
            <a:r>
              <a:rPr lang="es-AR"/>
              <a:t>A veces lo difícil es DESAPRENDER.</a:t>
            </a:r>
            <a:endParaRPr/>
          </a:p>
        </p:txBody>
      </p:sp>
      <p:sp>
        <p:nvSpPr>
          <p:cNvPr id="108" name="Google Shape;108;p13: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f56a3749ef_0_11: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1f56a3749ef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lang="es-AR"/>
              <a:t>Este es un modelo para entender el cerebro.</a:t>
            </a:r>
            <a:endParaRPr/>
          </a:p>
          <a:p>
            <a:pPr indent="0" lvl="0" marL="0" rtl="0" algn="l">
              <a:lnSpc>
                <a:spcPct val="100000"/>
              </a:lnSpc>
              <a:spcBef>
                <a:spcPts val="0"/>
              </a:spcBef>
              <a:spcAft>
                <a:spcPts val="0"/>
              </a:spcAft>
              <a:buClr>
                <a:schemeClr val="dk1"/>
              </a:buClr>
              <a:buSzPts val="1200"/>
              <a:buFont typeface="Calibri"/>
              <a:buNone/>
            </a:pPr>
            <a:r>
              <a:rPr lang="es-AR"/>
              <a:t>(Bachrach): Guardamos un cerebro lagartija-ardilla-mono en la cabeza, que da forma a nuestras reacciones. Esto se conoce como el “cerebro triuno” y es uno de los modelos que usan los científicos para describir la organización jerárquica de las estructuras cerebrales.</a:t>
            </a:r>
            <a:endParaRPr/>
          </a:p>
          <a:p>
            <a:pPr indent="0" lvl="0" marL="0" rtl="0" algn="l">
              <a:lnSpc>
                <a:spcPct val="100000"/>
              </a:lnSpc>
              <a:spcBef>
                <a:spcPts val="0"/>
              </a:spcBef>
              <a:spcAft>
                <a:spcPts val="0"/>
              </a:spcAft>
              <a:buClr>
                <a:schemeClr val="dk1"/>
              </a:buClr>
              <a:buSzPts val="1200"/>
              <a:buFont typeface="Calibri"/>
              <a:buNone/>
            </a:pPr>
            <a:r>
              <a:rPr lang="es-AR"/>
              <a:t>La parte más antigua del cerebro, el cerebro reptiliano, tiene unos 500 Millones de años y regula ppalmente todo lo que tiene que ver con nuestros controles centrales: respiración, sueño, despertar, ritmo cardíaco, etc. </a:t>
            </a:r>
            <a:endParaRPr/>
          </a:p>
          <a:p>
            <a:pPr indent="0" lvl="0" marL="0" rtl="0" algn="l">
              <a:lnSpc>
                <a:spcPct val="100000"/>
              </a:lnSpc>
              <a:spcBef>
                <a:spcPts val="0"/>
              </a:spcBef>
              <a:spcAft>
                <a:spcPts val="0"/>
              </a:spcAft>
              <a:buClr>
                <a:schemeClr val="dk1"/>
              </a:buClr>
              <a:buSzPts val="1200"/>
              <a:buFont typeface="Calibri"/>
              <a:buNone/>
            </a:pPr>
            <a:r>
              <a:rPr lang="es-AR"/>
              <a:t>La ardilla, o cerebro límbico, tiene unos 200 mill de años y se responsabiliza por todo lo que tiene que ver con nuestra supervivencia animal más que con nuestro potencial humano: correr o pelear en circunstancias extremas, alimentarse, reproducirse. Aquí se encuentra una parte central de nuestras emociones: la amígdala, que nos permite sentir enojo, miedo y placer. Es responsable de la creación de las emociones y de los recuerdos que ellas generan.</a:t>
            </a:r>
            <a:endParaRPr/>
          </a:p>
          <a:p>
            <a:pPr indent="0" lvl="0" marL="0" rtl="0" algn="l">
              <a:lnSpc>
                <a:spcPct val="100000"/>
              </a:lnSpc>
              <a:spcBef>
                <a:spcPts val="0"/>
              </a:spcBef>
              <a:spcAft>
                <a:spcPts val="0"/>
              </a:spcAft>
              <a:buClr>
                <a:schemeClr val="dk1"/>
              </a:buClr>
              <a:buSzPts val="1200"/>
              <a:buFont typeface="Calibri"/>
              <a:buNone/>
            </a:pPr>
            <a:r>
              <a:rPr lang="es-AR"/>
              <a:t>Estos dos cerebros más antiguos regulan nuestro comportamiento como personas Por encima de estos cerebros, cómo si fuera una catedral, está el cerebro más humano, el córtex, que apareció hace 100 mil años atrás. El córtex está altamente especializado en la visión, el habla, la memoria y todas las funciones ejecutivas. </a:t>
            </a:r>
            <a:endParaRPr/>
          </a:p>
          <a:p>
            <a:pPr indent="0" lvl="0" marL="0" rtl="0" algn="l">
              <a:lnSpc>
                <a:spcPct val="100000"/>
              </a:lnSpc>
              <a:spcBef>
                <a:spcPts val="0"/>
              </a:spcBef>
              <a:spcAft>
                <a:spcPts val="0"/>
              </a:spcAft>
              <a:buClr>
                <a:schemeClr val="dk1"/>
              </a:buClr>
              <a:buSzPts val="1200"/>
              <a:buFont typeface="Calibri"/>
              <a:buNone/>
            </a:pPr>
            <a:r>
              <a:rPr lang="es-AR"/>
              <a:t>Durante muchos años creímos ser “seres racionales (córtex) con sentimientos (límbico)”. Hoy, los científicos acuerdan que el interruptor central del cerebro es nuestra parte emocional. Somos seres emocionales que aprendimos a pensar y no máquinas pensantes que sentimos. </a:t>
            </a:r>
            <a:endParaRPr/>
          </a:p>
          <a:p>
            <a:pPr indent="0" lvl="0" marL="0" rtl="0" algn="l">
              <a:lnSpc>
                <a:spcPct val="100000"/>
              </a:lnSpc>
              <a:spcBef>
                <a:spcPts val="0"/>
              </a:spcBef>
              <a:spcAft>
                <a:spcPts val="0"/>
              </a:spcAft>
              <a:buClr>
                <a:schemeClr val="dk1"/>
              </a:buClr>
              <a:buSzPts val="1200"/>
              <a:buFont typeface="Calibri"/>
              <a:buNone/>
            </a:pPr>
            <a:r>
              <a:rPr lang="es-AR"/>
              <a:t>La emoción tiene más dominio sobre nuestra razón. Por esto, muchas de las decisiones que tomamos en la vida son no conscientes, la gran mayoría de ellas está dominada por ráfagas de emociones. Muchas veces nuestros consciente racional justifica decisiones que ya habíamos tomado antes de ser conscientes de ellas. En definitiva, el botón central para comportarnos frente a las variadas situaciones cotidianas está más influido por nuestras emociones que por la razón (Estanislao Bachrach, Agilmente).</a:t>
            </a:r>
            <a:endParaRPr/>
          </a:p>
          <a:p>
            <a:pPr indent="0" lvl="0" marL="0" rtl="0" algn="just">
              <a:lnSpc>
                <a:spcPct val="115000"/>
              </a:lnSpc>
              <a:spcBef>
                <a:spcPts val="1200"/>
              </a:spcBef>
              <a:spcAft>
                <a:spcPts val="0"/>
              </a:spcAft>
              <a:buClr>
                <a:schemeClr val="dk1"/>
              </a:buClr>
              <a:buSzPts val="1200"/>
              <a:buFont typeface="Calibri"/>
              <a:buNone/>
            </a:pPr>
            <a:r>
              <a:t/>
            </a:r>
            <a:endParaRPr/>
          </a:p>
        </p:txBody>
      </p:sp>
      <p:sp>
        <p:nvSpPr>
          <p:cNvPr id="120" name="Google Shape;120;g1f56a3749ef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f56a3749ef_0_2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1f56a3749ef_0_24:notes"/>
          <p:cNvSpPr txBox="1"/>
          <p:nvPr>
            <p:ph idx="1" type="body"/>
          </p:nvPr>
        </p:nvSpPr>
        <p:spPr>
          <a:xfrm>
            <a:off x="213546" y="4740037"/>
            <a:ext cx="6407100" cy="4615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s-AR" sz="1350">
                <a:highlight>
                  <a:schemeClr val="lt1"/>
                </a:highlight>
              </a:rPr>
              <a:t>La interocepción es un sentido menos conocido que ayuda a entender y percibir lo que sucede dentro del cuerpo. Los chicos que tienen problemas con el sentido de la interocepción pueden tener dificultad para darse cuenta que tienen hambre, que están saciados, que tienen sed, calor o frío.</a:t>
            </a:r>
            <a:endParaRPr b="1" i="0" sz="2100" u="none" cap="none" strike="noStrike">
              <a:highlight>
                <a:schemeClr val="lt1"/>
              </a:highlight>
              <a:latin typeface="Lucida Sans"/>
              <a:ea typeface="Lucida Sans"/>
              <a:cs typeface="Lucida Sans"/>
              <a:sym typeface="Lucida Sans"/>
            </a:endParaRPr>
          </a:p>
        </p:txBody>
      </p:sp>
      <p:sp>
        <p:nvSpPr>
          <p:cNvPr id="134" name="Google Shape;134;g1f56a3749ef_0_24: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f56a3749ef_0_49: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1f56a3749ef_0_49:notes"/>
          <p:cNvSpPr txBox="1"/>
          <p:nvPr>
            <p:ph idx="1" type="body"/>
          </p:nvPr>
        </p:nvSpPr>
        <p:spPr>
          <a:xfrm>
            <a:off x="213546" y="4740037"/>
            <a:ext cx="6407100" cy="4615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60" name="Google Shape;160;g1f56a3749ef_0_49: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f56a3749ef_0_55: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1f56a3749ef_0_55:notes"/>
          <p:cNvSpPr txBox="1"/>
          <p:nvPr>
            <p:ph idx="1" type="body"/>
          </p:nvPr>
        </p:nvSpPr>
        <p:spPr>
          <a:xfrm>
            <a:off x="213546" y="4740037"/>
            <a:ext cx="6407100" cy="4615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67" name="Google Shape;167;g1f56a3749ef_0_55: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ca49d5bfcc_0_73: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2ca49d5bfcc_0_73: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lang="es-AR">
                <a:latin typeface="Roboto"/>
                <a:ea typeface="Roboto"/>
                <a:cs typeface="Roboto"/>
                <a:sym typeface="Roboto"/>
              </a:rPr>
              <a:t>El cerebro humano es un órgano complejo que se encarga de procesar información, regular funciones corporales y controlar el comportamiento. Está compuesto por miles de millones de neuronas, células especializadas que transmiten señales eléctricas y químicas entre sí.</a:t>
            </a:r>
            <a:endParaRPr>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s-AR">
                <a:latin typeface="Roboto"/>
                <a:ea typeface="Roboto"/>
                <a:cs typeface="Roboto"/>
                <a:sym typeface="Roboto"/>
              </a:rPr>
              <a:t>Cuando se enfrenta a un cambio, el cerebro pasa por varios procesos que pueden influir en la manera en que una persona reacciona y se adapta a la nueva situación. Aquí hay algunas áreas clave del cerebro y su función en el proceso de cambio:</a:t>
            </a:r>
            <a:endParaRPr>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200"/>
              <a:buFont typeface="Roboto"/>
              <a:buNone/>
            </a:pPr>
            <a:r>
              <a:rPr lang="es-AR">
                <a:latin typeface="Roboto"/>
                <a:ea typeface="Roboto"/>
                <a:cs typeface="Roboto"/>
                <a:sym typeface="Roboto"/>
              </a:rPr>
              <a:t>La amígdala: Esta estructura se encuentra en el sistema límbico del cerebro y desempeña un papel fundamental en el procesamiento de las emociones, especialmente el miedo y la ansiedad. Cuando una persona se enfrenta a un cambio, la amígdala puede activarse, desencadenando respuestas emocionales intensas que pueden incluir resistencia o aversión al cambio.</a:t>
            </a:r>
            <a:endParaRPr>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s-AR">
                <a:latin typeface="Roboto"/>
                <a:ea typeface="Roboto"/>
                <a:cs typeface="Roboto"/>
                <a:sym typeface="Roboto"/>
              </a:rPr>
              <a:t>La corteza prefrontal: Esta región del cerebro está asociada con funciones ejecutivas como la planificación, la toma de decisiones y el control de los impulsos. Durante un proceso de cambio, la corteza prefrontal puede estar involucrada en la evaluación de las circunstancias, la generación de estrategias para adaptarse al cambio y la supresión de respuestas emocionales automáticas.</a:t>
            </a:r>
            <a:endParaRPr>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s-AR">
                <a:latin typeface="Roboto"/>
                <a:ea typeface="Roboto"/>
                <a:cs typeface="Roboto"/>
                <a:sym typeface="Roboto"/>
              </a:rPr>
              <a:t>El sistema de recompensa: Este sistema incluye estructuras como el núcleo accumbens y la dopamina, y está implicado en la motivación y la sensación de placer. Durante el cambio, el cerebro puede experimentar un desequilibrio en el sistema de recompensa, ya que las personas pueden sentirse menos motivadas o menos recompensadas debido a la incertidumbre o al esfuerzo adicional requerido para adaptarse.</a:t>
            </a:r>
            <a:endParaRPr>
              <a:latin typeface="Roboto"/>
              <a:ea typeface="Roboto"/>
              <a:cs typeface="Roboto"/>
              <a:sym typeface="Roboto"/>
            </a:endParaRPr>
          </a:p>
          <a:p>
            <a:pPr indent="-228600" lvl="0" marL="457200" rtl="0" algn="l">
              <a:lnSpc>
                <a:spcPct val="115000"/>
              </a:lnSpc>
              <a:spcBef>
                <a:spcPts val="0"/>
              </a:spcBef>
              <a:spcAft>
                <a:spcPts val="0"/>
              </a:spcAft>
              <a:buClr>
                <a:schemeClr val="dk1"/>
              </a:buClr>
              <a:buSzPts val="1200"/>
              <a:buFont typeface="Roboto"/>
              <a:buNone/>
            </a:pPr>
            <a:r>
              <a:rPr lang="es-AR">
                <a:latin typeface="Roboto"/>
                <a:ea typeface="Roboto"/>
                <a:cs typeface="Roboto"/>
                <a:sym typeface="Roboto"/>
              </a:rPr>
              <a:t>La plasticidad cerebral: Una característica notable del cerebro es su capacidad para cambiar y adaptarse a nuevas experiencias, un fenómeno conocido como plasticidad cerebral. A través de la plasticidad cerebral, el cerebro puede reorganizar sus conexiones neuronales y aprender nuevas habilidades o comportamientos, lo que facilita la adaptación al cambio a largo plazo.</a:t>
            </a:r>
            <a:endParaRPr>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s-AR">
                <a:latin typeface="Roboto"/>
                <a:ea typeface="Roboto"/>
                <a:cs typeface="Roboto"/>
                <a:sym typeface="Roboto"/>
              </a:rPr>
              <a:t>Al comprender cómo funciona el cerebro y cómo responde ante el cambio, los líderes y profesionales de recursos humanos pueden diseñar estrategias efectivas para gestionar y facilitar procesos de cambio en las organizaciones, teniendo en cuenta las necesidades emocionales y cognitivas de los individuos involucrados. Además, al conocer la plasticidad cerebral, se puede destacar la importancia del aprendizaje continuo y la capacidad de adaptación como herramientas fundamentales para enfrentar los desafíos del cambio en el mundo laboral actual.</a:t>
            </a:r>
            <a:endParaRPr>
              <a:latin typeface="Roboto"/>
              <a:ea typeface="Roboto"/>
              <a:cs typeface="Roboto"/>
              <a:sym typeface="Roboto"/>
            </a:endParaRPr>
          </a:p>
          <a:p>
            <a:pPr indent="0" lvl="0" marL="152400" rtl="0" algn="l">
              <a:lnSpc>
                <a:spcPct val="100000"/>
              </a:lnSpc>
              <a:spcBef>
                <a:spcPts val="0"/>
              </a:spcBef>
              <a:spcAft>
                <a:spcPts val="0"/>
              </a:spcAft>
              <a:buSzPts val="1200"/>
              <a:buNone/>
            </a:pPr>
            <a:r>
              <a:t/>
            </a:r>
            <a:endParaRPr/>
          </a:p>
        </p:txBody>
      </p:sp>
      <p:sp>
        <p:nvSpPr>
          <p:cNvPr id="184" name="Google Shape;184;g2ca49d5bfcc_0_73: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ca49d5bfcc_0_89: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2ca49d5bfcc_0_89: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t/>
            </a:r>
            <a:endParaRPr/>
          </a:p>
        </p:txBody>
      </p:sp>
      <p:sp>
        <p:nvSpPr>
          <p:cNvPr id="192" name="Google Shape;192;g2ca49d5bfcc_0_89: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ca49d5bfcc_0_97: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2ca49d5bfcc_0_97: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t/>
            </a:r>
            <a:endParaRPr/>
          </a:p>
        </p:txBody>
      </p:sp>
      <p:sp>
        <p:nvSpPr>
          <p:cNvPr id="202" name="Google Shape;202;g2ca49d5bfcc_0_97: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ca49d5bfcc_0_112: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2ca49d5bfcc_0_112: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t/>
            </a:r>
            <a:endParaRPr/>
          </a:p>
        </p:txBody>
      </p:sp>
      <p:sp>
        <p:nvSpPr>
          <p:cNvPr id="212" name="Google Shape;212;g2ca49d5bfcc_0_112: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4: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rPr b="1" lang="es-AR">
                <a:solidFill>
                  <a:srgbClr val="666666"/>
                </a:solidFill>
                <a:latin typeface="Open Sans"/>
                <a:ea typeface="Open Sans"/>
                <a:cs typeface="Open Sans"/>
                <a:sym typeface="Open Sans"/>
              </a:rPr>
              <a:t>Carol Dweck </a:t>
            </a:r>
            <a:r>
              <a:rPr lang="es-AR">
                <a:solidFill>
                  <a:srgbClr val="666666"/>
                </a:solidFill>
                <a:latin typeface="Open Sans"/>
                <a:ea typeface="Open Sans"/>
                <a:cs typeface="Open Sans"/>
                <a:sym typeface="Open Sans"/>
              </a:rPr>
              <a:t>y las distintos tipos de mentalidades: </a:t>
            </a:r>
            <a:r>
              <a:rPr b="1" lang="es-AR">
                <a:solidFill>
                  <a:srgbClr val="666666"/>
                </a:solidFill>
                <a:latin typeface="Open Sans"/>
                <a:ea typeface="Open Sans"/>
                <a:cs typeface="Open Sans"/>
                <a:sym typeface="Open Sans"/>
              </a:rPr>
              <a:t>mostrar video hasta 4:40min.</a:t>
            </a:r>
            <a:endParaRPr b="1">
              <a:solidFill>
                <a:srgbClr val="666666"/>
              </a:solidFill>
              <a:latin typeface="Open Sans"/>
              <a:ea typeface="Open Sans"/>
              <a:cs typeface="Open Sans"/>
              <a:sym typeface="Open Sans"/>
            </a:endParaRPr>
          </a:p>
          <a:p>
            <a:pPr indent="0" lvl="0" marL="152400" rtl="0" algn="l">
              <a:lnSpc>
                <a:spcPct val="100000"/>
              </a:lnSpc>
              <a:spcBef>
                <a:spcPts val="0"/>
              </a:spcBef>
              <a:spcAft>
                <a:spcPts val="0"/>
              </a:spcAft>
              <a:buSzPts val="1200"/>
              <a:buNone/>
            </a:pPr>
            <a:r>
              <a:rPr b="0" i="0" lang="es-AR">
                <a:solidFill>
                  <a:srgbClr val="666666"/>
                </a:solidFill>
                <a:latin typeface="Open Sans"/>
                <a:ea typeface="Open Sans"/>
                <a:cs typeface="Open Sans"/>
                <a:sym typeface="Open Sans"/>
              </a:rPr>
              <a:t>Traducido literalmente del inglés, la palabra Mindset significa: Mentalidad, también tiene connotaciones relativas a configuración mental o patrones mentales. Para </a:t>
            </a:r>
            <a:r>
              <a:rPr b="0" i="0" lang="es-AR" u="sng" strike="noStrike">
                <a:solidFill>
                  <a:srgbClr val="54ABAA"/>
                </a:solidFill>
                <a:latin typeface="Open Sans"/>
                <a:ea typeface="Open Sans"/>
                <a:cs typeface="Open Sans"/>
                <a:sym typeface="Open Sans"/>
                <a:hlinkClick r:id="rId2">
                  <a:extLst>
                    <a:ext uri="{A12FA001-AC4F-418D-AE19-62706E023703}">
                      <ahyp:hlinkClr val="tx"/>
                    </a:ext>
                  </a:extLst>
                </a:hlinkClick>
              </a:rPr>
              <a:t>Carol Dweck</a:t>
            </a:r>
            <a:r>
              <a:rPr b="0" i="0" lang="es-AR">
                <a:solidFill>
                  <a:srgbClr val="666666"/>
                </a:solidFill>
                <a:latin typeface="Open Sans"/>
                <a:ea typeface="Open Sans"/>
                <a:cs typeface="Open Sans"/>
                <a:sym typeface="Open Sans"/>
              </a:rPr>
              <a:t> se pueden agrupar a los individuos en dos categorías de Mindset en atención a su reacción al fracaso, siendo estos:</a:t>
            </a:r>
            <a:endParaRPr/>
          </a:p>
          <a:p>
            <a:pPr indent="-304800" lvl="0" marL="457200" rtl="0" algn="l">
              <a:lnSpc>
                <a:spcPct val="100000"/>
              </a:lnSpc>
              <a:spcBef>
                <a:spcPts val="0"/>
              </a:spcBef>
              <a:spcAft>
                <a:spcPts val="0"/>
              </a:spcAft>
              <a:buSzPts val="1200"/>
              <a:buFont typeface="Arial"/>
              <a:buChar char="•"/>
            </a:pPr>
            <a:r>
              <a:rPr b="1" i="0" lang="es-AR">
                <a:solidFill>
                  <a:srgbClr val="666666"/>
                </a:solidFill>
                <a:latin typeface="Open Sans"/>
                <a:ea typeface="Open Sans"/>
                <a:cs typeface="Open Sans"/>
                <a:sym typeface="Open Sans"/>
              </a:rPr>
              <a:t>Mindset Fijo:</a:t>
            </a:r>
            <a:r>
              <a:rPr b="0" i="0" lang="es-AR">
                <a:solidFill>
                  <a:srgbClr val="666666"/>
                </a:solidFill>
                <a:latin typeface="Open Sans"/>
                <a:ea typeface="Open Sans"/>
                <a:cs typeface="Open Sans"/>
                <a:sym typeface="Open Sans"/>
              </a:rPr>
              <a:t> Consideran que las habilidades son innatas al individuo, como por ejemplo la inteligencia, y que su capacidad no puede aumentar,</a:t>
            </a:r>
            <a:endParaRPr/>
          </a:p>
          <a:p>
            <a:pPr indent="-304800" lvl="0" marL="457200" rtl="0" algn="l">
              <a:lnSpc>
                <a:spcPct val="100000"/>
              </a:lnSpc>
              <a:spcBef>
                <a:spcPts val="0"/>
              </a:spcBef>
              <a:spcAft>
                <a:spcPts val="0"/>
              </a:spcAft>
              <a:buSzPts val="1200"/>
              <a:buFont typeface="Arial"/>
              <a:buChar char="•"/>
            </a:pPr>
            <a:r>
              <a:rPr b="1" i="0" lang="es-AR">
                <a:solidFill>
                  <a:srgbClr val="666666"/>
                </a:solidFill>
                <a:latin typeface="Open Sans"/>
                <a:ea typeface="Open Sans"/>
                <a:cs typeface="Open Sans"/>
                <a:sym typeface="Open Sans"/>
              </a:rPr>
              <a:t>Mindset de Crecimiento:</a:t>
            </a:r>
            <a:r>
              <a:rPr b="0" i="0" lang="es-AR">
                <a:solidFill>
                  <a:srgbClr val="666666"/>
                </a:solidFill>
                <a:latin typeface="Open Sans"/>
                <a:ea typeface="Open Sans"/>
                <a:cs typeface="Open Sans"/>
                <a:sym typeface="Open Sans"/>
              </a:rPr>
              <a:t> Consideran que las habilidades y talentos pueden desarrollarse a través del esfuerzo y el aprendizaje.</a:t>
            </a:r>
            <a:endParaRPr/>
          </a:p>
          <a:p>
            <a:pPr indent="0" lvl="0" marL="152400" rtl="0" algn="l">
              <a:lnSpc>
                <a:spcPct val="100000"/>
              </a:lnSpc>
              <a:spcBef>
                <a:spcPts val="0"/>
              </a:spcBef>
              <a:spcAft>
                <a:spcPts val="0"/>
              </a:spcAft>
              <a:buSzPts val="1200"/>
              <a:buNone/>
            </a:pPr>
            <a:r>
              <a:t/>
            </a:r>
            <a:endParaRPr/>
          </a:p>
        </p:txBody>
      </p:sp>
      <p:sp>
        <p:nvSpPr>
          <p:cNvPr id="221" name="Google Shape;221;p14: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ca49d5bfcc_0_0: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2ca49d5bfcc_0_0: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rPr lang="es-AR" u="sng">
                <a:solidFill>
                  <a:schemeClr val="hlink"/>
                </a:solidFill>
                <a:latin typeface="Open Sans"/>
                <a:ea typeface="Open Sans"/>
                <a:cs typeface="Open Sans"/>
                <a:sym typeface="Open Sans"/>
                <a:hlinkClick r:id="rId2"/>
              </a:rPr>
              <a:t>video de Carol Dweck</a:t>
            </a:r>
            <a:r>
              <a:rPr lang="es-AR">
                <a:solidFill>
                  <a:srgbClr val="666666"/>
                </a:solidFill>
                <a:latin typeface="Open Sans"/>
                <a:ea typeface="Open Sans"/>
                <a:cs typeface="Open Sans"/>
                <a:sym typeface="Open Sans"/>
              </a:rPr>
              <a:t> y las distintos tipos de mentalidades:</a:t>
            </a:r>
            <a:endParaRPr>
              <a:solidFill>
                <a:srgbClr val="666666"/>
              </a:solidFill>
              <a:latin typeface="Open Sans"/>
              <a:ea typeface="Open Sans"/>
              <a:cs typeface="Open Sans"/>
              <a:sym typeface="Open Sans"/>
            </a:endParaRPr>
          </a:p>
          <a:p>
            <a:pPr indent="0" lvl="0" marL="152400" rtl="0" algn="l">
              <a:lnSpc>
                <a:spcPct val="100000"/>
              </a:lnSpc>
              <a:spcBef>
                <a:spcPts val="0"/>
              </a:spcBef>
              <a:spcAft>
                <a:spcPts val="0"/>
              </a:spcAft>
              <a:buSzPts val="1200"/>
              <a:buNone/>
            </a:pPr>
            <a:r>
              <a:rPr b="0" i="0" lang="es-AR">
                <a:solidFill>
                  <a:srgbClr val="666666"/>
                </a:solidFill>
                <a:latin typeface="Open Sans"/>
                <a:ea typeface="Open Sans"/>
                <a:cs typeface="Open Sans"/>
                <a:sym typeface="Open Sans"/>
              </a:rPr>
              <a:t>Traducido literalmente del inglés, la palabra Mindset significa: Mentalidad, también tiene connotaciones relativas a configuración mental o patrones mentales. Para </a:t>
            </a:r>
            <a:r>
              <a:rPr b="0" i="0" lang="es-AR" u="sng" strike="noStrike">
                <a:solidFill>
                  <a:srgbClr val="54ABAA"/>
                </a:solidFill>
                <a:latin typeface="Open Sans"/>
                <a:ea typeface="Open Sans"/>
                <a:cs typeface="Open Sans"/>
                <a:sym typeface="Open Sans"/>
                <a:hlinkClick r:id="rId3">
                  <a:extLst>
                    <a:ext uri="{A12FA001-AC4F-418D-AE19-62706E023703}">
                      <ahyp:hlinkClr val="tx"/>
                    </a:ext>
                  </a:extLst>
                </a:hlinkClick>
              </a:rPr>
              <a:t>Carol Dweck</a:t>
            </a:r>
            <a:r>
              <a:rPr b="0" i="0" lang="es-AR">
                <a:solidFill>
                  <a:srgbClr val="666666"/>
                </a:solidFill>
                <a:latin typeface="Open Sans"/>
                <a:ea typeface="Open Sans"/>
                <a:cs typeface="Open Sans"/>
                <a:sym typeface="Open Sans"/>
              </a:rPr>
              <a:t> se pueden agrupar a los individuos en dos categorías de Mindset en atención a su reacción al fracaso, siendo estos:</a:t>
            </a:r>
            <a:endParaRPr/>
          </a:p>
          <a:p>
            <a:pPr indent="-304800" lvl="0" marL="457200" rtl="0" algn="l">
              <a:lnSpc>
                <a:spcPct val="100000"/>
              </a:lnSpc>
              <a:spcBef>
                <a:spcPts val="0"/>
              </a:spcBef>
              <a:spcAft>
                <a:spcPts val="0"/>
              </a:spcAft>
              <a:buSzPts val="1200"/>
              <a:buFont typeface="Arial"/>
              <a:buChar char="•"/>
            </a:pPr>
            <a:r>
              <a:rPr b="1" i="0" lang="es-AR">
                <a:solidFill>
                  <a:srgbClr val="666666"/>
                </a:solidFill>
                <a:latin typeface="Open Sans"/>
                <a:ea typeface="Open Sans"/>
                <a:cs typeface="Open Sans"/>
                <a:sym typeface="Open Sans"/>
              </a:rPr>
              <a:t>Mindset Fijo:</a:t>
            </a:r>
            <a:r>
              <a:rPr b="0" i="0" lang="es-AR">
                <a:solidFill>
                  <a:srgbClr val="666666"/>
                </a:solidFill>
                <a:latin typeface="Open Sans"/>
                <a:ea typeface="Open Sans"/>
                <a:cs typeface="Open Sans"/>
                <a:sym typeface="Open Sans"/>
              </a:rPr>
              <a:t> Consideran que las habilidades son innatas al individuo, como por ejemplo la inteligencia, y que su capacidad no puede aumentar,</a:t>
            </a:r>
            <a:endParaRPr/>
          </a:p>
          <a:p>
            <a:pPr indent="-304800" lvl="0" marL="457200" rtl="0" algn="l">
              <a:lnSpc>
                <a:spcPct val="100000"/>
              </a:lnSpc>
              <a:spcBef>
                <a:spcPts val="0"/>
              </a:spcBef>
              <a:spcAft>
                <a:spcPts val="0"/>
              </a:spcAft>
              <a:buSzPts val="1200"/>
              <a:buFont typeface="Arial"/>
              <a:buChar char="•"/>
            </a:pPr>
            <a:r>
              <a:rPr b="1" i="0" lang="es-AR">
                <a:solidFill>
                  <a:srgbClr val="666666"/>
                </a:solidFill>
                <a:latin typeface="Open Sans"/>
                <a:ea typeface="Open Sans"/>
                <a:cs typeface="Open Sans"/>
                <a:sym typeface="Open Sans"/>
              </a:rPr>
              <a:t>Mindset de Crecimiento:</a:t>
            </a:r>
            <a:r>
              <a:rPr b="0" i="0" lang="es-AR">
                <a:solidFill>
                  <a:srgbClr val="666666"/>
                </a:solidFill>
                <a:latin typeface="Open Sans"/>
                <a:ea typeface="Open Sans"/>
                <a:cs typeface="Open Sans"/>
                <a:sym typeface="Open Sans"/>
              </a:rPr>
              <a:t> Consideran que las habilidades y talentos pueden desarrollarse a través del esfuerzo y el aprendizaje.</a:t>
            </a:r>
            <a:endParaRPr/>
          </a:p>
          <a:p>
            <a:pPr indent="0" lvl="0" marL="152400" rtl="0" algn="l">
              <a:lnSpc>
                <a:spcPct val="100000"/>
              </a:lnSpc>
              <a:spcBef>
                <a:spcPts val="0"/>
              </a:spcBef>
              <a:spcAft>
                <a:spcPts val="0"/>
              </a:spcAft>
              <a:buSzPts val="1200"/>
              <a:buNone/>
            </a:pPr>
            <a:r>
              <a:t/>
            </a:r>
            <a:endParaRPr/>
          </a:p>
        </p:txBody>
      </p:sp>
      <p:sp>
        <p:nvSpPr>
          <p:cNvPr id="228" name="Google Shape;228;g2ca49d5bfcc_0_0: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ca49d5bfcc_0_7: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2ca49d5bfcc_0_7: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t/>
            </a:r>
            <a:endParaRPr/>
          </a:p>
        </p:txBody>
      </p:sp>
      <p:sp>
        <p:nvSpPr>
          <p:cNvPr id="235" name="Google Shape;235;g2ca49d5bfcc_0_7: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ca49d5bfcc_0_29: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2ca49d5bfcc_0_29: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152400" rtl="0" algn="l">
              <a:lnSpc>
                <a:spcPct val="100000"/>
              </a:lnSpc>
              <a:spcBef>
                <a:spcPts val="0"/>
              </a:spcBef>
              <a:spcAft>
                <a:spcPts val="0"/>
              </a:spcAft>
              <a:buSzPts val="1200"/>
              <a:buNone/>
            </a:pPr>
            <a:r>
              <a:t/>
            </a:r>
            <a:endParaRPr/>
          </a:p>
        </p:txBody>
      </p:sp>
      <p:sp>
        <p:nvSpPr>
          <p:cNvPr id="246" name="Google Shape;246;g2ca49d5bfcc_0_29: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7: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t/>
            </a:r>
            <a:endParaRPr/>
          </a:p>
        </p:txBody>
      </p:sp>
      <p:sp>
        <p:nvSpPr>
          <p:cNvPr id="257" name="Google Shape;257;p17: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2: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Arial"/>
              <a:buNone/>
            </a:pPr>
            <a:r>
              <a:t/>
            </a:r>
            <a:endParaRPr/>
          </a:p>
        </p:txBody>
      </p:sp>
      <p:sp>
        <p:nvSpPr>
          <p:cNvPr id="265" name="Google Shape;265;p22:notes"/>
          <p:cNvSpPr txBox="1"/>
          <p:nvPr>
            <p:ph idx="12" type="sldNum"/>
          </p:nvPr>
        </p:nvSpPr>
        <p:spPr>
          <a:xfrm>
            <a:off x="3871125" y="9478342"/>
            <a:ext cx="2961480" cy="498951"/>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3: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72" name="Google Shape;272;p23: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25afe6fff8_0_8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125afe6fff8_0_84: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s-AR" sz="1100"/>
              <a:t>Cambio estructural:</a:t>
            </a:r>
            <a:r>
              <a:rPr lang="es-AR" sz="1100"/>
              <a:t> Afectan la estructura organizacional, departamentos (como divisiones o áreas, los cuales son fundados, creados, eliminados o subcontratados por medio de nuevos socios), las redes de información internas y externas, los niveles jerárquicos (reducidos al establecer comunicaciones horizontales) y las modificaciones el esquema de recompensa.</a:t>
            </a:r>
            <a:endParaRPr sz="1100"/>
          </a:p>
          <a:p>
            <a:pPr indent="-298450" lvl="0" marL="457200" rtl="0" algn="l">
              <a:lnSpc>
                <a:spcPct val="100000"/>
              </a:lnSpc>
              <a:spcBef>
                <a:spcPts val="0"/>
              </a:spcBef>
              <a:spcAft>
                <a:spcPts val="0"/>
              </a:spcAft>
              <a:buSzPts val="1100"/>
              <a:buChar char="-"/>
            </a:pPr>
            <a:r>
              <a:rPr b="1" lang="es-AR" sz="1100"/>
              <a:t>Cambios en productos o servicios:</a:t>
            </a:r>
            <a:r>
              <a:rPr lang="es-AR" sz="1100"/>
              <a:t> Afectan los resultados o las salidas de la organización.</a:t>
            </a:r>
            <a:endParaRPr sz="1100"/>
          </a:p>
          <a:p>
            <a:pPr indent="-298450" lvl="0" marL="457200" rtl="0" algn="l">
              <a:lnSpc>
                <a:spcPct val="100000"/>
              </a:lnSpc>
              <a:spcBef>
                <a:spcPts val="0"/>
              </a:spcBef>
              <a:spcAft>
                <a:spcPts val="0"/>
              </a:spcAft>
              <a:buSzPts val="1100"/>
              <a:buChar char="-"/>
            </a:pPr>
            <a:r>
              <a:rPr b="1" lang="es-AR" sz="1100"/>
              <a:t>Cambios culturales</a:t>
            </a:r>
            <a:r>
              <a:rPr lang="es-AR" sz="1100"/>
              <a:t>: Cambios en las personas y sus comportamientos, actitudes, expectativas, aspiraciones y necesidades. Estos cambios no ocurren de forma aislada, sino que se presentan sistemáticamente y unos afectan a otros y provocan un poderoso efecto multiplicador. Ej: Baños Mixtos / Políticas Clean Desk</a:t>
            </a:r>
            <a:endParaRPr sz="1100"/>
          </a:p>
          <a:p>
            <a:pPr indent="-298450" lvl="0" marL="457200" rtl="0" algn="l">
              <a:lnSpc>
                <a:spcPct val="100000"/>
              </a:lnSpc>
              <a:spcBef>
                <a:spcPts val="0"/>
              </a:spcBef>
              <a:spcAft>
                <a:spcPts val="0"/>
              </a:spcAft>
              <a:buSzPts val="1100"/>
              <a:buChar char="-"/>
            </a:pPr>
            <a:r>
              <a:rPr b="1" lang="es-AR" sz="1100"/>
              <a:t>Cambios tecnológicos:</a:t>
            </a:r>
            <a:r>
              <a:rPr lang="es-AR" sz="1100"/>
              <a:t> Afectan a las máquinas, equipos, instalaciones, procesos empresariales, etc. La tecnología implica la forma en que la empresa realiza sus tareas y produce sus productos y servicios.</a:t>
            </a:r>
            <a:endParaRPr/>
          </a:p>
        </p:txBody>
      </p:sp>
      <p:sp>
        <p:nvSpPr>
          <p:cNvPr id="285" name="Google Shape;285;g125afe6fff8_0_84: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r">
              <a:lnSpc>
                <a:spcPct val="100000"/>
              </a:lnSpc>
              <a:spcBef>
                <a:spcPts val="0"/>
              </a:spcBef>
              <a:spcAft>
                <a:spcPts val="0"/>
              </a:spcAft>
              <a:buClr>
                <a:schemeClr val="dk1"/>
              </a:buClr>
              <a:buSzPts val="800"/>
              <a:buFont typeface="Arial"/>
              <a:buNone/>
            </a:pPr>
            <a:fld id="{00000000-1234-1234-1234-123412341234}" type="slidenum">
              <a:rPr b="1" i="0" lang="es-AR"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5:notes"/>
          <p:cNvSpPr txBox="1"/>
          <p:nvPr>
            <p:ph idx="1" type="body"/>
          </p:nvPr>
        </p:nvSpPr>
        <p:spPr>
          <a:xfrm>
            <a:off x="213544" y="4740037"/>
            <a:ext cx="6407094" cy="46153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03" name="Google Shape;303;p25: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25afe6fff8_0_134: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3" name="Google Shape;333;g125afe6fff8_0_13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g125afe6fff8_0_134:notes"/>
          <p:cNvSpPr txBox="1"/>
          <p:nvPr>
            <p:ph idx="1" type="body"/>
          </p:nvPr>
        </p:nvSpPr>
        <p:spPr>
          <a:xfrm>
            <a:off x="213544" y="4740037"/>
            <a:ext cx="6407100" cy="461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AR"/>
              <a:t>ADKAR es un acrónimo que representa los cinco elementos clave necesarios para lograr un cambio exitoso en una organización o equipo. Aquí están los principales puntos del modelo ADKAR:</a:t>
            </a:r>
            <a:endParaRPr/>
          </a:p>
          <a:p>
            <a:pPr indent="-228600" lvl="0" marL="457200" rtl="0" algn="l">
              <a:lnSpc>
                <a:spcPct val="115000"/>
              </a:lnSpc>
              <a:spcBef>
                <a:spcPts val="1500"/>
              </a:spcBef>
              <a:spcAft>
                <a:spcPts val="0"/>
              </a:spcAft>
              <a:buClr>
                <a:schemeClr val="dk1"/>
              </a:buClr>
              <a:buSzPts val="1200"/>
              <a:buFont typeface="Arial"/>
              <a:buNone/>
            </a:pPr>
            <a:r>
              <a:rPr b="1" lang="es-AR"/>
              <a:t>Conciencia (Awareness):</a:t>
            </a:r>
            <a:endParaRPr b="1"/>
          </a:p>
          <a:p>
            <a:pPr indent="-304800" lvl="1" marL="914400" rtl="0" algn="l">
              <a:lnSpc>
                <a:spcPct val="115000"/>
              </a:lnSpc>
              <a:spcBef>
                <a:spcPts val="0"/>
              </a:spcBef>
              <a:spcAft>
                <a:spcPts val="0"/>
              </a:spcAft>
              <a:buClr>
                <a:schemeClr val="dk1"/>
              </a:buClr>
              <a:buSzPts val="1200"/>
              <a:buFont typeface="Arial"/>
              <a:buChar char="●"/>
            </a:pPr>
            <a:r>
              <a:rPr lang="es-AR"/>
              <a:t>En este primer paso, se busca que las personas comprendan por qué el cambio es necesario y qué implica para ellos personalmente y para la organización en general.</a:t>
            </a:r>
            <a:endParaRPr/>
          </a:p>
          <a:p>
            <a:pPr indent="-304800" lvl="1" marL="914400" rtl="0" algn="l">
              <a:lnSpc>
                <a:spcPct val="115000"/>
              </a:lnSpc>
              <a:spcBef>
                <a:spcPts val="0"/>
              </a:spcBef>
              <a:spcAft>
                <a:spcPts val="0"/>
              </a:spcAft>
              <a:buClr>
                <a:schemeClr val="dk1"/>
              </a:buClr>
              <a:buSzPts val="1200"/>
              <a:buFont typeface="Arial"/>
              <a:buChar char="●"/>
            </a:pPr>
            <a:r>
              <a:rPr lang="es-AR"/>
              <a:t>Se trata de comunicar la razón detrás del cambio, los beneficios que se esperan obtener y las consecuencias de no adaptarse al cambio.</a:t>
            </a:r>
            <a:endParaRPr/>
          </a:p>
          <a:p>
            <a:pPr indent="-304800" lvl="1" marL="914400" rtl="0" algn="l">
              <a:lnSpc>
                <a:spcPct val="115000"/>
              </a:lnSpc>
              <a:spcBef>
                <a:spcPts val="0"/>
              </a:spcBef>
              <a:spcAft>
                <a:spcPts val="0"/>
              </a:spcAft>
              <a:buClr>
                <a:schemeClr val="dk1"/>
              </a:buClr>
              <a:buSzPts val="1200"/>
              <a:buFont typeface="Arial"/>
              <a:buChar char="●"/>
            </a:pPr>
            <a:r>
              <a:rPr lang="es-AR"/>
              <a:t>La conciencia ayuda a establecer la necesidad y la urgencia del cambio en la mente de las personas afectadas.</a:t>
            </a:r>
            <a:br>
              <a:rPr lang="es-AR"/>
            </a:br>
            <a:endParaRPr/>
          </a:p>
          <a:p>
            <a:pPr indent="-228600" lvl="0" marL="457200" rtl="0" algn="l">
              <a:lnSpc>
                <a:spcPct val="115000"/>
              </a:lnSpc>
              <a:spcBef>
                <a:spcPts val="0"/>
              </a:spcBef>
              <a:spcAft>
                <a:spcPts val="0"/>
              </a:spcAft>
              <a:buClr>
                <a:schemeClr val="dk1"/>
              </a:buClr>
              <a:buSzPts val="1200"/>
              <a:buFont typeface="Arial"/>
              <a:buNone/>
            </a:pPr>
            <a:r>
              <a:rPr b="1" lang="es-AR"/>
              <a:t>Deseo (Desire):</a:t>
            </a:r>
            <a:endParaRPr b="1"/>
          </a:p>
          <a:p>
            <a:pPr indent="-304800" lvl="1" marL="914400" rtl="0" algn="l">
              <a:lnSpc>
                <a:spcPct val="115000"/>
              </a:lnSpc>
              <a:spcBef>
                <a:spcPts val="0"/>
              </a:spcBef>
              <a:spcAft>
                <a:spcPts val="0"/>
              </a:spcAft>
              <a:buClr>
                <a:schemeClr val="dk1"/>
              </a:buClr>
              <a:buSzPts val="1200"/>
              <a:buFont typeface="Arial"/>
              <a:buChar char="●"/>
            </a:pPr>
            <a:r>
              <a:rPr lang="es-AR"/>
              <a:t>Una vez que las personas son conscientes del cambio, es importante que desarrollen un deseo genuino de participar y apoyar el proceso de cambio.</a:t>
            </a:r>
            <a:endParaRPr/>
          </a:p>
          <a:p>
            <a:pPr indent="-304800" lvl="1" marL="914400" rtl="0" algn="l">
              <a:lnSpc>
                <a:spcPct val="115000"/>
              </a:lnSpc>
              <a:spcBef>
                <a:spcPts val="0"/>
              </a:spcBef>
              <a:spcAft>
                <a:spcPts val="0"/>
              </a:spcAft>
              <a:buClr>
                <a:schemeClr val="dk1"/>
              </a:buClr>
              <a:buSzPts val="1200"/>
              <a:buFont typeface="Arial"/>
              <a:buChar char="●"/>
            </a:pPr>
            <a:r>
              <a:rPr lang="es-AR"/>
              <a:t>Esto implica motivar a las personas para que vean el cambio como algo positivo y valioso, y que estén dispuestas a comprometerse con él.</a:t>
            </a:r>
            <a:endParaRPr/>
          </a:p>
          <a:p>
            <a:pPr indent="-304800" lvl="1" marL="914400" rtl="0" algn="l">
              <a:lnSpc>
                <a:spcPct val="115000"/>
              </a:lnSpc>
              <a:spcBef>
                <a:spcPts val="0"/>
              </a:spcBef>
              <a:spcAft>
                <a:spcPts val="0"/>
              </a:spcAft>
              <a:buClr>
                <a:schemeClr val="dk1"/>
              </a:buClr>
              <a:buSzPts val="1200"/>
              <a:buFont typeface="Arial"/>
              <a:buChar char="●"/>
            </a:pPr>
            <a:r>
              <a:rPr lang="es-AR"/>
              <a:t>Se pueden utilizar estrategias de comunicación y participación para generar este deseo, como destacar los beneficios personales y profesionales que el cambio puede traer.</a:t>
            </a:r>
            <a:br>
              <a:rPr lang="es-AR"/>
            </a:br>
            <a:endParaRPr/>
          </a:p>
          <a:p>
            <a:pPr indent="-228600" lvl="0" marL="457200" rtl="0" algn="l">
              <a:lnSpc>
                <a:spcPct val="115000"/>
              </a:lnSpc>
              <a:spcBef>
                <a:spcPts val="0"/>
              </a:spcBef>
              <a:spcAft>
                <a:spcPts val="0"/>
              </a:spcAft>
              <a:buClr>
                <a:schemeClr val="dk1"/>
              </a:buClr>
              <a:buSzPts val="1200"/>
              <a:buFont typeface="Arial"/>
              <a:buNone/>
            </a:pPr>
            <a:r>
              <a:rPr b="1" lang="es-AR"/>
              <a:t>Conocimiento (Knowledge):</a:t>
            </a:r>
            <a:endParaRPr b="1"/>
          </a:p>
          <a:p>
            <a:pPr indent="-304800" lvl="1" marL="914400" rtl="0" algn="l">
              <a:lnSpc>
                <a:spcPct val="115000"/>
              </a:lnSpc>
              <a:spcBef>
                <a:spcPts val="0"/>
              </a:spcBef>
              <a:spcAft>
                <a:spcPts val="0"/>
              </a:spcAft>
              <a:buClr>
                <a:schemeClr val="dk1"/>
              </a:buClr>
              <a:buSzPts val="1200"/>
              <a:buFont typeface="Arial"/>
              <a:buChar char="●"/>
            </a:pPr>
            <a:r>
              <a:rPr lang="es-AR"/>
              <a:t>En esta etapa, se proporciona a las personas la información y las habilidades necesarias para adaptarse al cambio de manera efectiva.</a:t>
            </a:r>
            <a:endParaRPr/>
          </a:p>
          <a:p>
            <a:pPr indent="-304800" lvl="1" marL="914400" rtl="0" algn="l">
              <a:lnSpc>
                <a:spcPct val="115000"/>
              </a:lnSpc>
              <a:spcBef>
                <a:spcPts val="0"/>
              </a:spcBef>
              <a:spcAft>
                <a:spcPts val="0"/>
              </a:spcAft>
              <a:buClr>
                <a:schemeClr val="dk1"/>
              </a:buClr>
              <a:buSzPts val="1200"/>
              <a:buFont typeface="Arial"/>
              <a:buChar char="●"/>
            </a:pPr>
            <a:r>
              <a:rPr lang="es-AR"/>
              <a:t>Se realizan actividades de capacitación y educación para enseñar a las personas cómo realizar nuevas tareas, utilizar nuevas herramientas o adoptar nuevos procesos.</a:t>
            </a:r>
            <a:endParaRPr/>
          </a:p>
          <a:p>
            <a:pPr indent="-304800" lvl="1" marL="914400" rtl="0" algn="l">
              <a:lnSpc>
                <a:spcPct val="115000"/>
              </a:lnSpc>
              <a:spcBef>
                <a:spcPts val="0"/>
              </a:spcBef>
              <a:spcAft>
                <a:spcPts val="0"/>
              </a:spcAft>
              <a:buClr>
                <a:schemeClr val="dk1"/>
              </a:buClr>
              <a:buSzPts val="1200"/>
              <a:buFont typeface="Arial"/>
              <a:buChar char="●"/>
            </a:pPr>
            <a:r>
              <a:rPr lang="es-AR"/>
              <a:t>El objetivo es asegurarse de que las personas tengan el conocimiento necesario para desempeñarse con éxito en el nuevo entorno generado por el cambio.</a:t>
            </a:r>
            <a:br>
              <a:rPr lang="es-AR"/>
            </a:br>
            <a:endParaRPr/>
          </a:p>
          <a:p>
            <a:pPr indent="-228600" lvl="0" marL="457200" rtl="0" algn="l">
              <a:lnSpc>
                <a:spcPct val="115000"/>
              </a:lnSpc>
              <a:spcBef>
                <a:spcPts val="0"/>
              </a:spcBef>
              <a:spcAft>
                <a:spcPts val="0"/>
              </a:spcAft>
              <a:buClr>
                <a:schemeClr val="dk1"/>
              </a:buClr>
              <a:buSzPts val="1200"/>
              <a:buFont typeface="Arial"/>
              <a:buNone/>
            </a:pPr>
            <a:r>
              <a:rPr b="1" lang="es-AR"/>
              <a:t>Habilidad (Ability):</a:t>
            </a:r>
            <a:endParaRPr b="1"/>
          </a:p>
          <a:p>
            <a:pPr indent="-304800" lvl="1" marL="914400" rtl="0" algn="l">
              <a:lnSpc>
                <a:spcPct val="115000"/>
              </a:lnSpc>
              <a:spcBef>
                <a:spcPts val="0"/>
              </a:spcBef>
              <a:spcAft>
                <a:spcPts val="0"/>
              </a:spcAft>
              <a:buClr>
                <a:schemeClr val="dk1"/>
              </a:buClr>
              <a:buSzPts val="1200"/>
              <a:buFont typeface="Arial"/>
              <a:buChar char="●"/>
            </a:pPr>
            <a:r>
              <a:rPr lang="es-AR"/>
              <a:t>Una vez que las personas adquieren el conocimiento necesario, deben desarrollar las habilidades prácticas para implementar el cambio en su trabajo diario.</a:t>
            </a:r>
            <a:endParaRPr/>
          </a:p>
          <a:p>
            <a:pPr indent="-304800" lvl="1" marL="914400" rtl="0" algn="l">
              <a:lnSpc>
                <a:spcPct val="115000"/>
              </a:lnSpc>
              <a:spcBef>
                <a:spcPts val="0"/>
              </a:spcBef>
              <a:spcAft>
                <a:spcPts val="0"/>
              </a:spcAft>
              <a:buClr>
                <a:schemeClr val="dk1"/>
              </a:buClr>
              <a:buSzPts val="1200"/>
              <a:buFont typeface="Arial"/>
              <a:buChar char="●"/>
            </a:pPr>
            <a:r>
              <a:rPr lang="es-AR"/>
              <a:t>Esto puede requerir práctica, entrenamiento adicional y oportunidades para aplicar el conocimiento en situaciones reales.</a:t>
            </a:r>
            <a:endParaRPr/>
          </a:p>
          <a:p>
            <a:pPr indent="-304800" lvl="1" marL="914400" rtl="0" algn="l">
              <a:lnSpc>
                <a:spcPct val="115000"/>
              </a:lnSpc>
              <a:spcBef>
                <a:spcPts val="0"/>
              </a:spcBef>
              <a:spcAft>
                <a:spcPts val="0"/>
              </a:spcAft>
              <a:buClr>
                <a:schemeClr val="dk1"/>
              </a:buClr>
              <a:buSzPts val="1200"/>
              <a:buFont typeface="Arial"/>
              <a:buChar char="●"/>
            </a:pPr>
            <a:r>
              <a:rPr lang="es-AR"/>
              <a:t>Se trata de garantizar que las personas se sientan cómodas y competentes al aplicar lo que han aprendido en el contexto del cambio.</a:t>
            </a:r>
            <a:br>
              <a:rPr lang="es-AR"/>
            </a:br>
            <a:endParaRPr/>
          </a:p>
          <a:p>
            <a:pPr indent="-228600" lvl="0" marL="457200" rtl="0" algn="l">
              <a:lnSpc>
                <a:spcPct val="115000"/>
              </a:lnSpc>
              <a:spcBef>
                <a:spcPts val="0"/>
              </a:spcBef>
              <a:spcAft>
                <a:spcPts val="0"/>
              </a:spcAft>
              <a:buClr>
                <a:schemeClr val="dk1"/>
              </a:buClr>
              <a:buSzPts val="1200"/>
              <a:buFont typeface="Arial"/>
              <a:buNone/>
            </a:pPr>
            <a:r>
              <a:rPr b="1" lang="es-AR"/>
              <a:t>Refuerzo (Reinforcement):</a:t>
            </a:r>
            <a:endParaRPr b="1"/>
          </a:p>
          <a:p>
            <a:pPr indent="-304800" lvl="1" marL="914400" rtl="0" algn="l">
              <a:lnSpc>
                <a:spcPct val="115000"/>
              </a:lnSpc>
              <a:spcBef>
                <a:spcPts val="0"/>
              </a:spcBef>
              <a:spcAft>
                <a:spcPts val="0"/>
              </a:spcAft>
              <a:buClr>
                <a:schemeClr val="dk1"/>
              </a:buClr>
              <a:buSzPts val="1200"/>
              <a:buFont typeface="Arial"/>
              <a:buChar char="●"/>
            </a:pPr>
            <a:r>
              <a:rPr lang="es-AR"/>
              <a:t>La última etapa del modelo ADKAR implica la implementación de medidas para mantener y reforzar el cambio a lo largo del tiempo.</a:t>
            </a:r>
            <a:endParaRPr/>
          </a:p>
          <a:p>
            <a:pPr indent="-304800" lvl="1" marL="914400" rtl="0" algn="l">
              <a:lnSpc>
                <a:spcPct val="115000"/>
              </a:lnSpc>
              <a:spcBef>
                <a:spcPts val="0"/>
              </a:spcBef>
              <a:spcAft>
                <a:spcPts val="0"/>
              </a:spcAft>
              <a:buClr>
                <a:schemeClr val="dk1"/>
              </a:buClr>
              <a:buSzPts val="1200"/>
              <a:buFont typeface="Arial"/>
              <a:buChar char="●"/>
            </a:pPr>
            <a:r>
              <a:rPr lang="es-AR"/>
              <a:t>Esto puede incluir la celebración de logros, el reconocimiento de comportamientos deseables, la revisión y ajuste de sistemas de recompensa, y la integración del cambio en la cultura organizacional.</a:t>
            </a:r>
            <a:endParaRPr/>
          </a:p>
          <a:p>
            <a:pPr indent="-304800" lvl="1" marL="914400" rtl="0" algn="l">
              <a:lnSpc>
                <a:spcPct val="115000"/>
              </a:lnSpc>
              <a:spcBef>
                <a:spcPts val="0"/>
              </a:spcBef>
              <a:spcAft>
                <a:spcPts val="0"/>
              </a:spcAft>
              <a:buClr>
                <a:schemeClr val="dk1"/>
              </a:buClr>
              <a:buSzPts val="1200"/>
              <a:buFont typeface="Arial"/>
              <a:buChar char="●"/>
            </a:pPr>
            <a:r>
              <a:rPr lang="es-AR"/>
              <a:t>El refuerzo continuo es fundamental para asegurar que el cambio se mantenga y se convierta en parte del "nuevo normal" en la organización.</a:t>
            </a:r>
            <a:endParaRPr/>
          </a:p>
          <a:p>
            <a:pPr indent="0" lvl="0" marL="0" marR="0" rtl="0" algn="l">
              <a:lnSpc>
                <a:spcPct val="100000"/>
              </a:lnSpc>
              <a:spcBef>
                <a:spcPts val="1500"/>
              </a:spcBef>
              <a:spcAft>
                <a:spcPts val="0"/>
              </a:spcAft>
              <a:buClr>
                <a:schemeClr val="dk1"/>
              </a:buClr>
              <a:buSzPts val="12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25cd87e9e5_0_3: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125cd87e9e5_0_3:notes"/>
          <p:cNvSpPr txBox="1"/>
          <p:nvPr>
            <p:ph idx="1" type="body"/>
          </p:nvPr>
        </p:nvSpPr>
        <p:spPr>
          <a:xfrm>
            <a:off x="213546" y="4740037"/>
            <a:ext cx="6407100" cy="461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125cd87e9e5_0_3: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es-A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25cd87e9e5_0_14:notes"/>
          <p:cNvSpPr/>
          <p:nvPr>
            <p:ph idx="2" type="sldImg"/>
          </p:nvPr>
        </p:nvSpPr>
        <p:spPr>
          <a:xfrm>
            <a:off x="534988" y="623888"/>
            <a:ext cx="5764200" cy="3990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125cd87e9e5_0_14:notes"/>
          <p:cNvSpPr txBox="1"/>
          <p:nvPr>
            <p:ph idx="1" type="body"/>
          </p:nvPr>
        </p:nvSpPr>
        <p:spPr>
          <a:xfrm>
            <a:off x="213546" y="4740037"/>
            <a:ext cx="6407100" cy="4615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125cd87e9e5_0_14:notes"/>
          <p:cNvSpPr txBox="1"/>
          <p:nvPr>
            <p:ph idx="11" type="ftr"/>
          </p:nvPr>
        </p:nvSpPr>
        <p:spPr>
          <a:xfrm>
            <a:off x="0" y="9478342"/>
            <a:ext cx="2961600" cy="498900"/>
          </a:xfrm>
          <a:prstGeom prst="rect">
            <a:avLst/>
          </a:prstGeom>
          <a:noFill/>
          <a:ln>
            <a:noFill/>
          </a:ln>
        </p:spPr>
        <p:txBody>
          <a:bodyPr anchorCtr="0" anchor="b" bIns="180000" lIns="180000" spcFirstLastPara="1" rIns="72000" wrap="square" tIns="36000">
            <a:noAutofit/>
          </a:bodyPr>
          <a:lstStyle/>
          <a:p>
            <a:pPr indent="0" lvl="0" marL="0" rtl="0" algn="l">
              <a:lnSpc>
                <a:spcPct val="100000"/>
              </a:lnSpc>
              <a:spcBef>
                <a:spcPts val="0"/>
              </a:spcBef>
              <a:spcAft>
                <a:spcPts val="0"/>
              </a:spcAft>
              <a:buSzPts val="1400"/>
              <a:buNone/>
            </a:pPr>
            <a:r>
              <a:rPr lang="es-AR"/>
              <a:t>© 2010 Capgemini. All rights reserved.</a:t>
            </a:r>
            <a:endParaRPr/>
          </a:p>
        </p:txBody>
      </p:sp>
      <p:sp>
        <p:nvSpPr>
          <p:cNvPr id="360" name="Google Shape;360;g125cd87e9e5_0_14:notes"/>
          <p:cNvSpPr txBox="1"/>
          <p:nvPr>
            <p:ph idx="12" type="sldNum"/>
          </p:nvPr>
        </p:nvSpPr>
        <p:spPr>
          <a:xfrm>
            <a:off x="3871125" y="9478342"/>
            <a:ext cx="2961600" cy="498900"/>
          </a:xfrm>
          <a:prstGeom prst="rect">
            <a:avLst/>
          </a:prstGeom>
          <a:noFill/>
          <a:ln>
            <a:noFill/>
          </a:ln>
        </p:spPr>
        <p:txBody>
          <a:bodyPr anchorCtr="0" anchor="b" bIns="180000" lIns="72000" spcFirstLastPara="1" rIns="180000" wrap="square" tIns="36000">
            <a:noAutofit/>
          </a:bodyPr>
          <a:lstStyle/>
          <a:p>
            <a:pPr indent="0" lvl="0" marL="0" rtl="0" algn="r">
              <a:lnSpc>
                <a:spcPct val="100000"/>
              </a:lnSpc>
              <a:spcBef>
                <a:spcPts val="0"/>
              </a:spcBef>
              <a:spcAft>
                <a:spcPts val="0"/>
              </a:spcAft>
              <a:buSzPts val="1400"/>
              <a:buNone/>
            </a:pPr>
            <a:fld id="{00000000-1234-1234-1234-123412341234}" type="slidenum">
              <a:rPr lang="es-A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p:cSld name="Cover-People">
    <p:spTree>
      <p:nvGrpSpPr>
        <p:cNvPr id="13" name="Shape 13"/>
        <p:cNvGrpSpPr/>
        <p:nvPr/>
      </p:nvGrpSpPr>
      <p:grpSpPr>
        <a:xfrm>
          <a:off x="0" y="0"/>
          <a:ext cx="0" cy="0"/>
          <a:chOff x="0" y="0"/>
          <a:chExt cx="0" cy="0"/>
        </a:xfrm>
      </p:grpSpPr>
      <p:sp>
        <p:nvSpPr>
          <p:cNvPr id="14" name="Google Shape;14;p30"/>
          <p:cNvSpPr/>
          <p:nvPr/>
        </p:nvSpPr>
        <p:spPr>
          <a:xfrm>
            <a:off x="-7943" y="6286500"/>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30"/>
          <p:cNvSpPr/>
          <p:nvPr/>
        </p:nvSpPr>
        <p:spPr>
          <a:xfrm>
            <a:off x="-24977" y="1196958"/>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6" name="Shape 16"/>
        <p:cNvGrpSpPr/>
        <p:nvPr/>
      </p:nvGrpSpPr>
      <p:grpSpPr>
        <a:xfrm>
          <a:off x="0" y="0"/>
          <a:ext cx="0" cy="0"/>
          <a:chOff x="0" y="0"/>
          <a:chExt cx="0" cy="0"/>
        </a:xfrm>
      </p:grpSpPr>
      <p:sp>
        <p:nvSpPr>
          <p:cNvPr id="17" name="Google Shape;17;p31"/>
          <p:cNvSpPr/>
          <p:nvPr/>
        </p:nvSpPr>
        <p:spPr>
          <a:xfrm>
            <a:off x="-24977" y="1196958"/>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32"/>
          <p:cNvSpPr txBox="1"/>
          <p:nvPr>
            <p:ph idx="10" type="dt"/>
          </p:nvPr>
        </p:nvSpPr>
        <p:spPr>
          <a:xfrm>
            <a:off x="742950" y="6248400"/>
            <a:ext cx="206375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32"/>
          <p:cNvSpPr txBox="1"/>
          <p:nvPr>
            <p:ph idx="11" type="ftr"/>
          </p:nvPr>
        </p:nvSpPr>
        <p:spPr>
          <a:xfrm>
            <a:off x="3384550" y="6248400"/>
            <a:ext cx="31368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p32"/>
          <p:cNvSpPr txBox="1"/>
          <p:nvPr>
            <p:ph idx="12" type="sldNum"/>
          </p:nvPr>
        </p:nvSpPr>
        <p:spPr>
          <a:xfrm>
            <a:off x="7099300" y="6248400"/>
            <a:ext cx="206375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AR"/>
              <a:t>‹#›</a:t>
            </a:fld>
            <a:endParaRPr/>
          </a:p>
        </p:txBody>
      </p:sp>
      <p:sp>
        <p:nvSpPr>
          <p:cNvPr id="22" name="Google Shape;22;p32"/>
          <p:cNvSpPr/>
          <p:nvPr/>
        </p:nvSpPr>
        <p:spPr>
          <a:xfrm>
            <a:off x="-24977" y="1196958"/>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3"/>
          <p:cNvSpPr txBox="1"/>
          <p:nvPr>
            <p:ph type="title"/>
          </p:nvPr>
        </p:nvSpPr>
        <p:spPr>
          <a:xfrm>
            <a:off x="0" y="0"/>
            <a:ext cx="9906000" cy="1187999"/>
          </a:xfrm>
          <a:prstGeom prst="rect">
            <a:avLst/>
          </a:prstGeom>
          <a:noFill/>
          <a:ln>
            <a:noFill/>
          </a:ln>
        </p:spPr>
        <p:txBody>
          <a:bodyPr anchorCtr="0" anchor="ctr" bIns="91425" lIns="91425" spcFirstLastPara="1" rIns="91425" wrap="square" tIns="91425">
            <a:noAutofit/>
          </a:bodyPr>
          <a:lstStyle>
            <a:lvl1pPr lvl="0" marR="0" algn="ctr">
              <a:lnSpc>
                <a:spcPct val="90000"/>
              </a:lnSpc>
              <a:spcBef>
                <a:spcPts val="0"/>
              </a:spcBef>
              <a:spcAft>
                <a:spcPts val="0"/>
              </a:spcAft>
              <a:buClr>
                <a:schemeClr val="dk2"/>
              </a:buClr>
              <a:buSzPts val="1400"/>
              <a:buFont typeface="Arial Narrow"/>
              <a:buNone/>
              <a:defRPr b="1" i="0" sz="3000" u="none" cap="none" strike="noStrike">
                <a:solidFill>
                  <a:schemeClr val="dk2"/>
                </a:solidFill>
                <a:latin typeface="Arial Narrow"/>
                <a:ea typeface="Arial Narrow"/>
                <a:cs typeface="Arial Narrow"/>
                <a:sym typeface="Arial Narrow"/>
              </a:defRPr>
            </a:lvl1pPr>
            <a:lvl2pPr lvl="1" algn="l">
              <a:lnSpc>
                <a:spcPct val="100000"/>
              </a:lnSpc>
              <a:spcBef>
                <a:spcPts val="0"/>
              </a:spcBef>
              <a:spcAft>
                <a:spcPts val="0"/>
              </a:spcAft>
              <a:buSzPts val="1400"/>
              <a:buFont typeface="Arial"/>
              <a:buNone/>
              <a:defRPr sz="1800"/>
            </a:lvl2pPr>
            <a:lvl3pPr lvl="2" algn="l">
              <a:lnSpc>
                <a:spcPct val="100000"/>
              </a:lnSpc>
              <a:spcBef>
                <a:spcPts val="0"/>
              </a:spcBef>
              <a:spcAft>
                <a:spcPts val="0"/>
              </a:spcAft>
              <a:buSzPts val="1400"/>
              <a:buFont typeface="Arial"/>
              <a:buNone/>
              <a:defRPr sz="1800"/>
            </a:lvl3pPr>
            <a:lvl4pPr lvl="3" algn="l">
              <a:lnSpc>
                <a:spcPct val="100000"/>
              </a:lnSpc>
              <a:spcBef>
                <a:spcPts val="0"/>
              </a:spcBef>
              <a:spcAft>
                <a:spcPts val="0"/>
              </a:spcAft>
              <a:buSzPts val="1400"/>
              <a:buFont typeface="Arial"/>
              <a:buNone/>
              <a:defRPr sz="1800"/>
            </a:lvl4pPr>
            <a:lvl5pPr lvl="4" algn="l">
              <a:lnSpc>
                <a:spcPct val="100000"/>
              </a:lnSpc>
              <a:spcBef>
                <a:spcPts val="0"/>
              </a:spcBef>
              <a:spcAft>
                <a:spcPts val="0"/>
              </a:spcAft>
              <a:buSzPts val="1400"/>
              <a:buFont typeface="Arial"/>
              <a:buNone/>
              <a:defRPr sz="1800"/>
            </a:lvl5pPr>
            <a:lvl6pPr lvl="5" algn="l">
              <a:lnSpc>
                <a:spcPct val="100000"/>
              </a:lnSpc>
              <a:spcBef>
                <a:spcPts val="0"/>
              </a:spcBef>
              <a:spcAft>
                <a:spcPts val="0"/>
              </a:spcAft>
              <a:buSzPts val="1400"/>
              <a:buFont typeface="Arial"/>
              <a:buNone/>
              <a:defRPr sz="1800"/>
            </a:lvl6pPr>
            <a:lvl7pPr lvl="6" algn="l">
              <a:lnSpc>
                <a:spcPct val="100000"/>
              </a:lnSpc>
              <a:spcBef>
                <a:spcPts val="0"/>
              </a:spcBef>
              <a:spcAft>
                <a:spcPts val="0"/>
              </a:spcAft>
              <a:buSzPts val="1400"/>
              <a:buFont typeface="Arial"/>
              <a:buNone/>
              <a:defRPr sz="1800"/>
            </a:lvl7pPr>
            <a:lvl8pPr lvl="7" algn="l">
              <a:lnSpc>
                <a:spcPct val="100000"/>
              </a:lnSpc>
              <a:spcBef>
                <a:spcPts val="0"/>
              </a:spcBef>
              <a:spcAft>
                <a:spcPts val="0"/>
              </a:spcAft>
              <a:buSzPts val="1400"/>
              <a:buFont typeface="Arial"/>
              <a:buNone/>
              <a:defRPr sz="1800"/>
            </a:lvl8pPr>
            <a:lvl9pPr lvl="8" algn="l">
              <a:lnSpc>
                <a:spcPct val="100000"/>
              </a:lnSpc>
              <a:spcBef>
                <a:spcPts val="0"/>
              </a:spcBef>
              <a:spcAft>
                <a:spcPts val="0"/>
              </a:spcAft>
              <a:buSzPts val="1400"/>
              <a:buFont typeface="Arial"/>
              <a:buNone/>
              <a:defRPr sz="1800"/>
            </a:lvl9pPr>
          </a:lstStyle>
          <a:p/>
        </p:txBody>
      </p:sp>
      <p:sp>
        <p:nvSpPr>
          <p:cNvPr id="25" name="Google Shape;25;p33"/>
          <p:cNvSpPr txBox="1"/>
          <p:nvPr>
            <p:ph idx="1" type="body"/>
          </p:nvPr>
        </p:nvSpPr>
        <p:spPr>
          <a:xfrm>
            <a:off x="0" y="1440000"/>
            <a:ext cx="9906000" cy="4679999"/>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6" name="Google Shape;26;p33"/>
          <p:cNvSpPr txBox="1"/>
          <p:nvPr>
            <p:ph idx="11" type="ftr"/>
          </p:nvPr>
        </p:nvSpPr>
        <p:spPr>
          <a:xfrm>
            <a:off x="567531" y="6245225"/>
            <a:ext cx="3136899" cy="476249"/>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33"/>
          <p:cNvSpPr txBox="1"/>
          <p:nvPr>
            <p:ph idx="12" type="sldNum"/>
          </p:nvPr>
        </p:nvSpPr>
        <p:spPr>
          <a:xfrm>
            <a:off x="4017432" y="6265862"/>
            <a:ext cx="2311400" cy="476249"/>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s Info">
  <p:cSld name="Contacts Info">
    <p:spTree>
      <p:nvGrpSpPr>
        <p:cNvPr id="28" name="Shape 28"/>
        <p:cNvGrpSpPr/>
        <p:nvPr/>
      </p:nvGrpSpPr>
      <p:grpSpPr>
        <a:xfrm>
          <a:off x="0" y="0"/>
          <a:ext cx="0" cy="0"/>
          <a:chOff x="0" y="0"/>
          <a:chExt cx="0" cy="0"/>
        </a:xfrm>
      </p:grpSpPr>
      <p:sp>
        <p:nvSpPr>
          <p:cNvPr id="29" name="Google Shape;29;p34"/>
          <p:cNvSpPr txBox="1"/>
          <p:nvPr>
            <p:ph idx="12" type="sldNum"/>
          </p:nvPr>
        </p:nvSpPr>
        <p:spPr>
          <a:xfrm>
            <a:off x="9648000" y="6732000"/>
            <a:ext cx="251998" cy="104774"/>
          </a:xfrm>
          <a:prstGeom prst="rect">
            <a:avLst/>
          </a:prstGeom>
          <a:noFill/>
          <a:ln>
            <a:noFill/>
          </a:ln>
        </p:spPr>
        <p:txBody>
          <a:bodyPr anchorCtr="0" anchor="ctr" bIns="0" lIns="36000" spcFirstLastPara="1" rIns="36000" wrap="square" tIns="0">
            <a:noAutofit/>
          </a:bodyPr>
          <a:lstStyle>
            <a:lvl1pPr indent="0" lvl="0"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r">
              <a:lnSpc>
                <a:spcPct val="85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AR"/>
              <a:t>‹#›</a:t>
            </a:fld>
            <a:endParaRPr/>
          </a:p>
        </p:txBody>
      </p:sp>
      <p:sp>
        <p:nvSpPr>
          <p:cNvPr descr="images (1).jpg" id="30" name="Google Shape;30;p34"/>
          <p:cNvSpPr/>
          <p:nvPr/>
        </p:nvSpPr>
        <p:spPr>
          <a:xfrm>
            <a:off x="6357982" y="2571742"/>
            <a:ext cx="3524238" cy="4286255"/>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mages (1).jpg" id="31" name="Google Shape;31;p34"/>
          <p:cNvSpPr/>
          <p:nvPr/>
        </p:nvSpPr>
        <p:spPr>
          <a:xfrm>
            <a:off x="0" y="0"/>
            <a:ext cx="2724146" cy="3143247"/>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4"/>
          <p:cNvSpPr/>
          <p:nvPr/>
        </p:nvSpPr>
        <p:spPr>
          <a:xfrm flipH="1" rot="10800000">
            <a:off x="3309926" y="1214422"/>
            <a:ext cx="6572296"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34"/>
          <p:cNvSpPr/>
          <p:nvPr/>
        </p:nvSpPr>
        <p:spPr>
          <a:xfrm flipH="1">
            <a:off x="0" y="5715016"/>
            <a:ext cx="5524504" cy="45718"/>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34" name="Shape 34"/>
        <p:cNvGrpSpPr/>
        <p:nvPr/>
      </p:nvGrpSpPr>
      <p:grpSpPr>
        <a:xfrm>
          <a:off x="0" y="0"/>
          <a:ext cx="0" cy="0"/>
          <a:chOff x="0" y="0"/>
          <a:chExt cx="0" cy="0"/>
        </a:xfrm>
      </p:grpSpPr>
      <p:sp>
        <p:nvSpPr>
          <p:cNvPr id="35" name="Google Shape;35;g1f56a3749ef_0_179"/>
          <p:cNvSpPr/>
          <p:nvPr/>
        </p:nvSpPr>
        <p:spPr>
          <a:xfrm>
            <a:off x="600" y="1091668"/>
            <a:ext cx="99243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0"/>
              <a:buFont typeface="Arial"/>
              <a:buNone/>
            </a:pPr>
            <a:r>
              <a:t/>
            </a:r>
            <a:endParaRPr b="0" i="0" sz="1660" u="none" cap="none" strike="noStrike">
              <a:solidFill>
                <a:schemeClr val="dk1"/>
              </a:solidFill>
              <a:latin typeface="Calibri"/>
              <a:ea typeface="Calibri"/>
              <a:cs typeface="Calibri"/>
              <a:sym typeface="Calibri"/>
            </a:endParaRPr>
          </a:p>
        </p:txBody>
      </p:sp>
      <p:pic>
        <p:nvPicPr>
          <p:cNvPr descr="Image result for utn frba" id="36" name="Google Shape;36;g1f56a3749ef_0_179"/>
          <p:cNvPicPr preferRelativeResize="0"/>
          <p:nvPr/>
        </p:nvPicPr>
        <p:blipFill rotWithShape="1">
          <a:blip r:embed="rId2">
            <a:alphaModFix/>
          </a:blip>
          <a:srcRect b="0" l="0" r="0" t="0"/>
          <a:stretch/>
        </p:blipFill>
        <p:spPr>
          <a:xfrm>
            <a:off x="7003961" y="64396"/>
            <a:ext cx="2828932" cy="95274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29"/>
          <p:cNvSpPr txBox="1"/>
          <p:nvPr>
            <p:ph type="title"/>
          </p:nvPr>
        </p:nvSpPr>
        <p:spPr>
          <a:xfrm>
            <a:off x="0" y="0"/>
            <a:ext cx="9906000" cy="1187999"/>
          </a:xfrm>
          <a:prstGeom prst="rect">
            <a:avLst/>
          </a:prstGeom>
          <a:noFill/>
          <a:ln>
            <a:noFill/>
          </a:ln>
        </p:spPr>
        <p:txBody>
          <a:bodyPr anchorCtr="0" anchor="ctr" bIns="91425" lIns="91425" spcFirstLastPara="1" rIns="91425" wrap="square" tIns="91425">
            <a:noAutofit/>
          </a:bodyPr>
          <a:lstStyle>
            <a:lvl1pPr lvl="0" marR="0" rtl="0" algn="ctr">
              <a:lnSpc>
                <a:spcPct val="90000"/>
              </a:lnSpc>
              <a:spcBef>
                <a:spcPts val="0"/>
              </a:spcBef>
              <a:spcAft>
                <a:spcPts val="0"/>
              </a:spcAft>
              <a:buClr>
                <a:schemeClr val="dk2"/>
              </a:buClr>
              <a:buSzPts val="14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9"/>
          <p:cNvSpPr/>
          <p:nvPr/>
        </p:nvSpPr>
        <p:spPr>
          <a:xfrm>
            <a:off x="-7943" y="6286500"/>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29"/>
          <p:cNvSpPr txBox="1"/>
          <p:nvPr>
            <p:ph idx="1" type="body"/>
          </p:nvPr>
        </p:nvSpPr>
        <p:spPr>
          <a:xfrm>
            <a:off x="0" y="1440000"/>
            <a:ext cx="9906000" cy="4679999"/>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Resultado de imagen para utn regional buenos aires ingenieria industrial" id="12" name="Google Shape;12;p29"/>
          <p:cNvPicPr preferRelativeResize="0"/>
          <p:nvPr/>
        </p:nvPicPr>
        <p:blipFill rotWithShape="1">
          <a:blip r:embed="rId1">
            <a:alphaModFix/>
          </a:blip>
          <a:srcRect b="0" l="0" r="0" t="0"/>
          <a:stretch/>
        </p:blipFill>
        <p:spPr>
          <a:xfrm>
            <a:off x="7060820" y="7937"/>
            <a:ext cx="2857499" cy="10948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9.png"/><Relationship Id="rId5" Type="http://schemas.openxmlformats.org/officeDocument/2006/relationships/hyperlink" Target="https://www.youtube.com/watch?v=epXqgrm2hs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29.png"/><Relationship Id="rId5" Type="http://schemas.openxmlformats.org/officeDocument/2006/relationships/hyperlink" Target="https://www.youtube.com/watch?v=qlSHg8OoKL4"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7.jp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1.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youtube.com/watch?v=hIeTQNHtPZc" TargetMode="External"/><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4.png"/><Relationship Id="rId4" Type="http://schemas.openxmlformats.org/officeDocument/2006/relationships/image" Target="../media/image28.png"/><Relationship Id="rId11" Type="http://schemas.openxmlformats.org/officeDocument/2006/relationships/image" Target="../media/image36.png"/><Relationship Id="rId10" Type="http://schemas.openxmlformats.org/officeDocument/2006/relationships/image" Target="../media/image50.png"/><Relationship Id="rId9" Type="http://schemas.openxmlformats.org/officeDocument/2006/relationships/image" Target="../media/image39.png"/><Relationship Id="rId5" Type="http://schemas.openxmlformats.org/officeDocument/2006/relationships/image" Target="../media/image27.png"/><Relationship Id="rId6" Type="http://schemas.openxmlformats.org/officeDocument/2006/relationships/image" Target="../media/image38.png"/><Relationship Id="rId7" Type="http://schemas.openxmlformats.org/officeDocument/2006/relationships/image" Target="../media/image31.png"/><Relationship Id="rId8"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descr="https://encrypted-tbn2.gstatic.com/images?q=tbn:ANd9GcRcyGsKQFbNE159vcUw6iMcDisELRoVKzvai6d3iJrA-_BtH5dgBw" id="41" name="Google Shape;41;p1"/>
          <p:cNvSpPr/>
          <p:nvPr/>
        </p:nvSpPr>
        <p:spPr>
          <a:xfrm>
            <a:off x="155575" y="-144463"/>
            <a:ext cx="304798"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1"/>
          <p:cNvSpPr txBox="1"/>
          <p:nvPr/>
        </p:nvSpPr>
        <p:spPr>
          <a:xfrm>
            <a:off x="2381232" y="3998855"/>
            <a:ext cx="6143666" cy="1338828"/>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1" i="0" lang="es-AR" sz="1800" u="none" cap="none" strike="noStrike">
                <a:solidFill>
                  <a:schemeClr val="dk1"/>
                </a:solidFill>
                <a:latin typeface="Arial"/>
                <a:ea typeface="Arial"/>
                <a:cs typeface="Arial"/>
                <a:sym typeface="Arial"/>
              </a:rPr>
              <a:t>INGENIERÍA INDUSTRIAL</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1" i="0" lang="es-AR" sz="1800" u="none" cap="none" strike="noStrike">
                <a:solidFill>
                  <a:schemeClr val="dk1"/>
                </a:solidFill>
                <a:latin typeface="Arial"/>
                <a:ea typeface="Arial"/>
                <a:cs typeface="Arial"/>
                <a:sym typeface="Arial"/>
              </a:rPr>
              <a:t>CÁTEDRA RELACIONES INDUSTRIALES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1" i="0" lang="es-AR" sz="1800" u="none" cap="none" strike="noStrike">
                <a:solidFill>
                  <a:schemeClr val="dk1"/>
                </a:solidFill>
                <a:latin typeface="Arial"/>
                <a:ea typeface="Arial"/>
                <a:cs typeface="Arial"/>
                <a:sym typeface="Arial"/>
              </a:rPr>
              <a:t>Clase  – Cambio y Neurociencias</a:t>
            </a:r>
            <a:endParaRPr b="1" i="0" sz="1800" u="none" cap="none" strike="noStrike">
              <a:solidFill>
                <a:schemeClr val="dk1"/>
              </a:solidFill>
              <a:latin typeface="Arial"/>
              <a:ea typeface="Arial"/>
              <a:cs typeface="Arial"/>
              <a:sym typeface="Arial"/>
            </a:endParaRPr>
          </a:p>
        </p:txBody>
      </p:sp>
      <p:pic>
        <p:nvPicPr>
          <p:cNvPr descr="Resultado de imagen para utn regional buenos aires" id="43" name="Google Shape;43;p1"/>
          <p:cNvPicPr preferRelativeResize="0"/>
          <p:nvPr/>
        </p:nvPicPr>
        <p:blipFill rotWithShape="1">
          <a:blip r:embed="rId3">
            <a:alphaModFix/>
          </a:blip>
          <a:srcRect b="0" l="0" r="0" t="0"/>
          <a:stretch/>
        </p:blipFill>
        <p:spPr>
          <a:xfrm>
            <a:off x="2010255" y="2053175"/>
            <a:ext cx="4513063" cy="1627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g125cd87e9e5_0_125"/>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2800"/>
              <a:buFont typeface="Arial Narrow"/>
              <a:buNone/>
            </a:pPr>
            <a:r>
              <a:rPr b="1" i="0" lang="es-AR" sz="2800" u="none" cap="none" strike="noStrike">
                <a:solidFill>
                  <a:srgbClr val="932328"/>
                </a:solidFill>
                <a:latin typeface="Arial Narrow"/>
                <a:ea typeface="Arial Narrow"/>
                <a:cs typeface="Arial Narrow"/>
                <a:sym typeface="Arial Narrow"/>
              </a:rPr>
              <a:t>Caso</a:t>
            </a:r>
            <a:endParaRPr b="0" i="0" sz="1400" u="none" cap="none" strike="noStrike">
              <a:solidFill>
                <a:srgbClr val="000000"/>
              </a:solidFill>
              <a:latin typeface="Arial"/>
              <a:ea typeface="Arial"/>
              <a:cs typeface="Arial"/>
              <a:sym typeface="Arial"/>
            </a:endParaRPr>
          </a:p>
        </p:txBody>
      </p:sp>
      <p:pic>
        <p:nvPicPr>
          <p:cNvPr descr="Resultado de imagen para utn regional buenos aires ingenieria industrial" id="49" name="Google Shape;49;g125cd87e9e5_0_125"/>
          <p:cNvPicPr preferRelativeResize="0"/>
          <p:nvPr/>
        </p:nvPicPr>
        <p:blipFill rotWithShape="1">
          <a:blip r:embed="rId3">
            <a:alphaModFix/>
          </a:blip>
          <a:srcRect b="0" l="0" r="0" t="0"/>
          <a:stretch/>
        </p:blipFill>
        <p:spPr>
          <a:xfrm>
            <a:off x="7060820" y="7937"/>
            <a:ext cx="2857499" cy="1094873"/>
          </a:xfrm>
          <a:prstGeom prst="rect">
            <a:avLst/>
          </a:prstGeom>
          <a:noFill/>
          <a:ln>
            <a:noFill/>
          </a:ln>
        </p:spPr>
      </p:pic>
      <p:pic>
        <p:nvPicPr>
          <p:cNvPr id="50" name="Google Shape;50;g125cd87e9e5_0_125"/>
          <p:cNvPicPr preferRelativeResize="0"/>
          <p:nvPr/>
        </p:nvPicPr>
        <p:blipFill rotWithShape="1">
          <a:blip r:embed="rId4">
            <a:alphaModFix/>
          </a:blip>
          <a:srcRect b="0" l="0" r="0" t="0"/>
          <a:stretch/>
        </p:blipFill>
        <p:spPr>
          <a:xfrm>
            <a:off x="76200" y="2252525"/>
            <a:ext cx="9753599" cy="292117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9"/>
          <p:cNvSpPr txBox="1"/>
          <p:nvPr/>
        </p:nvSpPr>
        <p:spPr>
          <a:xfrm>
            <a:off x="1077500" y="5382900"/>
            <a:ext cx="8156100" cy="8526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34455"/>
              </a:buClr>
              <a:buSzPts val="4800"/>
              <a:buFont typeface="Arial"/>
              <a:buNone/>
            </a:pPr>
            <a:r>
              <a:rPr b="1" i="0" lang="es-AR" sz="3000" u="none" cap="none" strike="noStrike">
                <a:solidFill>
                  <a:schemeClr val="dk1"/>
                </a:solidFill>
                <a:latin typeface="Arial"/>
                <a:ea typeface="Arial"/>
                <a:cs typeface="Arial"/>
                <a:sym typeface="Arial"/>
              </a:rPr>
              <a:t>¿Por qué creen que hablamos de</a:t>
            </a:r>
            <a:r>
              <a:rPr b="0" i="0" lang="es-AR" sz="3000" u="none" cap="none" strike="noStrike">
                <a:solidFill>
                  <a:schemeClr val="dk1"/>
                </a:solidFill>
                <a:latin typeface="Arial"/>
                <a:ea typeface="Arial"/>
                <a:cs typeface="Arial"/>
                <a:sym typeface="Arial"/>
              </a:rPr>
              <a:t> </a:t>
            </a:r>
            <a:r>
              <a:rPr b="1" i="0" lang="es-AR" sz="3000" u="none" cap="none" strike="noStrike">
                <a:solidFill>
                  <a:schemeClr val="dk1"/>
                </a:solidFill>
                <a:latin typeface="Arial"/>
                <a:ea typeface="Arial"/>
                <a:cs typeface="Arial"/>
                <a:sym typeface="Arial"/>
              </a:rPr>
              <a:t>CAMBIO?</a:t>
            </a:r>
            <a:endParaRPr b="1" i="0" sz="3000" u="none" cap="none" strike="noStrike">
              <a:solidFill>
                <a:schemeClr val="dk1"/>
              </a:solidFill>
              <a:latin typeface="Arial"/>
              <a:ea typeface="Arial"/>
              <a:cs typeface="Arial"/>
              <a:sym typeface="Arial"/>
            </a:endParaRPr>
          </a:p>
        </p:txBody>
      </p:sp>
      <p:sp>
        <p:nvSpPr>
          <p:cNvPr id="56" name="Google Shape;56;p9"/>
          <p:cNvSpPr txBox="1"/>
          <p:nvPr/>
        </p:nvSpPr>
        <p:spPr>
          <a:xfrm>
            <a:off x="263775" y="379175"/>
            <a:ext cx="3000000" cy="517200"/>
          </a:xfrm>
          <a:prstGeom prst="rect">
            <a:avLst/>
          </a:prstGeom>
          <a:noFill/>
          <a:ln>
            <a:noFill/>
          </a:ln>
        </p:spPr>
        <p:txBody>
          <a:bodyPr anchorCtr="0" anchor="t" bIns="91425" lIns="91425" spcFirstLastPara="1" rIns="91425" wrap="square" tIns="91425">
            <a:spAutoFit/>
          </a:bodyPr>
          <a:lstStyle/>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932328"/>
                </a:solidFill>
                <a:latin typeface="Arial"/>
                <a:ea typeface="Arial"/>
                <a:cs typeface="Arial"/>
                <a:sym typeface="Arial"/>
              </a:rPr>
              <a:t>Cambio</a:t>
            </a:r>
            <a:endParaRPr b="0" i="0" sz="1400" u="none" cap="none" strike="noStrike">
              <a:solidFill>
                <a:srgbClr val="000000"/>
              </a:solidFill>
              <a:latin typeface="Arial"/>
              <a:ea typeface="Arial"/>
              <a:cs typeface="Arial"/>
              <a:sym typeface="Arial"/>
            </a:endParaRPr>
          </a:p>
        </p:txBody>
      </p:sp>
      <p:pic>
        <p:nvPicPr>
          <p:cNvPr id="57" name="Google Shape;57;p9"/>
          <p:cNvPicPr preferRelativeResize="0"/>
          <p:nvPr/>
        </p:nvPicPr>
        <p:blipFill rotWithShape="1">
          <a:blip r:embed="rId3">
            <a:alphaModFix/>
          </a:blip>
          <a:srcRect b="0" l="0" r="0" t="0"/>
          <a:stretch/>
        </p:blipFill>
        <p:spPr>
          <a:xfrm>
            <a:off x="1151388" y="1426913"/>
            <a:ext cx="8008325" cy="40041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125afe6fff8_0_27"/>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Mundo VUCA:</a:t>
            </a:r>
            <a:endParaRPr b="0" i="0" sz="1400" u="none" cap="none" strike="noStrike">
              <a:solidFill>
                <a:srgbClr val="000000"/>
              </a:solidFill>
              <a:latin typeface="Arial"/>
              <a:ea typeface="Arial"/>
              <a:cs typeface="Arial"/>
              <a:sym typeface="Arial"/>
            </a:endParaRPr>
          </a:p>
        </p:txBody>
      </p:sp>
      <p:pic>
        <p:nvPicPr>
          <p:cNvPr id="63" name="Google Shape;63;g125afe6fff8_0_27"/>
          <p:cNvPicPr preferRelativeResize="0"/>
          <p:nvPr/>
        </p:nvPicPr>
        <p:blipFill rotWithShape="1">
          <a:blip r:embed="rId3">
            <a:alphaModFix/>
          </a:blip>
          <a:srcRect b="0" l="0" r="0" t="0"/>
          <a:stretch/>
        </p:blipFill>
        <p:spPr>
          <a:xfrm>
            <a:off x="1938663" y="1352850"/>
            <a:ext cx="6259474" cy="4924125"/>
          </a:xfrm>
          <a:prstGeom prst="rect">
            <a:avLst/>
          </a:prstGeom>
          <a:noFill/>
          <a:ln>
            <a:noFill/>
          </a:ln>
        </p:spPr>
      </p:pic>
      <p:pic>
        <p:nvPicPr>
          <p:cNvPr id="64" name="Google Shape;64;g125afe6fff8_0_27"/>
          <p:cNvPicPr preferRelativeResize="0"/>
          <p:nvPr/>
        </p:nvPicPr>
        <p:blipFill rotWithShape="1">
          <a:blip r:embed="rId4">
            <a:alphaModFix/>
          </a:blip>
          <a:srcRect b="0" l="0" r="0" t="0"/>
          <a:stretch/>
        </p:blipFill>
        <p:spPr>
          <a:xfrm>
            <a:off x="2600150" y="4482288"/>
            <a:ext cx="544318" cy="415575"/>
          </a:xfrm>
          <a:prstGeom prst="rect">
            <a:avLst/>
          </a:prstGeom>
          <a:noFill/>
          <a:ln>
            <a:noFill/>
          </a:ln>
        </p:spPr>
      </p:pic>
      <p:pic>
        <p:nvPicPr>
          <p:cNvPr id="65" name="Google Shape;65;g125afe6fff8_0_27"/>
          <p:cNvPicPr preferRelativeResize="0"/>
          <p:nvPr/>
        </p:nvPicPr>
        <p:blipFill rotWithShape="1">
          <a:blip r:embed="rId5">
            <a:alphaModFix/>
          </a:blip>
          <a:srcRect b="0" l="0" r="0" t="0"/>
          <a:stretch/>
        </p:blipFill>
        <p:spPr>
          <a:xfrm>
            <a:off x="3995951" y="4444084"/>
            <a:ext cx="544318" cy="407418"/>
          </a:xfrm>
          <a:prstGeom prst="rect">
            <a:avLst/>
          </a:prstGeom>
          <a:noFill/>
          <a:ln>
            <a:noFill/>
          </a:ln>
        </p:spPr>
      </p:pic>
      <p:pic>
        <p:nvPicPr>
          <p:cNvPr id="66" name="Google Shape;66;g125afe6fff8_0_27"/>
          <p:cNvPicPr preferRelativeResize="0"/>
          <p:nvPr/>
        </p:nvPicPr>
        <p:blipFill rotWithShape="1">
          <a:blip r:embed="rId6">
            <a:alphaModFix/>
          </a:blip>
          <a:srcRect b="0" l="0" r="0" t="0"/>
          <a:stretch/>
        </p:blipFill>
        <p:spPr>
          <a:xfrm>
            <a:off x="5391745" y="4410250"/>
            <a:ext cx="607287" cy="475087"/>
          </a:xfrm>
          <a:prstGeom prst="rect">
            <a:avLst/>
          </a:prstGeom>
          <a:noFill/>
          <a:ln>
            <a:noFill/>
          </a:ln>
        </p:spPr>
      </p:pic>
      <p:pic>
        <p:nvPicPr>
          <p:cNvPr id="67" name="Google Shape;67;g125afe6fff8_0_27"/>
          <p:cNvPicPr preferRelativeResize="0"/>
          <p:nvPr/>
        </p:nvPicPr>
        <p:blipFill rotWithShape="1">
          <a:blip r:embed="rId7">
            <a:alphaModFix/>
          </a:blip>
          <a:srcRect b="0" l="0" r="0" t="0"/>
          <a:stretch/>
        </p:blipFill>
        <p:spPr>
          <a:xfrm>
            <a:off x="6850496" y="4452538"/>
            <a:ext cx="672604" cy="4750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125afe6fff8_0_54"/>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Mundo BANI:</a:t>
            </a:r>
            <a:endParaRPr b="0" i="0" sz="1400" u="none" cap="none" strike="noStrike">
              <a:solidFill>
                <a:srgbClr val="000000"/>
              </a:solidFill>
              <a:latin typeface="Arial"/>
              <a:ea typeface="Arial"/>
              <a:cs typeface="Arial"/>
              <a:sym typeface="Arial"/>
            </a:endParaRPr>
          </a:p>
        </p:txBody>
      </p:sp>
      <p:pic>
        <p:nvPicPr>
          <p:cNvPr id="73" name="Google Shape;73;g125afe6fff8_0_54"/>
          <p:cNvPicPr preferRelativeResize="0"/>
          <p:nvPr/>
        </p:nvPicPr>
        <p:blipFill rotWithShape="1">
          <a:blip r:embed="rId3">
            <a:alphaModFix/>
          </a:blip>
          <a:srcRect b="0" l="0" r="0" t="0"/>
          <a:stretch/>
        </p:blipFill>
        <p:spPr>
          <a:xfrm>
            <a:off x="1908575" y="1621944"/>
            <a:ext cx="3144434" cy="4109743"/>
          </a:xfrm>
          <a:prstGeom prst="rect">
            <a:avLst/>
          </a:prstGeom>
          <a:noFill/>
          <a:ln>
            <a:noFill/>
          </a:ln>
        </p:spPr>
      </p:pic>
      <p:pic>
        <p:nvPicPr>
          <p:cNvPr id="74" name="Google Shape;74;g125afe6fff8_0_54"/>
          <p:cNvPicPr preferRelativeResize="0"/>
          <p:nvPr/>
        </p:nvPicPr>
        <p:blipFill rotWithShape="1">
          <a:blip r:embed="rId4">
            <a:alphaModFix/>
          </a:blip>
          <a:srcRect b="0" l="0" r="0" t="0"/>
          <a:stretch/>
        </p:blipFill>
        <p:spPr>
          <a:xfrm>
            <a:off x="5053009" y="1613726"/>
            <a:ext cx="3186641" cy="417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125afe6fff8_0_3"/>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El marco Cynefin- Gestión de Entornos</a:t>
            </a:r>
            <a:endParaRPr b="0" i="0" sz="1400" u="none" cap="none" strike="noStrike">
              <a:solidFill>
                <a:srgbClr val="000000"/>
              </a:solidFill>
              <a:latin typeface="Arial"/>
              <a:ea typeface="Arial"/>
              <a:cs typeface="Arial"/>
              <a:sym typeface="Arial"/>
            </a:endParaRPr>
          </a:p>
        </p:txBody>
      </p:sp>
      <p:pic>
        <p:nvPicPr>
          <p:cNvPr id="80" name="Google Shape;80;g125afe6fff8_0_3"/>
          <p:cNvPicPr preferRelativeResize="0"/>
          <p:nvPr/>
        </p:nvPicPr>
        <p:blipFill rotWithShape="1">
          <a:blip r:embed="rId3">
            <a:alphaModFix/>
          </a:blip>
          <a:srcRect b="0" l="0" r="0" t="0"/>
          <a:stretch/>
        </p:blipFill>
        <p:spPr>
          <a:xfrm>
            <a:off x="584400" y="1294550"/>
            <a:ext cx="8737200" cy="4914675"/>
          </a:xfrm>
          <a:prstGeom prst="rect">
            <a:avLst/>
          </a:prstGeom>
          <a:noFill/>
          <a:ln>
            <a:noFill/>
          </a:ln>
        </p:spPr>
      </p:pic>
      <p:pic>
        <p:nvPicPr>
          <p:cNvPr id="81" name="Google Shape;81;g125afe6fff8_0_3"/>
          <p:cNvPicPr preferRelativeResize="0"/>
          <p:nvPr/>
        </p:nvPicPr>
        <p:blipFill rotWithShape="1">
          <a:blip r:embed="rId4">
            <a:alphaModFix/>
          </a:blip>
          <a:srcRect b="0" l="0" r="0" t="0"/>
          <a:stretch/>
        </p:blipFill>
        <p:spPr>
          <a:xfrm>
            <a:off x="135725" y="5865525"/>
            <a:ext cx="1413500" cy="791550"/>
          </a:xfrm>
          <a:prstGeom prst="rect">
            <a:avLst/>
          </a:prstGeom>
          <a:noFill/>
          <a:ln>
            <a:noFill/>
          </a:ln>
        </p:spPr>
      </p:pic>
      <p:sp>
        <p:nvSpPr>
          <p:cNvPr id="82" name="Google Shape;82;g125afe6fff8_0_3"/>
          <p:cNvSpPr txBox="1"/>
          <p:nvPr/>
        </p:nvSpPr>
        <p:spPr>
          <a:xfrm>
            <a:off x="135725" y="5542975"/>
            <a:ext cx="128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sng" cap="none" strike="noStrike">
                <a:solidFill>
                  <a:schemeClr val="hlink"/>
                </a:solidFill>
                <a:latin typeface="Arial"/>
                <a:ea typeface="Arial"/>
                <a:cs typeface="Arial"/>
                <a:sym typeface="Arial"/>
                <a:hlinkClick r:id="rId5"/>
              </a:rPr>
              <a:t>VIDEO</a:t>
            </a:r>
            <a:endParaRPr b="1" i="0" sz="1400" u="none" cap="none" strike="noStrike">
              <a:solidFill>
                <a:srgbClr val="000000"/>
              </a:solidFill>
              <a:latin typeface="Arial"/>
              <a:ea typeface="Arial"/>
              <a:cs typeface="Arial"/>
              <a:sym typeface="Arial"/>
            </a:endParaRPr>
          </a:p>
        </p:txBody>
      </p:sp>
      <p:sp>
        <p:nvSpPr>
          <p:cNvPr id="83" name="Google Shape;83;g125afe6fff8_0_3"/>
          <p:cNvSpPr/>
          <p:nvPr/>
        </p:nvSpPr>
        <p:spPr>
          <a:xfrm>
            <a:off x="7413625" y="1581350"/>
            <a:ext cx="911100" cy="56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100"/>
              <a:t>PMI</a:t>
            </a:r>
            <a:endParaRPr sz="1100"/>
          </a:p>
        </p:txBody>
      </p:sp>
      <p:sp>
        <p:nvSpPr>
          <p:cNvPr id="84" name="Google Shape;84;g125afe6fff8_0_3"/>
          <p:cNvSpPr/>
          <p:nvPr/>
        </p:nvSpPr>
        <p:spPr>
          <a:xfrm>
            <a:off x="7508875" y="3736975"/>
            <a:ext cx="911100" cy="56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800"/>
              <a:t>Gestión de Procesos</a:t>
            </a:r>
            <a:endParaRPr sz="800"/>
          </a:p>
        </p:txBody>
      </p:sp>
      <p:sp>
        <p:nvSpPr>
          <p:cNvPr id="85" name="Google Shape;85;g125afe6fff8_0_3"/>
          <p:cNvSpPr/>
          <p:nvPr/>
        </p:nvSpPr>
        <p:spPr>
          <a:xfrm>
            <a:off x="1549225" y="1679775"/>
            <a:ext cx="838200" cy="56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100"/>
              <a:t>Agile</a:t>
            </a:r>
            <a:endParaRPr sz="1100"/>
          </a:p>
        </p:txBody>
      </p:sp>
      <p:sp>
        <p:nvSpPr>
          <p:cNvPr id="86" name="Google Shape;86;g125afe6fff8_0_3"/>
          <p:cNvSpPr/>
          <p:nvPr/>
        </p:nvSpPr>
        <p:spPr>
          <a:xfrm>
            <a:off x="8883650" y="1793875"/>
            <a:ext cx="619200" cy="79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900"/>
              <a:t>Enviar persona a la luna</a:t>
            </a:r>
            <a:endParaRPr sz="900"/>
          </a:p>
        </p:txBody>
      </p:sp>
      <p:sp>
        <p:nvSpPr>
          <p:cNvPr id="87" name="Google Shape;87;g125afe6fff8_0_3"/>
          <p:cNvSpPr/>
          <p:nvPr/>
        </p:nvSpPr>
        <p:spPr>
          <a:xfrm>
            <a:off x="8883650" y="3930650"/>
            <a:ext cx="619200" cy="79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000"/>
              <a:t>Receta</a:t>
            </a:r>
            <a:endParaRPr sz="1000"/>
          </a:p>
          <a:p>
            <a:pPr indent="0" lvl="0" marL="0" rtl="0" algn="ctr">
              <a:spcBef>
                <a:spcPts val="0"/>
              </a:spcBef>
              <a:spcAft>
                <a:spcPts val="0"/>
              </a:spcAft>
              <a:buNone/>
            </a:pPr>
            <a:r>
              <a:rPr lang="es-AR" sz="1000"/>
              <a:t>Cajero</a:t>
            </a:r>
            <a:endParaRPr sz="1000"/>
          </a:p>
        </p:txBody>
      </p:sp>
      <p:sp>
        <p:nvSpPr>
          <p:cNvPr id="88" name="Google Shape;88;g125afe6fff8_0_3"/>
          <p:cNvSpPr/>
          <p:nvPr/>
        </p:nvSpPr>
        <p:spPr>
          <a:xfrm>
            <a:off x="250800" y="1793875"/>
            <a:ext cx="619200" cy="79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800"/>
              <a:t>Liderar personas</a:t>
            </a:r>
            <a:br>
              <a:rPr lang="es-AR" sz="800"/>
            </a:br>
            <a:r>
              <a:rPr lang="es-AR" sz="800"/>
              <a:t>Cambio cultural</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2ca49d5bfcc_0_49"/>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¿En qué e</a:t>
            </a:r>
            <a:r>
              <a:rPr b="1" i="0" lang="es-AR" sz="2400" u="none" cap="none" strike="noStrike">
                <a:solidFill>
                  <a:srgbClr val="932328"/>
                </a:solidFill>
                <a:latin typeface="Arial"/>
                <a:ea typeface="Arial"/>
                <a:cs typeface="Arial"/>
                <a:sym typeface="Arial"/>
              </a:rPr>
              <a:t>ntorno</a:t>
            </a:r>
            <a:r>
              <a:rPr b="1" lang="es-AR" sz="2400">
                <a:solidFill>
                  <a:srgbClr val="932328"/>
                </a:solidFill>
              </a:rPr>
              <a:t> clasificarías cada situación?</a:t>
            </a:r>
            <a:endParaRPr b="0" i="0" sz="1400" u="none" cap="none" strike="noStrike">
              <a:solidFill>
                <a:srgbClr val="000000"/>
              </a:solidFill>
              <a:latin typeface="Arial"/>
              <a:ea typeface="Arial"/>
              <a:cs typeface="Arial"/>
              <a:sym typeface="Arial"/>
            </a:endParaRPr>
          </a:p>
        </p:txBody>
      </p:sp>
      <p:pic>
        <p:nvPicPr>
          <p:cNvPr id="94" name="Google Shape;94;g2ca49d5bfcc_0_49"/>
          <p:cNvPicPr preferRelativeResize="0"/>
          <p:nvPr/>
        </p:nvPicPr>
        <p:blipFill>
          <a:blip r:embed="rId3">
            <a:alphaModFix/>
          </a:blip>
          <a:stretch>
            <a:fillRect/>
          </a:stretch>
        </p:blipFill>
        <p:spPr>
          <a:xfrm>
            <a:off x="2365376" y="1571625"/>
            <a:ext cx="7605526" cy="4278125"/>
          </a:xfrm>
          <a:prstGeom prst="rect">
            <a:avLst/>
          </a:prstGeom>
          <a:noFill/>
          <a:ln>
            <a:noFill/>
          </a:ln>
        </p:spPr>
      </p:pic>
      <p:sp>
        <p:nvSpPr>
          <p:cNvPr id="95" name="Google Shape;95;g2ca49d5bfcc_0_49"/>
          <p:cNvSpPr/>
          <p:nvPr/>
        </p:nvSpPr>
        <p:spPr>
          <a:xfrm>
            <a:off x="742950" y="1485900"/>
            <a:ext cx="1460400" cy="555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g2ca49d5bfcc_0_49"/>
          <p:cNvSpPr/>
          <p:nvPr/>
        </p:nvSpPr>
        <p:spPr>
          <a:xfrm>
            <a:off x="2317750" y="1397000"/>
            <a:ext cx="1143000" cy="4524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g2ca49d5bfcc_0_49"/>
          <p:cNvSpPr/>
          <p:nvPr/>
        </p:nvSpPr>
        <p:spPr>
          <a:xfrm>
            <a:off x="2555875" y="1936750"/>
            <a:ext cx="1143000" cy="222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g2ca49d5bfcc_0_49"/>
          <p:cNvSpPr/>
          <p:nvPr/>
        </p:nvSpPr>
        <p:spPr>
          <a:xfrm>
            <a:off x="663575" y="1343025"/>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500"/>
              <a:t>Incendio de edificio</a:t>
            </a:r>
            <a:endParaRPr sz="1500"/>
          </a:p>
        </p:txBody>
      </p:sp>
      <p:sp>
        <p:nvSpPr>
          <p:cNvPr id="99" name="Google Shape;99;g2ca49d5bfcc_0_49"/>
          <p:cNvSpPr/>
          <p:nvPr/>
        </p:nvSpPr>
        <p:spPr>
          <a:xfrm>
            <a:off x="663575" y="204150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a:t>Nueva metodología para feedback a colaboradores</a:t>
            </a:r>
            <a:endParaRPr/>
          </a:p>
        </p:txBody>
      </p:sp>
      <p:sp>
        <p:nvSpPr>
          <p:cNvPr id="100" name="Google Shape;100;g2ca49d5bfcc_0_49"/>
          <p:cNvSpPr/>
          <p:nvPr/>
        </p:nvSpPr>
        <p:spPr>
          <a:xfrm>
            <a:off x="663575" y="273685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300"/>
              <a:t>Programación de un juego en Roblox</a:t>
            </a:r>
            <a:endParaRPr sz="1300"/>
          </a:p>
        </p:txBody>
      </p:sp>
      <p:sp>
        <p:nvSpPr>
          <p:cNvPr id="101" name="Google Shape;101;g2ca49d5bfcc_0_49"/>
          <p:cNvSpPr/>
          <p:nvPr/>
        </p:nvSpPr>
        <p:spPr>
          <a:xfrm>
            <a:off x="663575" y="343220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200"/>
              <a:t>Mantenimiento de una bomba de extracción de petróleo</a:t>
            </a:r>
            <a:endParaRPr sz="1200"/>
          </a:p>
        </p:txBody>
      </p:sp>
      <p:sp>
        <p:nvSpPr>
          <p:cNvPr id="102" name="Google Shape;102;g2ca49d5bfcc_0_49"/>
          <p:cNvSpPr/>
          <p:nvPr/>
        </p:nvSpPr>
        <p:spPr>
          <a:xfrm>
            <a:off x="663575" y="412755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200"/>
              <a:t>Nueva modalidad de trabajo híbrida</a:t>
            </a:r>
            <a:endParaRPr sz="1200"/>
          </a:p>
        </p:txBody>
      </p:sp>
      <p:sp>
        <p:nvSpPr>
          <p:cNvPr id="103" name="Google Shape;103;g2ca49d5bfcc_0_49"/>
          <p:cNvSpPr/>
          <p:nvPr/>
        </p:nvSpPr>
        <p:spPr>
          <a:xfrm>
            <a:off x="663575" y="482290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200"/>
              <a:t>Resolución de conflicto a usuario de internet</a:t>
            </a:r>
            <a:endParaRPr sz="1200"/>
          </a:p>
        </p:txBody>
      </p:sp>
      <p:sp>
        <p:nvSpPr>
          <p:cNvPr id="104" name="Google Shape;104;g2ca49d5bfcc_0_49"/>
          <p:cNvSpPr/>
          <p:nvPr/>
        </p:nvSpPr>
        <p:spPr>
          <a:xfrm>
            <a:off x="663575" y="5518250"/>
            <a:ext cx="2254200" cy="55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AR" sz="1200"/>
              <a:t>Abastecimiento de combustible en estación de servicio</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3">
            <a:alphaModFix/>
          </a:blip>
          <a:srcRect b="50897" l="0" r="0" t="0"/>
          <a:stretch/>
        </p:blipFill>
        <p:spPr>
          <a:xfrm>
            <a:off x="2432720" y="1268760"/>
            <a:ext cx="5040560" cy="2448272"/>
          </a:xfrm>
          <a:prstGeom prst="rect">
            <a:avLst/>
          </a:prstGeom>
          <a:noFill/>
          <a:ln>
            <a:noFill/>
          </a:ln>
        </p:spPr>
      </p:pic>
      <p:sp>
        <p:nvSpPr>
          <p:cNvPr id="111" name="Google Shape;111;p13"/>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2" name="Google Shape;112;p13"/>
          <p:cNvPicPr preferRelativeResize="0"/>
          <p:nvPr/>
        </p:nvPicPr>
        <p:blipFill rotWithShape="1">
          <a:blip r:embed="rId3">
            <a:alphaModFix/>
          </a:blip>
          <a:srcRect b="0" l="0" r="0" t="49103"/>
          <a:stretch/>
        </p:blipFill>
        <p:spPr>
          <a:xfrm>
            <a:off x="2432720" y="3717032"/>
            <a:ext cx="5040560" cy="2537682"/>
          </a:xfrm>
          <a:prstGeom prst="rect">
            <a:avLst/>
          </a:prstGeom>
          <a:noFill/>
          <a:ln>
            <a:noFill/>
          </a:ln>
        </p:spPr>
      </p:pic>
      <p:sp>
        <p:nvSpPr>
          <p:cNvPr id="113" name="Google Shape;113;p13"/>
          <p:cNvSpPr txBox="1"/>
          <p:nvPr/>
        </p:nvSpPr>
        <p:spPr>
          <a:xfrm>
            <a:off x="152400" y="152377"/>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El desafío de los cambios</a:t>
            </a:r>
            <a:endParaRPr b="0" i="0" sz="1400" u="none" cap="none" strike="noStrike">
              <a:solidFill>
                <a:srgbClr val="000000"/>
              </a:solidFill>
              <a:latin typeface="Arial"/>
              <a:ea typeface="Arial"/>
              <a:cs typeface="Arial"/>
              <a:sym typeface="Arial"/>
            </a:endParaRPr>
          </a:p>
        </p:txBody>
      </p:sp>
      <p:sp>
        <p:nvSpPr>
          <p:cNvPr id="114" name="Google Shape;114;p13"/>
          <p:cNvSpPr/>
          <p:nvPr/>
        </p:nvSpPr>
        <p:spPr>
          <a:xfrm>
            <a:off x="4835820" y="3275112"/>
            <a:ext cx="2343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A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15" name="Google Shape;115;p13"/>
          <p:cNvPicPr preferRelativeResize="0"/>
          <p:nvPr/>
        </p:nvPicPr>
        <p:blipFill rotWithShape="1">
          <a:blip r:embed="rId4">
            <a:alphaModFix/>
          </a:blip>
          <a:srcRect b="0" l="0" r="0" t="0"/>
          <a:stretch/>
        </p:blipFill>
        <p:spPr>
          <a:xfrm>
            <a:off x="7938325" y="5024450"/>
            <a:ext cx="1413500" cy="791550"/>
          </a:xfrm>
          <a:prstGeom prst="rect">
            <a:avLst/>
          </a:prstGeom>
          <a:noFill/>
          <a:ln>
            <a:noFill/>
          </a:ln>
        </p:spPr>
      </p:pic>
      <p:sp>
        <p:nvSpPr>
          <p:cNvPr id="116" name="Google Shape;116;p13"/>
          <p:cNvSpPr txBox="1"/>
          <p:nvPr/>
        </p:nvSpPr>
        <p:spPr>
          <a:xfrm>
            <a:off x="8204650" y="5723325"/>
            <a:ext cx="128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sng" cap="none" strike="noStrike">
                <a:solidFill>
                  <a:schemeClr val="hlink"/>
                </a:solidFill>
                <a:latin typeface="Arial"/>
                <a:ea typeface="Arial"/>
                <a:cs typeface="Arial"/>
                <a:sym typeface="Arial"/>
                <a:hlinkClick r:id="rId5"/>
              </a:rPr>
              <a:t>VIDEO</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g1f56a3749ef_0_11"/>
          <p:cNvPicPr preferRelativeResize="0"/>
          <p:nvPr/>
        </p:nvPicPr>
        <p:blipFill rotWithShape="1">
          <a:blip r:embed="rId3">
            <a:alphaModFix/>
          </a:blip>
          <a:srcRect b="0" l="0" r="0" t="0"/>
          <a:stretch/>
        </p:blipFill>
        <p:spPr>
          <a:xfrm>
            <a:off x="2173030" y="1304707"/>
            <a:ext cx="7198241" cy="4433777"/>
          </a:xfrm>
          <a:prstGeom prst="rect">
            <a:avLst/>
          </a:prstGeom>
          <a:noFill/>
          <a:ln>
            <a:noFill/>
          </a:ln>
        </p:spPr>
      </p:pic>
      <p:sp>
        <p:nvSpPr>
          <p:cNvPr id="123" name="Google Shape;123;g1f56a3749ef_0_11"/>
          <p:cNvSpPr txBox="1"/>
          <p:nvPr/>
        </p:nvSpPr>
        <p:spPr>
          <a:xfrm>
            <a:off x="6706930" y="1638303"/>
            <a:ext cx="281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1800" u="none" cap="none" strike="noStrike">
                <a:solidFill>
                  <a:srgbClr val="C00000"/>
                </a:solidFill>
                <a:latin typeface="Arial"/>
                <a:ea typeface="Arial"/>
                <a:cs typeface="Arial"/>
                <a:sym typeface="Arial"/>
              </a:rPr>
              <a:t>Cerebro Triuno</a:t>
            </a:r>
            <a:endParaRPr/>
          </a:p>
        </p:txBody>
      </p:sp>
      <p:sp>
        <p:nvSpPr>
          <p:cNvPr id="124" name="Google Shape;124;g1f56a3749ef_0_11"/>
          <p:cNvSpPr txBox="1"/>
          <p:nvPr/>
        </p:nvSpPr>
        <p:spPr>
          <a:xfrm>
            <a:off x="534730" y="4448978"/>
            <a:ext cx="1960800" cy="1385400"/>
          </a:xfrm>
          <a:prstGeom prst="rect">
            <a:avLst/>
          </a:prstGeom>
          <a:solidFill>
            <a:srgbClr val="F8D0D2"/>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Regula todo lo que tiene que ver con nuestros controles centrales: respiración, sueño, ritmo cardíaco, etc. </a:t>
            </a:r>
            <a:endParaRPr b="0" i="0" sz="1400" u="none" cap="none" strike="noStrike">
              <a:solidFill>
                <a:srgbClr val="000000"/>
              </a:solidFill>
              <a:latin typeface="Arial"/>
              <a:ea typeface="Arial"/>
              <a:cs typeface="Arial"/>
              <a:sym typeface="Arial"/>
            </a:endParaRPr>
          </a:p>
        </p:txBody>
      </p:sp>
      <p:sp>
        <p:nvSpPr>
          <p:cNvPr id="125" name="Google Shape;125;g1f56a3749ef_0_11"/>
          <p:cNvSpPr txBox="1"/>
          <p:nvPr/>
        </p:nvSpPr>
        <p:spPr>
          <a:xfrm>
            <a:off x="485504" y="1638304"/>
            <a:ext cx="2010000" cy="1169700"/>
          </a:xfrm>
          <a:prstGeom prst="rect">
            <a:avLst/>
          </a:prstGeom>
          <a:solidFill>
            <a:srgbClr val="D0EDF5"/>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Altamente especializado en la visión, el habla, la memoria y todas las funciones ejecutivas. </a:t>
            </a:r>
            <a:endParaRPr b="0" i="0" sz="1400" u="none" cap="none" strike="noStrike">
              <a:solidFill>
                <a:srgbClr val="000000"/>
              </a:solidFill>
              <a:latin typeface="Arial"/>
              <a:ea typeface="Arial"/>
              <a:cs typeface="Arial"/>
              <a:sym typeface="Arial"/>
            </a:endParaRPr>
          </a:p>
        </p:txBody>
      </p:sp>
      <p:sp>
        <p:nvSpPr>
          <p:cNvPr id="126" name="Google Shape;126;g1f56a3749ef_0_11"/>
          <p:cNvSpPr txBox="1"/>
          <p:nvPr/>
        </p:nvSpPr>
        <p:spPr>
          <a:xfrm>
            <a:off x="485504" y="2876554"/>
            <a:ext cx="1960800" cy="1385400"/>
          </a:xfrm>
          <a:prstGeom prst="rect">
            <a:avLst/>
          </a:prstGeom>
          <a:solidFill>
            <a:srgbClr val="D9EAD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AR"/>
              <a:t>S</a:t>
            </a:r>
            <a:r>
              <a:rPr b="0" i="0" lang="es-AR" sz="1400" u="none" cap="none" strike="noStrike">
                <a:solidFill>
                  <a:srgbClr val="000000"/>
                </a:solidFill>
                <a:latin typeface="Arial"/>
                <a:ea typeface="Arial"/>
                <a:cs typeface="Arial"/>
                <a:sym typeface="Arial"/>
              </a:rPr>
              <a:t>e responsabiliza de todo lo relativo supervivencia animal (correr o pelear). Así como las emociones y recuerdos.</a:t>
            </a:r>
            <a:endParaRPr b="0" i="0" sz="1400" u="none" cap="none" strike="noStrike">
              <a:solidFill>
                <a:srgbClr val="000000"/>
              </a:solidFill>
              <a:latin typeface="Arial"/>
              <a:ea typeface="Arial"/>
              <a:cs typeface="Arial"/>
              <a:sym typeface="Arial"/>
            </a:endParaRPr>
          </a:p>
        </p:txBody>
      </p:sp>
      <p:sp>
        <p:nvSpPr>
          <p:cNvPr id="127" name="Google Shape;127;g1f56a3749ef_0_11"/>
          <p:cNvSpPr txBox="1"/>
          <p:nvPr/>
        </p:nvSpPr>
        <p:spPr>
          <a:xfrm>
            <a:off x="3922427" y="5381092"/>
            <a:ext cx="5237400" cy="1477500"/>
          </a:xfrm>
          <a:prstGeom prst="rect">
            <a:avLst/>
          </a:prstGeom>
          <a:solidFill>
            <a:srgbClr val="D2DEE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AR" sz="1800" u="none" cap="none" strike="noStrike">
                <a:solidFill>
                  <a:srgbClr val="000000"/>
                </a:solidFill>
                <a:latin typeface="Arial"/>
                <a:ea typeface="Arial"/>
                <a:cs typeface="Arial"/>
                <a:sym typeface="Arial"/>
              </a:rPr>
              <a:t>Somos seres emocionales que aprendimos a pensar y no máquinas pensantes que sentimos. </a:t>
            </a:r>
            <a:endParaRPr/>
          </a:p>
          <a:p>
            <a:pPr indent="0" lvl="0" marL="0" marR="0" rtl="0" algn="ctr">
              <a:lnSpc>
                <a:spcPct val="100000"/>
              </a:lnSpc>
              <a:spcBef>
                <a:spcPts val="0"/>
              </a:spcBef>
              <a:spcAft>
                <a:spcPts val="0"/>
              </a:spcAft>
              <a:buNone/>
            </a:pPr>
            <a:r>
              <a:rPr b="1" i="0" lang="es-AR" sz="1800" u="none" cap="none" strike="noStrike">
                <a:solidFill>
                  <a:srgbClr val="000000"/>
                </a:solidFill>
                <a:latin typeface="Arial"/>
                <a:ea typeface="Arial"/>
                <a:cs typeface="Arial"/>
                <a:sym typeface="Arial"/>
              </a:rPr>
              <a:t>Actuamos m</a:t>
            </a:r>
            <a:r>
              <a:rPr b="1" lang="es-AR" sz="1800"/>
              <a:t>á</a:t>
            </a:r>
            <a:r>
              <a:rPr b="1" i="0" lang="es-AR" sz="1800" u="none" cap="none" strike="noStrike">
                <a:solidFill>
                  <a:srgbClr val="000000"/>
                </a:solidFill>
                <a:latin typeface="Arial"/>
                <a:ea typeface="Arial"/>
                <a:cs typeface="Arial"/>
                <a:sym typeface="Arial"/>
              </a:rPr>
              <a:t>s por emociones </a:t>
            </a:r>
            <a:endParaRPr b="1"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AR" sz="1800" u="none" cap="none" strike="noStrike">
                <a:solidFill>
                  <a:srgbClr val="000000"/>
                </a:solidFill>
                <a:latin typeface="Arial"/>
                <a:ea typeface="Arial"/>
                <a:cs typeface="Arial"/>
                <a:sym typeface="Arial"/>
              </a:rPr>
              <a:t>que por la </a:t>
            </a:r>
            <a:r>
              <a:rPr b="1" lang="es-AR" sz="1800"/>
              <a:t>razón</a:t>
            </a:r>
            <a:endParaRPr/>
          </a:p>
        </p:txBody>
      </p:sp>
      <p:pic>
        <p:nvPicPr>
          <p:cNvPr descr="Brain in head" id="128" name="Google Shape;128;g1f56a3749ef_0_11"/>
          <p:cNvPicPr preferRelativeResize="0"/>
          <p:nvPr/>
        </p:nvPicPr>
        <p:blipFill rotWithShape="1">
          <a:blip r:embed="rId4">
            <a:alphaModFix/>
          </a:blip>
          <a:srcRect b="0" l="0" r="0" t="0"/>
          <a:stretch/>
        </p:blipFill>
        <p:spPr>
          <a:xfrm>
            <a:off x="8610600" y="5795709"/>
            <a:ext cx="914400" cy="914400"/>
          </a:xfrm>
          <a:prstGeom prst="rect">
            <a:avLst/>
          </a:prstGeom>
          <a:noFill/>
          <a:ln>
            <a:noFill/>
          </a:ln>
        </p:spPr>
      </p:pic>
      <p:sp>
        <p:nvSpPr>
          <p:cNvPr id="129" name="Google Shape;129;g1f56a3749ef_0_11"/>
          <p:cNvSpPr txBox="1"/>
          <p:nvPr/>
        </p:nvSpPr>
        <p:spPr>
          <a:xfrm>
            <a:off x="293917" y="-24"/>
            <a:ext cx="9612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2A4A75"/>
                </a:solidFill>
                <a:latin typeface="Lucida Sans"/>
                <a:ea typeface="Lucida Sans"/>
                <a:cs typeface="Lucida Sans"/>
                <a:sym typeface="Lucida Sans"/>
              </a:rPr>
              <a:t>PERSONAS EN EL TRABAJO</a:t>
            </a:r>
            <a:endParaRPr b="1" i="0" sz="2400" u="none" cap="none" strike="noStrike">
              <a:solidFill>
                <a:srgbClr val="2A4A75"/>
              </a:solidFill>
              <a:latin typeface="Lucida Sans"/>
              <a:ea typeface="Lucida Sans"/>
              <a:cs typeface="Lucida Sans"/>
              <a:sym typeface="Lucida Sans"/>
            </a:endParaRPr>
          </a:p>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2A4A75"/>
                </a:solidFill>
                <a:latin typeface="Lucida Sans"/>
                <a:ea typeface="Lucida Sans"/>
                <a:cs typeface="Lucida Sans"/>
                <a:sym typeface="Lucida Sans"/>
              </a:rPr>
              <a:t>Emociones y Neurociencias</a:t>
            </a:r>
            <a:endParaRPr b="1" i="0" sz="2400" u="none" cap="none" strike="noStrike">
              <a:solidFill>
                <a:srgbClr val="2A4A75"/>
              </a:solidFill>
              <a:latin typeface="Arial"/>
              <a:ea typeface="Arial"/>
              <a:cs typeface="Arial"/>
              <a:sym typeface="Arial"/>
            </a:endParaRPr>
          </a:p>
        </p:txBody>
      </p:sp>
      <p:sp>
        <p:nvSpPr>
          <p:cNvPr id="130" name="Google Shape;130;g1f56a3749ef_0_11"/>
          <p:cNvSpPr txBox="1"/>
          <p:nvPr/>
        </p:nvSpPr>
        <p:spPr>
          <a:xfrm>
            <a:off x="289379" y="1230976"/>
            <a:ext cx="169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s-AR">
                <a:solidFill>
                  <a:srgbClr val="002060"/>
                </a:solidFill>
              </a:rPr>
              <a:t>ORÍGENES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500"/>
                                        <p:tgtEl>
                                          <p:spTgt spid="1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f56a3749ef_0_24"/>
          <p:cNvSpPr txBox="1"/>
          <p:nvPr/>
        </p:nvSpPr>
        <p:spPr>
          <a:xfrm>
            <a:off x="244934" y="-1635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s-AR" sz="2400" u="none" cap="none" strike="noStrike">
                <a:solidFill>
                  <a:srgbClr val="2A4A75"/>
                </a:solidFill>
                <a:latin typeface="Lucida Sans"/>
                <a:ea typeface="Lucida Sans"/>
                <a:cs typeface="Lucida Sans"/>
                <a:sym typeface="Lucida Sans"/>
              </a:rPr>
              <a:t>LAS PERSONAS EN EL TRABAJO</a:t>
            </a:r>
            <a:endParaRPr b="1" i="0" sz="2400" u="none" cap="none" strike="noStrike">
              <a:solidFill>
                <a:srgbClr val="2A4A75"/>
              </a:solidFill>
              <a:latin typeface="Lucida Sans"/>
              <a:ea typeface="Lucida Sans"/>
              <a:cs typeface="Lucida Sans"/>
              <a:sym typeface="Lucida Sans"/>
            </a:endParaRPr>
          </a:p>
          <a:p>
            <a:pPr indent="-714375" lvl="0" marL="714375" marR="0" rtl="0" algn="l">
              <a:lnSpc>
                <a:spcPct val="90000"/>
              </a:lnSpc>
              <a:spcBef>
                <a:spcPts val="0"/>
              </a:spcBef>
              <a:spcAft>
                <a:spcPts val="0"/>
              </a:spcAft>
              <a:buNone/>
            </a:pPr>
            <a:r>
              <a:rPr b="1" i="0" lang="es-AR" sz="2400" u="none" cap="none" strike="noStrike">
                <a:solidFill>
                  <a:srgbClr val="2A4A75"/>
                </a:solidFill>
                <a:latin typeface="Lucida Sans"/>
                <a:ea typeface="Lucida Sans"/>
                <a:cs typeface="Lucida Sans"/>
                <a:sym typeface="Lucida Sans"/>
              </a:rPr>
              <a:t>Emociones y Neurociencias</a:t>
            </a:r>
            <a:endParaRPr b="1" i="0" sz="2400" u="none" cap="none" strike="noStrike">
              <a:solidFill>
                <a:srgbClr val="2A4A75"/>
              </a:solidFill>
              <a:latin typeface="Lucida Sans"/>
              <a:ea typeface="Lucida Sans"/>
              <a:cs typeface="Lucida Sans"/>
              <a:sym typeface="Lucida Sans"/>
            </a:endParaRPr>
          </a:p>
        </p:txBody>
      </p:sp>
      <p:grpSp>
        <p:nvGrpSpPr>
          <p:cNvPr id="137" name="Google Shape;137;g1f56a3749ef_0_24"/>
          <p:cNvGrpSpPr/>
          <p:nvPr/>
        </p:nvGrpSpPr>
        <p:grpSpPr>
          <a:xfrm>
            <a:off x="968232" y="1753193"/>
            <a:ext cx="8383073" cy="1346100"/>
            <a:chOff x="4845" y="1505241"/>
            <a:chExt cx="8383073" cy="1346100"/>
          </a:xfrm>
        </p:grpSpPr>
        <p:sp>
          <p:nvSpPr>
            <p:cNvPr id="138" name="Google Shape;138;g1f56a3749ef_0_24"/>
            <p:cNvSpPr/>
            <p:nvPr/>
          </p:nvSpPr>
          <p:spPr>
            <a:xfrm>
              <a:off x="4845" y="1505241"/>
              <a:ext cx="1346100" cy="1346100"/>
            </a:xfrm>
            <a:prstGeom prst="ellipse">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1f56a3749ef_0_24"/>
            <p:cNvSpPr txBox="1"/>
            <p:nvPr/>
          </p:nvSpPr>
          <p:spPr>
            <a:xfrm>
              <a:off x="201995" y="1702391"/>
              <a:ext cx="951900" cy="9519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Contexto</a:t>
              </a:r>
              <a:endParaRPr b="0" i="0" sz="1200" u="none" cap="none" strike="noStrike">
                <a:solidFill>
                  <a:schemeClr val="lt1"/>
                </a:solidFill>
                <a:latin typeface="Arial"/>
                <a:ea typeface="Arial"/>
                <a:cs typeface="Arial"/>
                <a:sym typeface="Arial"/>
              </a:endParaRPr>
            </a:p>
          </p:txBody>
        </p:sp>
        <p:sp>
          <p:nvSpPr>
            <p:cNvPr id="140" name="Google Shape;140;g1f56a3749ef_0_24"/>
            <p:cNvSpPr/>
            <p:nvPr/>
          </p:nvSpPr>
          <p:spPr>
            <a:xfrm>
              <a:off x="1460381" y="1787948"/>
              <a:ext cx="780900" cy="7809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1f56a3749ef_0_24"/>
            <p:cNvSpPr txBox="1"/>
            <p:nvPr/>
          </p:nvSpPr>
          <p:spPr>
            <a:xfrm>
              <a:off x="1563877" y="2086529"/>
              <a:ext cx="573900" cy="183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142" name="Google Shape;142;g1f56a3749ef_0_24"/>
            <p:cNvSpPr/>
            <p:nvPr/>
          </p:nvSpPr>
          <p:spPr>
            <a:xfrm>
              <a:off x="2350503" y="1505241"/>
              <a:ext cx="1346100" cy="1346100"/>
            </a:xfrm>
            <a:prstGeom prst="ellipse">
              <a:avLst/>
            </a:prstGeom>
            <a:solidFill>
              <a:srgbClr val="86D12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1f56a3749ef_0_24"/>
            <p:cNvSpPr txBox="1"/>
            <p:nvPr/>
          </p:nvSpPr>
          <p:spPr>
            <a:xfrm>
              <a:off x="2547653" y="1702391"/>
              <a:ext cx="951900" cy="9519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Experiencias pasadas</a:t>
              </a:r>
              <a:endParaRPr b="0" i="0" sz="1200" u="none" cap="none" strike="noStrike">
                <a:solidFill>
                  <a:schemeClr val="lt1"/>
                </a:solidFill>
                <a:latin typeface="Arial"/>
                <a:ea typeface="Arial"/>
                <a:cs typeface="Arial"/>
                <a:sym typeface="Arial"/>
              </a:endParaRPr>
            </a:p>
          </p:txBody>
        </p:sp>
        <p:sp>
          <p:nvSpPr>
            <p:cNvPr id="144" name="Google Shape;144;g1f56a3749ef_0_24"/>
            <p:cNvSpPr/>
            <p:nvPr/>
          </p:nvSpPr>
          <p:spPr>
            <a:xfrm>
              <a:off x="3806038" y="1787948"/>
              <a:ext cx="780900" cy="780900"/>
            </a:xfrm>
            <a:prstGeom prst="mathPlus">
              <a:avLst>
                <a:gd fmla="val 23520" name="adj1"/>
              </a:avLst>
            </a:prstGeom>
            <a:solidFill>
              <a:srgbClr val="2EC3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1f56a3749ef_0_24"/>
            <p:cNvSpPr txBox="1"/>
            <p:nvPr/>
          </p:nvSpPr>
          <p:spPr>
            <a:xfrm>
              <a:off x="3909534" y="2086529"/>
              <a:ext cx="573900" cy="183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146" name="Google Shape;146;g1f56a3749ef_0_24"/>
            <p:cNvSpPr/>
            <p:nvPr/>
          </p:nvSpPr>
          <p:spPr>
            <a:xfrm>
              <a:off x="4696160" y="1505241"/>
              <a:ext cx="1346100" cy="1346100"/>
            </a:xfrm>
            <a:prstGeom prst="ellipse">
              <a:avLst/>
            </a:prstGeom>
            <a:solidFill>
              <a:srgbClr val="2EB67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1f56a3749ef_0_24"/>
            <p:cNvSpPr txBox="1"/>
            <p:nvPr/>
          </p:nvSpPr>
          <p:spPr>
            <a:xfrm>
              <a:off x="4893310" y="1702391"/>
              <a:ext cx="951900" cy="9519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lang="es-AR" sz="1200">
                  <a:solidFill>
                    <a:schemeClr val="lt1"/>
                  </a:solidFill>
                </a:rPr>
                <a:t>Interocepción</a:t>
              </a:r>
              <a:endParaRPr b="0" i="0" sz="1200" u="none" cap="none" strike="noStrike">
                <a:solidFill>
                  <a:schemeClr val="lt1"/>
                </a:solidFill>
                <a:latin typeface="Arial"/>
                <a:ea typeface="Arial"/>
                <a:cs typeface="Arial"/>
                <a:sym typeface="Arial"/>
              </a:endParaRPr>
            </a:p>
          </p:txBody>
        </p:sp>
        <p:sp>
          <p:nvSpPr>
            <p:cNvPr id="148" name="Google Shape;148;g1f56a3749ef_0_24"/>
            <p:cNvSpPr/>
            <p:nvPr/>
          </p:nvSpPr>
          <p:spPr>
            <a:xfrm>
              <a:off x="6151696" y="1787948"/>
              <a:ext cx="780900" cy="780900"/>
            </a:xfrm>
            <a:prstGeom prst="mathEqual">
              <a:avLst>
                <a:gd fmla="val 23520" name="adj1"/>
                <a:gd fmla="val 11760" name="adj2"/>
              </a:avLst>
            </a:prstGeom>
            <a:solidFill>
              <a:srgbClr val="3962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1f56a3749ef_0_24"/>
            <p:cNvSpPr txBox="1"/>
            <p:nvPr/>
          </p:nvSpPr>
          <p:spPr>
            <a:xfrm>
              <a:off x="6255192" y="1948794"/>
              <a:ext cx="573900" cy="459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150" name="Google Shape;150;g1f56a3749ef_0_24"/>
            <p:cNvSpPr/>
            <p:nvPr/>
          </p:nvSpPr>
          <p:spPr>
            <a:xfrm>
              <a:off x="7041818" y="1505241"/>
              <a:ext cx="1346100" cy="1346100"/>
            </a:xfrm>
            <a:prstGeom prst="ellipse">
              <a:avLst/>
            </a:prstGeom>
            <a:solidFill>
              <a:srgbClr val="39629B"/>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1f56a3749ef_0_24"/>
            <p:cNvSpPr txBox="1"/>
            <p:nvPr/>
          </p:nvSpPr>
          <p:spPr>
            <a:xfrm>
              <a:off x="7238968" y="1702391"/>
              <a:ext cx="951900" cy="951900"/>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rgbClr val="000000"/>
                </a:buClr>
                <a:buSzPts val="1200"/>
                <a:buFont typeface="Arial"/>
                <a:buNone/>
              </a:pPr>
              <a:r>
                <a:rPr b="0" i="0" lang="es-AR" sz="1200" u="none" cap="none" strike="noStrike">
                  <a:solidFill>
                    <a:schemeClr val="lt1"/>
                  </a:solidFill>
                  <a:latin typeface="Arial"/>
                  <a:ea typeface="Arial"/>
                  <a:cs typeface="Arial"/>
                  <a:sym typeface="Arial"/>
                </a:rPr>
                <a:t>Emociones</a:t>
              </a:r>
              <a:endParaRPr b="0" i="0" sz="1200" u="none" cap="none" strike="noStrike">
                <a:solidFill>
                  <a:schemeClr val="lt1"/>
                </a:solidFill>
                <a:latin typeface="Arial"/>
                <a:ea typeface="Arial"/>
                <a:cs typeface="Arial"/>
                <a:sym typeface="Arial"/>
              </a:endParaRPr>
            </a:p>
          </p:txBody>
        </p:sp>
      </p:grpSp>
      <p:sp>
        <p:nvSpPr>
          <p:cNvPr id="152" name="Google Shape;152;g1f56a3749ef_0_24"/>
          <p:cNvSpPr txBox="1"/>
          <p:nvPr/>
        </p:nvSpPr>
        <p:spPr>
          <a:xfrm>
            <a:off x="549727" y="3429000"/>
            <a:ext cx="20085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800" u="none" cap="none" strike="noStrike">
                <a:solidFill>
                  <a:srgbClr val="000000"/>
                </a:solidFill>
                <a:latin typeface="Arial"/>
                <a:ea typeface="Arial"/>
                <a:cs typeface="Arial"/>
                <a:sym typeface="Arial"/>
              </a:rPr>
              <a:t>Información del tiempo Presente que contiene al cerebro en </a:t>
            </a:r>
            <a:r>
              <a:rPr lang="es-AR" sz="1800"/>
              <a:t>relación</a:t>
            </a:r>
            <a:r>
              <a:rPr b="0" i="0" lang="es-AR" sz="1800" u="none" cap="none" strike="noStrike">
                <a:solidFill>
                  <a:srgbClr val="000000"/>
                </a:solidFill>
                <a:latin typeface="Arial"/>
                <a:ea typeface="Arial"/>
                <a:cs typeface="Arial"/>
                <a:sym typeface="Arial"/>
              </a:rPr>
              <a:t> a los sentidos.</a:t>
            </a:r>
            <a:endParaRPr/>
          </a:p>
        </p:txBody>
      </p:sp>
      <p:sp>
        <p:nvSpPr>
          <p:cNvPr id="153" name="Google Shape;153;g1f56a3749ef_0_24"/>
          <p:cNvSpPr txBox="1"/>
          <p:nvPr/>
        </p:nvSpPr>
        <p:spPr>
          <a:xfrm>
            <a:off x="3184072" y="3394110"/>
            <a:ext cx="1518600" cy="314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800" u="none" cap="none" strike="noStrike">
                <a:solidFill>
                  <a:srgbClr val="000000"/>
                </a:solidFill>
                <a:latin typeface="Arial"/>
                <a:ea typeface="Arial"/>
                <a:cs typeface="Arial"/>
                <a:sym typeface="Arial"/>
              </a:rPr>
              <a:t>Información que contiene el cerebro sobre experiencias pasadas o similares a lo que </a:t>
            </a:r>
            <a:r>
              <a:rPr lang="es-AR" sz="1800"/>
              <a:t>está</a:t>
            </a:r>
            <a:r>
              <a:rPr b="0" i="0" lang="es-AR" sz="1800" u="none" cap="none" strike="noStrike">
                <a:solidFill>
                  <a:srgbClr val="000000"/>
                </a:solidFill>
                <a:latin typeface="Arial"/>
                <a:ea typeface="Arial"/>
                <a:cs typeface="Arial"/>
                <a:sym typeface="Arial"/>
              </a:rPr>
              <a:t> ocurriendo en el presente. </a:t>
            </a:r>
            <a:endParaRPr/>
          </a:p>
        </p:txBody>
      </p:sp>
      <p:sp>
        <p:nvSpPr>
          <p:cNvPr id="154" name="Google Shape;154;g1f56a3749ef_0_24"/>
          <p:cNvSpPr txBox="1"/>
          <p:nvPr/>
        </p:nvSpPr>
        <p:spPr>
          <a:xfrm>
            <a:off x="5369380" y="3475754"/>
            <a:ext cx="1998900" cy="297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700" u="none" cap="none" strike="noStrike">
                <a:solidFill>
                  <a:srgbClr val="000000"/>
                </a:solidFill>
                <a:latin typeface="Arial"/>
                <a:ea typeface="Arial"/>
                <a:cs typeface="Arial"/>
                <a:sym typeface="Arial"/>
              </a:rPr>
              <a:t>- Propiocepción (Tendones, ligamentos)</a:t>
            </a:r>
            <a:endParaRPr/>
          </a:p>
          <a:p>
            <a:pPr indent="0" lvl="0" marL="0" marR="0" rtl="0" algn="ctr">
              <a:lnSpc>
                <a:spcPct val="100000"/>
              </a:lnSpc>
              <a:spcBef>
                <a:spcPts val="0"/>
              </a:spcBef>
              <a:spcAft>
                <a:spcPts val="0"/>
              </a:spcAft>
              <a:buNone/>
            </a:pPr>
            <a:r>
              <a:rPr b="0" i="0" lang="es-AR" sz="1700" u="none" cap="none" strike="noStrike">
                <a:solidFill>
                  <a:srgbClr val="000000"/>
                </a:solidFill>
                <a:latin typeface="Arial"/>
                <a:ea typeface="Arial"/>
                <a:cs typeface="Arial"/>
                <a:sym typeface="Arial"/>
              </a:rPr>
              <a:t>-Neuroquímicos (mol</a:t>
            </a:r>
            <a:r>
              <a:rPr lang="es-AR" sz="1700"/>
              <a:t>é</a:t>
            </a:r>
            <a:r>
              <a:rPr b="0" i="0" lang="es-AR" sz="1700" u="none" cap="none" strike="noStrike">
                <a:solidFill>
                  <a:srgbClr val="000000"/>
                </a:solidFill>
                <a:latin typeface="Arial"/>
                <a:ea typeface="Arial"/>
                <a:cs typeface="Arial"/>
                <a:sym typeface="Arial"/>
              </a:rPr>
              <a:t>culas, sangre)</a:t>
            </a:r>
            <a:endParaRPr/>
          </a:p>
          <a:p>
            <a:pPr indent="0" lvl="0" marL="0" marR="0" rtl="0" algn="ctr">
              <a:lnSpc>
                <a:spcPct val="100000"/>
              </a:lnSpc>
              <a:spcBef>
                <a:spcPts val="0"/>
              </a:spcBef>
              <a:spcAft>
                <a:spcPts val="0"/>
              </a:spcAft>
              <a:buNone/>
            </a:pPr>
            <a:r>
              <a:rPr b="0" i="0" lang="es-AR" sz="1700" u="none" cap="none" strike="noStrike">
                <a:solidFill>
                  <a:srgbClr val="000000"/>
                </a:solidFill>
                <a:latin typeface="Arial"/>
                <a:ea typeface="Arial"/>
                <a:cs typeface="Arial"/>
                <a:sym typeface="Arial"/>
              </a:rPr>
              <a:t>- Kinestésico  (movimiento de piel y el cuerpo)</a:t>
            </a:r>
            <a:endParaRPr/>
          </a:p>
          <a:p>
            <a:pPr indent="0" lvl="0" marL="0" marR="0" rtl="0" algn="ctr">
              <a:lnSpc>
                <a:spcPct val="100000"/>
              </a:lnSpc>
              <a:spcBef>
                <a:spcPts val="0"/>
              </a:spcBef>
              <a:spcAft>
                <a:spcPts val="0"/>
              </a:spcAft>
              <a:buNone/>
            </a:pPr>
            <a:r>
              <a:rPr b="0" i="0" lang="es-AR" sz="1700" u="none" cap="none" strike="noStrike">
                <a:solidFill>
                  <a:srgbClr val="000000"/>
                </a:solidFill>
                <a:latin typeface="Arial"/>
                <a:ea typeface="Arial"/>
                <a:cs typeface="Arial"/>
                <a:sym typeface="Arial"/>
              </a:rPr>
              <a:t>-Somatoviscerales (</a:t>
            </a:r>
            <a:r>
              <a:rPr lang="es-AR" sz="1700"/>
              <a:t>ó</a:t>
            </a:r>
            <a:r>
              <a:rPr b="0" i="0" lang="es-AR" sz="1700" u="none" cap="none" strike="noStrike">
                <a:solidFill>
                  <a:srgbClr val="000000"/>
                </a:solidFill>
                <a:latin typeface="Arial"/>
                <a:ea typeface="Arial"/>
                <a:cs typeface="Arial"/>
                <a:sym typeface="Arial"/>
              </a:rPr>
              <a:t>rganos) </a:t>
            </a:r>
            <a:endParaRPr/>
          </a:p>
        </p:txBody>
      </p:sp>
      <p:sp>
        <p:nvSpPr>
          <p:cNvPr id="155" name="Google Shape;155;g1f56a3749ef_0_24"/>
          <p:cNvSpPr txBox="1"/>
          <p:nvPr/>
        </p:nvSpPr>
        <p:spPr>
          <a:xfrm>
            <a:off x="8047263" y="3508411"/>
            <a:ext cx="17667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AR" sz="1600" u="none" cap="none" strike="noStrike">
                <a:solidFill>
                  <a:srgbClr val="000000"/>
                </a:solidFill>
                <a:latin typeface="Arial"/>
                <a:ea typeface="Arial"/>
                <a:cs typeface="Arial"/>
                <a:sym typeface="Arial"/>
              </a:rPr>
              <a:t>No hay una definición </a:t>
            </a:r>
            <a:r>
              <a:rPr b="1" lang="es-AR" sz="1600"/>
              <a:t>única</a:t>
            </a:r>
            <a:r>
              <a:rPr b="1" i="0" lang="es-AR" sz="1600" u="none" cap="none" strike="noStrike">
                <a:solidFill>
                  <a:srgbClr val="000000"/>
                </a:solidFill>
                <a:latin typeface="Arial"/>
                <a:ea typeface="Arial"/>
                <a:cs typeface="Arial"/>
                <a:sym typeface="Arial"/>
              </a:rPr>
              <a:t> o </a:t>
            </a:r>
            <a:r>
              <a:rPr b="1" lang="es-AR" sz="1600"/>
              <a:t>común</a:t>
            </a:r>
            <a:r>
              <a:rPr b="1" i="0" lang="es-AR" sz="1600" u="none" cap="none" strike="noStrike">
                <a:solidFill>
                  <a:srgbClr val="000000"/>
                </a:solidFill>
                <a:latin typeface="Arial"/>
                <a:ea typeface="Arial"/>
                <a:cs typeface="Arial"/>
                <a:sym typeface="Arial"/>
              </a:rPr>
              <a:t>…</a:t>
            </a:r>
            <a:endParaRPr/>
          </a:p>
        </p:txBody>
      </p:sp>
      <p:sp>
        <p:nvSpPr>
          <p:cNvPr id="156" name="Google Shape;156;g1f56a3749ef_0_24"/>
          <p:cNvSpPr/>
          <p:nvPr/>
        </p:nvSpPr>
        <p:spPr>
          <a:xfrm>
            <a:off x="7826208" y="4875549"/>
            <a:ext cx="18117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s-AR" sz="2000" u="none" cap="none" strike="noStrike">
                <a:solidFill>
                  <a:srgbClr val="7030A0"/>
                </a:solidFill>
                <a:latin typeface="Arial"/>
                <a:ea typeface="Arial"/>
                <a:cs typeface="Arial"/>
                <a:sym typeface="Arial"/>
              </a:rPr>
              <a:t>Y uds… </a:t>
            </a:r>
            <a:endParaRPr/>
          </a:p>
          <a:p>
            <a:pPr indent="0" lvl="0" marL="0" marR="0" rtl="0" algn="ctr">
              <a:lnSpc>
                <a:spcPct val="100000"/>
              </a:lnSpc>
              <a:spcBef>
                <a:spcPts val="0"/>
              </a:spcBef>
              <a:spcAft>
                <a:spcPts val="0"/>
              </a:spcAft>
              <a:buNone/>
            </a:pPr>
            <a:r>
              <a:rPr b="1" lang="es-AR" sz="2000">
                <a:solidFill>
                  <a:srgbClr val="7030A0"/>
                </a:solidFill>
              </a:rPr>
              <a:t>¿</a:t>
            </a:r>
            <a:r>
              <a:rPr b="1" i="0" lang="es-AR" sz="2000" u="none" cap="none" strike="noStrike">
                <a:solidFill>
                  <a:srgbClr val="7030A0"/>
                </a:solidFill>
                <a:latin typeface="Arial"/>
                <a:ea typeface="Arial"/>
                <a:cs typeface="Arial"/>
                <a:sym typeface="Arial"/>
              </a:rPr>
              <a:t>C</a:t>
            </a:r>
            <a:r>
              <a:rPr b="1" lang="es-AR" sz="2000">
                <a:solidFill>
                  <a:srgbClr val="7030A0"/>
                </a:solidFill>
              </a:rPr>
              <a:t>Ó</a:t>
            </a:r>
            <a:r>
              <a:rPr b="1" i="0" lang="es-AR" sz="2000" u="none" cap="none" strike="noStrike">
                <a:solidFill>
                  <a:srgbClr val="7030A0"/>
                </a:solidFill>
                <a:latin typeface="Arial"/>
                <a:ea typeface="Arial"/>
                <a:cs typeface="Arial"/>
                <a:sym typeface="Arial"/>
              </a:rPr>
              <a:t>MO L</a:t>
            </a:r>
            <a:r>
              <a:rPr b="1" lang="es-AR" sz="2000">
                <a:solidFill>
                  <a:srgbClr val="7030A0"/>
                </a:solidFill>
              </a:rPr>
              <a:t>AS</a:t>
            </a:r>
            <a:r>
              <a:rPr b="1" i="0" lang="es-AR" sz="2000" u="none" cap="none" strike="noStrike">
                <a:solidFill>
                  <a:srgbClr val="7030A0"/>
                </a:solidFill>
                <a:latin typeface="Arial"/>
                <a:ea typeface="Arial"/>
                <a:cs typeface="Arial"/>
                <a:sym typeface="Arial"/>
              </a:rPr>
              <a:t> </a:t>
            </a:r>
            <a:endParaRPr/>
          </a:p>
          <a:p>
            <a:pPr indent="0" lvl="0" marL="0" marR="0" rtl="0" algn="ctr">
              <a:lnSpc>
                <a:spcPct val="100000"/>
              </a:lnSpc>
              <a:spcBef>
                <a:spcPts val="0"/>
              </a:spcBef>
              <a:spcAft>
                <a:spcPts val="0"/>
              </a:spcAft>
              <a:buNone/>
            </a:pPr>
            <a:r>
              <a:rPr b="1" i="0" lang="es-AR" sz="2000" u="none" cap="none" strike="noStrike">
                <a:solidFill>
                  <a:srgbClr val="7030A0"/>
                </a:solidFill>
                <a:latin typeface="Arial"/>
                <a:ea typeface="Arial"/>
                <a:cs typeface="Arial"/>
                <a:sym typeface="Arial"/>
              </a:rPr>
              <a:t>DEFINIRÍAN?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f56a3749ef_0_49"/>
          <p:cNvSpPr txBox="1"/>
          <p:nvPr/>
        </p:nvSpPr>
        <p:spPr>
          <a:xfrm>
            <a:off x="228603" y="-24"/>
            <a:ext cx="96774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s-AR" sz="2400" u="none" cap="none" strike="noStrike">
                <a:solidFill>
                  <a:srgbClr val="2A4A75"/>
                </a:solidFill>
                <a:latin typeface="Lucida Sans"/>
                <a:ea typeface="Lucida Sans"/>
                <a:cs typeface="Lucida Sans"/>
                <a:sym typeface="Lucida Sans"/>
              </a:rPr>
              <a:t>LAS PERSONAS EN EL TRABAJO</a:t>
            </a:r>
            <a:endParaRPr b="1" i="0" sz="2400" u="none" cap="none" strike="noStrike">
              <a:solidFill>
                <a:srgbClr val="2A4A75"/>
              </a:solidFill>
              <a:latin typeface="Lucida Sans"/>
              <a:ea typeface="Lucida Sans"/>
              <a:cs typeface="Lucida Sans"/>
              <a:sym typeface="Lucida Sans"/>
            </a:endParaRPr>
          </a:p>
          <a:p>
            <a:pPr indent="-714375" lvl="0" marL="714375" marR="0" rtl="0" algn="l">
              <a:lnSpc>
                <a:spcPct val="90000"/>
              </a:lnSpc>
              <a:spcBef>
                <a:spcPts val="0"/>
              </a:spcBef>
              <a:spcAft>
                <a:spcPts val="0"/>
              </a:spcAft>
              <a:buNone/>
            </a:pPr>
            <a:r>
              <a:rPr b="1" i="0" lang="es-AR" sz="2400" u="none" cap="none" strike="noStrike">
                <a:solidFill>
                  <a:srgbClr val="2A4A75"/>
                </a:solidFill>
                <a:latin typeface="Lucida Sans"/>
                <a:ea typeface="Lucida Sans"/>
                <a:cs typeface="Lucida Sans"/>
                <a:sym typeface="Lucida Sans"/>
              </a:rPr>
              <a:t>Emociones y Neurociencias</a:t>
            </a:r>
            <a:endParaRPr b="1" i="0" sz="2400" u="none" cap="none" strike="noStrike">
              <a:solidFill>
                <a:srgbClr val="2A4A75"/>
              </a:solidFill>
              <a:latin typeface="Lucida Sans"/>
              <a:ea typeface="Lucida Sans"/>
              <a:cs typeface="Lucida Sans"/>
              <a:sym typeface="Lucida Sans"/>
            </a:endParaRPr>
          </a:p>
          <a:p>
            <a:pPr indent="-714375" lvl="0" marL="714375" marR="0" rtl="0" algn="l">
              <a:lnSpc>
                <a:spcPct val="90000"/>
              </a:lnSpc>
              <a:spcBef>
                <a:spcPts val="0"/>
              </a:spcBef>
              <a:spcAft>
                <a:spcPts val="0"/>
              </a:spcAft>
              <a:buClr>
                <a:srgbClr val="000000"/>
              </a:buClr>
              <a:buSzPts val="2800"/>
              <a:buFont typeface="Arial"/>
              <a:buNone/>
            </a:pPr>
            <a:r>
              <a:t/>
            </a:r>
            <a:endParaRPr b="1" i="0" sz="2400" u="none" cap="none" strike="noStrike">
              <a:solidFill>
                <a:srgbClr val="2A4A75"/>
              </a:solidFill>
              <a:latin typeface="Lucida Sans"/>
              <a:ea typeface="Lucida Sans"/>
              <a:cs typeface="Lucida Sans"/>
              <a:sym typeface="Lucida Sans"/>
            </a:endParaRPr>
          </a:p>
        </p:txBody>
      </p:sp>
      <p:pic>
        <p:nvPicPr>
          <p:cNvPr id="163" name="Google Shape;163;g1f56a3749ef_0_49"/>
          <p:cNvPicPr preferRelativeResize="0"/>
          <p:nvPr/>
        </p:nvPicPr>
        <p:blipFill rotWithShape="1">
          <a:blip r:embed="rId3">
            <a:alphaModFix/>
          </a:blip>
          <a:srcRect b="0" l="0" r="0" t="0"/>
          <a:stretch/>
        </p:blipFill>
        <p:spPr>
          <a:xfrm>
            <a:off x="756557" y="1498961"/>
            <a:ext cx="8392886" cy="44062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1f56a3749ef_0_55"/>
          <p:cNvSpPr txBox="1"/>
          <p:nvPr/>
        </p:nvSpPr>
        <p:spPr>
          <a:xfrm>
            <a:off x="275317" y="38990"/>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s-AR" sz="2400" u="none" cap="none" strike="noStrike">
                <a:solidFill>
                  <a:srgbClr val="2A4A75"/>
                </a:solidFill>
                <a:latin typeface="Lucida Sans"/>
                <a:ea typeface="Lucida Sans"/>
                <a:cs typeface="Lucida Sans"/>
                <a:sym typeface="Lucida Sans"/>
              </a:rPr>
              <a:t>LAS PERSONAS EN EL TRABAJO</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2800"/>
              <a:buFont typeface="Arial"/>
              <a:buNone/>
            </a:pPr>
            <a:r>
              <a:rPr b="1" i="0" lang="es-AR" sz="2800" u="none" cap="none" strike="noStrike">
                <a:solidFill>
                  <a:srgbClr val="2A4A75"/>
                </a:solidFill>
                <a:latin typeface="Lucida Sans"/>
                <a:ea typeface="Lucida Sans"/>
                <a:cs typeface="Lucida Sans"/>
                <a:sym typeface="Lucida Sans"/>
              </a:rPr>
              <a:t>Emociones y Neurociencias</a:t>
            </a:r>
            <a:endParaRPr b="1" i="0" sz="2800" u="none" cap="none" strike="noStrike">
              <a:solidFill>
                <a:srgbClr val="2A4A75"/>
              </a:solidFill>
              <a:latin typeface="Lucida Sans"/>
              <a:ea typeface="Lucida Sans"/>
              <a:cs typeface="Lucida Sans"/>
              <a:sym typeface="Lucida Sans"/>
            </a:endParaRPr>
          </a:p>
          <a:p>
            <a:pPr indent="-714375" lvl="0" marL="714375" marR="0" rtl="0" algn="l">
              <a:lnSpc>
                <a:spcPct val="90000"/>
              </a:lnSpc>
              <a:spcBef>
                <a:spcPts val="0"/>
              </a:spcBef>
              <a:spcAft>
                <a:spcPts val="0"/>
              </a:spcAft>
              <a:buClr>
                <a:srgbClr val="000000"/>
              </a:buClr>
              <a:buSzPts val="2800"/>
              <a:buFont typeface="Arial"/>
              <a:buNone/>
            </a:pPr>
            <a:r>
              <a:t/>
            </a:r>
            <a:endParaRPr b="1" i="0" sz="2400" u="none" cap="none" strike="noStrike">
              <a:solidFill>
                <a:srgbClr val="2A4A75"/>
              </a:solidFill>
              <a:latin typeface="Lucida Sans"/>
              <a:ea typeface="Lucida Sans"/>
              <a:cs typeface="Lucida Sans"/>
              <a:sym typeface="Lucida Sans"/>
            </a:endParaRPr>
          </a:p>
        </p:txBody>
      </p:sp>
      <p:sp>
        <p:nvSpPr>
          <p:cNvPr id="170" name="Google Shape;170;g1f56a3749ef_0_55"/>
          <p:cNvSpPr txBox="1"/>
          <p:nvPr/>
        </p:nvSpPr>
        <p:spPr>
          <a:xfrm>
            <a:off x="363537" y="1320841"/>
            <a:ext cx="9178800" cy="757200"/>
          </a:xfrm>
          <a:prstGeom prst="rect">
            <a:avLst/>
          </a:prstGeom>
          <a:solidFill>
            <a:srgbClr val="D6D8E6"/>
          </a:solid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None/>
            </a:pPr>
            <a:r>
              <a:rPr b="1" lang="es-AR" sz="1600">
                <a:solidFill>
                  <a:srgbClr val="002060"/>
                </a:solidFill>
                <a:latin typeface="Lucida Sans"/>
                <a:ea typeface="Lucida Sans"/>
                <a:cs typeface="Lucida Sans"/>
                <a:sym typeface="Lucida Sans"/>
              </a:rPr>
              <a:t>¿</a:t>
            </a:r>
            <a:r>
              <a:rPr b="1" i="0" lang="es-AR" sz="1600" u="none" cap="none" strike="noStrike">
                <a:solidFill>
                  <a:srgbClr val="002060"/>
                </a:solidFill>
                <a:latin typeface="Lucida Sans"/>
                <a:ea typeface="Lucida Sans"/>
                <a:cs typeface="Lucida Sans"/>
                <a:sym typeface="Lucida Sans"/>
              </a:rPr>
              <a:t>Y por qué hablamos de emociones y neurociencias?</a:t>
            </a:r>
            <a:r>
              <a:rPr b="1" lang="es-AR" sz="1600">
                <a:solidFill>
                  <a:srgbClr val="002060"/>
                </a:solidFill>
                <a:latin typeface="Lucida Sans"/>
                <a:ea typeface="Lucida Sans"/>
                <a:cs typeface="Lucida Sans"/>
                <a:sym typeface="Lucida Sans"/>
              </a:rPr>
              <a:t>  P</a:t>
            </a:r>
            <a:r>
              <a:rPr b="1" i="0" lang="es-AR" sz="1600" u="none" cap="none" strike="noStrike">
                <a:solidFill>
                  <a:srgbClr val="002060"/>
                </a:solidFill>
                <a:latin typeface="Lucida Sans"/>
                <a:ea typeface="Lucida Sans"/>
                <a:cs typeface="Lucida Sans"/>
                <a:sym typeface="Lucida Sans"/>
              </a:rPr>
              <a:t>orque nuestros comportamientos en las organizaciones est</a:t>
            </a:r>
            <a:r>
              <a:rPr b="1" lang="es-AR" sz="1600">
                <a:solidFill>
                  <a:srgbClr val="002060"/>
                </a:solidFill>
                <a:latin typeface="Lucida Sans"/>
                <a:ea typeface="Lucida Sans"/>
                <a:cs typeface="Lucida Sans"/>
                <a:sym typeface="Lucida Sans"/>
              </a:rPr>
              <a:t>á</a:t>
            </a:r>
            <a:r>
              <a:rPr b="1" i="0" lang="es-AR" sz="1600" u="none" cap="none" strike="noStrike">
                <a:solidFill>
                  <a:srgbClr val="002060"/>
                </a:solidFill>
                <a:latin typeface="Lucida Sans"/>
                <a:ea typeface="Lucida Sans"/>
                <a:cs typeface="Lucida Sans"/>
                <a:sym typeface="Lucida Sans"/>
              </a:rPr>
              <a:t>n atravesados por emociones y nuestras formas de operar est</a:t>
            </a:r>
            <a:r>
              <a:rPr b="1" lang="es-AR" sz="1600">
                <a:solidFill>
                  <a:srgbClr val="002060"/>
                </a:solidFill>
                <a:latin typeface="Lucida Sans"/>
                <a:ea typeface="Lucida Sans"/>
                <a:cs typeface="Lucida Sans"/>
                <a:sym typeface="Lucida Sans"/>
              </a:rPr>
              <a:t>án</a:t>
            </a:r>
            <a:r>
              <a:rPr b="1" i="0" lang="es-AR" sz="1600" u="none" cap="none" strike="noStrike">
                <a:solidFill>
                  <a:srgbClr val="002060"/>
                </a:solidFill>
                <a:latin typeface="Lucida Sans"/>
                <a:ea typeface="Lucida Sans"/>
                <a:cs typeface="Lucida Sans"/>
                <a:sym typeface="Lucida Sans"/>
              </a:rPr>
              <a:t> atravesadas por las neurociencia</a:t>
            </a:r>
            <a:r>
              <a:rPr b="1" lang="es-AR" sz="1600">
                <a:solidFill>
                  <a:srgbClr val="002060"/>
                </a:solidFill>
                <a:latin typeface="Lucida Sans"/>
                <a:ea typeface="Lucida Sans"/>
                <a:cs typeface="Lucida Sans"/>
                <a:sym typeface="Lucida Sans"/>
              </a:rPr>
              <a:t>s</a:t>
            </a:r>
            <a:r>
              <a:rPr b="1" i="0" lang="es-AR" sz="1600" u="none" cap="none" strike="noStrike">
                <a:solidFill>
                  <a:srgbClr val="002060"/>
                </a:solidFill>
                <a:latin typeface="Lucida Sans"/>
                <a:ea typeface="Lucida Sans"/>
                <a:cs typeface="Lucida Sans"/>
                <a:sym typeface="Lucida Sans"/>
              </a:rPr>
              <a:t>`</a:t>
            </a:r>
            <a:endParaRPr/>
          </a:p>
        </p:txBody>
      </p:sp>
      <p:sp>
        <p:nvSpPr>
          <p:cNvPr id="171" name="Google Shape;171;g1f56a3749ef_0_55"/>
          <p:cNvSpPr txBox="1"/>
          <p:nvPr/>
        </p:nvSpPr>
        <p:spPr>
          <a:xfrm>
            <a:off x="1284411" y="2353080"/>
            <a:ext cx="2400300" cy="1077300"/>
          </a:xfrm>
          <a:prstGeom prst="rect">
            <a:avLst/>
          </a:prstGeom>
          <a:solidFill>
            <a:srgbClr val="AEB1CE"/>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600" u="none" cap="none" strike="noStrike">
                <a:solidFill>
                  <a:srgbClr val="000000"/>
                </a:solidFill>
                <a:latin typeface="Arial"/>
                <a:ea typeface="Arial"/>
                <a:cs typeface="Arial"/>
                <a:sym typeface="Arial"/>
              </a:rPr>
              <a:t>Cualquiera sea la experiencia o lo que LE DIGAS a tu CEREBRO SUFICIENTES VECES</a:t>
            </a:r>
            <a:endParaRPr/>
          </a:p>
        </p:txBody>
      </p:sp>
      <p:sp>
        <p:nvSpPr>
          <p:cNvPr id="172" name="Google Shape;172;g1f56a3749ef_0_55"/>
          <p:cNvSpPr txBox="1"/>
          <p:nvPr/>
        </p:nvSpPr>
        <p:spPr>
          <a:xfrm>
            <a:off x="4794904" y="2353503"/>
            <a:ext cx="1928100" cy="1077300"/>
          </a:xfrm>
          <a:prstGeom prst="rect">
            <a:avLst/>
          </a:prstGeom>
          <a:solidFill>
            <a:srgbClr val="AEB1CE"/>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600" u="none" cap="none" strike="noStrike">
                <a:solidFill>
                  <a:srgbClr val="000000"/>
                </a:solidFill>
                <a:latin typeface="Arial"/>
                <a:ea typeface="Arial"/>
                <a:cs typeface="Arial"/>
                <a:sym typeface="Arial"/>
              </a:rPr>
              <a:t>Se forma aquello que es lo que cree y creer</a:t>
            </a:r>
            <a:r>
              <a:rPr lang="es-AR" sz="1600"/>
              <a:t>á</a:t>
            </a:r>
            <a:r>
              <a:rPr b="0" i="0" lang="es-AR" sz="1600" u="none" cap="none" strike="noStrike">
                <a:solidFill>
                  <a:srgbClr val="000000"/>
                </a:solidFill>
                <a:latin typeface="Arial"/>
                <a:ea typeface="Arial"/>
                <a:cs typeface="Arial"/>
                <a:sym typeface="Arial"/>
              </a:rPr>
              <a:t> sobre s</a:t>
            </a:r>
            <a:r>
              <a:rPr lang="es-AR" sz="1600"/>
              <a:t>í</a:t>
            </a:r>
            <a:r>
              <a:rPr b="0" i="0" lang="es-AR" sz="1600" u="none" cap="none" strike="noStrike">
                <a:solidFill>
                  <a:srgbClr val="000000"/>
                </a:solidFill>
                <a:latin typeface="Arial"/>
                <a:ea typeface="Arial"/>
                <a:cs typeface="Arial"/>
                <a:sym typeface="Arial"/>
              </a:rPr>
              <a:t> mismo.</a:t>
            </a:r>
            <a:endParaRPr/>
          </a:p>
        </p:txBody>
      </p:sp>
      <p:sp>
        <p:nvSpPr>
          <p:cNvPr id="173" name="Google Shape;173;g1f56a3749ef_0_55"/>
          <p:cNvSpPr txBox="1"/>
          <p:nvPr/>
        </p:nvSpPr>
        <p:spPr>
          <a:xfrm>
            <a:off x="7016897" y="2453195"/>
            <a:ext cx="2487600" cy="923400"/>
          </a:xfrm>
          <a:prstGeom prst="rect">
            <a:avLst/>
          </a:prstGeom>
          <a:solidFill>
            <a:srgbClr val="23253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AR" sz="1800" u="none" cap="none" strike="noStrike">
                <a:solidFill>
                  <a:schemeClr val="lt1"/>
                </a:solidFill>
                <a:latin typeface="Arial"/>
                <a:ea typeface="Arial"/>
                <a:cs typeface="Arial"/>
                <a:sym typeface="Arial"/>
              </a:rPr>
              <a:t>ES LA VERDAD sobre todas las cosas en su vida</a:t>
            </a:r>
            <a:endParaRPr/>
          </a:p>
        </p:txBody>
      </p:sp>
      <p:sp>
        <p:nvSpPr>
          <p:cNvPr id="174" name="Google Shape;174;g1f56a3749ef_0_55"/>
          <p:cNvSpPr txBox="1"/>
          <p:nvPr/>
        </p:nvSpPr>
        <p:spPr>
          <a:xfrm>
            <a:off x="636782" y="4548674"/>
            <a:ext cx="6813000" cy="585000"/>
          </a:xfrm>
          <a:prstGeom prst="rect">
            <a:avLst/>
          </a:prstGeom>
          <a:solidFill>
            <a:srgbClr val="AEB1CE"/>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600" u="none" cap="none" strike="noStrike">
                <a:solidFill>
                  <a:srgbClr val="000000"/>
                </a:solidFill>
                <a:latin typeface="Arial"/>
                <a:ea typeface="Arial"/>
                <a:cs typeface="Arial"/>
                <a:sym typeface="Arial"/>
              </a:rPr>
              <a:t>Sin importar si son ciertas o no, se convierten en verdades en el cerebro </a:t>
            </a:r>
            <a:endParaRPr/>
          </a:p>
          <a:p>
            <a:pPr indent="0" lvl="0" marL="0" marR="0" rtl="0" algn="ctr">
              <a:lnSpc>
                <a:spcPct val="100000"/>
              </a:lnSpc>
              <a:spcBef>
                <a:spcPts val="0"/>
              </a:spcBef>
              <a:spcAft>
                <a:spcPts val="0"/>
              </a:spcAft>
              <a:buNone/>
            </a:pPr>
            <a:r>
              <a:rPr b="0" i="0" lang="es-AR" sz="1600" u="none" cap="none" strike="noStrike">
                <a:solidFill>
                  <a:srgbClr val="000000"/>
                </a:solidFill>
                <a:latin typeface="Arial"/>
                <a:ea typeface="Arial"/>
                <a:cs typeface="Arial"/>
                <a:sym typeface="Arial"/>
              </a:rPr>
              <a:t>(especialmente en los chicos) </a:t>
            </a:r>
            <a:endParaRPr/>
          </a:p>
        </p:txBody>
      </p:sp>
      <p:sp>
        <p:nvSpPr>
          <p:cNvPr id="175" name="Google Shape;175;g1f56a3749ef_0_55"/>
          <p:cNvSpPr txBox="1"/>
          <p:nvPr/>
        </p:nvSpPr>
        <p:spPr>
          <a:xfrm>
            <a:off x="636782" y="3890435"/>
            <a:ext cx="6813000" cy="585000"/>
          </a:xfrm>
          <a:prstGeom prst="rect">
            <a:avLst/>
          </a:prstGeom>
          <a:solidFill>
            <a:srgbClr val="D6D8E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1600" u="none" cap="none" strike="noStrike">
                <a:solidFill>
                  <a:srgbClr val="000000"/>
                </a:solidFill>
                <a:latin typeface="Arial"/>
                <a:ea typeface="Arial"/>
                <a:cs typeface="Arial"/>
                <a:sym typeface="Arial"/>
              </a:rPr>
              <a:t>Con la suficiente repetici</a:t>
            </a:r>
            <a:r>
              <a:rPr lang="es-AR" sz="1600"/>
              <a:t>ón</a:t>
            </a:r>
            <a:r>
              <a:rPr b="0" i="0" lang="es-AR" sz="1600" u="none" cap="none" strike="noStrike">
                <a:solidFill>
                  <a:srgbClr val="000000"/>
                </a:solidFill>
                <a:latin typeface="Arial"/>
                <a:ea typeface="Arial"/>
                <a:cs typeface="Arial"/>
                <a:sym typeface="Arial"/>
              </a:rPr>
              <a:t> (Al repetir, cable</a:t>
            </a:r>
            <a:r>
              <a:rPr lang="es-AR" sz="1600"/>
              <a:t>á</a:t>
            </a:r>
            <a:r>
              <a:rPr b="0" i="0" lang="es-AR" sz="1600" u="none" cap="none" strike="noStrike">
                <a:solidFill>
                  <a:srgbClr val="000000"/>
                </a:solidFill>
                <a:latin typeface="Arial"/>
                <a:ea typeface="Arial"/>
                <a:cs typeface="Arial"/>
                <a:sym typeface="Arial"/>
              </a:rPr>
              <a:t>s m</a:t>
            </a:r>
            <a:r>
              <a:rPr lang="es-AR" sz="1600"/>
              <a:t>á</a:t>
            </a:r>
            <a:r>
              <a:rPr b="0" i="0" lang="es-AR" sz="1600" u="none" cap="none" strike="noStrike">
                <a:solidFill>
                  <a:srgbClr val="000000"/>
                </a:solidFill>
                <a:latin typeface="Arial"/>
                <a:ea typeface="Arial"/>
                <a:cs typeface="Arial"/>
                <a:sym typeface="Arial"/>
              </a:rPr>
              <a:t>s fuerte tu cerebro)</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sp>
        <p:nvSpPr>
          <p:cNvPr id="176" name="Google Shape;176;g1f56a3749ef_0_55"/>
          <p:cNvSpPr txBox="1"/>
          <p:nvPr/>
        </p:nvSpPr>
        <p:spPr>
          <a:xfrm>
            <a:off x="636782" y="5195931"/>
            <a:ext cx="6813000" cy="646500"/>
          </a:xfrm>
          <a:prstGeom prst="rect">
            <a:avLst/>
          </a:prstGeom>
          <a:solidFill>
            <a:srgbClr val="858AB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1800" u="none" cap="none" strike="noStrike">
                <a:solidFill>
                  <a:srgbClr val="000000"/>
                </a:solidFill>
                <a:latin typeface="Arial"/>
                <a:ea typeface="Arial"/>
                <a:cs typeface="Arial"/>
                <a:sym typeface="Arial"/>
              </a:rPr>
              <a:t>Tu cerebro CREE eso que vos decís aunque no sea verdad.</a:t>
            </a:r>
            <a:endParaRPr/>
          </a:p>
          <a:p>
            <a:pPr indent="0" lvl="0" marL="0" marR="0" rtl="0" algn="ctr">
              <a:lnSpc>
                <a:spcPct val="100000"/>
              </a:lnSpc>
              <a:spcBef>
                <a:spcPts val="0"/>
              </a:spcBef>
              <a:spcAft>
                <a:spcPts val="0"/>
              </a:spcAft>
              <a:buNone/>
            </a:pPr>
            <a:r>
              <a:rPr b="0" i="0" lang="es-AR" sz="1800" u="none" cap="none" strike="noStrike">
                <a:solidFill>
                  <a:srgbClr val="000000"/>
                </a:solidFill>
                <a:latin typeface="Arial"/>
                <a:ea typeface="Arial"/>
                <a:cs typeface="Arial"/>
                <a:sym typeface="Arial"/>
              </a:rPr>
              <a:t>Se CONVIERTEN EN H</a:t>
            </a:r>
            <a:r>
              <a:rPr lang="es-AR" sz="1800"/>
              <a:t>Á</a:t>
            </a:r>
            <a:r>
              <a:rPr b="0" i="0" lang="es-AR" sz="1800" u="none" cap="none" strike="noStrike">
                <a:solidFill>
                  <a:srgbClr val="000000"/>
                </a:solidFill>
                <a:latin typeface="Arial"/>
                <a:ea typeface="Arial"/>
                <a:cs typeface="Arial"/>
                <a:sym typeface="Arial"/>
              </a:rPr>
              <a:t>BITOS que con</a:t>
            </a:r>
            <a:r>
              <a:rPr lang="es-AR" sz="1800"/>
              <a:t>s</a:t>
            </a:r>
            <a:r>
              <a:rPr b="0" i="0" lang="es-AR" sz="1800" u="none" cap="none" strike="noStrike">
                <a:solidFill>
                  <a:srgbClr val="000000"/>
                </a:solidFill>
                <a:latin typeface="Arial"/>
                <a:ea typeface="Arial"/>
                <a:cs typeface="Arial"/>
                <a:sym typeface="Arial"/>
              </a:rPr>
              <a:t>truiste/constru</a:t>
            </a:r>
            <a:r>
              <a:rPr lang="es-AR" sz="1800"/>
              <a:t>í</a:t>
            </a:r>
            <a:r>
              <a:rPr b="0" i="0" lang="es-AR" sz="1800" u="none" cap="none" strike="noStrike">
                <a:solidFill>
                  <a:srgbClr val="000000"/>
                </a:solidFill>
                <a:latin typeface="Arial"/>
                <a:ea typeface="Arial"/>
                <a:cs typeface="Arial"/>
                <a:sym typeface="Arial"/>
              </a:rPr>
              <a:t>mos</a:t>
            </a:r>
            <a:endParaRPr/>
          </a:p>
        </p:txBody>
      </p:sp>
      <p:pic>
        <p:nvPicPr>
          <p:cNvPr descr="Brain in head" id="177" name="Google Shape;177;g1f56a3749ef_0_55"/>
          <p:cNvPicPr preferRelativeResize="0"/>
          <p:nvPr/>
        </p:nvPicPr>
        <p:blipFill rotWithShape="1">
          <a:blip r:embed="rId3">
            <a:alphaModFix/>
          </a:blip>
          <a:srcRect b="0" l="0" r="0" t="0"/>
          <a:stretch/>
        </p:blipFill>
        <p:spPr>
          <a:xfrm>
            <a:off x="401610" y="2373982"/>
            <a:ext cx="914400" cy="914400"/>
          </a:xfrm>
          <a:prstGeom prst="rect">
            <a:avLst/>
          </a:prstGeom>
          <a:noFill/>
          <a:ln>
            <a:noFill/>
          </a:ln>
        </p:spPr>
      </p:pic>
      <p:pic>
        <p:nvPicPr>
          <p:cNvPr id="178" name="Google Shape;178;g1f56a3749ef_0_55"/>
          <p:cNvPicPr preferRelativeResize="0"/>
          <p:nvPr/>
        </p:nvPicPr>
        <p:blipFill rotWithShape="1">
          <a:blip r:embed="rId4">
            <a:alphaModFix/>
          </a:blip>
          <a:srcRect b="-1337" l="0" r="0" t="0"/>
          <a:stretch/>
        </p:blipFill>
        <p:spPr>
          <a:xfrm>
            <a:off x="7868483" y="3890434"/>
            <a:ext cx="1800215" cy="1951828"/>
          </a:xfrm>
          <a:prstGeom prst="rect">
            <a:avLst/>
          </a:prstGeom>
          <a:noFill/>
          <a:ln>
            <a:noFill/>
          </a:ln>
        </p:spPr>
      </p:pic>
      <p:pic>
        <p:nvPicPr>
          <p:cNvPr descr="Direction" id="179" name="Google Shape;179;g1f56a3749ef_0_55"/>
          <p:cNvPicPr preferRelativeResize="0"/>
          <p:nvPr/>
        </p:nvPicPr>
        <p:blipFill rotWithShape="1">
          <a:blip r:embed="rId5">
            <a:alphaModFix/>
          </a:blip>
          <a:srcRect b="0" l="0" r="0" t="0"/>
          <a:stretch/>
        </p:blipFill>
        <p:spPr>
          <a:xfrm rot="2922381">
            <a:off x="3357936" y="2253907"/>
            <a:ext cx="1323014" cy="1323014"/>
          </a:xfrm>
          <a:prstGeom prst="rect">
            <a:avLst/>
          </a:prstGeom>
          <a:noFill/>
          <a:ln>
            <a:noFill/>
          </a:ln>
        </p:spPr>
      </p:pic>
      <p:sp>
        <p:nvSpPr>
          <p:cNvPr id="180" name="Google Shape;180;g1f56a3749ef_0_55"/>
          <p:cNvSpPr txBox="1"/>
          <p:nvPr/>
        </p:nvSpPr>
        <p:spPr>
          <a:xfrm>
            <a:off x="636782" y="5883725"/>
            <a:ext cx="9102900" cy="585000"/>
          </a:xfrm>
          <a:prstGeom prst="rect">
            <a:avLst/>
          </a:prstGeom>
          <a:solidFill>
            <a:srgbClr val="23253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1600" u="none" cap="none" strike="noStrike">
                <a:solidFill>
                  <a:schemeClr val="lt1"/>
                </a:solidFill>
                <a:latin typeface="Arial"/>
                <a:ea typeface="Arial"/>
                <a:cs typeface="Arial"/>
                <a:sym typeface="Arial"/>
              </a:rPr>
              <a:t>…Y como el cerebro siempre quiere ahorrar </a:t>
            </a:r>
            <a:r>
              <a:rPr lang="es-AR" sz="1600">
                <a:solidFill>
                  <a:schemeClr val="lt1"/>
                </a:solidFill>
              </a:rPr>
              <a:t>energía</a:t>
            </a:r>
            <a:r>
              <a:rPr b="0" i="0" lang="es-AR" sz="1600" u="none" cap="none" strike="noStrike">
                <a:solidFill>
                  <a:schemeClr val="lt1"/>
                </a:solidFill>
                <a:latin typeface="Arial"/>
                <a:ea typeface="Arial"/>
                <a:cs typeface="Arial"/>
                <a:sym typeface="Arial"/>
              </a:rPr>
              <a:t>, los </a:t>
            </a:r>
            <a:r>
              <a:rPr lang="es-AR" sz="1600">
                <a:solidFill>
                  <a:schemeClr val="lt1"/>
                </a:solidFill>
              </a:rPr>
              <a:t>hábitos</a:t>
            </a:r>
            <a:r>
              <a:rPr b="0" i="0" lang="es-AR" sz="1600" u="none" cap="none" strike="noStrike">
                <a:solidFill>
                  <a:schemeClr val="lt1"/>
                </a:solidFill>
                <a:latin typeface="Arial"/>
                <a:ea typeface="Arial"/>
                <a:cs typeface="Arial"/>
                <a:sym typeface="Arial"/>
              </a:rPr>
              <a:t> adquiridos van a regular nuestra forma de actuar…. Y Marcar nuestra Motivación y engagement.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ca49d5bfcc_0_73"/>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Las Neurociencias y el Cambio</a:t>
            </a:r>
            <a:endParaRPr b="0" i="0" sz="1400" u="none" cap="none" strike="noStrike">
              <a:solidFill>
                <a:srgbClr val="000000"/>
              </a:solidFill>
              <a:latin typeface="Arial"/>
              <a:ea typeface="Arial"/>
              <a:cs typeface="Arial"/>
              <a:sym typeface="Arial"/>
            </a:endParaRPr>
          </a:p>
        </p:txBody>
      </p:sp>
      <p:sp>
        <p:nvSpPr>
          <p:cNvPr id="187" name="Google Shape;187;g2ca49d5bfcc_0_73"/>
          <p:cNvSpPr txBox="1"/>
          <p:nvPr/>
        </p:nvSpPr>
        <p:spPr>
          <a:xfrm>
            <a:off x="4921250" y="1426100"/>
            <a:ext cx="4635600" cy="44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lang="es-AR" sz="1800">
                <a:solidFill>
                  <a:schemeClr val="dk1"/>
                </a:solidFill>
              </a:rPr>
              <a:t>El </a:t>
            </a:r>
            <a:r>
              <a:rPr b="1" lang="es-AR" sz="1800">
                <a:solidFill>
                  <a:schemeClr val="dk1"/>
                </a:solidFill>
              </a:rPr>
              <a:t>cerebro humano</a:t>
            </a:r>
            <a:r>
              <a:rPr lang="es-AR" sz="1800">
                <a:solidFill>
                  <a:schemeClr val="dk1"/>
                </a:solidFill>
              </a:rPr>
              <a:t> es un órgano complejo que se encarga de procesar información, regular funciones corporales y controlar el comportamiento. </a:t>
            </a:r>
            <a:br>
              <a:rPr lang="es-AR" sz="1800">
                <a:solidFill>
                  <a:schemeClr val="dk1"/>
                </a:solidFill>
              </a:rPr>
            </a:br>
            <a:r>
              <a:rPr lang="es-AR" sz="1800">
                <a:solidFill>
                  <a:schemeClr val="dk1"/>
                </a:solidFill>
              </a:rPr>
              <a:t>Está compuesto por miles de millones de neuronas, células especializadas que transmiten señales eléctricas y químicas entre sí.</a:t>
            </a:r>
            <a:endParaRPr sz="1800">
              <a:solidFill>
                <a:schemeClr val="dk1"/>
              </a:solidFill>
            </a:endParaRPr>
          </a:p>
          <a:p>
            <a:pPr indent="0" lvl="0" marL="0" rtl="0" algn="l">
              <a:lnSpc>
                <a:spcPct val="115000"/>
              </a:lnSpc>
              <a:spcBef>
                <a:spcPts val="1500"/>
              </a:spcBef>
              <a:spcAft>
                <a:spcPts val="1500"/>
              </a:spcAft>
              <a:buNone/>
            </a:pPr>
            <a:r>
              <a:rPr lang="es-AR" sz="1800">
                <a:solidFill>
                  <a:schemeClr val="dk1"/>
                </a:solidFill>
              </a:rPr>
              <a:t>Cuando se enfrenta a un cambio, el cerebro pasa por varios procesos que pueden influir en la manera en que una persona reacciona y se adapta a la nueva situación.</a:t>
            </a:r>
            <a:endParaRPr sz="1800">
              <a:solidFill>
                <a:schemeClr val="dk1"/>
              </a:solidFill>
            </a:endParaRPr>
          </a:p>
        </p:txBody>
      </p:sp>
      <p:pic>
        <p:nvPicPr>
          <p:cNvPr id="188" name="Google Shape;188;g2ca49d5bfcc_0_73"/>
          <p:cNvPicPr preferRelativeResize="0"/>
          <p:nvPr/>
        </p:nvPicPr>
        <p:blipFill>
          <a:blip r:embed="rId3">
            <a:alphaModFix/>
          </a:blip>
          <a:stretch>
            <a:fillRect/>
          </a:stretch>
        </p:blipFill>
        <p:spPr>
          <a:xfrm>
            <a:off x="263525" y="1572148"/>
            <a:ext cx="4502675" cy="315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ca49d5bfcc_0_89"/>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Las Neurociencias y el Cambio</a:t>
            </a:r>
            <a:endParaRPr b="0" i="0" sz="1400" u="none" cap="none" strike="noStrike">
              <a:solidFill>
                <a:srgbClr val="000000"/>
              </a:solidFill>
              <a:latin typeface="Arial"/>
              <a:ea typeface="Arial"/>
              <a:cs typeface="Arial"/>
              <a:sym typeface="Arial"/>
            </a:endParaRPr>
          </a:p>
        </p:txBody>
      </p:sp>
      <p:pic>
        <p:nvPicPr>
          <p:cNvPr id="195" name="Google Shape;195;g2ca49d5bfcc_0_89"/>
          <p:cNvPicPr preferRelativeResize="0"/>
          <p:nvPr/>
        </p:nvPicPr>
        <p:blipFill>
          <a:blip r:embed="rId3">
            <a:alphaModFix/>
          </a:blip>
          <a:stretch>
            <a:fillRect/>
          </a:stretch>
        </p:blipFill>
        <p:spPr>
          <a:xfrm>
            <a:off x="279400" y="1936750"/>
            <a:ext cx="4411926" cy="3121350"/>
          </a:xfrm>
          <a:prstGeom prst="rect">
            <a:avLst/>
          </a:prstGeom>
          <a:noFill/>
          <a:ln>
            <a:noFill/>
          </a:ln>
        </p:spPr>
      </p:pic>
      <p:sp>
        <p:nvSpPr>
          <p:cNvPr id="196" name="Google Shape;196;g2ca49d5bfcc_0_89"/>
          <p:cNvSpPr txBox="1"/>
          <p:nvPr/>
        </p:nvSpPr>
        <p:spPr>
          <a:xfrm>
            <a:off x="5026025" y="1340375"/>
            <a:ext cx="4694100" cy="16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lang="es-AR" sz="1500">
                <a:solidFill>
                  <a:schemeClr val="dk1"/>
                </a:solidFill>
              </a:rPr>
              <a:t>Las </a:t>
            </a:r>
            <a:r>
              <a:rPr lang="es-AR" sz="1500">
                <a:solidFill>
                  <a:schemeClr val="dk1"/>
                </a:solidFill>
              </a:rPr>
              <a:t>áreas clave del cerebro y su función en el proceso de cambio:</a:t>
            </a:r>
            <a:endParaRPr sz="1500">
              <a:solidFill>
                <a:schemeClr val="dk1"/>
              </a:solidFill>
            </a:endParaRPr>
          </a:p>
          <a:p>
            <a:pPr indent="0" lvl="0" marL="0" rtl="0" algn="l">
              <a:lnSpc>
                <a:spcPct val="115000"/>
              </a:lnSpc>
              <a:spcBef>
                <a:spcPts val="1500"/>
              </a:spcBef>
              <a:spcAft>
                <a:spcPts val="0"/>
              </a:spcAft>
              <a:buNone/>
            </a:pPr>
            <a:r>
              <a:t/>
            </a:r>
            <a:endParaRPr sz="1500">
              <a:solidFill>
                <a:schemeClr val="dk1"/>
              </a:solidFill>
            </a:endParaRPr>
          </a:p>
          <a:p>
            <a:pPr indent="0" lvl="0" marL="0" rtl="0" algn="l">
              <a:lnSpc>
                <a:spcPct val="115000"/>
              </a:lnSpc>
              <a:spcBef>
                <a:spcPts val="1500"/>
              </a:spcBef>
              <a:spcAft>
                <a:spcPts val="1500"/>
              </a:spcAft>
              <a:buNone/>
            </a:pPr>
            <a:r>
              <a:t/>
            </a:r>
            <a:endParaRPr sz="1800">
              <a:solidFill>
                <a:schemeClr val="dk1"/>
              </a:solidFill>
            </a:endParaRPr>
          </a:p>
        </p:txBody>
      </p:sp>
      <p:sp>
        <p:nvSpPr>
          <p:cNvPr id="197" name="Google Shape;197;g2ca49d5bfcc_0_89"/>
          <p:cNvSpPr txBox="1"/>
          <p:nvPr/>
        </p:nvSpPr>
        <p:spPr>
          <a:xfrm>
            <a:off x="4989950" y="2032950"/>
            <a:ext cx="4577700" cy="220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b="1" lang="es-AR" sz="1500">
                <a:solidFill>
                  <a:schemeClr val="dk1"/>
                </a:solidFill>
              </a:rPr>
              <a:t>La amígdala</a:t>
            </a:r>
            <a:r>
              <a:rPr lang="es-AR" sz="1500">
                <a:solidFill>
                  <a:schemeClr val="dk1"/>
                </a:solidFill>
              </a:rPr>
              <a:t>: Procesa  las emociones, especialmente el miedo y la ansiedad. Cuando una persona se enfrenta a un cambio, la amígdala puede activarse, desencadenando respuestas emocionales intensas que pueden incluir resistencia o aversión al cambio.</a:t>
            </a:r>
            <a:endParaRPr sz="1500">
              <a:solidFill>
                <a:schemeClr val="dk1"/>
              </a:solidFill>
            </a:endParaRPr>
          </a:p>
          <a:p>
            <a:pPr indent="0" lvl="0" marL="0" rtl="0" algn="l">
              <a:lnSpc>
                <a:spcPct val="115000"/>
              </a:lnSpc>
              <a:spcBef>
                <a:spcPts val="1500"/>
              </a:spcBef>
              <a:spcAft>
                <a:spcPts val="1500"/>
              </a:spcAft>
              <a:buNone/>
            </a:pPr>
            <a:r>
              <a:rPr lang="es-AR" sz="1500">
                <a:solidFill>
                  <a:schemeClr val="dk1"/>
                </a:solidFill>
              </a:rPr>
              <a:t>.</a:t>
            </a:r>
            <a:endParaRPr/>
          </a:p>
        </p:txBody>
      </p:sp>
      <p:sp>
        <p:nvSpPr>
          <p:cNvPr id="198" name="Google Shape;198;g2ca49d5bfcc_0_89"/>
          <p:cNvSpPr txBox="1"/>
          <p:nvPr/>
        </p:nvSpPr>
        <p:spPr>
          <a:xfrm>
            <a:off x="5013275" y="3852650"/>
            <a:ext cx="4478100" cy="227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b="1" lang="es-AR" sz="1500">
                <a:solidFill>
                  <a:schemeClr val="dk1"/>
                </a:solidFill>
              </a:rPr>
              <a:t>La corteza prefrontal:</a:t>
            </a:r>
            <a:r>
              <a:rPr lang="es-AR" sz="1500">
                <a:solidFill>
                  <a:schemeClr val="dk1"/>
                </a:solidFill>
              </a:rPr>
              <a:t> Región del cerebro asociada con funciones ejecutivas como la planificación, la toma de decisiones y el control de los impulsos. Durante un proceso de cambio, la corteza prefrontal puede estar involucrada en la evaluación de las circunstancias, la generación de estrategias para adaptarse al cambio y la supresión de respuestas emocionales automáticas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ca49d5bfcc_0_97"/>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Las Neurociencias y el Cambio</a:t>
            </a:r>
            <a:endParaRPr b="0" i="0" sz="1400" u="none" cap="none" strike="noStrike">
              <a:solidFill>
                <a:srgbClr val="000000"/>
              </a:solidFill>
              <a:latin typeface="Arial"/>
              <a:ea typeface="Arial"/>
              <a:cs typeface="Arial"/>
              <a:sym typeface="Arial"/>
            </a:endParaRPr>
          </a:p>
        </p:txBody>
      </p:sp>
      <p:sp>
        <p:nvSpPr>
          <p:cNvPr id="205" name="Google Shape;205;g2ca49d5bfcc_0_97"/>
          <p:cNvSpPr txBox="1"/>
          <p:nvPr/>
        </p:nvSpPr>
        <p:spPr>
          <a:xfrm>
            <a:off x="3286125" y="1428750"/>
            <a:ext cx="6353400" cy="2853600"/>
          </a:xfrm>
          <a:prstGeom prst="rect">
            <a:avLst/>
          </a:prstGeom>
          <a:noFill/>
          <a:ln>
            <a:noFill/>
          </a:ln>
        </p:spPr>
        <p:txBody>
          <a:bodyPr anchorCtr="0" anchor="t" bIns="91425" lIns="91425" spcFirstLastPara="1" rIns="91425" wrap="square" tIns="91425">
            <a:spAutoFit/>
          </a:bodyPr>
          <a:lstStyle/>
          <a:p>
            <a:pPr indent="-228600" lvl="0" marL="457200" rtl="0" algn="just">
              <a:lnSpc>
                <a:spcPct val="115000"/>
              </a:lnSpc>
              <a:spcBef>
                <a:spcPts val="1500"/>
              </a:spcBef>
              <a:spcAft>
                <a:spcPts val="0"/>
              </a:spcAft>
              <a:buClr>
                <a:schemeClr val="dk1"/>
              </a:buClr>
              <a:buSzPts val="1700"/>
              <a:buFont typeface="Arial"/>
              <a:buNone/>
            </a:pPr>
            <a:r>
              <a:rPr b="1" lang="es-AR" sz="1700">
                <a:solidFill>
                  <a:schemeClr val="dk1"/>
                </a:solidFill>
              </a:rPr>
              <a:t>El sistema de recompensa</a:t>
            </a:r>
            <a:r>
              <a:rPr lang="es-AR" sz="1700">
                <a:solidFill>
                  <a:schemeClr val="dk1"/>
                </a:solidFill>
              </a:rPr>
              <a:t>: Está implicado en la motivación y la sensación de placer. Durante el cambio, el cerebro puede experimentar un desequilibrio en el sistema de recompensa, ya que las personas pueden sentirse menos motivadas o menos recompensadas debido a la incertidumbre o al esfuerzo adicional requerido para adaptarse.</a:t>
            </a:r>
            <a:endParaRPr sz="1700">
              <a:solidFill>
                <a:schemeClr val="dk1"/>
              </a:solidFill>
            </a:endParaRPr>
          </a:p>
          <a:p>
            <a:pPr indent="-228600" lvl="0" marL="457200" rtl="0" algn="just">
              <a:lnSpc>
                <a:spcPct val="115000"/>
              </a:lnSpc>
              <a:spcBef>
                <a:spcPts val="0"/>
              </a:spcBef>
              <a:spcAft>
                <a:spcPts val="0"/>
              </a:spcAft>
              <a:buClr>
                <a:schemeClr val="dk1"/>
              </a:buClr>
              <a:buSzPts val="1700"/>
              <a:buFont typeface="Roboto"/>
              <a:buNone/>
            </a:pPr>
            <a:r>
              <a:t/>
            </a:r>
            <a:endParaRPr sz="1700">
              <a:solidFill>
                <a:schemeClr val="dk1"/>
              </a:solidFill>
            </a:endParaRPr>
          </a:p>
          <a:p>
            <a:pPr indent="-228600" lvl="0" marL="457200" rtl="0" algn="just">
              <a:lnSpc>
                <a:spcPct val="115000"/>
              </a:lnSpc>
              <a:spcBef>
                <a:spcPts val="0"/>
              </a:spcBef>
              <a:spcAft>
                <a:spcPts val="0"/>
              </a:spcAft>
              <a:buClr>
                <a:schemeClr val="dk1"/>
              </a:buClr>
              <a:buSzPts val="1700"/>
              <a:buFont typeface="Arial"/>
              <a:buNone/>
            </a:pPr>
            <a:r>
              <a:t/>
            </a:r>
            <a:endParaRPr sz="1700">
              <a:solidFill>
                <a:schemeClr val="dk1"/>
              </a:solidFill>
            </a:endParaRPr>
          </a:p>
        </p:txBody>
      </p:sp>
      <p:pic>
        <p:nvPicPr>
          <p:cNvPr id="206" name="Google Shape;206;g2ca49d5bfcc_0_97"/>
          <p:cNvPicPr preferRelativeResize="0"/>
          <p:nvPr/>
        </p:nvPicPr>
        <p:blipFill>
          <a:blip r:embed="rId3">
            <a:alphaModFix/>
          </a:blip>
          <a:stretch>
            <a:fillRect/>
          </a:stretch>
        </p:blipFill>
        <p:spPr>
          <a:xfrm>
            <a:off x="152400" y="1492775"/>
            <a:ext cx="3244849" cy="2163225"/>
          </a:xfrm>
          <a:prstGeom prst="rect">
            <a:avLst/>
          </a:prstGeom>
          <a:noFill/>
          <a:ln>
            <a:noFill/>
          </a:ln>
        </p:spPr>
      </p:pic>
      <p:pic>
        <p:nvPicPr>
          <p:cNvPr id="207" name="Google Shape;207;g2ca49d5bfcc_0_97"/>
          <p:cNvPicPr preferRelativeResize="0"/>
          <p:nvPr/>
        </p:nvPicPr>
        <p:blipFill>
          <a:blip r:embed="rId4">
            <a:alphaModFix/>
          </a:blip>
          <a:stretch>
            <a:fillRect/>
          </a:stretch>
        </p:blipFill>
        <p:spPr>
          <a:xfrm>
            <a:off x="676275" y="3656000"/>
            <a:ext cx="2387600" cy="2387600"/>
          </a:xfrm>
          <a:prstGeom prst="rect">
            <a:avLst/>
          </a:prstGeom>
          <a:noFill/>
          <a:ln>
            <a:noFill/>
          </a:ln>
        </p:spPr>
      </p:pic>
      <p:sp>
        <p:nvSpPr>
          <p:cNvPr id="208" name="Google Shape;208;g2ca49d5bfcc_0_97"/>
          <p:cNvSpPr txBox="1"/>
          <p:nvPr/>
        </p:nvSpPr>
        <p:spPr>
          <a:xfrm>
            <a:off x="3795775" y="3814725"/>
            <a:ext cx="5729100" cy="1950900"/>
          </a:xfrm>
          <a:prstGeom prst="rect">
            <a:avLst/>
          </a:prstGeom>
          <a:noFill/>
          <a:ln>
            <a:noFill/>
          </a:ln>
        </p:spPr>
        <p:txBody>
          <a:bodyPr anchorCtr="0" anchor="t" bIns="91425" lIns="91425" spcFirstLastPara="1" rIns="91425" wrap="square" tIns="91425">
            <a:spAutoFit/>
          </a:bodyPr>
          <a:lstStyle/>
          <a:p>
            <a:pPr indent="-228600" lvl="0" marL="0" rtl="0" algn="just">
              <a:lnSpc>
                <a:spcPct val="115000"/>
              </a:lnSpc>
              <a:spcBef>
                <a:spcPts val="1500"/>
              </a:spcBef>
              <a:spcAft>
                <a:spcPts val="0"/>
              </a:spcAft>
              <a:buClr>
                <a:schemeClr val="dk1"/>
              </a:buClr>
              <a:buSzPts val="1700"/>
              <a:buFont typeface="Arial"/>
              <a:buNone/>
            </a:pPr>
            <a:r>
              <a:rPr b="1" lang="es-AR" sz="1700">
                <a:solidFill>
                  <a:schemeClr val="dk1"/>
                </a:solidFill>
              </a:rPr>
              <a:t>La plasticidad cerebral:</a:t>
            </a:r>
            <a:r>
              <a:rPr lang="es-AR" sz="1700">
                <a:solidFill>
                  <a:schemeClr val="dk1"/>
                </a:solidFill>
              </a:rPr>
              <a:t> Una característica notable del cerebro es su capacidad para cambiar y adaptarse a nuevas experiencias. A través de la plasticidad cerebral, el cerebro puede reorganizar sus conexiones neuronales y aprender nuevas habilidades o comportamientos, lo que facilita la adaptación al cambio a largo plazo.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2ca49d5bfcc_0_112"/>
          <p:cNvSpPr txBox="1"/>
          <p:nvPr/>
        </p:nvSpPr>
        <p:spPr>
          <a:xfrm>
            <a:off x="152400" y="152375"/>
            <a:ext cx="9906000" cy="1022400"/>
          </a:xfrm>
          <a:prstGeom prst="rect">
            <a:avLst/>
          </a:prstGeom>
          <a:noFill/>
          <a:ln>
            <a:noFill/>
          </a:ln>
        </p:spPr>
        <p:txBody>
          <a:bodyPr anchorCtr="0" anchor="ctr" bIns="36000" lIns="72000" spcFirstLastPara="1" rIns="72000" wrap="square" tIns="252000">
            <a:noAutofit/>
          </a:bodyPr>
          <a:lstStyle/>
          <a:p>
            <a:pPr indent="0" lvl="0" marL="0" marR="0" rtl="0" algn="l">
              <a:lnSpc>
                <a:spcPct val="90000"/>
              </a:lnSpc>
              <a:spcBef>
                <a:spcPts val="0"/>
              </a:spcBef>
              <a:spcAft>
                <a:spcPts val="0"/>
              </a:spcAft>
              <a:buClr>
                <a:srgbClr val="932328"/>
              </a:buClr>
              <a:buSzPts val="2400"/>
              <a:buFont typeface="Arial"/>
              <a:buNone/>
            </a:pPr>
            <a:r>
              <a:rPr b="1" lang="es-AR" sz="2400">
                <a:solidFill>
                  <a:srgbClr val="932328"/>
                </a:solidFill>
              </a:rPr>
              <a:t>Las Neurociencias y el Cambio y </a:t>
            </a:r>
            <a:endParaRPr b="1" sz="2400">
              <a:solidFill>
                <a:srgbClr val="932328"/>
              </a:solidFill>
            </a:endParaRPr>
          </a:p>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la gestión de los Recursos Humanos</a:t>
            </a:r>
            <a:endParaRPr b="0" i="0" sz="1400" u="none" cap="none" strike="noStrike">
              <a:solidFill>
                <a:srgbClr val="000000"/>
              </a:solidFill>
              <a:latin typeface="Arial"/>
              <a:ea typeface="Arial"/>
              <a:cs typeface="Arial"/>
              <a:sym typeface="Arial"/>
            </a:endParaRPr>
          </a:p>
        </p:txBody>
      </p:sp>
      <p:sp>
        <p:nvSpPr>
          <p:cNvPr id="215" name="Google Shape;215;g2ca49d5bfcc_0_112"/>
          <p:cNvSpPr txBox="1"/>
          <p:nvPr/>
        </p:nvSpPr>
        <p:spPr>
          <a:xfrm>
            <a:off x="1118850" y="1604275"/>
            <a:ext cx="76683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b="1" lang="es-AR" sz="1900">
                <a:solidFill>
                  <a:schemeClr val="dk1"/>
                </a:solidFill>
              </a:rPr>
              <a:t>¿Por qué es importante </a:t>
            </a:r>
            <a:r>
              <a:rPr b="1" lang="es-AR" sz="1900">
                <a:solidFill>
                  <a:schemeClr val="dk1"/>
                </a:solidFill>
              </a:rPr>
              <a:t>entender el funcionamiento del cerebro?</a:t>
            </a:r>
            <a:endParaRPr b="1" sz="1900">
              <a:solidFill>
                <a:schemeClr val="dk1"/>
              </a:solidFill>
            </a:endParaRPr>
          </a:p>
        </p:txBody>
      </p:sp>
      <p:sp>
        <p:nvSpPr>
          <p:cNvPr id="216" name="Google Shape;216;g2ca49d5bfcc_0_112"/>
          <p:cNvSpPr txBox="1"/>
          <p:nvPr/>
        </p:nvSpPr>
        <p:spPr>
          <a:xfrm>
            <a:off x="1545350" y="2260200"/>
            <a:ext cx="6502500" cy="74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500"/>
              </a:spcBef>
              <a:spcAft>
                <a:spcPts val="0"/>
              </a:spcAft>
              <a:buNone/>
            </a:pPr>
            <a:r>
              <a:rPr lang="es-AR" sz="1700">
                <a:solidFill>
                  <a:schemeClr val="dk1"/>
                </a:solidFill>
              </a:rPr>
              <a:t>Para diseñar estrategias efectivas para gestionar y facilitar procesos de cambio en las organizaciones.</a:t>
            </a:r>
            <a:endParaRPr sz="1700">
              <a:solidFill>
                <a:schemeClr val="dk1"/>
              </a:solidFill>
            </a:endParaRPr>
          </a:p>
        </p:txBody>
      </p:sp>
      <p:pic>
        <p:nvPicPr>
          <p:cNvPr id="217" name="Google Shape;217;g2ca49d5bfcc_0_112"/>
          <p:cNvPicPr preferRelativeResize="0"/>
          <p:nvPr/>
        </p:nvPicPr>
        <p:blipFill>
          <a:blip r:embed="rId3">
            <a:alphaModFix/>
          </a:blip>
          <a:stretch>
            <a:fillRect/>
          </a:stretch>
        </p:blipFill>
        <p:spPr>
          <a:xfrm>
            <a:off x="2430825" y="3186425"/>
            <a:ext cx="4845350" cy="2713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nvSpPr>
        <p:spPr>
          <a:xfrm>
            <a:off x="152400" y="152377"/>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lang="es-AR" sz="2400">
                <a:solidFill>
                  <a:srgbClr val="932328"/>
                </a:solidFill>
              </a:rPr>
              <a:t>Mentalidad Fija y Mentalidad de Crecimiento</a:t>
            </a:r>
            <a:endParaRPr b="0" i="0" sz="1400" u="none" cap="none" strike="noStrike">
              <a:solidFill>
                <a:srgbClr val="000000"/>
              </a:solidFill>
              <a:latin typeface="Arial"/>
              <a:ea typeface="Arial"/>
              <a:cs typeface="Arial"/>
              <a:sym typeface="Arial"/>
            </a:endParaRPr>
          </a:p>
        </p:txBody>
      </p:sp>
      <p:pic>
        <p:nvPicPr>
          <p:cNvPr descr="Como produzir um bom vídeo para o YouTube – Interessante Saber" id="224" name="Google Shape;224;p14">
            <a:hlinkClick r:id="rId3"/>
          </p:cNvPr>
          <p:cNvPicPr preferRelativeResize="0"/>
          <p:nvPr/>
        </p:nvPicPr>
        <p:blipFill rotWithShape="1">
          <a:blip r:embed="rId4">
            <a:alphaModFix/>
          </a:blip>
          <a:srcRect b="0" l="0" r="0" t="0"/>
          <a:stretch/>
        </p:blipFill>
        <p:spPr>
          <a:xfrm>
            <a:off x="1943203" y="2156500"/>
            <a:ext cx="6019600" cy="3165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2ca49d5bfcc_0_0"/>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rtl="0" algn="l">
              <a:lnSpc>
                <a:spcPct val="90000"/>
              </a:lnSpc>
              <a:spcBef>
                <a:spcPts val="0"/>
              </a:spcBef>
              <a:spcAft>
                <a:spcPts val="0"/>
              </a:spcAft>
              <a:buClr>
                <a:srgbClr val="932328"/>
              </a:buClr>
              <a:buSzPts val="2400"/>
              <a:buFont typeface="Arial"/>
              <a:buNone/>
            </a:pPr>
            <a:r>
              <a:rPr b="1" lang="es-AR" sz="2400">
                <a:solidFill>
                  <a:srgbClr val="932328"/>
                </a:solidFill>
              </a:rPr>
              <a:t>Mentalidad Fija y Mentalidad de Crecimiento</a:t>
            </a:r>
            <a:endParaRPr b="1" sz="2400">
              <a:solidFill>
                <a:srgbClr val="932328"/>
              </a:solidFill>
            </a:endParaRPr>
          </a:p>
        </p:txBody>
      </p:sp>
      <p:pic>
        <p:nvPicPr>
          <p:cNvPr id="231" name="Google Shape;231;g2ca49d5bfcc_0_0"/>
          <p:cNvPicPr preferRelativeResize="0"/>
          <p:nvPr/>
        </p:nvPicPr>
        <p:blipFill rotWithShape="1">
          <a:blip r:embed="rId3">
            <a:alphaModFix/>
          </a:blip>
          <a:srcRect b="0" l="0" r="0" t="0"/>
          <a:stretch/>
        </p:blipFill>
        <p:spPr>
          <a:xfrm>
            <a:off x="590550" y="1372089"/>
            <a:ext cx="9029700" cy="4749900"/>
          </a:xfrm>
          <a:prstGeom prst="roundRect">
            <a:avLst>
              <a:gd fmla="val 16667" name="adj"/>
            </a:avLst>
          </a:prstGeom>
          <a:noFill/>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ca49d5bfcc_0_7"/>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rtl="0" algn="l">
              <a:lnSpc>
                <a:spcPct val="90000"/>
              </a:lnSpc>
              <a:spcBef>
                <a:spcPts val="0"/>
              </a:spcBef>
              <a:spcAft>
                <a:spcPts val="0"/>
              </a:spcAft>
              <a:buClr>
                <a:srgbClr val="932328"/>
              </a:buClr>
              <a:buSzPts val="2400"/>
              <a:buFont typeface="Arial"/>
              <a:buNone/>
            </a:pPr>
            <a:r>
              <a:rPr b="1" lang="es-AR" sz="2400">
                <a:solidFill>
                  <a:srgbClr val="932328"/>
                </a:solidFill>
              </a:rPr>
              <a:t>¿Cómo reaccionaría cada tipo de mentalidad?</a:t>
            </a:r>
            <a:endParaRPr b="1" sz="2400">
              <a:solidFill>
                <a:srgbClr val="932328"/>
              </a:solidFill>
            </a:endParaRPr>
          </a:p>
        </p:txBody>
      </p:sp>
      <p:sp>
        <p:nvSpPr>
          <p:cNvPr id="238" name="Google Shape;238;g2ca49d5bfcc_0_7"/>
          <p:cNvSpPr txBox="1"/>
          <p:nvPr/>
        </p:nvSpPr>
        <p:spPr>
          <a:xfrm>
            <a:off x="412600" y="1721375"/>
            <a:ext cx="93345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rPr>
              <a:t>Situación 1:</a:t>
            </a:r>
            <a:r>
              <a:rPr b="1" lang="es-AR" sz="1900">
                <a:solidFill>
                  <a:schemeClr val="dk1"/>
                </a:solidFill>
              </a:rPr>
              <a:t> Implementación de un nuevo sistema de gestión en la empresa</a:t>
            </a:r>
            <a:endParaRPr b="1" sz="1900">
              <a:solidFill>
                <a:schemeClr val="dk1"/>
              </a:solidFill>
            </a:endParaRPr>
          </a:p>
        </p:txBody>
      </p:sp>
      <p:sp>
        <p:nvSpPr>
          <p:cNvPr id="239" name="Google Shape;239;g2ca49d5bfcc_0_7"/>
          <p:cNvSpPr txBox="1"/>
          <p:nvPr/>
        </p:nvSpPr>
        <p:spPr>
          <a:xfrm>
            <a:off x="1551000" y="2835775"/>
            <a:ext cx="23352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highlight>
                  <a:srgbClr val="F4CCCC"/>
                </a:highlight>
              </a:rPr>
              <a:t>MENTALIDAD FIJA</a:t>
            </a:r>
            <a:endParaRPr b="1" sz="1900">
              <a:solidFill>
                <a:schemeClr val="dk1"/>
              </a:solidFill>
              <a:highlight>
                <a:srgbClr val="F4CCCC"/>
              </a:highlight>
            </a:endParaRPr>
          </a:p>
        </p:txBody>
      </p:sp>
      <p:sp>
        <p:nvSpPr>
          <p:cNvPr id="240" name="Google Shape;240;g2ca49d5bfcc_0_7"/>
          <p:cNvSpPr txBox="1"/>
          <p:nvPr/>
        </p:nvSpPr>
        <p:spPr>
          <a:xfrm>
            <a:off x="5232400" y="2835775"/>
            <a:ext cx="38895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highlight>
                  <a:srgbClr val="F4CCCC"/>
                </a:highlight>
              </a:rPr>
              <a:t>MENTALIDAD DE CRECIMIENTO</a:t>
            </a:r>
            <a:endParaRPr b="1" sz="1900">
              <a:solidFill>
                <a:schemeClr val="dk1"/>
              </a:solidFill>
              <a:highlight>
                <a:srgbClr val="F4CCCC"/>
              </a:highlight>
            </a:endParaRPr>
          </a:p>
        </p:txBody>
      </p:sp>
      <p:sp>
        <p:nvSpPr>
          <p:cNvPr id="241" name="Google Shape;241;g2ca49d5bfcc_0_7"/>
          <p:cNvSpPr txBox="1"/>
          <p:nvPr/>
        </p:nvSpPr>
        <p:spPr>
          <a:xfrm>
            <a:off x="445950" y="3425075"/>
            <a:ext cx="4380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AR" sz="1600">
                <a:solidFill>
                  <a:schemeClr val="dk1"/>
                </a:solidFill>
              </a:rPr>
              <a:t>Un empleado con mentalidad fija podría resistirse al cambio debido al temor a no ser capaz de aprender a usar el nuevo sistema o a no ser tan eficiente como antes. Podrían sentir que ya son competentes en el sistema anterior y que el cambio solo les traerá problemas.</a:t>
            </a:r>
            <a:endParaRPr sz="1600">
              <a:solidFill>
                <a:schemeClr val="dk1"/>
              </a:solidFill>
            </a:endParaRPr>
          </a:p>
        </p:txBody>
      </p:sp>
      <p:sp>
        <p:nvSpPr>
          <p:cNvPr id="242" name="Google Shape;242;g2ca49d5bfcc_0_7"/>
          <p:cNvSpPr txBox="1"/>
          <p:nvPr/>
        </p:nvSpPr>
        <p:spPr>
          <a:xfrm>
            <a:off x="5032375" y="3453650"/>
            <a:ext cx="42387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AR" sz="1600">
                <a:solidFill>
                  <a:schemeClr val="dk1"/>
                </a:solidFill>
              </a:rPr>
              <a:t>Un empleado con mentalidad de crecimiento podría ver el cambio como una oportunidad para aprender y desarrollarse. Podrían estar emocionados por dominar un nuevo sistema y verlo como un desafío que les permitirá mejorar sus habilidades.</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ca49d5bfcc_0_29"/>
          <p:cNvSpPr txBox="1"/>
          <p:nvPr/>
        </p:nvSpPr>
        <p:spPr>
          <a:xfrm>
            <a:off x="152400" y="152377"/>
            <a:ext cx="9906000" cy="1188000"/>
          </a:xfrm>
          <a:prstGeom prst="rect">
            <a:avLst/>
          </a:prstGeom>
          <a:noFill/>
          <a:ln>
            <a:noFill/>
          </a:ln>
        </p:spPr>
        <p:txBody>
          <a:bodyPr anchorCtr="0" anchor="ctr" bIns="36000" lIns="72000" spcFirstLastPara="1" rIns="72000" wrap="square" tIns="252000">
            <a:noAutofit/>
          </a:bodyPr>
          <a:lstStyle/>
          <a:p>
            <a:pPr indent="-714375" lvl="0" marL="714375" rtl="0" algn="l">
              <a:lnSpc>
                <a:spcPct val="90000"/>
              </a:lnSpc>
              <a:spcBef>
                <a:spcPts val="0"/>
              </a:spcBef>
              <a:spcAft>
                <a:spcPts val="0"/>
              </a:spcAft>
              <a:buClr>
                <a:srgbClr val="932328"/>
              </a:buClr>
              <a:buSzPts val="2400"/>
              <a:buFont typeface="Arial"/>
              <a:buNone/>
            </a:pPr>
            <a:r>
              <a:rPr b="1" lang="es-AR" sz="2400">
                <a:solidFill>
                  <a:srgbClr val="932328"/>
                </a:solidFill>
              </a:rPr>
              <a:t>¿Cómo reaccionaría cada tipo de mentalidad?</a:t>
            </a:r>
            <a:endParaRPr b="1" sz="2400">
              <a:solidFill>
                <a:srgbClr val="932328"/>
              </a:solidFill>
            </a:endParaRPr>
          </a:p>
        </p:txBody>
      </p:sp>
      <p:sp>
        <p:nvSpPr>
          <p:cNvPr id="249" name="Google Shape;249;g2ca49d5bfcc_0_29"/>
          <p:cNvSpPr txBox="1"/>
          <p:nvPr/>
        </p:nvSpPr>
        <p:spPr>
          <a:xfrm>
            <a:off x="412600" y="1721375"/>
            <a:ext cx="93345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rPr>
              <a:t>Situación 1:</a:t>
            </a:r>
            <a:r>
              <a:rPr b="1" lang="es-AR" sz="1900">
                <a:solidFill>
                  <a:schemeClr val="dk1"/>
                </a:solidFill>
              </a:rPr>
              <a:t> Reestructuración de un equipo de trabajo</a:t>
            </a:r>
            <a:endParaRPr b="1" sz="1900">
              <a:solidFill>
                <a:schemeClr val="dk1"/>
              </a:solidFill>
            </a:endParaRPr>
          </a:p>
        </p:txBody>
      </p:sp>
      <p:sp>
        <p:nvSpPr>
          <p:cNvPr id="250" name="Google Shape;250;g2ca49d5bfcc_0_29"/>
          <p:cNvSpPr txBox="1"/>
          <p:nvPr/>
        </p:nvSpPr>
        <p:spPr>
          <a:xfrm>
            <a:off x="1551000" y="2835775"/>
            <a:ext cx="23352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highlight>
                  <a:srgbClr val="F4CCCC"/>
                </a:highlight>
              </a:rPr>
              <a:t>MENTALIDAD FIJA</a:t>
            </a:r>
            <a:endParaRPr b="1" sz="1900">
              <a:solidFill>
                <a:schemeClr val="dk1"/>
              </a:solidFill>
              <a:highlight>
                <a:srgbClr val="F4CCCC"/>
              </a:highlight>
            </a:endParaRPr>
          </a:p>
        </p:txBody>
      </p:sp>
      <p:sp>
        <p:nvSpPr>
          <p:cNvPr id="251" name="Google Shape;251;g2ca49d5bfcc_0_29"/>
          <p:cNvSpPr txBox="1"/>
          <p:nvPr/>
        </p:nvSpPr>
        <p:spPr>
          <a:xfrm>
            <a:off x="5232400" y="2835775"/>
            <a:ext cx="38895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1500"/>
              </a:spcAft>
              <a:buNone/>
            </a:pPr>
            <a:r>
              <a:rPr lang="es-AR" sz="1900">
                <a:solidFill>
                  <a:schemeClr val="dk1"/>
                </a:solidFill>
                <a:highlight>
                  <a:srgbClr val="F4CCCC"/>
                </a:highlight>
              </a:rPr>
              <a:t>MENTALIDAD DE CRECIMIENTO</a:t>
            </a:r>
            <a:endParaRPr b="1" sz="1900">
              <a:solidFill>
                <a:schemeClr val="dk1"/>
              </a:solidFill>
              <a:highlight>
                <a:srgbClr val="F4CCCC"/>
              </a:highlight>
            </a:endParaRPr>
          </a:p>
        </p:txBody>
      </p:sp>
      <p:sp>
        <p:nvSpPr>
          <p:cNvPr id="252" name="Google Shape;252;g2ca49d5bfcc_0_29"/>
          <p:cNvSpPr txBox="1"/>
          <p:nvPr/>
        </p:nvSpPr>
        <p:spPr>
          <a:xfrm>
            <a:off x="445950" y="3425075"/>
            <a:ext cx="43800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AR" sz="1600">
                <a:solidFill>
                  <a:schemeClr val="dk1"/>
                </a:solidFill>
              </a:rPr>
              <a:t>Un empleado con mentalidad fija podría resistirse a la idea de trabajar con nuevos compañeros de equipo o bajo un nuevo liderazgo. Podrían temer perder su posición o influencia en el equipo y podrían sentirse amenazados por el cambio.</a:t>
            </a:r>
            <a:endParaRPr sz="1600">
              <a:solidFill>
                <a:schemeClr val="dk1"/>
              </a:solidFill>
            </a:endParaRPr>
          </a:p>
        </p:txBody>
      </p:sp>
      <p:sp>
        <p:nvSpPr>
          <p:cNvPr id="253" name="Google Shape;253;g2ca49d5bfcc_0_29"/>
          <p:cNvSpPr txBox="1"/>
          <p:nvPr/>
        </p:nvSpPr>
        <p:spPr>
          <a:xfrm>
            <a:off x="5032375" y="3453650"/>
            <a:ext cx="42387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AR" sz="1600">
                <a:solidFill>
                  <a:schemeClr val="dk1"/>
                </a:solidFill>
              </a:rPr>
              <a:t>Un empleado con mentalidad de crecimiento podría ver la reestructuración como una oportunidad para aprender de nuevos colegas y expandir su red profesional. Podrían estar abiertos a adaptarse a diferentes estilos de trabajo y liderazgo.</a:t>
            </a:r>
            <a:endParaRPr sz="16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17"/>
          <p:cNvPicPr preferRelativeResize="0"/>
          <p:nvPr/>
        </p:nvPicPr>
        <p:blipFill rotWithShape="1">
          <a:blip r:embed="rId3">
            <a:alphaModFix/>
          </a:blip>
          <a:srcRect b="0" l="0" r="0" t="0"/>
          <a:stretch/>
        </p:blipFill>
        <p:spPr>
          <a:xfrm>
            <a:off x="560400" y="1340375"/>
            <a:ext cx="9094326" cy="4764950"/>
          </a:xfrm>
          <a:prstGeom prst="rect">
            <a:avLst/>
          </a:prstGeom>
          <a:noFill/>
          <a:ln>
            <a:noFill/>
          </a:ln>
        </p:spPr>
      </p:pic>
      <p:sp>
        <p:nvSpPr>
          <p:cNvPr id="260" name="Google Shape;260;p17"/>
          <p:cNvSpPr txBox="1"/>
          <p:nvPr/>
        </p:nvSpPr>
        <p:spPr>
          <a:xfrm>
            <a:off x="152400" y="152377"/>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Las personas frente al cambio</a:t>
            </a:r>
            <a:endParaRPr b="0" i="0" sz="1400" u="none" cap="none" strike="noStrike">
              <a:solidFill>
                <a:srgbClr val="000000"/>
              </a:solidFill>
              <a:latin typeface="Arial"/>
              <a:ea typeface="Arial"/>
              <a:cs typeface="Arial"/>
              <a:sym typeface="Arial"/>
            </a:endParaRPr>
          </a:p>
        </p:txBody>
      </p:sp>
      <p:sp>
        <p:nvSpPr>
          <p:cNvPr id="261" name="Google Shape;261;p17"/>
          <p:cNvSpPr txBox="1"/>
          <p:nvPr/>
        </p:nvSpPr>
        <p:spPr>
          <a:xfrm rot="-1006383">
            <a:off x="1876540" y="1506976"/>
            <a:ext cx="2587484" cy="139306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AR" sz="2400">
                <a:solidFill>
                  <a:schemeClr val="dk1"/>
                </a:solidFill>
              </a:rPr>
              <a:t>¿Y vos? </a:t>
            </a:r>
            <a:endParaRPr b="1" sz="2400">
              <a:solidFill>
                <a:schemeClr val="dk1"/>
              </a:solidFill>
            </a:endParaRPr>
          </a:p>
          <a:p>
            <a:pPr indent="0" lvl="0" marL="0" rtl="0" algn="ctr">
              <a:spcBef>
                <a:spcPts val="0"/>
              </a:spcBef>
              <a:spcAft>
                <a:spcPts val="0"/>
              </a:spcAft>
              <a:buNone/>
            </a:pPr>
            <a:r>
              <a:rPr b="1" lang="es-AR" sz="2400">
                <a:solidFill>
                  <a:schemeClr val="dk1"/>
                </a:solidFill>
              </a:rPr>
              <a:t>¿En dónde te ubicarías?</a:t>
            </a:r>
            <a:endParaRPr b="1" sz="2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2"/>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Cambio Organizacional</a:t>
            </a:r>
            <a:endParaRPr b="0" i="0" sz="1400" u="none" cap="none" strike="noStrike">
              <a:solidFill>
                <a:srgbClr val="000000"/>
              </a:solidFill>
              <a:latin typeface="Arial"/>
              <a:ea typeface="Arial"/>
              <a:cs typeface="Arial"/>
              <a:sym typeface="Arial"/>
            </a:endParaRPr>
          </a:p>
        </p:txBody>
      </p:sp>
      <p:sp>
        <p:nvSpPr>
          <p:cNvPr id="268" name="Google Shape;268;p22"/>
          <p:cNvSpPr txBox="1"/>
          <p:nvPr/>
        </p:nvSpPr>
        <p:spPr>
          <a:xfrm>
            <a:off x="469350" y="5486375"/>
            <a:ext cx="89673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s-AR" sz="3000" u="none" cap="none" strike="noStrike">
                <a:solidFill>
                  <a:srgbClr val="4A86E8"/>
                </a:solidFill>
                <a:latin typeface="Arial"/>
                <a:ea typeface="Arial"/>
                <a:cs typeface="Arial"/>
                <a:sym typeface="Arial"/>
              </a:rPr>
              <a:t>¿Qué entendemos por Cambio Organizacional?</a:t>
            </a:r>
            <a:endParaRPr b="0" i="0" sz="1400" u="none" cap="none" strike="noStrike">
              <a:solidFill>
                <a:srgbClr val="000000"/>
              </a:solidFill>
              <a:latin typeface="Arial"/>
              <a:ea typeface="Arial"/>
              <a:cs typeface="Arial"/>
              <a:sym typeface="Arial"/>
            </a:endParaRPr>
          </a:p>
        </p:txBody>
      </p:sp>
      <p:pic>
        <p:nvPicPr>
          <p:cNvPr id="269" name="Google Shape;269;p22"/>
          <p:cNvPicPr preferRelativeResize="0"/>
          <p:nvPr/>
        </p:nvPicPr>
        <p:blipFill rotWithShape="1">
          <a:blip r:embed="rId3">
            <a:alphaModFix/>
          </a:blip>
          <a:srcRect b="0" l="0" r="0" t="0"/>
          <a:stretch/>
        </p:blipFill>
        <p:spPr>
          <a:xfrm>
            <a:off x="1828425" y="1394075"/>
            <a:ext cx="6477000" cy="3886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p:nvPr/>
        </p:nvSpPr>
        <p:spPr>
          <a:xfrm>
            <a:off x="0" y="6311900"/>
            <a:ext cx="8062382" cy="520700"/>
          </a:xfrm>
          <a:prstGeom prst="rect">
            <a:avLst/>
          </a:prstGeom>
          <a:solidFill>
            <a:schemeClr val="lt1"/>
          </a:solidFill>
          <a:ln cap="flat" cmpd="sng" w="9525">
            <a:solidFill>
              <a:schemeClr val="lt1"/>
            </a:solidFill>
            <a:prstDash val="solid"/>
            <a:miter lim="8000"/>
            <a:headEnd len="sm" w="sm" type="none"/>
            <a:tailEnd len="sm" w="sm" type="none"/>
          </a:ln>
        </p:spPr>
        <p:txBody>
          <a:bodyPr anchorCtr="0" anchor="ctr" bIns="10800" lIns="10800" spcFirstLastPara="1" rIns="10800" wrap="square" tIns="108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3"/>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Cambio Organizacional</a:t>
            </a:r>
            <a:endParaRPr b="0" i="0" sz="1400" u="none" cap="none" strike="noStrike">
              <a:solidFill>
                <a:srgbClr val="000000"/>
              </a:solidFill>
              <a:latin typeface="Arial"/>
              <a:ea typeface="Arial"/>
              <a:cs typeface="Arial"/>
              <a:sym typeface="Arial"/>
            </a:endParaRPr>
          </a:p>
        </p:txBody>
      </p:sp>
      <p:sp>
        <p:nvSpPr>
          <p:cNvPr id="276" name="Google Shape;276;p23"/>
          <p:cNvSpPr/>
          <p:nvPr/>
        </p:nvSpPr>
        <p:spPr>
          <a:xfrm>
            <a:off x="-24977" y="1196958"/>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7" name="Google Shape;277;p23"/>
          <p:cNvSpPr txBox="1"/>
          <p:nvPr/>
        </p:nvSpPr>
        <p:spPr>
          <a:xfrm>
            <a:off x="145835" y="1387192"/>
            <a:ext cx="9483900" cy="92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rgbClr val="000000"/>
                </a:solidFill>
                <a:latin typeface="Arial"/>
                <a:ea typeface="Arial"/>
                <a:cs typeface="Arial"/>
                <a:sym typeface="Arial"/>
              </a:rPr>
              <a:t>El proceso de cambio es un proceso atravesado por la organización y todas las personas que son  parte de ella.</a:t>
            </a:r>
            <a:endParaRPr b="0" i="0" sz="1400" u="none" cap="none" strike="noStrike">
              <a:solidFill>
                <a:srgbClr val="000000"/>
              </a:solidFill>
              <a:latin typeface="Arial"/>
              <a:ea typeface="Arial"/>
              <a:cs typeface="Arial"/>
              <a:sym typeface="Arial"/>
            </a:endParaRPr>
          </a:p>
        </p:txBody>
      </p:sp>
      <p:sp>
        <p:nvSpPr>
          <p:cNvPr id="278" name="Google Shape;278;p23"/>
          <p:cNvSpPr txBox="1"/>
          <p:nvPr/>
        </p:nvSpPr>
        <p:spPr>
          <a:xfrm>
            <a:off x="1574925" y="2062367"/>
            <a:ext cx="8062500" cy="5187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s-AR" sz="1800" u="none" cap="none" strike="noStrike">
                <a:solidFill>
                  <a:srgbClr val="000000"/>
                </a:solidFill>
                <a:latin typeface="Arial"/>
                <a:ea typeface="Arial"/>
                <a:cs typeface="Arial"/>
                <a:sym typeface="Arial"/>
              </a:rPr>
              <a:t>Comienza con el surgimiento de fuerzas que </a:t>
            </a:r>
            <a:r>
              <a:rPr b="1" i="0" lang="es-AR" sz="1800" u="none" cap="none" strike="noStrike">
                <a:solidFill>
                  <a:srgbClr val="000000"/>
                </a:solidFill>
                <a:latin typeface="Arial"/>
                <a:ea typeface="Arial"/>
                <a:cs typeface="Arial"/>
                <a:sym typeface="Arial"/>
              </a:rPr>
              <a:t>crean la necesidad de cambio</a:t>
            </a:r>
            <a:r>
              <a:rPr b="0" i="0" lang="es-AR" sz="1800" u="none" cap="none" strike="noStrike">
                <a:solidFill>
                  <a:srgbClr val="000000"/>
                </a:solidFill>
                <a:latin typeface="Arial"/>
                <a:ea typeface="Arial"/>
                <a:cs typeface="Arial"/>
                <a:sym typeface="Arial"/>
              </a:rPr>
              <a:t> en algunas partes de la organización.</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AR"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AR" sz="1800" u="none" cap="none" strike="noStrike">
                <a:solidFill>
                  <a:srgbClr val="000000"/>
                </a:solidFill>
                <a:latin typeface="Arial"/>
                <a:ea typeface="Arial"/>
                <a:cs typeface="Arial"/>
                <a:sym typeface="Arial"/>
              </a:rPr>
              <a:t>Estas fuerzas pueden ser:</a:t>
            </a:r>
            <a:endParaRPr b="0" i="0" sz="1800" u="none" cap="none" strike="noStrike">
              <a:solidFill>
                <a:srgbClr val="000000"/>
              </a:solidFill>
              <a:latin typeface="Arial"/>
              <a:ea typeface="Arial"/>
              <a:cs typeface="Arial"/>
              <a:sym typeface="Arial"/>
            </a:endParaRPr>
          </a:p>
        </p:txBody>
      </p:sp>
      <p:sp>
        <p:nvSpPr>
          <p:cNvPr id="279" name="Google Shape;279;p23"/>
          <p:cNvSpPr txBox="1"/>
          <p:nvPr/>
        </p:nvSpPr>
        <p:spPr>
          <a:xfrm>
            <a:off x="1571200" y="3429000"/>
            <a:ext cx="7887600" cy="1384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s-AR" sz="1800" u="none" cap="none" strike="noStrike">
                <a:solidFill>
                  <a:srgbClr val="3D85C6"/>
                </a:solidFill>
                <a:latin typeface="Arial"/>
                <a:ea typeface="Arial"/>
                <a:cs typeface="Arial"/>
                <a:sym typeface="Arial"/>
              </a:rPr>
              <a:t>FUERZAS EXÓGENAS</a:t>
            </a:r>
            <a:r>
              <a:rPr b="1" i="0" lang="es-AR" sz="1800" u="none" cap="none" strike="noStrike">
                <a:solidFill>
                  <a:schemeClr val="accent1"/>
                </a:solidFill>
                <a:latin typeface="Arial"/>
                <a:ea typeface="Arial"/>
                <a:cs typeface="Arial"/>
                <a:sym typeface="Arial"/>
              </a:rPr>
              <a:t> </a:t>
            </a:r>
            <a:r>
              <a:rPr b="0" i="0" lang="es-AR" sz="1800" u="none" cap="none" strike="noStrike">
                <a:solidFill>
                  <a:srgbClr val="000000"/>
                </a:solidFill>
                <a:latin typeface="Arial"/>
                <a:ea typeface="Arial"/>
                <a:cs typeface="Arial"/>
                <a:sym typeface="Arial"/>
              </a:rPr>
              <a:t>provienen del ambiente, como las nuevas tecnologías, los cambios de valores de la sociedad y las nuevas oportunidades o limitaciones del ambiente (económico, político, legal y social). Estas </a:t>
            </a:r>
            <a:r>
              <a:rPr b="0" i="1" lang="es-AR" sz="1800" u="none" cap="none" strike="noStrike">
                <a:solidFill>
                  <a:srgbClr val="000000"/>
                </a:solidFill>
                <a:latin typeface="Arial"/>
                <a:ea typeface="Arial"/>
                <a:cs typeface="Arial"/>
                <a:sym typeface="Arial"/>
              </a:rPr>
              <a:t>fuerzas externas </a:t>
            </a:r>
            <a:r>
              <a:rPr b="0" i="0" lang="es-AR" sz="1800" u="none" cap="none" strike="noStrike">
                <a:solidFill>
                  <a:srgbClr val="000000"/>
                </a:solidFill>
                <a:latin typeface="Arial"/>
                <a:ea typeface="Arial"/>
                <a:cs typeface="Arial"/>
                <a:sym typeface="Arial"/>
              </a:rPr>
              <a:t>crean necesidades de un cambio organizacional interno.</a:t>
            </a:r>
            <a:endParaRPr b="0" i="0" sz="1800" u="none" cap="none" strike="noStrike">
              <a:solidFill>
                <a:srgbClr val="000000"/>
              </a:solidFill>
              <a:latin typeface="Arial"/>
              <a:ea typeface="Arial"/>
              <a:cs typeface="Arial"/>
              <a:sym typeface="Arial"/>
            </a:endParaRPr>
          </a:p>
        </p:txBody>
      </p:sp>
      <p:sp>
        <p:nvSpPr>
          <p:cNvPr id="280" name="Google Shape;280;p23"/>
          <p:cNvSpPr txBox="1"/>
          <p:nvPr/>
        </p:nvSpPr>
        <p:spPr>
          <a:xfrm>
            <a:off x="1571125" y="4951000"/>
            <a:ext cx="7810200" cy="1016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s-AR" sz="1800" u="none" cap="none" strike="noStrike">
                <a:solidFill>
                  <a:srgbClr val="3D85C6"/>
                </a:solidFill>
                <a:latin typeface="Arial"/>
                <a:ea typeface="Arial"/>
                <a:cs typeface="Arial"/>
                <a:sym typeface="Arial"/>
              </a:rPr>
              <a:t>FUERZAS ENDÓGENAS</a:t>
            </a:r>
            <a:r>
              <a:rPr b="1" i="0" lang="es-AR" sz="1800" u="none" cap="none" strike="noStrike">
                <a:solidFill>
                  <a:srgbClr val="C00000"/>
                </a:solidFill>
                <a:latin typeface="Arial"/>
                <a:ea typeface="Arial"/>
                <a:cs typeface="Arial"/>
                <a:sym typeface="Arial"/>
              </a:rPr>
              <a:t> </a:t>
            </a:r>
            <a:r>
              <a:rPr b="0" i="0" lang="es-AR" sz="1800" u="none" cap="none" strike="noStrike">
                <a:solidFill>
                  <a:srgbClr val="000000"/>
                </a:solidFill>
                <a:latin typeface="Arial"/>
                <a:ea typeface="Arial"/>
                <a:cs typeface="Arial"/>
                <a:sym typeface="Arial"/>
              </a:rPr>
              <a:t>que crean necesidades de cambio estructural y conductual provienen del interior de la propia organización, en virtud de la interacción de sus participantes y de las tensiones provocadas por objetivos e intereses diferentes.</a:t>
            </a:r>
            <a:endParaRPr b="0" i="0" sz="1800" u="none" cap="none" strike="noStrike">
              <a:solidFill>
                <a:srgbClr val="000000"/>
              </a:solidFill>
              <a:latin typeface="Arial"/>
              <a:ea typeface="Arial"/>
              <a:cs typeface="Arial"/>
              <a:sym typeface="Arial"/>
            </a:endParaRPr>
          </a:p>
        </p:txBody>
      </p:sp>
      <p:pic>
        <p:nvPicPr>
          <p:cNvPr id="281" name="Google Shape;281;p23"/>
          <p:cNvPicPr preferRelativeResize="0"/>
          <p:nvPr/>
        </p:nvPicPr>
        <p:blipFill rotWithShape="1">
          <a:blip r:embed="rId3">
            <a:alphaModFix/>
          </a:blip>
          <a:srcRect b="0" l="0" r="0" t="0"/>
          <a:stretch/>
        </p:blipFill>
        <p:spPr>
          <a:xfrm>
            <a:off x="145826" y="2483288"/>
            <a:ext cx="1429097" cy="14826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25afe6fff8_0_84"/>
          <p:cNvSpPr txBox="1"/>
          <p:nvPr/>
        </p:nvSpPr>
        <p:spPr>
          <a:xfrm>
            <a:off x="0"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Tipos de Cambios Organizacionales</a:t>
            </a:r>
            <a:endParaRPr b="0" i="0" sz="1400" u="none" cap="none" strike="noStrike">
              <a:solidFill>
                <a:srgbClr val="000000"/>
              </a:solidFill>
              <a:latin typeface="Arial"/>
              <a:ea typeface="Arial"/>
              <a:cs typeface="Arial"/>
              <a:sym typeface="Arial"/>
            </a:endParaRPr>
          </a:p>
        </p:txBody>
      </p:sp>
      <p:pic>
        <p:nvPicPr>
          <p:cNvPr id="288" name="Google Shape;288;g125afe6fff8_0_84"/>
          <p:cNvPicPr preferRelativeResize="0"/>
          <p:nvPr/>
        </p:nvPicPr>
        <p:blipFill rotWithShape="1">
          <a:blip r:embed="rId3">
            <a:alphaModFix/>
          </a:blip>
          <a:srcRect b="0" l="0" r="0" t="0"/>
          <a:stretch/>
        </p:blipFill>
        <p:spPr>
          <a:xfrm>
            <a:off x="3205950" y="2525202"/>
            <a:ext cx="2381250" cy="2609850"/>
          </a:xfrm>
          <a:prstGeom prst="rect">
            <a:avLst/>
          </a:prstGeom>
          <a:noFill/>
          <a:ln>
            <a:noFill/>
          </a:ln>
        </p:spPr>
      </p:pic>
      <p:pic>
        <p:nvPicPr>
          <p:cNvPr id="289" name="Google Shape;289;g125afe6fff8_0_84"/>
          <p:cNvPicPr preferRelativeResize="0"/>
          <p:nvPr/>
        </p:nvPicPr>
        <p:blipFill rotWithShape="1">
          <a:blip r:embed="rId4">
            <a:alphaModFix/>
          </a:blip>
          <a:srcRect b="0" l="0" r="0" t="0"/>
          <a:stretch/>
        </p:blipFill>
        <p:spPr>
          <a:xfrm rot="1495724">
            <a:off x="2403887" y="3105152"/>
            <a:ext cx="704850" cy="647700"/>
          </a:xfrm>
          <a:prstGeom prst="rect">
            <a:avLst/>
          </a:prstGeom>
          <a:noFill/>
          <a:ln>
            <a:noFill/>
          </a:ln>
        </p:spPr>
      </p:pic>
      <p:pic>
        <p:nvPicPr>
          <p:cNvPr id="290" name="Google Shape;290;g125afe6fff8_0_84"/>
          <p:cNvPicPr preferRelativeResize="0"/>
          <p:nvPr/>
        </p:nvPicPr>
        <p:blipFill rotWithShape="1">
          <a:blip r:embed="rId5">
            <a:alphaModFix/>
          </a:blip>
          <a:srcRect b="0" l="0" r="0" t="0"/>
          <a:stretch/>
        </p:blipFill>
        <p:spPr>
          <a:xfrm>
            <a:off x="3108750" y="5005502"/>
            <a:ext cx="723900" cy="590550"/>
          </a:xfrm>
          <a:prstGeom prst="rect">
            <a:avLst/>
          </a:prstGeom>
          <a:noFill/>
          <a:ln>
            <a:noFill/>
          </a:ln>
        </p:spPr>
      </p:pic>
      <p:pic>
        <p:nvPicPr>
          <p:cNvPr id="291" name="Google Shape;291;g125afe6fff8_0_84"/>
          <p:cNvPicPr preferRelativeResize="0"/>
          <p:nvPr/>
        </p:nvPicPr>
        <p:blipFill rotWithShape="1">
          <a:blip r:embed="rId6">
            <a:alphaModFix/>
          </a:blip>
          <a:srcRect b="0" l="0" r="0" t="0"/>
          <a:stretch/>
        </p:blipFill>
        <p:spPr>
          <a:xfrm rot="-865691">
            <a:off x="5464500" y="2460177"/>
            <a:ext cx="638175" cy="533400"/>
          </a:xfrm>
          <a:prstGeom prst="rect">
            <a:avLst/>
          </a:prstGeom>
          <a:noFill/>
          <a:ln>
            <a:noFill/>
          </a:ln>
        </p:spPr>
      </p:pic>
      <p:pic>
        <p:nvPicPr>
          <p:cNvPr id="292" name="Google Shape;292;g125afe6fff8_0_84"/>
          <p:cNvPicPr preferRelativeResize="0"/>
          <p:nvPr/>
        </p:nvPicPr>
        <p:blipFill rotWithShape="1">
          <a:blip r:embed="rId7">
            <a:alphaModFix/>
          </a:blip>
          <a:srcRect b="0" l="0" r="0" t="0"/>
          <a:stretch/>
        </p:blipFill>
        <p:spPr>
          <a:xfrm>
            <a:off x="5312625" y="4872877"/>
            <a:ext cx="590550" cy="485775"/>
          </a:xfrm>
          <a:prstGeom prst="rect">
            <a:avLst/>
          </a:prstGeom>
          <a:noFill/>
          <a:ln>
            <a:noFill/>
          </a:ln>
        </p:spPr>
      </p:pic>
      <p:pic>
        <p:nvPicPr>
          <p:cNvPr id="293" name="Google Shape;293;g125afe6fff8_0_84"/>
          <p:cNvPicPr preferRelativeResize="0"/>
          <p:nvPr/>
        </p:nvPicPr>
        <p:blipFill rotWithShape="1">
          <a:blip r:embed="rId8">
            <a:alphaModFix/>
          </a:blip>
          <a:srcRect b="0" l="0" r="0" t="0"/>
          <a:stretch/>
        </p:blipFill>
        <p:spPr>
          <a:xfrm>
            <a:off x="6244275" y="1252223"/>
            <a:ext cx="2381250" cy="1511503"/>
          </a:xfrm>
          <a:prstGeom prst="rect">
            <a:avLst/>
          </a:prstGeom>
          <a:noFill/>
          <a:ln>
            <a:noFill/>
          </a:ln>
        </p:spPr>
      </p:pic>
      <p:pic>
        <p:nvPicPr>
          <p:cNvPr id="294" name="Google Shape;294;g125afe6fff8_0_84"/>
          <p:cNvPicPr preferRelativeResize="0"/>
          <p:nvPr/>
        </p:nvPicPr>
        <p:blipFill rotWithShape="1">
          <a:blip r:embed="rId9">
            <a:alphaModFix/>
          </a:blip>
          <a:srcRect b="0" l="0" r="0" t="0"/>
          <a:stretch/>
        </p:blipFill>
        <p:spPr>
          <a:xfrm>
            <a:off x="6102675" y="3907749"/>
            <a:ext cx="3177651" cy="1861901"/>
          </a:xfrm>
          <a:prstGeom prst="rect">
            <a:avLst/>
          </a:prstGeom>
          <a:noFill/>
          <a:ln>
            <a:noFill/>
          </a:ln>
        </p:spPr>
      </p:pic>
      <p:pic>
        <p:nvPicPr>
          <p:cNvPr id="295" name="Google Shape;295;g125afe6fff8_0_84"/>
          <p:cNvPicPr preferRelativeResize="0"/>
          <p:nvPr/>
        </p:nvPicPr>
        <p:blipFill rotWithShape="1">
          <a:blip r:embed="rId10">
            <a:alphaModFix/>
          </a:blip>
          <a:srcRect b="0" l="0" r="0" t="0"/>
          <a:stretch/>
        </p:blipFill>
        <p:spPr>
          <a:xfrm>
            <a:off x="198100" y="1187975"/>
            <a:ext cx="3209733" cy="1861900"/>
          </a:xfrm>
          <a:prstGeom prst="rect">
            <a:avLst/>
          </a:prstGeom>
          <a:noFill/>
          <a:ln>
            <a:noFill/>
          </a:ln>
        </p:spPr>
      </p:pic>
      <p:pic>
        <p:nvPicPr>
          <p:cNvPr id="296" name="Google Shape;296;g125afe6fff8_0_84"/>
          <p:cNvPicPr preferRelativeResize="0"/>
          <p:nvPr/>
        </p:nvPicPr>
        <p:blipFill rotWithShape="1">
          <a:blip r:embed="rId11">
            <a:alphaModFix/>
          </a:blip>
          <a:srcRect b="0" l="0" r="0" t="0"/>
          <a:stretch/>
        </p:blipFill>
        <p:spPr>
          <a:xfrm>
            <a:off x="198100" y="4574400"/>
            <a:ext cx="2765074" cy="1452751"/>
          </a:xfrm>
          <a:prstGeom prst="rect">
            <a:avLst/>
          </a:prstGeom>
          <a:noFill/>
          <a:ln>
            <a:noFill/>
          </a:ln>
        </p:spPr>
      </p:pic>
      <p:sp>
        <p:nvSpPr>
          <p:cNvPr id="297" name="Google Shape;297;g125afe6fff8_0_84"/>
          <p:cNvSpPr txBox="1"/>
          <p:nvPr/>
        </p:nvSpPr>
        <p:spPr>
          <a:xfrm>
            <a:off x="972525" y="2986775"/>
            <a:ext cx="121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B45F06"/>
                </a:solidFill>
                <a:latin typeface="Arial"/>
                <a:ea typeface="Arial"/>
                <a:cs typeface="Arial"/>
                <a:sym typeface="Arial"/>
              </a:rPr>
              <a:t>Estructural</a:t>
            </a:r>
            <a:endParaRPr b="1" i="0" sz="1400" u="none" cap="none" strike="noStrike">
              <a:solidFill>
                <a:srgbClr val="B45F06"/>
              </a:solidFill>
              <a:latin typeface="Arial"/>
              <a:ea typeface="Arial"/>
              <a:cs typeface="Arial"/>
              <a:sym typeface="Arial"/>
            </a:endParaRPr>
          </a:p>
        </p:txBody>
      </p:sp>
      <p:sp>
        <p:nvSpPr>
          <p:cNvPr id="298" name="Google Shape;298;g125afe6fff8_0_84"/>
          <p:cNvSpPr txBox="1"/>
          <p:nvPr/>
        </p:nvSpPr>
        <p:spPr>
          <a:xfrm>
            <a:off x="7344100" y="2827975"/>
            <a:ext cx="121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B45F06"/>
                </a:solidFill>
                <a:latin typeface="Arial"/>
                <a:ea typeface="Arial"/>
                <a:cs typeface="Arial"/>
                <a:sym typeface="Arial"/>
              </a:rPr>
              <a:t>Cultural</a:t>
            </a:r>
            <a:endParaRPr b="1" i="0" sz="1400" u="none" cap="none" strike="noStrike">
              <a:solidFill>
                <a:srgbClr val="B45F06"/>
              </a:solidFill>
              <a:latin typeface="Arial"/>
              <a:ea typeface="Arial"/>
              <a:cs typeface="Arial"/>
              <a:sym typeface="Arial"/>
            </a:endParaRPr>
          </a:p>
        </p:txBody>
      </p:sp>
      <p:sp>
        <p:nvSpPr>
          <p:cNvPr id="299" name="Google Shape;299;g125afe6fff8_0_84"/>
          <p:cNvSpPr txBox="1"/>
          <p:nvPr/>
        </p:nvSpPr>
        <p:spPr>
          <a:xfrm>
            <a:off x="760062" y="4096575"/>
            <a:ext cx="1874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B45F06"/>
                </a:solidFill>
                <a:latin typeface="Arial"/>
                <a:ea typeface="Arial"/>
                <a:cs typeface="Arial"/>
                <a:sym typeface="Arial"/>
              </a:rPr>
              <a:t>Producto/servicio</a:t>
            </a:r>
            <a:endParaRPr b="1" i="0" sz="1400" u="none" cap="none" strike="noStrike">
              <a:solidFill>
                <a:srgbClr val="B45F06"/>
              </a:solidFill>
              <a:latin typeface="Arial"/>
              <a:ea typeface="Arial"/>
              <a:cs typeface="Arial"/>
              <a:sym typeface="Arial"/>
            </a:endParaRPr>
          </a:p>
        </p:txBody>
      </p:sp>
      <p:sp>
        <p:nvSpPr>
          <p:cNvPr id="300" name="Google Shape;300;g125afe6fff8_0_84"/>
          <p:cNvSpPr txBox="1"/>
          <p:nvPr/>
        </p:nvSpPr>
        <p:spPr>
          <a:xfrm>
            <a:off x="7216750" y="3471025"/>
            <a:ext cx="147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B45F06"/>
                </a:solidFill>
                <a:latin typeface="Arial"/>
                <a:ea typeface="Arial"/>
                <a:cs typeface="Arial"/>
                <a:sym typeface="Arial"/>
              </a:rPr>
              <a:t>Tecnológico</a:t>
            </a:r>
            <a:endParaRPr b="1" i="0" sz="1400" u="none" cap="none" strike="noStrike">
              <a:solidFill>
                <a:srgbClr val="B45F06"/>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5"/>
          <p:cNvSpPr txBox="1"/>
          <p:nvPr/>
        </p:nvSpPr>
        <p:spPr>
          <a:xfrm>
            <a:off x="0" y="-23"/>
            <a:ext cx="9906000" cy="1187999"/>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Cambio Organizacional</a:t>
            </a:r>
            <a:endParaRPr b="0" i="0" sz="1400" u="none" cap="none" strike="noStrike">
              <a:solidFill>
                <a:srgbClr val="000000"/>
              </a:solidFill>
              <a:latin typeface="Arial"/>
              <a:ea typeface="Arial"/>
              <a:cs typeface="Arial"/>
              <a:sym typeface="Arial"/>
            </a:endParaRPr>
          </a:p>
        </p:txBody>
      </p:sp>
      <p:sp>
        <p:nvSpPr>
          <p:cNvPr id="306" name="Google Shape;306;p25"/>
          <p:cNvSpPr/>
          <p:nvPr/>
        </p:nvSpPr>
        <p:spPr>
          <a:xfrm>
            <a:off x="-24977" y="1196958"/>
            <a:ext cx="9907200" cy="17461"/>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7" name="Google Shape;307;p25"/>
          <p:cNvSpPr txBox="1"/>
          <p:nvPr/>
        </p:nvSpPr>
        <p:spPr>
          <a:xfrm rot="-5400000">
            <a:off x="-951525" y="2685548"/>
            <a:ext cx="24789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600"/>
              <a:buFont typeface="Arial"/>
              <a:buNone/>
            </a:pPr>
            <a:r>
              <a:rPr b="1" i="0" lang="es-AR" sz="1600" u="none" cap="none" strike="noStrike">
                <a:solidFill>
                  <a:srgbClr val="003366"/>
                </a:solidFill>
                <a:latin typeface="Arial"/>
                <a:ea typeface="Arial"/>
                <a:cs typeface="Arial"/>
                <a:sym typeface="Arial"/>
              </a:rPr>
              <a:t>Aceptación del Cambio</a:t>
            </a:r>
            <a:endParaRPr b="0" i="0" sz="1400" u="none" cap="none" strike="noStrike">
              <a:solidFill>
                <a:srgbClr val="000000"/>
              </a:solidFill>
              <a:latin typeface="Arial"/>
              <a:ea typeface="Arial"/>
              <a:cs typeface="Arial"/>
              <a:sym typeface="Arial"/>
            </a:endParaRPr>
          </a:p>
        </p:txBody>
      </p:sp>
      <p:cxnSp>
        <p:nvCxnSpPr>
          <p:cNvPr id="308" name="Google Shape;308;p25"/>
          <p:cNvCxnSpPr/>
          <p:nvPr/>
        </p:nvCxnSpPr>
        <p:spPr>
          <a:xfrm>
            <a:off x="612245" y="1213169"/>
            <a:ext cx="15479" cy="4675186"/>
          </a:xfrm>
          <a:prstGeom prst="straightConnector1">
            <a:avLst/>
          </a:prstGeom>
          <a:noFill/>
          <a:ln cap="flat" cmpd="sng" w="28575">
            <a:solidFill>
              <a:srgbClr val="003366"/>
            </a:solidFill>
            <a:prstDash val="solid"/>
            <a:round/>
            <a:headEnd len="lg" w="lg" type="triangle"/>
            <a:tailEnd len="sm" w="sm" type="none"/>
          </a:ln>
        </p:spPr>
      </p:cxnSp>
      <p:cxnSp>
        <p:nvCxnSpPr>
          <p:cNvPr id="309" name="Google Shape;309;p25"/>
          <p:cNvCxnSpPr/>
          <p:nvPr/>
        </p:nvCxnSpPr>
        <p:spPr>
          <a:xfrm>
            <a:off x="627725" y="5860414"/>
            <a:ext cx="9077060" cy="0"/>
          </a:xfrm>
          <a:prstGeom prst="straightConnector1">
            <a:avLst/>
          </a:prstGeom>
          <a:noFill/>
          <a:ln cap="flat" cmpd="sng" w="28575">
            <a:solidFill>
              <a:srgbClr val="003366"/>
            </a:solidFill>
            <a:prstDash val="solid"/>
            <a:round/>
            <a:headEnd len="sm" w="sm" type="none"/>
            <a:tailEnd len="lg" w="lg" type="triangle"/>
          </a:ln>
        </p:spPr>
      </p:cxnSp>
      <p:sp>
        <p:nvSpPr>
          <p:cNvPr id="310" name="Google Shape;310;p25"/>
          <p:cNvSpPr/>
          <p:nvPr/>
        </p:nvSpPr>
        <p:spPr>
          <a:xfrm flipH="1" rot="10800000">
            <a:off x="724625" y="1346125"/>
            <a:ext cx="8498700" cy="3629100"/>
          </a:xfrm>
          <a:custGeom>
            <a:rect b="b" l="l" r="r" t="t"/>
            <a:pathLst>
              <a:path extrusionOk="0" fill="none" h="120000" w="120000">
                <a:moveTo>
                  <a:pt x="0" y="0"/>
                </a:moveTo>
                <a:cubicBezTo>
                  <a:pt x="5" y="0"/>
                  <a:pt x="16" y="-5"/>
                  <a:pt x="27" y="0"/>
                </a:cubicBezTo>
                <a:cubicBezTo>
                  <a:pt x="63901" y="0"/>
                  <a:pt x="116607" y="49922"/>
                  <a:pt x="119994" y="113638"/>
                </a:cubicBezTo>
              </a:path>
              <a:path extrusionOk="0" h="120000" w="120000">
                <a:moveTo>
                  <a:pt x="0" y="0"/>
                </a:moveTo>
                <a:cubicBezTo>
                  <a:pt x="5" y="0"/>
                  <a:pt x="16" y="-5"/>
                  <a:pt x="27" y="0"/>
                </a:cubicBezTo>
                <a:cubicBezTo>
                  <a:pt x="63901" y="0"/>
                  <a:pt x="116607" y="49922"/>
                  <a:pt x="119994" y="113638"/>
                </a:cubicBezTo>
                <a:lnTo>
                  <a:pt x="27" y="120000"/>
                </a:lnTo>
                <a:close/>
              </a:path>
            </a:pathLst>
          </a:custGeom>
          <a:solidFill>
            <a:schemeClr val="l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5"/>
          <p:cNvSpPr/>
          <p:nvPr/>
        </p:nvSpPr>
        <p:spPr>
          <a:xfrm>
            <a:off x="944166" y="4884737"/>
            <a:ext cx="239051" cy="220662"/>
          </a:xfrm>
          <a:prstGeom prst="ellipse">
            <a:avLst/>
          </a:prstGeom>
          <a:solidFill>
            <a:schemeClr val="accen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5"/>
          <p:cNvSpPr/>
          <p:nvPr/>
        </p:nvSpPr>
        <p:spPr>
          <a:xfrm>
            <a:off x="2734468" y="4767262"/>
            <a:ext cx="239051" cy="220662"/>
          </a:xfrm>
          <a:prstGeom prst="ellipse">
            <a:avLst/>
          </a:prstGeom>
          <a:solidFill>
            <a:schemeClr val="accen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5"/>
          <p:cNvSpPr/>
          <p:nvPr/>
        </p:nvSpPr>
        <p:spPr>
          <a:xfrm>
            <a:off x="4652037" y="4432301"/>
            <a:ext cx="237330" cy="219075"/>
          </a:xfrm>
          <a:prstGeom prst="ellipse">
            <a:avLst/>
          </a:prstGeom>
          <a:solidFill>
            <a:schemeClr val="accen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5"/>
          <p:cNvSpPr/>
          <p:nvPr/>
        </p:nvSpPr>
        <p:spPr>
          <a:xfrm>
            <a:off x="5993475" y="4046539"/>
            <a:ext cx="237330" cy="219075"/>
          </a:xfrm>
          <a:prstGeom prst="ellipse">
            <a:avLst/>
          </a:prstGeom>
          <a:solidFill>
            <a:schemeClr val="accen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5"/>
          <p:cNvSpPr/>
          <p:nvPr/>
        </p:nvSpPr>
        <p:spPr>
          <a:xfrm>
            <a:off x="8332390" y="2774950"/>
            <a:ext cx="239051" cy="220663"/>
          </a:xfrm>
          <a:prstGeom prst="ellipse">
            <a:avLst/>
          </a:prstGeom>
          <a:solidFill>
            <a:schemeClr val="accent1"/>
          </a:solidFill>
          <a:ln cap="flat" cmpd="sng" w="2857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6" name="Google Shape;316;p25"/>
          <p:cNvCxnSpPr/>
          <p:nvPr/>
        </p:nvCxnSpPr>
        <p:spPr>
          <a:xfrm>
            <a:off x="6918721" y="1401762"/>
            <a:ext cx="0" cy="4305299"/>
          </a:xfrm>
          <a:prstGeom prst="straightConnector1">
            <a:avLst/>
          </a:prstGeom>
          <a:noFill/>
          <a:ln cap="flat" cmpd="sng" w="28575">
            <a:solidFill>
              <a:schemeClr val="dk2"/>
            </a:solidFill>
            <a:prstDash val="dash"/>
            <a:round/>
            <a:headEnd len="sm" w="sm" type="none"/>
            <a:tailEnd len="sm" w="sm" type="none"/>
          </a:ln>
        </p:spPr>
      </p:cxnSp>
      <p:sp>
        <p:nvSpPr>
          <p:cNvPr id="317" name="Google Shape;317;p25"/>
          <p:cNvSpPr txBox="1"/>
          <p:nvPr/>
        </p:nvSpPr>
        <p:spPr>
          <a:xfrm>
            <a:off x="796264" y="5222875"/>
            <a:ext cx="958916"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Contacto</a:t>
            </a:r>
            <a:endParaRPr b="0" i="0" sz="1400" u="none" cap="none" strike="noStrike">
              <a:solidFill>
                <a:srgbClr val="000000"/>
              </a:solidFill>
              <a:latin typeface="Arial"/>
              <a:ea typeface="Arial"/>
              <a:cs typeface="Arial"/>
              <a:sym typeface="Arial"/>
            </a:endParaRPr>
          </a:p>
        </p:txBody>
      </p:sp>
      <p:sp>
        <p:nvSpPr>
          <p:cNvPr id="318" name="Google Shape;318;p25"/>
          <p:cNvSpPr txBox="1"/>
          <p:nvPr/>
        </p:nvSpPr>
        <p:spPr>
          <a:xfrm>
            <a:off x="2405989" y="5092700"/>
            <a:ext cx="1426994"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Entendimiento</a:t>
            </a:r>
            <a:endParaRPr b="0" i="0" sz="1400" u="none" cap="none" strike="noStrike">
              <a:solidFill>
                <a:srgbClr val="000000"/>
              </a:solidFill>
              <a:latin typeface="Arial"/>
              <a:ea typeface="Arial"/>
              <a:cs typeface="Arial"/>
              <a:sym typeface="Arial"/>
            </a:endParaRPr>
          </a:p>
        </p:txBody>
      </p:sp>
      <p:sp>
        <p:nvSpPr>
          <p:cNvPr id="319" name="Google Shape;319;p25"/>
          <p:cNvSpPr txBox="1"/>
          <p:nvPr/>
        </p:nvSpPr>
        <p:spPr>
          <a:xfrm>
            <a:off x="4163616" y="4795837"/>
            <a:ext cx="1148071"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Aceptación</a:t>
            </a:r>
            <a:endParaRPr b="0" i="0" sz="1400" u="none" cap="none" strike="noStrike">
              <a:solidFill>
                <a:srgbClr val="000000"/>
              </a:solidFill>
              <a:latin typeface="Arial"/>
              <a:ea typeface="Arial"/>
              <a:cs typeface="Arial"/>
              <a:sym typeface="Arial"/>
            </a:endParaRPr>
          </a:p>
        </p:txBody>
      </p:sp>
      <p:sp>
        <p:nvSpPr>
          <p:cNvPr id="320" name="Google Shape;320;p25"/>
          <p:cNvSpPr txBox="1"/>
          <p:nvPr/>
        </p:nvSpPr>
        <p:spPr>
          <a:xfrm>
            <a:off x="5499894" y="4271962"/>
            <a:ext cx="1290737"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Compromiso</a:t>
            </a:r>
            <a:endParaRPr b="0" i="0" sz="1400" u="none" cap="none" strike="noStrike">
              <a:solidFill>
                <a:srgbClr val="000000"/>
              </a:solidFill>
              <a:latin typeface="Arial"/>
              <a:ea typeface="Arial"/>
              <a:cs typeface="Arial"/>
              <a:sym typeface="Arial"/>
            </a:endParaRPr>
          </a:p>
        </p:txBody>
      </p:sp>
      <p:sp>
        <p:nvSpPr>
          <p:cNvPr id="321" name="Google Shape;321;p25"/>
          <p:cNvSpPr txBox="1"/>
          <p:nvPr/>
        </p:nvSpPr>
        <p:spPr>
          <a:xfrm>
            <a:off x="8062382" y="3116360"/>
            <a:ext cx="1436611"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Internalización</a:t>
            </a:r>
            <a:endParaRPr b="0" i="0" sz="1400" u="none" cap="none" strike="noStrike">
              <a:solidFill>
                <a:srgbClr val="000000"/>
              </a:solidFill>
              <a:latin typeface="Arial"/>
              <a:ea typeface="Arial"/>
              <a:cs typeface="Arial"/>
              <a:sym typeface="Arial"/>
            </a:endParaRPr>
          </a:p>
        </p:txBody>
      </p:sp>
      <p:sp>
        <p:nvSpPr>
          <p:cNvPr id="322" name="Google Shape;322;p25"/>
          <p:cNvSpPr txBox="1"/>
          <p:nvPr/>
        </p:nvSpPr>
        <p:spPr>
          <a:xfrm>
            <a:off x="8672910" y="5955348"/>
            <a:ext cx="914032"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600"/>
              <a:buFont typeface="Arial"/>
              <a:buNone/>
            </a:pPr>
            <a:r>
              <a:rPr b="1" i="0" lang="es-AR" sz="1600" u="none" cap="none" strike="noStrike">
                <a:solidFill>
                  <a:srgbClr val="003366"/>
                </a:solidFill>
                <a:latin typeface="Arial"/>
                <a:ea typeface="Arial"/>
                <a:cs typeface="Arial"/>
                <a:sym typeface="Arial"/>
              </a:rPr>
              <a:t>Tiempo</a:t>
            </a:r>
            <a:endParaRPr b="0" i="0" sz="1400" u="none" cap="none" strike="noStrike">
              <a:solidFill>
                <a:srgbClr val="000000"/>
              </a:solidFill>
              <a:latin typeface="Arial"/>
              <a:ea typeface="Arial"/>
              <a:cs typeface="Arial"/>
              <a:sym typeface="Arial"/>
            </a:endParaRPr>
          </a:p>
        </p:txBody>
      </p:sp>
      <p:sp>
        <p:nvSpPr>
          <p:cNvPr id="323" name="Google Shape;323;p25"/>
          <p:cNvSpPr/>
          <p:nvPr/>
        </p:nvSpPr>
        <p:spPr>
          <a:xfrm>
            <a:off x="627725" y="5903914"/>
            <a:ext cx="806582" cy="369886"/>
          </a:xfrm>
          <a:prstGeom prst="rightArrow">
            <a:avLst>
              <a:gd fmla="val 50000" name="adj1"/>
              <a:gd fmla="val 50322" name="adj2"/>
            </a:avLst>
          </a:prstGeom>
          <a:gradFill>
            <a:gsLst>
              <a:gs pos="0">
                <a:schemeClr val="lt1"/>
              </a:gs>
              <a:gs pos="100000">
                <a:schemeClr val="accent1"/>
              </a:gs>
            </a:gsLst>
            <a:path path="circle">
              <a:fillToRect b="100%" r="100%"/>
            </a:path>
            <a:tileRect l="-100%" t="-100%"/>
          </a:grad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900"/>
              <a:buFont typeface="Arial"/>
              <a:buNone/>
            </a:pPr>
            <a:r>
              <a:rPr b="1" i="0" lang="es-AR" sz="900" u="none" cap="none" strike="noStrike">
                <a:solidFill>
                  <a:srgbClr val="003366"/>
                </a:solidFill>
                <a:latin typeface="Arial"/>
                <a:ea typeface="Arial"/>
                <a:cs typeface="Arial"/>
                <a:sym typeface="Arial"/>
              </a:rPr>
              <a:t>Inicio</a:t>
            </a:r>
            <a:endParaRPr b="0" i="0" sz="1400" u="none" cap="none" strike="noStrike">
              <a:solidFill>
                <a:srgbClr val="000000"/>
              </a:solidFill>
              <a:latin typeface="Arial"/>
              <a:ea typeface="Arial"/>
              <a:cs typeface="Arial"/>
              <a:sym typeface="Arial"/>
            </a:endParaRPr>
          </a:p>
        </p:txBody>
      </p:sp>
      <p:sp>
        <p:nvSpPr>
          <p:cNvPr id="324" name="Google Shape;324;p25"/>
          <p:cNvSpPr/>
          <p:nvPr/>
        </p:nvSpPr>
        <p:spPr>
          <a:xfrm>
            <a:off x="846125" y="2276286"/>
            <a:ext cx="1290600" cy="2384400"/>
          </a:xfrm>
          <a:prstGeom prst="rect">
            <a:avLst/>
          </a:prstGeom>
          <a:no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400"/>
              <a:buFont typeface="Arial"/>
              <a:buNone/>
            </a:pPr>
            <a:r>
              <a:rPr b="0" i="0" lang="es-AR" sz="1200" u="none" cap="none" strike="noStrike">
                <a:solidFill>
                  <a:srgbClr val="003366"/>
                </a:solidFill>
                <a:latin typeface="Arial"/>
                <a:ea typeface="Arial"/>
                <a:cs typeface="Arial"/>
                <a:sym typeface="Arial"/>
              </a:rPr>
              <a:t>Conocimiento, en términos generales de las características en inminencia del cambio</a:t>
            </a:r>
            <a:endParaRPr b="0" i="0" sz="1200" u="none" cap="none" strike="noStrike">
              <a:solidFill>
                <a:srgbClr val="000000"/>
              </a:solidFill>
              <a:latin typeface="Arial"/>
              <a:ea typeface="Arial"/>
              <a:cs typeface="Arial"/>
              <a:sym typeface="Arial"/>
            </a:endParaRPr>
          </a:p>
        </p:txBody>
      </p:sp>
      <p:sp>
        <p:nvSpPr>
          <p:cNvPr id="325" name="Google Shape;325;p25"/>
          <p:cNvSpPr/>
          <p:nvPr/>
        </p:nvSpPr>
        <p:spPr>
          <a:xfrm>
            <a:off x="2332051" y="2276283"/>
            <a:ext cx="1155000" cy="2188800"/>
          </a:xfrm>
          <a:prstGeom prst="rect">
            <a:avLst/>
          </a:prstGeom>
          <a:no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400"/>
              <a:buFont typeface="Arial"/>
              <a:buNone/>
            </a:pPr>
            <a:r>
              <a:rPr b="0" i="0" lang="es-AR" sz="1200" u="none" cap="none" strike="noStrike">
                <a:solidFill>
                  <a:srgbClr val="003366"/>
                </a:solidFill>
                <a:latin typeface="Arial"/>
                <a:ea typeface="Arial"/>
                <a:cs typeface="Arial"/>
                <a:sym typeface="Arial"/>
              </a:rPr>
              <a:t>Comprender el alcance, los beneficios y las implicancias del cambio</a:t>
            </a:r>
            <a:endParaRPr b="0" i="0" sz="1200" u="none" cap="none" strike="noStrike">
              <a:solidFill>
                <a:srgbClr val="000000"/>
              </a:solidFill>
              <a:latin typeface="Arial"/>
              <a:ea typeface="Arial"/>
              <a:cs typeface="Arial"/>
              <a:sym typeface="Arial"/>
            </a:endParaRPr>
          </a:p>
        </p:txBody>
      </p:sp>
      <p:sp>
        <p:nvSpPr>
          <p:cNvPr id="326" name="Google Shape;326;p25"/>
          <p:cNvSpPr/>
          <p:nvPr/>
        </p:nvSpPr>
        <p:spPr>
          <a:xfrm>
            <a:off x="3981957" y="2276283"/>
            <a:ext cx="1155000" cy="1965900"/>
          </a:xfrm>
          <a:prstGeom prst="rect">
            <a:avLst/>
          </a:prstGeom>
          <a:no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600"/>
              <a:buFont typeface="Arial"/>
              <a:buNone/>
            </a:pPr>
            <a:r>
              <a:rPr b="0" i="0" lang="es-AR" sz="1200" u="none" cap="none" strike="noStrike">
                <a:solidFill>
                  <a:srgbClr val="003366"/>
                </a:solidFill>
                <a:latin typeface="Arial"/>
                <a:ea typeface="Arial"/>
                <a:cs typeface="Arial"/>
                <a:sym typeface="Arial"/>
              </a:rPr>
              <a:t>Aceptar el desafío personal que significa el cambio</a:t>
            </a:r>
            <a:endParaRPr b="0" i="0" sz="1200" u="none" cap="none" strike="noStrike">
              <a:solidFill>
                <a:srgbClr val="000000"/>
              </a:solidFill>
              <a:latin typeface="Arial"/>
              <a:ea typeface="Arial"/>
              <a:cs typeface="Arial"/>
              <a:sym typeface="Arial"/>
            </a:endParaRPr>
          </a:p>
        </p:txBody>
      </p:sp>
      <p:sp>
        <p:nvSpPr>
          <p:cNvPr id="327" name="Google Shape;327;p25"/>
          <p:cNvSpPr/>
          <p:nvPr/>
        </p:nvSpPr>
        <p:spPr>
          <a:xfrm>
            <a:off x="5450350" y="2276275"/>
            <a:ext cx="1155000" cy="1633500"/>
          </a:xfrm>
          <a:prstGeom prst="rect">
            <a:avLst/>
          </a:prstGeom>
          <a:no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400"/>
              <a:buFont typeface="Arial"/>
              <a:buNone/>
            </a:pPr>
            <a:r>
              <a:rPr b="0" i="0" lang="es-AR" sz="1200" u="none" cap="none" strike="noStrike">
                <a:solidFill>
                  <a:srgbClr val="003366"/>
                </a:solidFill>
                <a:latin typeface="Arial"/>
                <a:ea typeface="Arial"/>
                <a:cs typeface="Arial"/>
                <a:sym typeface="Arial"/>
              </a:rPr>
              <a:t>Hacer pública la aceptación del desafío, afrontar los riesgos, fijar metas individuales y grupales</a:t>
            </a:r>
            <a:endParaRPr b="0" i="0" sz="1200" u="none" cap="none" strike="noStrike">
              <a:solidFill>
                <a:srgbClr val="000000"/>
              </a:solidFill>
              <a:latin typeface="Arial"/>
              <a:ea typeface="Arial"/>
              <a:cs typeface="Arial"/>
              <a:sym typeface="Arial"/>
            </a:endParaRPr>
          </a:p>
        </p:txBody>
      </p:sp>
      <p:sp>
        <p:nvSpPr>
          <p:cNvPr id="328" name="Google Shape;328;p25"/>
          <p:cNvSpPr/>
          <p:nvPr/>
        </p:nvSpPr>
        <p:spPr>
          <a:xfrm>
            <a:off x="8062375" y="3516300"/>
            <a:ext cx="1370700" cy="2190600"/>
          </a:xfrm>
          <a:prstGeom prst="rect">
            <a:avLst/>
          </a:prstGeom>
          <a:noFill/>
          <a:ln cap="flat" cmpd="sng" w="9525">
            <a:solidFill>
              <a:srgbClr val="00336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400"/>
              <a:buFont typeface="Arial"/>
              <a:buNone/>
            </a:pPr>
            <a:r>
              <a:rPr b="0" i="0" lang="es-AR" sz="1200" u="none" cap="none" strike="noStrike">
                <a:solidFill>
                  <a:srgbClr val="003366"/>
                </a:solidFill>
                <a:latin typeface="Arial"/>
                <a:ea typeface="Arial"/>
                <a:cs typeface="Arial"/>
                <a:sym typeface="Arial"/>
              </a:rPr>
              <a:t>Hacer propio el nuevo proceso, transformar el modo de pensar y operar y desarrollar las habilidades necesarias para gestionarlo exitosamente</a:t>
            </a:r>
            <a:endParaRPr b="0" i="0" sz="1200" u="none" cap="none" strike="noStrike">
              <a:solidFill>
                <a:srgbClr val="000000"/>
              </a:solidFill>
              <a:latin typeface="Arial"/>
              <a:ea typeface="Arial"/>
              <a:cs typeface="Arial"/>
              <a:sym typeface="Arial"/>
            </a:endParaRPr>
          </a:p>
        </p:txBody>
      </p:sp>
      <p:sp>
        <p:nvSpPr>
          <p:cNvPr id="329" name="Google Shape;329;p25"/>
          <p:cNvSpPr txBox="1"/>
          <p:nvPr/>
        </p:nvSpPr>
        <p:spPr>
          <a:xfrm rot="-5400000">
            <a:off x="6530854" y="4518918"/>
            <a:ext cx="1277913"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1" i="0" lang="es-AR" sz="1400" u="none" cap="none" strike="noStrike">
                <a:solidFill>
                  <a:srgbClr val="003366"/>
                </a:solidFill>
                <a:latin typeface="Arial"/>
                <a:ea typeface="Arial"/>
                <a:cs typeface="Arial"/>
                <a:sym typeface="Arial"/>
              </a:rPr>
              <a:t>Lanzamiento</a:t>
            </a:r>
            <a:endParaRPr b="0" i="0" sz="1400" u="none" cap="none" strike="noStrike">
              <a:solidFill>
                <a:srgbClr val="000000"/>
              </a:solidFill>
              <a:latin typeface="Arial"/>
              <a:ea typeface="Arial"/>
              <a:cs typeface="Arial"/>
              <a:sym typeface="Arial"/>
            </a:endParaRPr>
          </a:p>
        </p:txBody>
      </p:sp>
      <p:sp>
        <p:nvSpPr>
          <p:cNvPr id="330" name="Google Shape;330;p25"/>
          <p:cNvSpPr/>
          <p:nvPr/>
        </p:nvSpPr>
        <p:spPr>
          <a:xfrm>
            <a:off x="782700" y="1281025"/>
            <a:ext cx="4470900" cy="582300"/>
          </a:xfrm>
          <a:prstGeom prst="rect">
            <a:avLst/>
          </a:prstGeom>
          <a:solidFill>
            <a:srgbClr val="932328"/>
          </a:solidFill>
          <a:ln>
            <a:noFill/>
          </a:ln>
          <a:effectLst>
            <a:outerShdw blurRad="50799"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rPr b="1" i="0" lang="es-AR" sz="1600" u="none" cap="none" strike="noStrike">
                <a:solidFill>
                  <a:schemeClr val="lt1"/>
                </a:solidFill>
                <a:latin typeface="Arial"/>
                <a:ea typeface="Arial"/>
                <a:cs typeface="Arial"/>
                <a:sym typeface="Arial"/>
              </a:rPr>
              <a:t>ETAPAS DEL CAMBIO</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125afe6fff8_0_134"/>
          <p:cNvSpPr/>
          <p:nvPr/>
        </p:nvSpPr>
        <p:spPr>
          <a:xfrm>
            <a:off x="-24977" y="1196958"/>
            <a:ext cx="9907200" cy="17400"/>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7" name="Google Shape;337;g125afe6fff8_0_134"/>
          <p:cNvSpPr txBox="1"/>
          <p:nvPr/>
        </p:nvSpPr>
        <p:spPr>
          <a:xfrm>
            <a:off x="-15552" y="-23"/>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2400"/>
              <a:buFont typeface="Arial"/>
              <a:buNone/>
            </a:pPr>
            <a:r>
              <a:rPr b="1" i="0" lang="es-AR" sz="2400" u="none" cap="none" strike="noStrike">
                <a:solidFill>
                  <a:srgbClr val="932328"/>
                </a:solidFill>
                <a:latin typeface="Arial"/>
                <a:ea typeface="Arial"/>
                <a:cs typeface="Arial"/>
                <a:sym typeface="Arial"/>
              </a:rPr>
              <a:t>Gestión de cambio - Modelo Adkar</a:t>
            </a:r>
            <a:endParaRPr b="1" i="0" sz="2400" u="none" cap="none" strike="noStrike">
              <a:solidFill>
                <a:srgbClr val="932328"/>
              </a:solidFill>
              <a:latin typeface="Arial"/>
              <a:ea typeface="Arial"/>
              <a:cs typeface="Arial"/>
              <a:sym typeface="Arial"/>
            </a:endParaRPr>
          </a:p>
        </p:txBody>
      </p:sp>
      <p:pic>
        <p:nvPicPr>
          <p:cNvPr id="338" name="Google Shape;338;g125afe6fff8_0_134"/>
          <p:cNvPicPr preferRelativeResize="0"/>
          <p:nvPr/>
        </p:nvPicPr>
        <p:blipFill rotWithShape="1">
          <a:blip r:embed="rId3">
            <a:alphaModFix/>
          </a:blip>
          <a:srcRect b="0" l="0" r="0" t="0"/>
          <a:stretch/>
        </p:blipFill>
        <p:spPr>
          <a:xfrm>
            <a:off x="1263950" y="1953874"/>
            <a:ext cx="7525075" cy="2048600"/>
          </a:xfrm>
          <a:prstGeom prst="rect">
            <a:avLst/>
          </a:prstGeom>
          <a:noFill/>
          <a:ln>
            <a:noFill/>
          </a:ln>
        </p:spPr>
      </p:pic>
      <p:sp>
        <p:nvSpPr>
          <p:cNvPr id="339" name="Google Shape;339;g125afe6fff8_0_134"/>
          <p:cNvSpPr txBox="1"/>
          <p:nvPr/>
        </p:nvSpPr>
        <p:spPr>
          <a:xfrm>
            <a:off x="1397500" y="4140675"/>
            <a:ext cx="1190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1700"/>
              </a:spcAft>
              <a:buClr>
                <a:srgbClr val="000000"/>
              </a:buClr>
              <a:buSzPts val="1200"/>
              <a:buFont typeface="Arial"/>
              <a:buNone/>
            </a:pPr>
            <a:r>
              <a:rPr b="1" i="0" lang="es-AR" sz="1200" u="none" cap="none" strike="noStrike">
                <a:solidFill>
                  <a:srgbClr val="B45F06"/>
                </a:solidFill>
                <a:latin typeface="Arial"/>
                <a:ea typeface="Arial"/>
                <a:cs typeface="Arial"/>
                <a:sym typeface="Arial"/>
              </a:rPr>
              <a:t>Conciencia de la necesidad de Cambio</a:t>
            </a:r>
            <a:endParaRPr b="1" i="0" sz="1200" u="none" cap="none" strike="noStrike">
              <a:solidFill>
                <a:srgbClr val="B45F06"/>
              </a:solidFill>
              <a:latin typeface="Arial"/>
              <a:ea typeface="Arial"/>
              <a:cs typeface="Arial"/>
              <a:sym typeface="Arial"/>
            </a:endParaRPr>
          </a:p>
        </p:txBody>
      </p:sp>
      <p:sp>
        <p:nvSpPr>
          <p:cNvPr id="340" name="Google Shape;340;g125afe6fff8_0_134"/>
          <p:cNvSpPr txBox="1"/>
          <p:nvPr/>
        </p:nvSpPr>
        <p:spPr>
          <a:xfrm>
            <a:off x="2996250" y="4140675"/>
            <a:ext cx="10668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1700"/>
              </a:spcAft>
              <a:buClr>
                <a:srgbClr val="000000"/>
              </a:buClr>
              <a:buSzPts val="1200"/>
              <a:buFont typeface="Arial"/>
              <a:buNone/>
            </a:pPr>
            <a:r>
              <a:rPr b="1" i="0" lang="es-AR" sz="1200" u="none" cap="none" strike="noStrike">
                <a:solidFill>
                  <a:srgbClr val="45818E"/>
                </a:solidFill>
                <a:highlight>
                  <a:schemeClr val="lt1"/>
                </a:highlight>
                <a:latin typeface="Arial"/>
                <a:ea typeface="Arial"/>
                <a:cs typeface="Arial"/>
                <a:sym typeface="Arial"/>
              </a:rPr>
              <a:t>Deseo de participar y apoyar el cambio</a:t>
            </a:r>
            <a:endParaRPr b="1" i="0" sz="1200" u="none" cap="none" strike="noStrike">
              <a:solidFill>
                <a:srgbClr val="45818E"/>
              </a:solidFill>
              <a:highlight>
                <a:schemeClr val="lt1"/>
              </a:highlight>
              <a:latin typeface="Arial"/>
              <a:ea typeface="Arial"/>
              <a:cs typeface="Arial"/>
              <a:sym typeface="Arial"/>
            </a:endParaRPr>
          </a:p>
        </p:txBody>
      </p:sp>
      <p:sp>
        <p:nvSpPr>
          <p:cNvPr id="341" name="Google Shape;341;g125afe6fff8_0_134"/>
          <p:cNvSpPr txBox="1"/>
          <p:nvPr/>
        </p:nvSpPr>
        <p:spPr>
          <a:xfrm>
            <a:off x="4350725" y="4140675"/>
            <a:ext cx="13515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s-AR" sz="1200" u="none" cap="none" strike="noStrike">
                <a:solidFill>
                  <a:srgbClr val="7030A0"/>
                </a:solidFill>
                <a:latin typeface="Arial"/>
                <a:ea typeface="Arial"/>
                <a:cs typeface="Arial"/>
                <a:sym typeface="Arial"/>
              </a:rPr>
              <a:t>Conocimiento sobre cómo cambiar</a:t>
            </a:r>
            <a:endParaRPr b="1" i="0" sz="1200" u="none" cap="none" strike="noStrike">
              <a:solidFill>
                <a:srgbClr val="7030A0"/>
              </a:solidFill>
              <a:latin typeface="Arial"/>
              <a:ea typeface="Arial"/>
              <a:cs typeface="Arial"/>
              <a:sym typeface="Arial"/>
            </a:endParaRPr>
          </a:p>
        </p:txBody>
      </p:sp>
      <p:sp>
        <p:nvSpPr>
          <p:cNvPr id="342" name="Google Shape;342;g125afe6fff8_0_134"/>
          <p:cNvSpPr txBox="1"/>
          <p:nvPr/>
        </p:nvSpPr>
        <p:spPr>
          <a:xfrm>
            <a:off x="5874600" y="4140675"/>
            <a:ext cx="1268100" cy="1477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s-AR" sz="1200" u="none" cap="none" strike="noStrike">
                <a:solidFill>
                  <a:srgbClr val="A64D79"/>
                </a:solidFill>
                <a:latin typeface="Arial"/>
                <a:ea typeface="Arial"/>
                <a:cs typeface="Arial"/>
                <a:sym typeface="Arial"/>
              </a:rPr>
              <a:t>Capacidad para implementar las habilidades y comportamientos adquiridos</a:t>
            </a:r>
            <a:endParaRPr b="1" i="0" sz="1400" u="none" cap="none" strike="noStrike">
              <a:solidFill>
                <a:srgbClr val="A64D79"/>
              </a:solidFill>
              <a:latin typeface="Arial"/>
              <a:ea typeface="Arial"/>
              <a:cs typeface="Arial"/>
              <a:sym typeface="Arial"/>
            </a:endParaRPr>
          </a:p>
        </p:txBody>
      </p:sp>
      <p:sp>
        <p:nvSpPr>
          <p:cNvPr id="343" name="Google Shape;343;g125afe6fff8_0_134"/>
          <p:cNvSpPr txBox="1"/>
          <p:nvPr/>
        </p:nvSpPr>
        <p:spPr>
          <a:xfrm>
            <a:off x="7594450" y="4140675"/>
            <a:ext cx="10668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s-AR" sz="1200" u="none" cap="none" strike="noStrike">
                <a:solidFill>
                  <a:srgbClr val="1155CC"/>
                </a:solidFill>
                <a:latin typeface="Arial"/>
                <a:ea typeface="Arial"/>
                <a:cs typeface="Arial"/>
                <a:sym typeface="Arial"/>
              </a:rPr>
              <a:t>Refuerzo para sostener el cambio</a:t>
            </a:r>
            <a:endParaRPr b="1" i="0" sz="1200" u="none" cap="none" strike="noStrike">
              <a:solidFill>
                <a:srgbClr val="1155CC"/>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g125cd87e9e5_0_3"/>
          <p:cNvPicPr preferRelativeResize="0"/>
          <p:nvPr/>
        </p:nvPicPr>
        <p:blipFill rotWithShape="1">
          <a:blip r:embed="rId3">
            <a:alphaModFix/>
          </a:blip>
          <a:srcRect b="0" l="0" r="0" t="0"/>
          <a:stretch/>
        </p:blipFill>
        <p:spPr>
          <a:xfrm>
            <a:off x="125350" y="134500"/>
            <a:ext cx="9780650" cy="3822701"/>
          </a:xfrm>
          <a:prstGeom prst="rect">
            <a:avLst/>
          </a:prstGeom>
          <a:noFill/>
          <a:ln>
            <a:noFill/>
          </a:ln>
        </p:spPr>
      </p:pic>
      <p:pic>
        <p:nvPicPr>
          <p:cNvPr id="350" name="Google Shape;350;g125cd87e9e5_0_3"/>
          <p:cNvPicPr preferRelativeResize="0"/>
          <p:nvPr/>
        </p:nvPicPr>
        <p:blipFill rotWithShape="1">
          <a:blip r:embed="rId4">
            <a:alphaModFix/>
          </a:blip>
          <a:srcRect b="0" l="0" r="0" t="0"/>
          <a:stretch/>
        </p:blipFill>
        <p:spPr>
          <a:xfrm>
            <a:off x="2243675" y="2238250"/>
            <a:ext cx="836150" cy="931125"/>
          </a:xfrm>
          <a:prstGeom prst="rect">
            <a:avLst/>
          </a:prstGeom>
          <a:noFill/>
          <a:ln>
            <a:noFill/>
          </a:ln>
        </p:spPr>
      </p:pic>
      <p:pic>
        <p:nvPicPr>
          <p:cNvPr id="351" name="Google Shape;351;g125cd87e9e5_0_3"/>
          <p:cNvPicPr preferRelativeResize="0"/>
          <p:nvPr/>
        </p:nvPicPr>
        <p:blipFill rotWithShape="1">
          <a:blip r:embed="rId5">
            <a:alphaModFix/>
          </a:blip>
          <a:srcRect b="0" l="0" r="0" t="0"/>
          <a:stretch/>
        </p:blipFill>
        <p:spPr>
          <a:xfrm>
            <a:off x="5568775" y="2381500"/>
            <a:ext cx="1163875" cy="931125"/>
          </a:xfrm>
          <a:prstGeom prst="rect">
            <a:avLst/>
          </a:prstGeom>
          <a:noFill/>
          <a:ln>
            <a:noFill/>
          </a:ln>
        </p:spPr>
      </p:pic>
      <p:pic>
        <p:nvPicPr>
          <p:cNvPr id="352" name="Google Shape;352;g125cd87e9e5_0_3"/>
          <p:cNvPicPr preferRelativeResize="0"/>
          <p:nvPr/>
        </p:nvPicPr>
        <p:blipFill rotWithShape="1">
          <a:blip r:embed="rId6">
            <a:alphaModFix/>
          </a:blip>
          <a:srcRect b="0" l="0" r="0" t="0"/>
          <a:stretch/>
        </p:blipFill>
        <p:spPr>
          <a:xfrm>
            <a:off x="8815200" y="2381500"/>
            <a:ext cx="675900" cy="787875"/>
          </a:xfrm>
          <a:prstGeom prst="rect">
            <a:avLst/>
          </a:prstGeom>
          <a:noFill/>
          <a:ln>
            <a:noFill/>
          </a:ln>
        </p:spPr>
      </p:pic>
      <p:sp>
        <p:nvSpPr>
          <p:cNvPr id="353" name="Google Shape;353;g125cd87e9e5_0_3"/>
          <p:cNvSpPr txBox="1"/>
          <p:nvPr/>
        </p:nvSpPr>
        <p:spPr>
          <a:xfrm>
            <a:off x="6822175" y="3169375"/>
            <a:ext cx="3000000" cy="220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s-AR" sz="1800" u="none" cap="none" strike="noStrike">
                <a:solidFill>
                  <a:schemeClr val="dk1"/>
                </a:solidFill>
                <a:latin typeface="Arial"/>
                <a:ea typeface="Arial"/>
                <a:cs typeface="Arial"/>
                <a:sym typeface="Arial"/>
              </a:rPr>
              <a:t>-</a:t>
            </a:r>
            <a:r>
              <a:rPr b="1" i="0" lang="es-AR" sz="1800" u="none" cap="none" strike="noStrike">
                <a:solidFill>
                  <a:schemeClr val="dk1"/>
                </a:solidFill>
                <a:latin typeface="Calibri"/>
                <a:ea typeface="Calibri"/>
                <a:cs typeface="Calibri"/>
                <a:sym typeface="Calibri"/>
              </a:rPr>
              <a:t>Pymes  vs. Corporativo</a:t>
            </a:r>
            <a:endParaRPr b="1" i="0" sz="1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0" i="0" lang="es-AR" sz="1400" u="none" cap="none" strike="noStrike">
                <a:solidFill>
                  <a:schemeClr val="dk1"/>
                </a:solidFill>
                <a:latin typeface="Arial"/>
                <a:ea typeface="Arial"/>
                <a:cs typeface="Arial"/>
                <a:sym typeface="Arial"/>
              </a:rPr>
              <a:t>En todos los tipos de organizaciones existen cambios y conflictos organizacionales. La manera en que cada una de ellas afronta las situaciones va a depender de su cultura organizacional.</a:t>
            </a:r>
            <a:endParaRPr b="0" i="0" sz="1400" u="none" cap="none" strike="noStrike">
              <a:solidFill>
                <a:schemeClr val="dk1"/>
              </a:solidFill>
              <a:latin typeface="Arial"/>
              <a:ea typeface="Arial"/>
              <a:cs typeface="Arial"/>
              <a:sym typeface="Arial"/>
            </a:endParaRPr>
          </a:p>
        </p:txBody>
      </p:sp>
      <p:sp>
        <p:nvSpPr>
          <p:cNvPr id="354" name="Google Shape;354;g125cd87e9e5_0_3"/>
          <p:cNvSpPr txBox="1"/>
          <p:nvPr/>
        </p:nvSpPr>
        <p:spPr>
          <a:xfrm>
            <a:off x="3822175" y="3169375"/>
            <a:ext cx="30000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De los temas de hoy impactan en los siguientes procesos: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Reclutamiento y Selección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Gestión del talento y Gestión del desempeño</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Relaciones Laborales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Compensaciones y Beneficios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Indicadores</a:t>
            </a:r>
            <a:endParaRPr b="0" i="0" sz="1600" u="none" cap="none" strike="noStrike">
              <a:solidFill>
                <a:schemeClr val="dk1"/>
              </a:solidFill>
              <a:latin typeface="Calibri"/>
              <a:ea typeface="Calibri"/>
              <a:cs typeface="Calibri"/>
              <a:sym typeface="Calibri"/>
            </a:endParaRPr>
          </a:p>
        </p:txBody>
      </p:sp>
      <p:sp>
        <p:nvSpPr>
          <p:cNvPr id="355" name="Google Shape;355;g125cd87e9e5_0_3"/>
          <p:cNvSpPr txBox="1"/>
          <p:nvPr/>
        </p:nvSpPr>
        <p:spPr>
          <a:xfrm>
            <a:off x="376025" y="3312625"/>
            <a:ext cx="3000000" cy="241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La clase de hoy impacta en los siguientes temas del bloque de personas: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Cultura y Clima </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•C</a:t>
            </a:r>
            <a:r>
              <a:rPr b="0" i="0" lang="es-AR" sz="1600" u="none" cap="none" strike="noStrike">
                <a:solidFill>
                  <a:schemeClr val="dk1"/>
                </a:solidFill>
                <a:latin typeface="Calibri"/>
                <a:ea typeface="Calibri"/>
                <a:cs typeface="Calibri"/>
                <a:sym typeface="Calibri"/>
              </a:rPr>
              <a:t>omunicación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Motivación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Engagement</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s-AR" sz="1600" u="none" cap="none" strike="noStrike">
                <a:solidFill>
                  <a:schemeClr val="dk1"/>
                </a:solidFill>
                <a:latin typeface="Arial"/>
                <a:ea typeface="Arial"/>
                <a:cs typeface="Arial"/>
                <a:sym typeface="Arial"/>
              </a:rPr>
              <a:t>•</a:t>
            </a:r>
            <a:r>
              <a:rPr b="0" i="0" lang="es-AR" sz="1600" u="none" cap="none" strike="noStrike">
                <a:solidFill>
                  <a:schemeClr val="dk1"/>
                </a:solidFill>
                <a:latin typeface="Calibri"/>
                <a:ea typeface="Calibri"/>
                <a:cs typeface="Calibri"/>
                <a:sym typeface="Calibri"/>
              </a:rPr>
              <a:t>Liderazgo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descr="http://lavidaencraft.files.wordpress.com/2013/11/gracias.jpg" id="362" name="Google Shape;362;g125cd87e9e5_0_14"/>
          <p:cNvPicPr preferRelativeResize="0"/>
          <p:nvPr/>
        </p:nvPicPr>
        <p:blipFill rotWithShape="1">
          <a:blip r:embed="rId3">
            <a:alphaModFix/>
          </a:blip>
          <a:srcRect b="13391" l="0" r="0" t="12373"/>
          <a:stretch/>
        </p:blipFill>
        <p:spPr>
          <a:xfrm>
            <a:off x="238092" y="1500174"/>
            <a:ext cx="9239279" cy="428628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Sabrina Ricardo</dc:creator>
</cp:coreProperties>
</file>